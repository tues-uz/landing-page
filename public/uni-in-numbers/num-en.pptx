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64" r:id="rId5"/>
    <p:sldId id="262" r:id="rId6"/>
    <p:sldId id="267" r:id="rId7"/>
    <p:sldId id="265" r:id="rId8"/>
    <p:sldId id="266" r:id="rId9"/>
  </p:sldIdLst>
  <p:sldSz cx="18288000" cy="10287000"/>
  <p:notesSz cx="6858000" cy="9144000"/>
  <p:embeddedFontLst>
    <p:embeddedFont>
      <p:font typeface="DM Sans Bold" panose="020B0604020202020204" charset="0"/>
      <p:regular r:id="rId10"/>
      <p:bold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Tahoma" panose="020B0604030504040204" pitchFamily="34" charset="0"/>
      <p:regular r:id="rId16"/>
      <p:bold r:id="rId17"/>
    </p:embeddedFont>
    <p:embeddedFont>
      <p:font typeface="Lora Bold Italics" panose="020B0604020202020204" charset="0"/>
      <p:regular r:id="rId18"/>
    </p:embeddedFont>
    <p:embeddedFont>
      <p:font typeface="DM Sans" panose="020B0604020202020204" charset="0"/>
      <p:regular r:id="rId19"/>
      <p:bold r:id="rId20"/>
      <p:italic r:id="rId21"/>
      <p:boldItalic r:id="rId22"/>
    </p:embeddedFont>
    <p:embeddedFont>
      <p:font typeface="Lora Bold" panose="020B0604020202020204" charset="-52"/>
      <p:regular r:id="rId23"/>
    </p:embeddedFont>
    <p:embeddedFont>
      <p:font typeface="Now Bold" panose="020B0604020202020204" charset="0"/>
      <p:regular r:id="rId24"/>
    </p:embeddedFont>
    <p:embeddedFont>
      <p:font typeface="Roboto" panose="020B0604020202020204" charset="0"/>
      <p:regular r:id="rId25"/>
      <p:bold r:id="rId26"/>
      <p:italic r:id="rId27"/>
      <p:boldItalic r:id="rId28"/>
    </p:embeddedFont>
    <p:embeddedFont>
      <p:font typeface="Franklin Gothic Heavy" panose="020B0903020102020204" pitchFamily="34" charset="0"/>
      <p:regular r:id="rId29"/>
      <p: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142"/>
    <a:srgbClr val="5BC5B8"/>
    <a:srgbClr val="F4B6C0"/>
    <a:srgbClr val="EC695B"/>
    <a:srgbClr val="051D40"/>
    <a:srgbClr val="4DD5FF"/>
    <a:srgbClr val="17375E"/>
    <a:srgbClr val="1A5276"/>
    <a:srgbClr val="4BACC6"/>
    <a:srgbClr val="953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7" autoAdjust="0"/>
    <p:restoredTop sz="96340" autoAdjust="0"/>
  </p:normalViewPr>
  <p:slideViewPr>
    <p:cSldViewPr>
      <p:cViewPr varScale="1">
        <p:scale>
          <a:sx n="77" d="100"/>
          <a:sy n="77" d="100"/>
        </p:scale>
        <p:origin x="1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lang="en-US" sz="1600" b="1" i="0" u="none" strike="noStrike" kern="1200" spc="0" baseline="0" dirty="0" err="1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defRPr>
            </a:pPr>
            <a:r>
              <a:rPr lang="en-US" sz="1600" b="1" kern="1200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The</a:t>
            </a:r>
            <a:r>
              <a:rPr lang="en-US" sz="1600" b="1" kern="1200" baseline="0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 area of University</a:t>
            </a:r>
            <a:r>
              <a:rPr lang="en-US" sz="1600" b="1" kern="1200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- 1,3 ga</a:t>
            </a:r>
          </a:p>
        </c:rich>
      </c:tx>
      <c:layout>
        <c:manualLayout>
          <c:xMode val="edge"/>
          <c:yMode val="edge"/>
          <c:x val="0.1965468251801324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7000"/>
            </a:lnSpc>
            <a:spcBef>
              <a:spcPts val="0"/>
            </a:spcBef>
            <a:spcAft>
              <a:spcPts val="800"/>
            </a:spcAft>
            <a:buClrTx/>
            <a:buSzTx/>
            <a:buFontTx/>
            <a:buNone/>
            <a:tabLst/>
            <a:defRPr lang="en-US" sz="1600" b="1" i="0" u="none" strike="noStrike" kern="1200" spc="0" baseline="0" dirty="0" err="1">
              <a:solidFill>
                <a:schemeClr val="bg1"/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8.2176915900330993E-2"/>
          <c:y val="0.18933178896654149"/>
          <c:w val="0.49118244121805738"/>
          <c:h val="0.71385853055394688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explosion val="1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CB7-45D0-9500-FA4EFC2B692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CB7-45D0-9500-FA4EFC2B692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3CB7-45D0-9500-FA4EFC2B692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3CB7-45D0-9500-FA4EFC2B69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51D40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4"/>
                <c:pt idx="0">
                  <c:v>The Area of Educational buildings</c:v>
                </c:pt>
                <c:pt idx="1">
                  <c:v>The green area</c:v>
                </c:pt>
                <c:pt idx="2">
                  <c:v>Building of Medical faculty</c:v>
                </c:pt>
                <c:pt idx="3">
                  <c:v>Spots complex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42</c:v>
                </c:pt>
                <c:pt idx="1">
                  <c:v>27</c:v>
                </c:pt>
                <c:pt idx="2">
                  <c:v>18.399999999999999</c:v>
                </c:pt>
                <c:pt idx="3">
                  <c:v>17.600000000000001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3CB7-45D0-9500-FA4EFC2B692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6464103620162875"/>
          <c:y val="0.14601683051877223"/>
          <c:w val="0.43353654781479173"/>
          <c:h val="0.853983044401875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lang="en-US" sz="1600" b="1" i="0" u="none" strike="noStrike" kern="1200" spc="0" baseline="0">
              <a:solidFill>
                <a:schemeClr val="bg1"/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anchor="ctr" anchorCtr="0"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209345504124257E-2"/>
          <c:y val="4.9060239375250982E-2"/>
          <c:w val="0.9316898375984255"/>
          <c:h val="0.767486726901652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4DD5FF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6</c:v>
                </c:pt>
                <c:pt idx="1">
                  <c:v>12</c:v>
                </c:pt>
                <c:pt idx="2">
                  <c:v>19</c:v>
                </c:pt>
                <c:pt idx="3">
                  <c:v>26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6FB-46E4-B333-FFD933C5F149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doctoral students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6FB-46E4-B333-FFD933C5F1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67013008"/>
        <c:axId val="567011832"/>
      </c:barChart>
      <c:catAx>
        <c:axId val="5670130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567011832"/>
        <c:crosses val="autoZero"/>
        <c:auto val="1"/>
        <c:lblAlgn val="ctr"/>
        <c:lblOffset val="100"/>
        <c:noMultiLvlLbl val="0"/>
      </c:catAx>
      <c:valAx>
        <c:axId val="56701183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one"/>
        <c:crossAx val="56701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2.8915092084322784E-3"/>
          <c:y val="7.7251806521329864E-3"/>
          <c:w val="0.79959268425402485"/>
          <c:h val="0.3756269596928111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spc="300" baseline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92D58"/>
    </a:soli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Articles</a:t>
            </a:r>
            <a:r>
              <a:rPr lang="en-US" sz="1600" b="1" baseline="0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 in Scopus and Web of Science databases</a:t>
            </a:r>
            <a:endParaRPr lang="ru-RU" sz="1600" b="1" dirty="0">
              <a:solidFill>
                <a:srgbClr val="4DD5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056001622694813"/>
          <c:y val="0.13659081672896617"/>
        </c:manualLayout>
      </c:layout>
      <c:overlay val="0"/>
      <c:spPr>
        <a:noFill/>
        <a:ln w="12700" cap="flat" cmpd="sng" algn="ctr">
          <a:noFill/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2.1149655293925254E-3"/>
          <c:y val="0.15341888987002042"/>
          <c:w val="0.95770068941214948"/>
          <c:h val="0.72600798258214727"/>
        </c:manualLayout>
      </c:layout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A8F-44EE-A6AB-5AA289828E2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A8F-44EE-A6AB-5AA289828E2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A8F-44EE-A6AB-5AA289828E2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EA8F-44EE-A6AB-5AA289828E2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EA8F-44EE-A6AB-5AA289828E2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EA8F-44EE-A6AB-5AA289828E2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Лист2!$B$7:$B$12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Лист2!$C$7:$C$12</c:f>
              <c:numCache>
                <c:formatCode>General</c:formatCode>
                <c:ptCount val="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500</c:v>
                </c:pt>
                <c:pt idx="4">
                  <c:v>750</c:v>
                </c:pt>
                <c:pt idx="5">
                  <c:v>1000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EA8F-44EE-A6AB-5AA289828E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-27"/>
        <c:axId val="380848496"/>
        <c:axId val="380848888"/>
      </c:barChart>
      <c:catAx>
        <c:axId val="380848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all" spc="120" normalizeH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380848888"/>
        <c:crosses val="autoZero"/>
        <c:auto val="1"/>
        <c:lblAlgn val="ctr"/>
        <c:lblOffset val="100"/>
        <c:noMultiLvlLbl val="0"/>
      </c:catAx>
      <c:valAx>
        <c:axId val="3808488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08484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spc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Additional Targets ( in thousands)</a:t>
            </a:r>
          </a:p>
        </c:rich>
      </c:tx>
      <c:layout>
        <c:manualLayout>
          <c:xMode val="edge"/>
          <c:yMode val="edge"/>
          <c:x val="0.29217322328216899"/>
          <c:y val="0.171470950075721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spc="0" baseline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375-44C9-84EC-E36D4EA9A89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375-44C9-84EC-E36D4EA9A89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375-44C9-84EC-E36D4EA9A89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375-44C9-84EC-E36D4EA9A89D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D375-44C9-84EC-E36D4EA9A89D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D375-44C9-84EC-E36D4EA9A89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Лист2!$B$26:$B$31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Лист2!$C$26:$C$31</c:f>
              <c:numCache>
                <c:formatCode>General</c:formatCode>
                <c:ptCount val="6"/>
                <c:pt idx="0">
                  <c:v>50</c:v>
                </c:pt>
                <c:pt idx="1">
                  <c:v>75</c:v>
                </c:pt>
                <c:pt idx="2">
                  <c:v>100</c:v>
                </c:pt>
                <c:pt idx="3">
                  <c:v>125</c:v>
                </c:pt>
                <c:pt idx="4">
                  <c:v>150</c:v>
                </c:pt>
                <c:pt idx="5">
                  <c:v>250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D375-44C9-84EC-E36D4EA9A8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-27"/>
        <c:axId val="555686656"/>
        <c:axId val="555688616"/>
      </c:barChart>
      <c:catAx>
        <c:axId val="55568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all" spc="120" normalizeH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555688616"/>
        <c:crosses val="autoZero"/>
        <c:auto val="1"/>
        <c:lblAlgn val="ctr"/>
        <c:lblOffset val="100"/>
        <c:noMultiLvlLbl val="0"/>
      </c:catAx>
      <c:valAx>
        <c:axId val="5556886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556866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spc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Programs and Fields to Undergo International Accreditation (Total)</a:t>
            </a:r>
          </a:p>
        </c:rich>
      </c:tx>
      <c:layout>
        <c:manualLayout>
          <c:xMode val="edge"/>
          <c:yMode val="edge"/>
          <c:x val="7.7683830536372608E-2"/>
          <c:y val="0.113181827516474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spc="0" baseline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62E-4380-A348-EA22FB74276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B62E-4380-A348-EA22FB74276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B62E-4380-A348-EA22FB74276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B62E-4380-A348-EA22FB742767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B62E-4380-A348-EA22FB742767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B62E-4380-A348-EA22FB74276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Лист2!$G$32:$G$37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Лист2!$H$32:$H$37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B62E-4380-A348-EA22FB742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-27"/>
        <c:axId val="555688224"/>
        <c:axId val="555689400"/>
      </c:barChart>
      <c:catAx>
        <c:axId val="555688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all" spc="120" normalizeH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555689400"/>
        <c:crosses val="autoZero"/>
        <c:auto val="1"/>
        <c:lblAlgn val="ctr"/>
        <c:lblOffset val="100"/>
        <c:noMultiLvlLbl val="0"/>
      </c:catAx>
      <c:valAx>
        <c:axId val="5556894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55688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Increasing  the  Share  of  International Students</a:t>
            </a:r>
          </a:p>
        </c:rich>
      </c:tx>
      <c:layout>
        <c:manualLayout>
          <c:xMode val="edge"/>
          <c:yMode val="edge"/>
          <c:x val="0.1440520858744124"/>
          <c:y val="3.93675921796433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711-4DD4-91B7-07D9B91421C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711-4DD4-91B7-07D9B91421C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711-4DD4-91B7-07D9B91421C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2711-4DD4-91B7-07D9B91421C0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2711-4DD4-91B7-07D9B91421C0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2711-4DD4-91B7-07D9B91421C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Лист2!$D$41:$D$46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Лист2!$E$41:$E$46</c:f>
              <c:numCache>
                <c:formatCode>General</c:formatCode>
                <c:ptCount val="6"/>
                <c:pt idx="0">
                  <c:v>10</c:v>
                </c:pt>
                <c:pt idx="1">
                  <c:v>25</c:v>
                </c:pt>
                <c:pt idx="2">
                  <c:v>35</c:v>
                </c:pt>
                <c:pt idx="3">
                  <c:v>50</c:v>
                </c:pt>
                <c:pt idx="4">
                  <c:v>65</c:v>
                </c:pt>
                <c:pt idx="5">
                  <c:v>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2711-4DD4-91B7-07D9B91421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-27"/>
        <c:axId val="555689792"/>
        <c:axId val="555686264"/>
      </c:barChart>
      <c:catAx>
        <c:axId val="555689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all" spc="120" normalizeH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555686264"/>
        <c:crosses val="autoZero"/>
        <c:auto val="1"/>
        <c:lblAlgn val="ctr"/>
        <c:lblOffset val="100"/>
        <c:noMultiLvlLbl val="0"/>
      </c:catAx>
      <c:valAx>
        <c:axId val="5556862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55689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err="1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defRPr>
            </a:pPr>
            <a:r>
              <a:rPr lang="en-US" sz="1600" b="1" kern="1200" dirty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rPr>
              <a:t>Increasing</a:t>
            </a:r>
            <a:r>
              <a:rPr lang="en-US" sz="1600" b="1" kern="1200" baseline="0" dirty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rPr>
              <a:t> of participation of foreign professor and teachers  </a:t>
            </a:r>
            <a:endParaRPr lang="en-US" sz="1600" b="1" kern="1200" dirty="0">
              <a:solidFill>
                <a:schemeClr val="bg1"/>
              </a:solidFill>
              <a:latin typeface="DM Sans Bold" pitchFamily="2" charset="0"/>
              <a:ea typeface="+mn-ea"/>
              <a:cs typeface="+mn-cs"/>
            </a:endParaRPr>
          </a:p>
        </c:rich>
      </c:tx>
      <c:layout>
        <c:manualLayout>
          <c:xMode val="edge"/>
          <c:yMode val="edge"/>
          <c:x val="0.17417197913330376"/>
          <c:y val="5.19856606313082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err="1">
              <a:solidFill>
                <a:schemeClr val="bg1"/>
              </a:solidFill>
              <a:latin typeface="DM Sans Bold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DA4-4AA2-8540-257BE305E8B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DA4-4AA2-8540-257BE305E8B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DA4-4AA2-8540-257BE305E8B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EDA4-4AA2-8540-257BE305E8B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EDA4-4AA2-8540-257BE305E8B8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EDA4-4AA2-8540-257BE305E8B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1" i="0" u="none" strike="noStrike" kern="1200" baseline="0">
                    <a:solidFill>
                      <a:schemeClr val="bg1"/>
                    </a:solidFill>
                    <a:latin typeface="DM Sans Bold" pitchFamily="2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Лист1!$B$8:$B$13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Лист1!$C$8:$C$13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75</c:v>
                </c:pt>
                <c:pt idx="3">
                  <c:v>85</c:v>
                </c:pt>
                <c:pt idx="4">
                  <c:v>100</c:v>
                </c:pt>
                <c:pt idx="5">
                  <c:v>125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EDA4-4AA2-8540-257BE305E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5561832"/>
        <c:axId val="555564576"/>
      </c:barChart>
      <c:catAx>
        <c:axId val="555561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defRPr>
            </a:pPr>
            <a:endParaRPr lang="ru-RU"/>
          </a:p>
        </c:txPr>
        <c:crossAx val="555564576"/>
        <c:crosses val="autoZero"/>
        <c:auto val="1"/>
        <c:lblAlgn val="ctr"/>
        <c:lblOffset val="100"/>
        <c:noMultiLvlLbl val="0"/>
      </c:catAx>
      <c:valAx>
        <c:axId val="5555645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55561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err="1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defRPr>
            </a:pPr>
            <a:r>
              <a:rPr lang="en-US" sz="1600" b="1" kern="1200" dirty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rPr>
              <a:t>Joint educational programs</a:t>
            </a:r>
            <a:r>
              <a:rPr lang="en-US" sz="1600" b="1" kern="1200" baseline="0" dirty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rPr>
              <a:t> with prestigious foreign universities </a:t>
            </a:r>
            <a:endParaRPr lang="en-US" sz="1600" b="1" kern="1200" dirty="0">
              <a:solidFill>
                <a:schemeClr val="bg1"/>
              </a:solidFill>
              <a:latin typeface="DM Sans Bold" pitchFamily="2" charset="0"/>
              <a:ea typeface="+mn-ea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err="1">
              <a:solidFill>
                <a:schemeClr val="bg1"/>
              </a:solidFill>
              <a:latin typeface="DM Sans Bold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784-4346-AB61-0278DFF1C32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784-4346-AB61-0278DFF1C327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784-4346-AB61-0278DFF1C32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8784-4346-AB61-0278DFF1C327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8784-4346-AB61-0278DFF1C327}"/>
              </c:ext>
            </c:extLst>
          </c:dPt>
          <c:dPt>
            <c:idx val="5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8784-4346-AB61-0278DFF1C32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1" i="0" u="none" strike="noStrike" kern="1200" baseline="0">
                    <a:solidFill>
                      <a:schemeClr val="bg1"/>
                    </a:solidFill>
                    <a:latin typeface="DM Sans Bold" pitchFamily="2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Лист1!$B$26:$B$31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Лист1!$C$26:$C$31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8784-4346-AB61-0278DFF1C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5561048"/>
        <c:axId val="388129896"/>
      </c:barChart>
      <c:catAx>
        <c:axId val="555561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defRPr>
            </a:pPr>
            <a:endParaRPr lang="ru-RU"/>
          </a:p>
        </c:txPr>
        <c:crossAx val="388129896"/>
        <c:crosses val="autoZero"/>
        <c:auto val="1"/>
        <c:lblAlgn val="ctr"/>
        <c:lblOffset val="100"/>
        <c:noMultiLvlLbl val="0"/>
      </c:catAx>
      <c:valAx>
        <c:axId val="3881298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55561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BBE936-5807-4294-9AC5-950CB5C59735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9775F32-B202-464E-9640-1E6606F5941B}">
      <dgm:prSet phldrT="[Текст]"/>
      <dgm:spPr/>
      <dgm:t>
        <a:bodyPr/>
        <a:lstStyle/>
        <a:p>
          <a:r>
            <a:rPr lang="en-US" b="1" dirty="0">
              <a:latin typeface="DM Sans Bold" panose="020B0604020202020204" charset="0"/>
              <a:ea typeface="Lora Bold"/>
              <a:cs typeface="Lora Bold"/>
              <a:sym typeface="Lora Bold"/>
            </a:rPr>
            <a:t>Units for  Internationalization and Transformation of   the University</a:t>
          </a:r>
          <a:endParaRPr lang="ru-RU" dirty="0"/>
        </a:p>
      </dgm:t>
    </dgm:pt>
    <dgm:pt modelId="{6AF841A7-0EDD-45AD-B972-2FFD7D8E1281}" type="sibTrans" cxnId="{B6292CE6-AB4F-4FFE-BEA5-A0887B517FB8}">
      <dgm:prSet/>
      <dgm:spPr/>
      <dgm:t>
        <a:bodyPr/>
        <a:lstStyle/>
        <a:p>
          <a:endParaRPr lang="ru-RU"/>
        </a:p>
      </dgm:t>
    </dgm:pt>
    <dgm:pt modelId="{7287996F-F258-41E6-B37F-0FF50C61D6B4}" type="parTrans" cxnId="{B6292CE6-AB4F-4FFE-BEA5-A0887B517FB8}">
      <dgm:prSet/>
      <dgm:spPr/>
      <dgm:t>
        <a:bodyPr/>
        <a:lstStyle/>
        <a:p>
          <a:endParaRPr lang="ru-RU"/>
        </a:p>
      </dgm:t>
    </dgm:pt>
    <dgm:pt modelId="{6F68EDD6-95C9-4D8A-A289-072504FD9E0E}">
      <dgm:prSet phldrT="[Текст]"/>
      <dgm:spPr/>
      <dgm:t>
        <a:bodyPr/>
        <a:lstStyle/>
        <a:p>
          <a:r>
            <a:rPr lang="en-US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International Relations and Academic mobility</a:t>
          </a:r>
        </a:p>
      </dgm:t>
    </dgm:pt>
    <dgm:pt modelId="{E67584EF-81E3-4142-9596-FED347509B6E}" type="sibTrans" cxnId="{B75AE869-CFF9-441C-9EDB-C1CA67D90355}">
      <dgm:prSet/>
      <dgm:spPr/>
      <dgm:t>
        <a:bodyPr/>
        <a:lstStyle/>
        <a:p>
          <a:endParaRPr lang="ru-RU"/>
        </a:p>
      </dgm:t>
    </dgm:pt>
    <dgm:pt modelId="{C0E78399-E86D-46A1-9B83-5B83C44153A3}" type="parTrans" cxnId="{B75AE869-CFF9-441C-9EDB-C1CA67D90355}">
      <dgm:prSet/>
      <dgm:spPr>
        <a:solidFill>
          <a:schemeClr val="accent2"/>
        </a:solidFill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99BF4384-EC2E-4A71-96A3-7B686936BFC4}">
      <dgm:prSet phldrT="[Текст]"/>
      <dgm:spPr/>
      <dgm:t>
        <a:bodyPr/>
        <a:lstStyle/>
        <a:p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Innovation in Education and Digital Transformation Center</a:t>
          </a:r>
        </a:p>
      </dgm:t>
    </dgm:pt>
    <dgm:pt modelId="{9A653AFB-3DCE-44EA-A049-0A1CBE40E700}" type="sibTrans" cxnId="{9C5A7D1F-E2BA-4235-BEBD-03F3E4957E44}">
      <dgm:prSet/>
      <dgm:spPr/>
      <dgm:t>
        <a:bodyPr/>
        <a:lstStyle/>
        <a:p>
          <a:endParaRPr lang="ru-RU"/>
        </a:p>
      </dgm:t>
    </dgm:pt>
    <dgm:pt modelId="{C929D1B3-70C1-402B-BB3B-5B0E6F78CDD9}" type="parTrans" cxnId="{9C5A7D1F-E2BA-4235-BEBD-03F3E4957E44}">
      <dgm:prSet/>
      <dgm:spPr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ECBA59C1-8F3E-4236-BD22-0661847F1484}">
      <dgm:prSet phldrT="[Текст]"/>
      <dgm:spPr/>
      <dgm:t>
        <a:bodyPr/>
        <a:lstStyle/>
        <a:p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International Certification and Qualification Center</a:t>
          </a:r>
        </a:p>
      </dgm:t>
    </dgm:pt>
    <dgm:pt modelId="{123BB044-3D5D-4BF5-B862-EDDC20C7EE46}" type="sibTrans" cxnId="{6DB7F1DA-65B1-4E82-822E-A06928C6E0D2}">
      <dgm:prSet/>
      <dgm:spPr/>
      <dgm:t>
        <a:bodyPr/>
        <a:lstStyle/>
        <a:p>
          <a:endParaRPr lang="ru-RU"/>
        </a:p>
      </dgm:t>
    </dgm:pt>
    <dgm:pt modelId="{73F57B77-87F2-4222-8EB3-94089DAF9C49}" type="parTrans" cxnId="{6DB7F1DA-65B1-4E82-822E-A06928C6E0D2}">
      <dgm:prSet/>
      <dgm:spPr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4C5F668F-0712-4AE3-81B1-A6B25DEB8A4F}">
      <dgm:prSet/>
      <dgm:spPr/>
      <dgm:t>
        <a:bodyPr/>
        <a:lstStyle/>
        <a:p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Centre for Language and Culture</a:t>
          </a:r>
        </a:p>
      </dgm:t>
    </dgm:pt>
    <dgm:pt modelId="{6264AE26-1365-4D1B-9A0D-7EDA0C145ADC}" type="sibTrans" cxnId="{5F01122E-9908-4870-B801-C5EF95F8C7E6}">
      <dgm:prSet/>
      <dgm:spPr/>
      <dgm:t>
        <a:bodyPr/>
        <a:lstStyle/>
        <a:p>
          <a:endParaRPr lang="ru-RU"/>
        </a:p>
      </dgm:t>
    </dgm:pt>
    <dgm:pt modelId="{FAD3BDDA-22C3-4D00-BABC-7575325A1FC5}" type="parTrans" cxnId="{5F01122E-9908-4870-B801-C5EF95F8C7E6}">
      <dgm:prSet/>
      <dgm:spPr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BA288C98-8E0F-4C84-8B4A-04E460EA9A48}">
      <dgm:prSet/>
      <dgm:spPr/>
      <dgm:t>
        <a:bodyPr/>
        <a:lstStyle/>
        <a:p>
          <a:r>
            <a:rPr lang="en-US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Ratings and Management Office</a:t>
          </a:r>
        </a:p>
      </dgm:t>
    </dgm:pt>
    <dgm:pt modelId="{C7A8D099-F91C-4A72-9B60-50FABFF457C0}" type="sibTrans" cxnId="{FAF0407C-2899-45AC-BFD4-EC94F1F78116}">
      <dgm:prSet/>
      <dgm:spPr/>
      <dgm:t>
        <a:bodyPr/>
        <a:lstStyle/>
        <a:p>
          <a:endParaRPr lang="ru-RU"/>
        </a:p>
      </dgm:t>
    </dgm:pt>
    <dgm:pt modelId="{E95DACD6-38B0-468C-A839-0F0D52E21088}" type="parTrans" cxnId="{FAF0407C-2899-45AC-BFD4-EC94F1F78116}">
      <dgm:prSet/>
      <dgm:spPr>
        <a:solidFill>
          <a:schemeClr val="accent2"/>
        </a:solidFill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A0419A98-1D15-46E2-A030-DC0326FC1221}">
      <dgm:prSet/>
      <dgm:spPr/>
      <dgm:t>
        <a:bodyPr/>
        <a:lstStyle/>
        <a:p>
          <a:r>
            <a:rPr lang="en-US" b="1" dirty="0"/>
            <a:t>Strategic Development Monitoring Department</a:t>
          </a:r>
          <a:endParaRPr lang="ru-RU" b="1" dirty="0"/>
        </a:p>
      </dgm:t>
    </dgm:pt>
    <dgm:pt modelId="{8F6A227D-3D2C-40CC-A721-B919FAD87D8C}" type="sibTrans" cxnId="{B9A71D54-D757-41A2-9040-2BC8B754A043}">
      <dgm:prSet/>
      <dgm:spPr/>
      <dgm:t>
        <a:bodyPr/>
        <a:lstStyle/>
        <a:p>
          <a:endParaRPr lang="ru-RU"/>
        </a:p>
      </dgm:t>
    </dgm:pt>
    <dgm:pt modelId="{CC659645-9FBC-4288-B7A3-9F542DBF8790}" type="parTrans" cxnId="{B9A71D54-D757-41A2-9040-2BC8B754A043}">
      <dgm:prSet/>
      <dgm:spPr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BA3261C8-A5A4-471F-BA12-31BDC2FA9D2C}">
      <dgm:prSet/>
      <dgm:spPr/>
      <dgm:t>
        <a:bodyPr/>
        <a:lstStyle/>
        <a:p>
          <a:r>
            <a:rPr lang="en-US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International Summer Schools</a:t>
          </a:r>
        </a:p>
      </dgm:t>
    </dgm:pt>
    <dgm:pt modelId="{0C9E197E-2C10-4895-9A43-61EF0A570B1B}" type="sibTrans" cxnId="{9FF26FB4-E3A8-448B-954E-0F3173F26A61}">
      <dgm:prSet/>
      <dgm:spPr/>
      <dgm:t>
        <a:bodyPr/>
        <a:lstStyle/>
        <a:p>
          <a:endParaRPr lang="ru-RU"/>
        </a:p>
      </dgm:t>
    </dgm:pt>
    <dgm:pt modelId="{4FC49B12-7F76-45A1-9223-A1B8F4942878}" type="parTrans" cxnId="{9FF26FB4-E3A8-448B-954E-0F3173F26A61}">
      <dgm:prSet/>
      <dgm:spPr>
        <a:solidFill>
          <a:schemeClr val="accent2"/>
        </a:solidFill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90936A2C-474A-40A0-8FB4-D09A9FD11BF3}" type="pres">
      <dgm:prSet presAssocID="{78BBE936-5807-4294-9AC5-950CB5C59735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5A99A2E-09BC-4106-9D5D-F4645423404B}" type="pres">
      <dgm:prSet presAssocID="{79775F32-B202-464E-9640-1E6606F5941B}" presName="root1" presStyleCnt="0"/>
      <dgm:spPr/>
    </dgm:pt>
    <dgm:pt modelId="{CCF6EFD0-12E8-4C3E-9D70-2524CE83D9E9}" type="pres">
      <dgm:prSet presAssocID="{79775F32-B202-464E-9640-1E6606F5941B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A7679E5-E590-4C82-B793-08FD95695284}" type="pres">
      <dgm:prSet presAssocID="{79775F32-B202-464E-9640-1E6606F5941B}" presName="level2hierChild" presStyleCnt="0"/>
      <dgm:spPr/>
    </dgm:pt>
    <dgm:pt modelId="{C9D4894C-6FB3-4114-8AC5-F1FF01B28D84}" type="pres">
      <dgm:prSet presAssocID="{C0E78399-E86D-46A1-9B83-5B83C44153A3}" presName="conn2-1" presStyleLbl="parChTrans1D2" presStyleIdx="0" presStyleCnt="7"/>
      <dgm:spPr/>
      <dgm:t>
        <a:bodyPr/>
        <a:lstStyle/>
        <a:p>
          <a:endParaRPr lang="ru-RU"/>
        </a:p>
      </dgm:t>
    </dgm:pt>
    <dgm:pt modelId="{C389982F-225F-4D10-89E4-6B39B566CB74}" type="pres">
      <dgm:prSet presAssocID="{C0E78399-E86D-46A1-9B83-5B83C44153A3}" presName="connTx" presStyleLbl="parChTrans1D2" presStyleIdx="0" presStyleCnt="7"/>
      <dgm:spPr/>
      <dgm:t>
        <a:bodyPr/>
        <a:lstStyle/>
        <a:p>
          <a:endParaRPr lang="ru-RU"/>
        </a:p>
      </dgm:t>
    </dgm:pt>
    <dgm:pt modelId="{A8C18908-09D4-46B9-A95F-100CFBB337E1}" type="pres">
      <dgm:prSet presAssocID="{6F68EDD6-95C9-4D8A-A289-072504FD9E0E}" presName="root2" presStyleCnt="0"/>
      <dgm:spPr/>
    </dgm:pt>
    <dgm:pt modelId="{DAA58094-F7EC-499E-AC30-754574D8DBB3}" type="pres">
      <dgm:prSet presAssocID="{6F68EDD6-95C9-4D8A-A289-072504FD9E0E}" presName="LevelTwoTextNode" presStyleLbl="node2" presStyleIdx="0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357D9EC-CDE8-4CA5-A06B-3A08F6B52F76}" type="pres">
      <dgm:prSet presAssocID="{6F68EDD6-95C9-4D8A-A289-072504FD9E0E}" presName="level3hierChild" presStyleCnt="0"/>
      <dgm:spPr/>
    </dgm:pt>
    <dgm:pt modelId="{14398D2B-1493-405E-8E1F-B4B0B5DAFFF5}" type="pres">
      <dgm:prSet presAssocID="{C929D1B3-70C1-402B-BB3B-5B0E6F78CDD9}" presName="conn2-1" presStyleLbl="parChTrans1D2" presStyleIdx="1" presStyleCnt="7"/>
      <dgm:spPr/>
      <dgm:t>
        <a:bodyPr/>
        <a:lstStyle/>
        <a:p>
          <a:endParaRPr lang="ru-RU"/>
        </a:p>
      </dgm:t>
    </dgm:pt>
    <dgm:pt modelId="{2505148E-9352-4460-A0FB-A7DD97473071}" type="pres">
      <dgm:prSet presAssocID="{C929D1B3-70C1-402B-BB3B-5B0E6F78CDD9}" presName="connTx" presStyleLbl="parChTrans1D2" presStyleIdx="1" presStyleCnt="7"/>
      <dgm:spPr/>
      <dgm:t>
        <a:bodyPr/>
        <a:lstStyle/>
        <a:p>
          <a:endParaRPr lang="ru-RU"/>
        </a:p>
      </dgm:t>
    </dgm:pt>
    <dgm:pt modelId="{5C5653AA-D232-4861-862F-4CAE8E6F3052}" type="pres">
      <dgm:prSet presAssocID="{99BF4384-EC2E-4A71-96A3-7B686936BFC4}" presName="root2" presStyleCnt="0"/>
      <dgm:spPr/>
    </dgm:pt>
    <dgm:pt modelId="{63DB5AD8-3674-470E-A66F-5DF5FE252062}" type="pres">
      <dgm:prSet presAssocID="{99BF4384-EC2E-4A71-96A3-7B686936BFC4}" presName="LevelTwoTextNode" presStyleLbl="node2" presStyleIdx="1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6EEA845-C9D6-4E01-A81E-7D07CA664CE7}" type="pres">
      <dgm:prSet presAssocID="{99BF4384-EC2E-4A71-96A3-7B686936BFC4}" presName="level3hierChild" presStyleCnt="0"/>
      <dgm:spPr/>
    </dgm:pt>
    <dgm:pt modelId="{C2CDF49A-C693-4935-94EA-F2F8DC2F966B}" type="pres">
      <dgm:prSet presAssocID="{73F57B77-87F2-4222-8EB3-94089DAF9C49}" presName="conn2-1" presStyleLbl="parChTrans1D2" presStyleIdx="2" presStyleCnt="7"/>
      <dgm:spPr/>
      <dgm:t>
        <a:bodyPr/>
        <a:lstStyle/>
        <a:p>
          <a:endParaRPr lang="ru-RU"/>
        </a:p>
      </dgm:t>
    </dgm:pt>
    <dgm:pt modelId="{66831C1B-714D-414E-A9A7-2ACD49BCEDBB}" type="pres">
      <dgm:prSet presAssocID="{73F57B77-87F2-4222-8EB3-94089DAF9C49}" presName="connTx" presStyleLbl="parChTrans1D2" presStyleIdx="2" presStyleCnt="7"/>
      <dgm:spPr/>
      <dgm:t>
        <a:bodyPr/>
        <a:lstStyle/>
        <a:p>
          <a:endParaRPr lang="ru-RU"/>
        </a:p>
      </dgm:t>
    </dgm:pt>
    <dgm:pt modelId="{CFAA4EE3-92CB-4CD4-91DA-A14C80E4FD09}" type="pres">
      <dgm:prSet presAssocID="{ECBA59C1-8F3E-4236-BD22-0661847F1484}" presName="root2" presStyleCnt="0"/>
      <dgm:spPr/>
    </dgm:pt>
    <dgm:pt modelId="{7087F877-25CD-4532-ADF7-A24278532BCF}" type="pres">
      <dgm:prSet presAssocID="{ECBA59C1-8F3E-4236-BD22-0661847F1484}" presName="LevelTwoTextNode" presStyleLbl="node2" presStyleIdx="2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7BD228B-10F7-45F8-B3B1-4846343D6F86}" type="pres">
      <dgm:prSet presAssocID="{ECBA59C1-8F3E-4236-BD22-0661847F1484}" presName="level3hierChild" presStyleCnt="0"/>
      <dgm:spPr/>
    </dgm:pt>
    <dgm:pt modelId="{A713E7C2-C9CA-4DDD-B8F7-F55DE8704EC4}" type="pres">
      <dgm:prSet presAssocID="{FAD3BDDA-22C3-4D00-BABC-7575325A1FC5}" presName="conn2-1" presStyleLbl="parChTrans1D2" presStyleIdx="3" presStyleCnt="7"/>
      <dgm:spPr/>
      <dgm:t>
        <a:bodyPr/>
        <a:lstStyle/>
        <a:p>
          <a:endParaRPr lang="ru-RU"/>
        </a:p>
      </dgm:t>
    </dgm:pt>
    <dgm:pt modelId="{1039FBBF-A808-4CEB-B5F2-1D43164DAF8B}" type="pres">
      <dgm:prSet presAssocID="{FAD3BDDA-22C3-4D00-BABC-7575325A1FC5}" presName="connTx" presStyleLbl="parChTrans1D2" presStyleIdx="3" presStyleCnt="7"/>
      <dgm:spPr/>
      <dgm:t>
        <a:bodyPr/>
        <a:lstStyle/>
        <a:p>
          <a:endParaRPr lang="ru-RU"/>
        </a:p>
      </dgm:t>
    </dgm:pt>
    <dgm:pt modelId="{E4344451-C1CD-4629-A422-8D71D9F8EDFE}" type="pres">
      <dgm:prSet presAssocID="{4C5F668F-0712-4AE3-81B1-A6B25DEB8A4F}" presName="root2" presStyleCnt="0"/>
      <dgm:spPr/>
    </dgm:pt>
    <dgm:pt modelId="{043370E8-1008-45C6-8CF8-7AC761D849D5}" type="pres">
      <dgm:prSet presAssocID="{4C5F668F-0712-4AE3-81B1-A6B25DEB8A4F}" presName="LevelTwoTextNode" presStyleLbl="node2" presStyleIdx="3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FEC7747-7F04-4AA3-9E4C-D14942559E36}" type="pres">
      <dgm:prSet presAssocID="{4C5F668F-0712-4AE3-81B1-A6B25DEB8A4F}" presName="level3hierChild" presStyleCnt="0"/>
      <dgm:spPr/>
    </dgm:pt>
    <dgm:pt modelId="{85F4DAF2-27B8-4573-A1FC-76DC7C166C1F}" type="pres">
      <dgm:prSet presAssocID="{CC659645-9FBC-4288-B7A3-9F542DBF8790}" presName="conn2-1" presStyleLbl="parChTrans1D2" presStyleIdx="4" presStyleCnt="7"/>
      <dgm:spPr/>
      <dgm:t>
        <a:bodyPr/>
        <a:lstStyle/>
        <a:p>
          <a:endParaRPr lang="ru-RU"/>
        </a:p>
      </dgm:t>
    </dgm:pt>
    <dgm:pt modelId="{CD54C6C9-A6AE-49B3-B38E-6AED4D77D3A5}" type="pres">
      <dgm:prSet presAssocID="{CC659645-9FBC-4288-B7A3-9F542DBF8790}" presName="connTx" presStyleLbl="parChTrans1D2" presStyleIdx="4" presStyleCnt="7"/>
      <dgm:spPr/>
      <dgm:t>
        <a:bodyPr/>
        <a:lstStyle/>
        <a:p>
          <a:endParaRPr lang="ru-RU"/>
        </a:p>
      </dgm:t>
    </dgm:pt>
    <dgm:pt modelId="{4031F36D-3CAF-4906-9693-3887766F6CD4}" type="pres">
      <dgm:prSet presAssocID="{A0419A98-1D15-46E2-A030-DC0326FC1221}" presName="root2" presStyleCnt="0"/>
      <dgm:spPr/>
    </dgm:pt>
    <dgm:pt modelId="{15E5783A-5C58-4D42-BB9C-C017F0043C0D}" type="pres">
      <dgm:prSet presAssocID="{A0419A98-1D15-46E2-A030-DC0326FC1221}" presName="LevelTwoTextNode" presStyleLbl="node2" presStyleIdx="4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CA13CA6-32A5-4204-80D2-3276FD491003}" type="pres">
      <dgm:prSet presAssocID="{A0419A98-1D15-46E2-A030-DC0326FC1221}" presName="level3hierChild" presStyleCnt="0"/>
      <dgm:spPr/>
    </dgm:pt>
    <dgm:pt modelId="{1595C97C-C25D-4DB8-9029-709CFB79380F}" type="pres">
      <dgm:prSet presAssocID="{E95DACD6-38B0-468C-A839-0F0D52E21088}" presName="conn2-1" presStyleLbl="parChTrans1D2" presStyleIdx="5" presStyleCnt="7"/>
      <dgm:spPr/>
      <dgm:t>
        <a:bodyPr/>
        <a:lstStyle/>
        <a:p>
          <a:endParaRPr lang="ru-RU"/>
        </a:p>
      </dgm:t>
    </dgm:pt>
    <dgm:pt modelId="{85B2F3F6-3471-4271-87CB-36FB88A7CAD0}" type="pres">
      <dgm:prSet presAssocID="{E95DACD6-38B0-468C-A839-0F0D52E21088}" presName="connTx" presStyleLbl="parChTrans1D2" presStyleIdx="5" presStyleCnt="7"/>
      <dgm:spPr/>
      <dgm:t>
        <a:bodyPr/>
        <a:lstStyle/>
        <a:p>
          <a:endParaRPr lang="ru-RU"/>
        </a:p>
      </dgm:t>
    </dgm:pt>
    <dgm:pt modelId="{11191168-847B-4C5B-832C-1EA6951076AF}" type="pres">
      <dgm:prSet presAssocID="{BA288C98-8E0F-4C84-8B4A-04E460EA9A48}" presName="root2" presStyleCnt="0"/>
      <dgm:spPr/>
    </dgm:pt>
    <dgm:pt modelId="{3E3DD988-B523-4634-959D-0983C035A5AC}" type="pres">
      <dgm:prSet presAssocID="{BA288C98-8E0F-4C84-8B4A-04E460EA9A48}" presName="LevelTwoTextNode" presStyleLbl="node2" presStyleIdx="5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DB0D4BC-2293-42D6-9200-DF17DC71290D}" type="pres">
      <dgm:prSet presAssocID="{BA288C98-8E0F-4C84-8B4A-04E460EA9A48}" presName="level3hierChild" presStyleCnt="0"/>
      <dgm:spPr/>
    </dgm:pt>
    <dgm:pt modelId="{B5576AC9-90AC-4E5C-855F-699914CCA372}" type="pres">
      <dgm:prSet presAssocID="{4FC49B12-7F76-45A1-9223-A1B8F4942878}" presName="conn2-1" presStyleLbl="parChTrans1D2" presStyleIdx="6" presStyleCnt="7"/>
      <dgm:spPr/>
      <dgm:t>
        <a:bodyPr/>
        <a:lstStyle/>
        <a:p>
          <a:endParaRPr lang="ru-RU"/>
        </a:p>
      </dgm:t>
    </dgm:pt>
    <dgm:pt modelId="{8BC5460D-823E-4A06-9852-BE88350F6228}" type="pres">
      <dgm:prSet presAssocID="{4FC49B12-7F76-45A1-9223-A1B8F4942878}" presName="connTx" presStyleLbl="parChTrans1D2" presStyleIdx="6" presStyleCnt="7"/>
      <dgm:spPr/>
      <dgm:t>
        <a:bodyPr/>
        <a:lstStyle/>
        <a:p>
          <a:endParaRPr lang="ru-RU"/>
        </a:p>
      </dgm:t>
    </dgm:pt>
    <dgm:pt modelId="{D144576D-9688-4A42-9665-23C58DFC27E3}" type="pres">
      <dgm:prSet presAssocID="{BA3261C8-A5A4-471F-BA12-31BDC2FA9D2C}" presName="root2" presStyleCnt="0"/>
      <dgm:spPr/>
    </dgm:pt>
    <dgm:pt modelId="{1AC45F6D-380F-474A-B9F7-F69153D51D59}" type="pres">
      <dgm:prSet presAssocID="{BA3261C8-A5A4-471F-BA12-31BDC2FA9D2C}" presName="LevelTwoTextNode" presStyleLbl="node2" presStyleIdx="6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23C4B0D-2253-4DE1-BA55-004DC804A59C}" type="pres">
      <dgm:prSet presAssocID="{BA3261C8-A5A4-471F-BA12-31BDC2FA9D2C}" presName="level3hierChild" presStyleCnt="0"/>
      <dgm:spPr/>
    </dgm:pt>
  </dgm:ptLst>
  <dgm:cxnLst>
    <dgm:cxn modelId="{2A680D77-1611-4432-AAE9-FA5705EB72F4}" type="presOf" srcId="{4FC49B12-7F76-45A1-9223-A1B8F4942878}" destId="{8BC5460D-823E-4A06-9852-BE88350F6228}" srcOrd="1" destOrd="0" presId="urn:microsoft.com/office/officeart/2008/layout/HorizontalMultiLevelHierarchy"/>
    <dgm:cxn modelId="{E6C0E082-4FFE-45D6-9EFB-4D9F427E8C1B}" type="presOf" srcId="{4FC49B12-7F76-45A1-9223-A1B8F4942878}" destId="{B5576AC9-90AC-4E5C-855F-699914CCA372}" srcOrd="0" destOrd="0" presId="urn:microsoft.com/office/officeart/2008/layout/HorizontalMultiLevelHierarchy"/>
    <dgm:cxn modelId="{34FB1A9D-E9E3-4A9B-9000-F47E7C22671A}" type="presOf" srcId="{BA3261C8-A5A4-471F-BA12-31BDC2FA9D2C}" destId="{1AC45F6D-380F-474A-B9F7-F69153D51D59}" srcOrd="0" destOrd="0" presId="urn:microsoft.com/office/officeart/2008/layout/HorizontalMultiLevelHierarchy"/>
    <dgm:cxn modelId="{63296123-D5D5-40D5-AEEF-C96DAC0F807E}" type="presOf" srcId="{C0E78399-E86D-46A1-9B83-5B83C44153A3}" destId="{C9D4894C-6FB3-4114-8AC5-F1FF01B28D84}" srcOrd="0" destOrd="0" presId="urn:microsoft.com/office/officeart/2008/layout/HorizontalMultiLevelHierarchy"/>
    <dgm:cxn modelId="{B75AE869-CFF9-441C-9EDB-C1CA67D90355}" srcId="{79775F32-B202-464E-9640-1E6606F5941B}" destId="{6F68EDD6-95C9-4D8A-A289-072504FD9E0E}" srcOrd="0" destOrd="0" parTransId="{C0E78399-E86D-46A1-9B83-5B83C44153A3}" sibTransId="{E67584EF-81E3-4142-9596-FED347509B6E}"/>
    <dgm:cxn modelId="{5F01122E-9908-4870-B801-C5EF95F8C7E6}" srcId="{79775F32-B202-464E-9640-1E6606F5941B}" destId="{4C5F668F-0712-4AE3-81B1-A6B25DEB8A4F}" srcOrd="3" destOrd="0" parTransId="{FAD3BDDA-22C3-4D00-BABC-7575325A1FC5}" sibTransId="{6264AE26-1365-4D1B-9A0D-7EDA0C145ADC}"/>
    <dgm:cxn modelId="{57B8E3BB-F903-47C7-8154-AE9DE170E772}" type="presOf" srcId="{6F68EDD6-95C9-4D8A-A289-072504FD9E0E}" destId="{DAA58094-F7EC-499E-AC30-754574D8DBB3}" srcOrd="0" destOrd="0" presId="urn:microsoft.com/office/officeart/2008/layout/HorizontalMultiLevelHierarchy"/>
    <dgm:cxn modelId="{E05834CA-543E-41F3-B47B-F3F8C8A2C226}" type="presOf" srcId="{C929D1B3-70C1-402B-BB3B-5B0E6F78CDD9}" destId="{14398D2B-1493-405E-8E1F-B4B0B5DAFFF5}" srcOrd="0" destOrd="0" presId="urn:microsoft.com/office/officeart/2008/layout/HorizontalMultiLevelHierarchy"/>
    <dgm:cxn modelId="{B6292CE6-AB4F-4FFE-BEA5-A0887B517FB8}" srcId="{78BBE936-5807-4294-9AC5-950CB5C59735}" destId="{79775F32-B202-464E-9640-1E6606F5941B}" srcOrd="0" destOrd="0" parTransId="{7287996F-F258-41E6-B37F-0FF50C61D6B4}" sibTransId="{6AF841A7-0EDD-45AD-B972-2FFD7D8E1281}"/>
    <dgm:cxn modelId="{9C5A7D1F-E2BA-4235-BEBD-03F3E4957E44}" srcId="{79775F32-B202-464E-9640-1E6606F5941B}" destId="{99BF4384-EC2E-4A71-96A3-7B686936BFC4}" srcOrd="1" destOrd="0" parTransId="{C929D1B3-70C1-402B-BB3B-5B0E6F78CDD9}" sibTransId="{9A653AFB-3DCE-44EA-A049-0A1CBE40E700}"/>
    <dgm:cxn modelId="{9FF26FB4-E3A8-448B-954E-0F3173F26A61}" srcId="{79775F32-B202-464E-9640-1E6606F5941B}" destId="{BA3261C8-A5A4-471F-BA12-31BDC2FA9D2C}" srcOrd="6" destOrd="0" parTransId="{4FC49B12-7F76-45A1-9223-A1B8F4942878}" sibTransId="{0C9E197E-2C10-4895-9A43-61EF0A570B1B}"/>
    <dgm:cxn modelId="{7DEBA19A-80BC-4805-A60E-997417B05299}" type="presOf" srcId="{BA288C98-8E0F-4C84-8B4A-04E460EA9A48}" destId="{3E3DD988-B523-4634-959D-0983C035A5AC}" srcOrd="0" destOrd="0" presId="urn:microsoft.com/office/officeart/2008/layout/HorizontalMultiLevelHierarchy"/>
    <dgm:cxn modelId="{3C6FAE23-B4C6-4820-95EE-6C4333E884CE}" type="presOf" srcId="{ECBA59C1-8F3E-4236-BD22-0661847F1484}" destId="{7087F877-25CD-4532-ADF7-A24278532BCF}" srcOrd="0" destOrd="0" presId="urn:microsoft.com/office/officeart/2008/layout/HorizontalMultiLevelHierarchy"/>
    <dgm:cxn modelId="{5661F469-B0F9-4F86-B1E3-F856C6B16C4C}" type="presOf" srcId="{4C5F668F-0712-4AE3-81B1-A6B25DEB8A4F}" destId="{043370E8-1008-45C6-8CF8-7AC761D849D5}" srcOrd="0" destOrd="0" presId="urn:microsoft.com/office/officeart/2008/layout/HorizontalMultiLevelHierarchy"/>
    <dgm:cxn modelId="{24BE48C7-216E-4C92-9585-0BCEA78549F5}" type="presOf" srcId="{FAD3BDDA-22C3-4D00-BABC-7575325A1FC5}" destId="{A713E7C2-C9CA-4DDD-B8F7-F55DE8704EC4}" srcOrd="0" destOrd="0" presId="urn:microsoft.com/office/officeart/2008/layout/HorizontalMultiLevelHierarchy"/>
    <dgm:cxn modelId="{F4F608F1-1F33-4199-A4AA-A38713E075ED}" type="presOf" srcId="{A0419A98-1D15-46E2-A030-DC0326FC1221}" destId="{15E5783A-5C58-4D42-BB9C-C017F0043C0D}" srcOrd="0" destOrd="0" presId="urn:microsoft.com/office/officeart/2008/layout/HorizontalMultiLevelHierarchy"/>
    <dgm:cxn modelId="{6DB7F1DA-65B1-4E82-822E-A06928C6E0D2}" srcId="{79775F32-B202-464E-9640-1E6606F5941B}" destId="{ECBA59C1-8F3E-4236-BD22-0661847F1484}" srcOrd="2" destOrd="0" parTransId="{73F57B77-87F2-4222-8EB3-94089DAF9C49}" sibTransId="{123BB044-3D5D-4BF5-B862-EDDC20C7EE46}"/>
    <dgm:cxn modelId="{B9A71D54-D757-41A2-9040-2BC8B754A043}" srcId="{79775F32-B202-464E-9640-1E6606F5941B}" destId="{A0419A98-1D15-46E2-A030-DC0326FC1221}" srcOrd="4" destOrd="0" parTransId="{CC659645-9FBC-4288-B7A3-9F542DBF8790}" sibTransId="{8F6A227D-3D2C-40CC-A721-B919FAD87D8C}"/>
    <dgm:cxn modelId="{2171ABCF-692E-402C-90A9-26AAFB78432C}" type="presOf" srcId="{C0E78399-E86D-46A1-9B83-5B83C44153A3}" destId="{C389982F-225F-4D10-89E4-6B39B566CB74}" srcOrd="1" destOrd="0" presId="urn:microsoft.com/office/officeart/2008/layout/HorizontalMultiLevelHierarchy"/>
    <dgm:cxn modelId="{CD5F1773-8575-4872-B288-6A361730A03F}" type="presOf" srcId="{78BBE936-5807-4294-9AC5-950CB5C59735}" destId="{90936A2C-474A-40A0-8FB4-D09A9FD11BF3}" srcOrd="0" destOrd="0" presId="urn:microsoft.com/office/officeart/2008/layout/HorizontalMultiLevelHierarchy"/>
    <dgm:cxn modelId="{66AB6F6C-6662-46E0-9034-D71FE9EB2BD5}" type="presOf" srcId="{99BF4384-EC2E-4A71-96A3-7B686936BFC4}" destId="{63DB5AD8-3674-470E-A66F-5DF5FE252062}" srcOrd="0" destOrd="0" presId="urn:microsoft.com/office/officeart/2008/layout/HorizontalMultiLevelHierarchy"/>
    <dgm:cxn modelId="{C2136F0C-27C9-479A-9CE8-B0E1FA66E1FC}" type="presOf" srcId="{CC659645-9FBC-4288-B7A3-9F542DBF8790}" destId="{85F4DAF2-27B8-4573-A1FC-76DC7C166C1F}" srcOrd="0" destOrd="0" presId="urn:microsoft.com/office/officeart/2008/layout/HorizontalMultiLevelHierarchy"/>
    <dgm:cxn modelId="{E0C69348-7A55-4DD2-AAC4-8DFF68B0A9CC}" type="presOf" srcId="{E95DACD6-38B0-468C-A839-0F0D52E21088}" destId="{1595C97C-C25D-4DB8-9029-709CFB79380F}" srcOrd="0" destOrd="0" presId="urn:microsoft.com/office/officeart/2008/layout/HorizontalMultiLevelHierarchy"/>
    <dgm:cxn modelId="{F27E5541-CF15-4CE1-8EEF-959AED37F902}" type="presOf" srcId="{FAD3BDDA-22C3-4D00-BABC-7575325A1FC5}" destId="{1039FBBF-A808-4CEB-B5F2-1D43164DAF8B}" srcOrd="1" destOrd="0" presId="urn:microsoft.com/office/officeart/2008/layout/HorizontalMultiLevelHierarchy"/>
    <dgm:cxn modelId="{FAF0407C-2899-45AC-BFD4-EC94F1F78116}" srcId="{79775F32-B202-464E-9640-1E6606F5941B}" destId="{BA288C98-8E0F-4C84-8B4A-04E460EA9A48}" srcOrd="5" destOrd="0" parTransId="{E95DACD6-38B0-468C-A839-0F0D52E21088}" sibTransId="{C7A8D099-F91C-4A72-9B60-50FABFF457C0}"/>
    <dgm:cxn modelId="{9114BD88-898E-4E95-816F-8D67D12A098D}" type="presOf" srcId="{73F57B77-87F2-4222-8EB3-94089DAF9C49}" destId="{66831C1B-714D-414E-A9A7-2ACD49BCEDBB}" srcOrd="1" destOrd="0" presId="urn:microsoft.com/office/officeart/2008/layout/HorizontalMultiLevelHierarchy"/>
    <dgm:cxn modelId="{64EF0B88-CC15-4ECB-ABA1-AC707F689C2C}" type="presOf" srcId="{73F57B77-87F2-4222-8EB3-94089DAF9C49}" destId="{C2CDF49A-C693-4935-94EA-F2F8DC2F966B}" srcOrd="0" destOrd="0" presId="urn:microsoft.com/office/officeart/2008/layout/HorizontalMultiLevelHierarchy"/>
    <dgm:cxn modelId="{A7C48842-DF52-405E-A290-5CDF9613F9BD}" type="presOf" srcId="{CC659645-9FBC-4288-B7A3-9F542DBF8790}" destId="{CD54C6C9-A6AE-49B3-B38E-6AED4D77D3A5}" srcOrd="1" destOrd="0" presId="urn:microsoft.com/office/officeart/2008/layout/HorizontalMultiLevelHierarchy"/>
    <dgm:cxn modelId="{BF5A090C-EB3E-469A-B3E7-F605FB746E88}" type="presOf" srcId="{E95DACD6-38B0-468C-A839-0F0D52E21088}" destId="{85B2F3F6-3471-4271-87CB-36FB88A7CAD0}" srcOrd="1" destOrd="0" presId="urn:microsoft.com/office/officeart/2008/layout/HorizontalMultiLevelHierarchy"/>
    <dgm:cxn modelId="{48BD1E4D-6386-41A6-8B63-36CD062DBD0D}" type="presOf" srcId="{79775F32-B202-464E-9640-1E6606F5941B}" destId="{CCF6EFD0-12E8-4C3E-9D70-2524CE83D9E9}" srcOrd="0" destOrd="0" presId="urn:microsoft.com/office/officeart/2008/layout/HorizontalMultiLevelHierarchy"/>
    <dgm:cxn modelId="{36421B75-DD36-467A-9B88-B3569ECC126A}" type="presOf" srcId="{C929D1B3-70C1-402B-BB3B-5B0E6F78CDD9}" destId="{2505148E-9352-4460-A0FB-A7DD97473071}" srcOrd="1" destOrd="0" presId="urn:microsoft.com/office/officeart/2008/layout/HorizontalMultiLevelHierarchy"/>
    <dgm:cxn modelId="{3E5EEB8B-B03A-40EA-97F2-35F83237EEB5}" type="presParOf" srcId="{90936A2C-474A-40A0-8FB4-D09A9FD11BF3}" destId="{C5A99A2E-09BC-4106-9D5D-F4645423404B}" srcOrd="0" destOrd="0" presId="urn:microsoft.com/office/officeart/2008/layout/HorizontalMultiLevelHierarchy"/>
    <dgm:cxn modelId="{E0526C6F-A95A-460F-88A6-A128BC787E66}" type="presParOf" srcId="{C5A99A2E-09BC-4106-9D5D-F4645423404B}" destId="{CCF6EFD0-12E8-4C3E-9D70-2524CE83D9E9}" srcOrd="0" destOrd="0" presId="urn:microsoft.com/office/officeart/2008/layout/HorizontalMultiLevelHierarchy"/>
    <dgm:cxn modelId="{43E4CD28-41BD-41DE-8642-6643E4D3C3E3}" type="presParOf" srcId="{C5A99A2E-09BC-4106-9D5D-F4645423404B}" destId="{5A7679E5-E590-4C82-B793-08FD95695284}" srcOrd="1" destOrd="0" presId="urn:microsoft.com/office/officeart/2008/layout/HorizontalMultiLevelHierarchy"/>
    <dgm:cxn modelId="{357E07EB-8EBA-4932-A501-039DFA3AA68B}" type="presParOf" srcId="{5A7679E5-E590-4C82-B793-08FD95695284}" destId="{C9D4894C-6FB3-4114-8AC5-F1FF01B28D84}" srcOrd="0" destOrd="0" presId="urn:microsoft.com/office/officeart/2008/layout/HorizontalMultiLevelHierarchy"/>
    <dgm:cxn modelId="{7BEC8E1B-D05C-4AA4-A4CC-1B91A9327AD1}" type="presParOf" srcId="{C9D4894C-6FB3-4114-8AC5-F1FF01B28D84}" destId="{C389982F-225F-4D10-89E4-6B39B566CB74}" srcOrd="0" destOrd="0" presId="urn:microsoft.com/office/officeart/2008/layout/HorizontalMultiLevelHierarchy"/>
    <dgm:cxn modelId="{E44A5323-786D-4C7B-8E4A-2357D6CB73C7}" type="presParOf" srcId="{5A7679E5-E590-4C82-B793-08FD95695284}" destId="{A8C18908-09D4-46B9-A95F-100CFBB337E1}" srcOrd="1" destOrd="0" presId="urn:microsoft.com/office/officeart/2008/layout/HorizontalMultiLevelHierarchy"/>
    <dgm:cxn modelId="{C9FFE9DA-23C8-49EA-A923-8ECC47A32AE8}" type="presParOf" srcId="{A8C18908-09D4-46B9-A95F-100CFBB337E1}" destId="{DAA58094-F7EC-499E-AC30-754574D8DBB3}" srcOrd="0" destOrd="0" presId="urn:microsoft.com/office/officeart/2008/layout/HorizontalMultiLevelHierarchy"/>
    <dgm:cxn modelId="{7144C9C3-E488-45E7-AACF-B49E7624F121}" type="presParOf" srcId="{A8C18908-09D4-46B9-A95F-100CFBB337E1}" destId="{5357D9EC-CDE8-4CA5-A06B-3A08F6B52F76}" srcOrd="1" destOrd="0" presId="urn:microsoft.com/office/officeart/2008/layout/HorizontalMultiLevelHierarchy"/>
    <dgm:cxn modelId="{732630F6-4AE9-44C0-8A28-2F3281D6B361}" type="presParOf" srcId="{5A7679E5-E590-4C82-B793-08FD95695284}" destId="{14398D2B-1493-405E-8E1F-B4B0B5DAFFF5}" srcOrd="2" destOrd="0" presId="urn:microsoft.com/office/officeart/2008/layout/HorizontalMultiLevelHierarchy"/>
    <dgm:cxn modelId="{D98F1325-F854-4AEC-9624-45562218C34E}" type="presParOf" srcId="{14398D2B-1493-405E-8E1F-B4B0B5DAFFF5}" destId="{2505148E-9352-4460-A0FB-A7DD97473071}" srcOrd="0" destOrd="0" presId="urn:microsoft.com/office/officeart/2008/layout/HorizontalMultiLevelHierarchy"/>
    <dgm:cxn modelId="{8CBE809B-3DF5-49AE-9A6F-808BB29CF8A1}" type="presParOf" srcId="{5A7679E5-E590-4C82-B793-08FD95695284}" destId="{5C5653AA-D232-4861-862F-4CAE8E6F3052}" srcOrd="3" destOrd="0" presId="urn:microsoft.com/office/officeart/2008/layout/HorizontalMultiLevelHierarchy"/>
    <dgm:cxn modelId="{3DBF673F-2A4F-4959-A8DD-A58CE474F21E}" type="presParOf" srcId="{5C5653AA-D232-4861-862F-4CAE8E6F3052}" destId="{63DB5AD8-3674-470E-A66F-5DF5FE252062}" srcOrd="0" destOrd="0" presId="urn:microsoft.com/office/officeart/2008/layout/HorizontalMultiLevelHierarchy"/>
    <dgm:cxn modelId="{5324577C-9CEF-4BE3-86A1-2D1D551BC701}" type="presParOf" srcId="{5C5653AA-D232-4861-862F-4CAE8E6F3052}" destId="{B6EEA845-C9D6-4E01-A81E-7D07CA664CE7}" srcOrd="1" destOrd="0" presId="urn:microsoft.com/office/officeart/2008/layout/HorizontalMultiLevelHierarchy"/>
    <dgm:cxn modelId="{AB89ECFF-0E14-4497-8375-85282D65996F}" type="presParOf" srcId="{5A7679E5-E590-4C82-B793-08FD95695284}" destId="{C2CDF49A-C693-4935-94EA-F2F8DC2F966B}" srcOrd="4" destOrd="0" presId="urn:microsoft.com/office/officeart/2008/layout/HorizontalMultiLevelHierarchy"/>
    <dgm:cxn modelId="{00518298-37C0-4DEE-93DF-EE9A7A49759F}" type="presParOf" srcId="{C2CDF49A-C693-4935-94EA-F2F8DC2F966B}" destId="{66831C1B-714D-414E-A9A7-2ACD49BCEDBB}" srcOrd="0" destOrd="0" presId="urn:microsoft.com/office/officeart/2008/layout/HorizontalMultiLevelHierarchy"/>
    <dgm:cxn modelId="{2EAD3C1E-2EDB-41C2-9EA2-AC2A2568EBA6}" type="presParOf" srcId="{5A7679E5-E590-4C82-B793-08FD95695284}" destId="{CFAA4EE3-92CB-4CD4-91DA-A14C80E4FD09}" srcOrd="5" destOrd="0" presId="urn:microsoft.com/office/officeart/2008/layout/HorizontalMultiLevelHierarchy"/>
    <dgm:cxn modelId="{012856B3-96D2-4393-9BDB-C7EDCE10C470}" type="presParOf" srcId="{CFAA4EE3-92CB-4CD4-91DA-A14C80E4FD09}" destId="{7087F877-25CD-4532-ADF7-A24278532BCF}" srcOrd="0" destOrd="0" presId="urn:microsoft.com/office/officeart/2008/layout/HorizontalMultiLevelHierarchy"/>
    <dgm:cxn modelId="{5A7DAB45-7183-4971-B743-9ED2419E668B}" type="presParOf" srcId="{CFAA4EE3-92CB-4CD4-91DA-A14C80E4FD09}" destId="{37BD228B-10F7-45F8-B3B1-4846343D6F86}" srcOrd="1" destOrd="0" presId="urn:microsoft.com/office/officeart/2008/layout/HorizontalMultiLevelHierarchy"/>
    <dgm:cxn modelId="{754D55C5-BBBD-4F28-A871-B1F8E4ED6513}" type="presParOf" srcId="{5A7679E5-E590-4C82-B793-08FD95695284}" destId="{A713E7C2-C9CA-4DDD-B8F7-F55DE8704EC4}" srcOrd="6" destOrd="0" presId="urn:microsoft.com/office/officeart/2008/layout/HorizontalMultiLevelHierarchy"/>
    <dgm:cxn modelId="{9C23911F-4699-4CFC-903A-0B3631AE9A6C}" type="presParOf" srcId="{A713E7C2-C9CA-4DDD-B8F7-F55DE8704EC4}" destId="{1039FBBF-A808-4CEB-B5F2-1D43164DAF8B}" srcOrd="0" destOrd="0" presId="urn:microsoft.com/office/officeart/2008/layout/HorizontalMultiLevelHierarchy"/>
    <dgm:cxn modelId="{2AAF4134-689E-4835-BCC2-69C3328D283E}" type="presParOf" srcId="{5A7679E5-E590-4C82-B793-08FD95695284}" destId="{E4344451-C1CD-4629-A422-8D71D9F8EDFE}" srcOrd="7" destOrd="0" presId="urn:microsoft.com/office/officeart/2008/layout/HorizontalMultiLevelHierarchy"/>
    <dgm:cxn modelId="{6A10C629-1932-4471-8E48-ADD41BB3630C}" type="presParOf" srcId="{E4344451-C1CD-4629-A422-8D71D9F8EDFE}" destId="{043370E8-1008-45C6-8CF8-7AC761D849D5}" srcOrd="0" destOrd="0" presId="urn:microsoft.com/office/officeart/2008/layout/HorizontalMultiLevelHierarchy"/>
    <dgm:cxn modelId="{F8E65C0F-7920-4EDC-8628-3575FE7C4FE2}" type="presParOf" srcId="{E4344451-C1CD-4629-A422-8D71D9F8EDFE}" destId="{8FEC7747-7F04-4AA3-9E4C-D14942559E36}" srcOrd="1" destOrd="0" presId="urn:microsoft.com/office/officeart/2008/layout/HorizontalMultiLevelHierarchy"/>
    <dgm:cxn modelId="{0000C4EA-FFCC-4345-90F7-EB2C16ACC8F7}" type="presParOf" srcId="{5A7679E5-E590-4C82-B793-08FD95695284}" destId="{85F4DAF2-27B8-4573-A1FC-76DC7C166C1F}" srcOrd="8" destOrd="0" presId="urn:microsoft.com/office/officeart/2008/layout/HorizontalMultiLevelHierarchy"/>
    <dgm:cxn modelId="{CE4050AA-0BC1-4A6C-B205-83D09CBF7B22}" type="presParOf" srcId="{85F4DAF2-27B8-4573-A1FC-76DC7C166C1F}" destId="{CD54C6C9-A6AE-49B3-B38E-6AED4D77D3A5}" srcOrd="0" destOrd="0" presId="urn:microsoft.com/office/officeart/2008/layout/HorizontalMultiLevelHierarchy"/>
    <dgm:cxn modelId="{CF12AE05-F46B-47D4-B18C-9B3D84FC7371}" type="presParOf" srcId="{5A7679E5-E590-4C82-B793-08FD95695284}" destId="{4031F36D-3CAF-4906-9693-3887766F6CD4}" srcOrd="9" destOrd="0" presId="urn:microsoft.com/office/officeart/2008/layout/HorizontalMultiLevelHierarchy"/>
    <dgm:cxn modelId="{363741FE-E1BB-405F-BC64-2CD3863B885C}" type="presParOf" srcId="{4031F36D-3CAF-4906-9693-3887766F6CD4}" destId="{15E5783A-5C58-4D42-BB9C-C017F0043C0D}" srcOrd="0" destOrd="0" presId="urn:microsoft.com/office/officeart/2008/layout/HorizontalMultiLevelHierarchy"/>
    <dgm:cxn modelId="{54D0D9EB-920B-4FC6-8D30-B6A76CA2BD31}" type="presParOf" srcId="{4031F36D-3CAF-4906-9693-3887766F6CD4}" destId="{CCA13CA6-32A5-4204-80D2-3276FD491003}" srcOrd="1" destOrd="0" presId="urn:microsoft.com/office/officeart/2008/layout/HorizontalMultiLevelHierarchy"/>
    <dgm:cxn modelId="{CAF40D7B-75A9-4377-BBFE-8983DE61458D}" type="presParOf" srcId="{5A7679E5-E590-4C82-B793-08FD95695284}" destId="{1595C97C-C25D-4DB8-9029-709CFB79380F}" srcOrd="10" destOrd="0" presId="urn:microsoft.com/office/officeart/2008/layout/HorizontalMultiLevelHierarchy"/>
    <dgm:cxn modelId="{5878F83A-6BEB-4022-BE50-BEC0E2ED32CC}" type="presParOf" srcId="{1595C97C-C25D-4DB8-9029-709CFB79380F}" destId="{85B2F3F6-3471-4271-87CB-36FB88A7CAD0}" srcOrd="0" destOrd="0" presId="urn:microsoft.com/office/officeart/2008/layout/HorizontalMultiLevelHierarchy"/>
    <dgm:cxn modelId="{FA04AB6A-31E7-401A-A28E-689967BDC4E3}" type="presParOf" srcId="{5A7679E5-E590-4C82-B793-08FD95695284}" destId="{11191168-847B-4C5B-832C-1EA6951076AF}" srcOrd="11" destOrd="0" presId="urn:microsoft.com/office/officeart/2008/layout/HorizontalMultiLevelHierarchy"/>
    <dgm:cxn modelId="{40FB402B-B147-4ADA-8F12-8993D096E5F1}" type="presParOf" srcId="{11191168-847B-4C5B-832C-1EA6951076AF}" destId="{3E3DD988-B523-4634-959D-0983C035A5AC}" srcOrd="0" destOrd="0" presId="urn:microsoft.com/office/officeart/2008/layout/HorizontalMultiLevelHierarchy"/>
    <dgm:cxn modelId="{6AB5EF32-0CB2-40AA-A00A-E38C7EEB8E04}" type="presParOf" srcId="{11191168-847B-4C5B-832C-1EA6951076AF}" destId="{9DB0D4BC-2293-42D6-9200-DF17DC71290D}" srcOrd="1" destOrd="0" presId="urn:microsoft.com/office/officeart/2008/layout/HorizontalMultiLevelHierarchy"/>
    <dgm:cxn modelId="{7FC3C8C0-09FC-4C0B-A16A-C609AF9DE3A4}" type="presParOf" srcId="{5A7679E5-E590-4C82-B793-08FD95695284}" destId="{B5576AC9-90AC-4E5C-855F-699914CCA372}" srcOrd="12" destOrd="0" presId="urn:microsoft.com/office/officeart/2008/layout/HorizontalMultiLevelHierarchy"/>
    <dgm:cxn modelId="{25BE87A0-E398-4764-A159-4381B4584419}" type="presParOf" srcId="{B5576AC9-90AC-4E5C-855F-699914CCA372}" destId="{8BC5460D-823E-4A06-9852-BE88350F6228}" srcOrd="0" destOrd="0" presId="urn:microsoft.com/office/officeart/2008/layout/HorizontalMultiLevelHierarchy"/>
    <dgm:cxn modelId="{18FC22B1-54F3-44A9-9697-232ED6156152}" type="presParOf" srcId="{5A7679E5-E590-4C82-B793-08FD95695284}" destId="{D144576D-9688-4A42-9665-23C58DFC27E3}" srcOrd="13" destOrd="0" presId="urn:microsoft.com/office/officeart/2008/layout/HorizontalMultiLevelHierarchy"/>
    <dgm:cxn modelId="{4ECE67F7-E404-4917-B1BC-343D8CA4359A}" type="presParOf" srcId="{D144576D-9688-4A42-9665-23C58DFC27E3}" destId="{1AC45F6D-380F-474A-B9F7-F69153D51D59}" srcOrd="0" destOrd="0" presId="urn:microsoft.com/office/officeart/2008/layout/HorizontalMultiLevelHierarchy"/>
    <dgm:cxn modelId="{0D02C605-7F6F-4A77-9CB7-B16E3C370868}" type="presParOf" srcId="{D144576D-9688-4A42-9665-23C58DFC27E3}" destId="{B23C4B0D-2253-4DE1-BA55-004DC804A59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10" Type="http://schemas.openxmlformats.org/officeDocument/2006/relationships/image" Target="../media/image9.sv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12.png"/><Relationship Id="rId3" Type="http://schemas.openxmlformats.org/officeDocument/2006/relationships/image" Target="../media/image11.svg"/><Relationship Id="rId7" Type="http://schemas.openxmlformats.org/officeDocument/2006/relationships/image" Target="../media/image9.png"/><Relationship Id="rId12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17.svg"/><Relationship Id="rId4" Type="http://schemas.openxmlformats.org/officeDocument/2006/relationships/chart" Target="../charts/chart1.xml"/><Relationship Id="rId9" Type="http://schemas.openxmlformats.org/officeDocument/2006/relationships/image" Target="../media/image10.png"/><Relationship Id="rId1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31.svg"/><Relationship Id="rId18" Type="http://schemas.openxmlformats.org/officeDocument/2006/relationships/image" Target="../media/image21.png"/><Relationship Id="rId26" Type="http://schemas.openxmlformats.org/officeDocument/2006/relationships/image" Target="../media/image25.png"/><Relationship Id="rId3" Type="http://schemas.openxmlformats.org/officeDocument/2006/relationships/image" Target="../media/image21.svg"/><Relationship Id="rId21" Type="http://schemas.microsoft.com/office/2007/relationships/hdphoto" Target="../media/hdphoto4.wdp"/><Relationship Id="rId34" Type="http://schemas.openxmlformats.org/officeDocument/2006/relationships/image" Target="../media/image29.png"/><Relationship Id="rId7" Type="http://schemas.openxmlformats.org/officeDocument/2006/relationships/image" Target="../media/image25.svg"/><Relationship Id="rId12" Type="http://schemas.openxmlformats.org/officeDocument/2006/relationships/image" Target="../media/image18.png"/><Relationship Id="rId17" Type="http://schemas.openxmlformats.org/officeDocument/2006/relationships/image" Target="../media/image35.svg"/><Relationship Id="rId25" Type="http://schemas.openxmlformats.org/officeDocument/2006/relationships/image" Target="../media/image41.svg"/><Relationship Id="rId33" Type="http://schemas.openxmlformats.org/officeDocument/2006/relationships/image" Target="../media/image49.svg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20" Type="http://schemas.openxmlformats.org/officeDocument/2006/relationships/image" Target="../media/image22.png"/><Relationship Id="rId29" Type="http://schemas.openxmlformats.org/officeDocument/2006/relationships/image" Target="../media/image4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9.svg"/><Relationship Id="rId24" Type="http://schemas.openxmlformats.org/officeDocument/2006/relationships/image" Target="../media/image24.png"/><Relationship Id="rId32" Type="http://schemas.openxmlformats.org/officeDocument/2006/relationships/image" Target="../media/image28.png"/><Relationship Id="rId37" Type="http://schemas.openxmlformats.org/officeDocument/2006/relationships/image" Target="../media/image53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23" Type="http://schemas.openxmlformats.org/officeDocument/2006/relationships/image" Target="../media/image39.svg"/><Relationship Id="rId28" Type="http://schemas.openxmlformats.org/officeDocument/2006/relationships/image" Target="../media/image26.png"/><Relationship Id="rId36" Type="http://schemas.openxmlformats.org/officeDocument/2006/relationships/image" Target="../media/image30.png"/><Relationship Id="rId10" Type="http://schemas.openxmlformats.org/officeDocument/2006/relationships/image" Target="../media/image17.png"/><Relationship Id="rId19" Type="http://schemas.microsoft.com/office/2007/relationships/hdphoto" Target="../media/hdphoto3.wdp"/><Relationship Id="rId31" Type="http://schemas.openxmlformats.org/officeDocument/2006/relationships/image" Target="../media/image47.svg"/><Relationship Id="rId4" Type="http://schemas.openxmlformats.org/officeDocument/2006/relationships/image" Target="../media/image14.png"/><Relationship Id="rId9" Type="http://schemas.openxmlformats.org/officeDocument/2006/relationships/image" Target="../media/image27.svg"/><Relationship Id="rId14" Type="http://schemas.openxmlformats.org/officeDocument/2006/relationships/image" Target="../media/image19.png"/><Relationship Id="rId22" Type="http://schemas.openxmlformats.org/officeDocument/2006/relationships/image" Target="../media/image23.png"/><Relationship Id="rId27" Type="http://schemas.openxmlformats.org/officeDocument/2006/relationships/image" Target="../media/image43.svg"/><Relationship Id="rId30" Type="http://schemas.openxmlformats.org/officeDocument/2006/relationships/image" Target="../media/image27.png"/><Relationship Id="rId35" Type="http://schemas.openxmlformats.org/officeDocument/2006/relationships/image" Target="../media/image5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13" Type="http://schemas.openxmlformats.org/officeDocument/2006/relationships/image" Target="../media/image37.png"/><Relationship Id="rId18" Type="http://schemas.openxmlformats.org/officeDocument/2006/relationships/image" Target="../media/image41.jpeg"/><Relationship Id="rId26" Type="http://schemas.openxmlformats.org/officeDocument/2006/relationships/image" Target="../media/image49.png"/><Relationship Id="rId3" Type="http://schemas.openxmlformats.org/officeDocument/2006/relationships/image" Target="../media/image55.svg"/><Relationship Id="rId21" Type="http://schemas.openxmlformats.org/officeDocument/2006/relationships/image" Target="../media/image44.jpeg"/><Relationship Id="rId34" Type="http://schemas.openxmlformats.org/officeDocument/2006/relationships/image" Target="../media/image53.png"/><Relationship Id="rId7" Type="http://schemas.openxmlformats.org/officeDocument/2006/relationships/image" Target="../media/image34.png"/><Relationship Id="rId12" Type="http://schemas.openxmlformats.org/officeDocument/2006/relationships/image" Target="../media/image64.svg"/><Relationship Id="rId17" Type="http://schemas.openxmlformats.org/officeDocument/2006/relationships/image" Target="../media/image40.jpeg"/><Relationship Id="rId25" Type="http://schemas.openxmlformats.org/officeDocument/2006/relationships/image" Target="../media/image48.png"/><Relationship Id="rId33" Type="http://schemas.openxmlformats.org/officeDocument/2006/relationships/image" Target="../media/image85.svg"/><Relationship Id="rId2" Type="http://schemas.openxmlformats.org/officeDocument/2006/relationships/image" Target="../media/image31.png"/><Relationship Id="rId16" Type="http://schemas.openxmlformats.org/officeDocument/2006/relationships/image" Target="../media/image39.jpeg"/><Relationship Id="rId20" Type="http://schemas.openxmlformats.org/officeDocument/2006/relationships/image" Target="../media/image43.png"/><Relationship Id="rId29" Type="http://schemas.openxmlformats.org/officeDocument/2006/relationships/image" Target="../media/image8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24" Type="http://schemas.openxmlformats.org/officeDocument/2006/relationships/image" Target="../media/image47.png"/><Relationship Id="rId32" Type="http://schemas.openxmlformats.org/officeDocument/2006/relationships/image" Target="../media/image52.png"/><Relationship Id="rId5" Type="http://schemas.openxmlformats.org/officeDocument/2006/relationships/image" Target="../media/image57.svg"/><Relationship Id="rId15" Type="http://schemas.openxmlformats.org/officeDocument/2006/relationships/image" Target="../media/image38.jpeg"/><Relationship Id="rId23" Type="http://schemas.openxmlformats.org/officeDocument/2006/relationships/image" Target="../media/image46.jpeg"/><Relationship Id="rId28" Type="http://schemas.openxmlformats.org/officeDocument/2006/relationships/image" Target="../media/image50.png"/><Relationship Id="rId10" Type="http://schemas.openxmlformats.org/officeDocument/2006/relationships/image" Target="../media/image62.svg"/><Relationship Id="rId19" Type="http://schemas.openxmlformats.org/officeDocument/2006/relationships/image" Target="../media/image42.png"/><Relationship Id="rId31" Type="http://schemas.openxmlformats.org/officeDocument/2006/relationships/image" Target="../media/image83.svg"/><Relationship Id="rId4" Type="http://schemas.openxmlformats.org/officeDocument/2006/relationships/image" Target="../media/image32.png"/><Relationship Id="rId9" Type="http://schemas.openxmlformats.org/officeDocument/2006/relationships/image" Target="../media/image35.png"/><Relationship Id="rId14" Type="http://schemas.openxmlformats.org/officeDocument/2006/relationships/image" Target="../media/image66.svg"/><Relationship Id="rId22" Type="http://schemas.openxmlformats.org/officeDocument/2006/relationships/image" Target="../media/image45.jpeg"/><Relationship Id="rId27" Type="http://schemas.openxmlformats.org/officeDocument/2006/relationships/image" Target="../media/image79.svg"/><Relationship Id="rId30" Type="http://schemas.openxmlformats.org/officeDocument/2006/relationships/image" Target="../media/image51.png"/><Relationship Id="rId35" Type="http://schemas.openxmlformats.org/officeDocument/2006/relationships/image" Target="../media/image8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89.svg"/><Relationship Id="rId7" Type="http://schemas.openxmlformats.org/officeDocument/2006/relationships/image" Target="../media/image93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91.svg"/><Relationship Id="rId10" Type="http://schemas.openxmlformats.org/officeDocument/2006/relationships/image" Target="../media/image58.png"/><Relationship Id="rId4" Type="http://schemas.openxmlformats.org/officeDocument/2006/relationships/image" Target="../media/image55.png"/><Relationship Id="rId9" Type="http://schemas.openxmlformats.org/officeDocument/2006/relationships/image" Target="../media/image95.sv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8.svg"/><Relationship Id="rId7" Type="http://schemas.openxmlformats.org/officeDocument/2006/relationships/diagramColors" Target="../diagrams/colors1.xml"/><Relationship Id="rId12" Type="http://schemas.openxmlformats.org/officeDocument/2006/relationships/chart" Target="../charts/chart6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chart" Target="../charts/chart5.xml"/><Relationship Id="rId5" Type="http://schemas.openxmlformats.org/officeDocument/2006/relationships/diagramLayout" Target="../diagrams/layout1.xml"/><Relationship Id="rId10" Type="http://schemas.openxmlformats.org/officeDocument/2006/relationships/chart" Target="../charts/chart4.xml"/><Relationship Id="rId4" Type="http://schemas.openxmlformats.org/officeDocument/2006/relationships/diagramData" Target="../diagrams/data1.xml"/><Relationship Id="rId9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00.svg"/><Relationship Id="rId7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chart" Target="../charts/chart8.xml"/><Relationship Id="rId10" Type="http://schemas.openxmlformats.org/officeDocument/2006/relationships/image" Target="../media/image65.jpeg"/><Relationship Id="rId4" Type="http://schemas.openxmlformats.org/officeDocument/2006/relationships/chart" Target="../charts/chart7.xml"/><Relationship Id="rId9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1780579" y="4542985"/>
            <a:ext cx="11182082" cy="1929323"/>
            <a:chOff x="0" y="0"/>
            <a:chExt cx="3149472" cy="5081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49472" cy="508135"/>
            </a:xfrm>
            <a:custGeom>
              <a:avLst/>
              <a:gdLst/>
              <a:ahLst/>
              <a:cxnLst/>
              <a:rect l="l" t="t" r="r" b="b"/>
              <a:pathLst>
                <a:path w="3149472" h="508135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208957" y="-101114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380940" y="649592"/>
            <a:ext cx="7516996" cy="8987817"/>
            <a:chOff x="0" y="0"/>
            <a:chExt cx="8603361" cy="10286746"/>
          </a:xfr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7" name="Freeform 7"/>
            <p:cNvSpPr/>
            <p:nvPr/>
          </p:nvSpPr>
          <p:spPr>
            <a:xfrm>
              <a:off x="-2794" y="-128"/>
              <a:ext cx="8606155" cy="10286874"/>
            </a:xfrm>
            <a:custGeom>
              <a:avLst/>
              <a:gdLst/>
              <a:ahLst/>
              <a:cxnLst/>
              <a:rect l="l" t="t" r="r" b="b"/>
              <a:pathLst>
                <a:path w="8606155" h="10286874">
                  <a:moveTo>
                    <a:pt x="8606155" y="10251441"/>
                  </a:moveTo>
                  <a:cubicBezTo>
                    <a:pt x="8606155" y="10284588"/>
                    <a:pt x="8595487" y="10286874"/>
                    <a:pt x="8567674" y="10286874"/>
                  </a:cubicBezTo>
                  <a:cubicBezTo>
                    <a:pt x="5713094" y="10286239"/>
                    <a:pt x="2858643" y="10286239"/>
                    <a:pt x="4064" y="10286239"/>
                  </a:cubicBezTo>
                  <a:cubicBezTo>
                    <a:pt x="0" y="10272396"/>
                    <a:pt x="6350" y="10259823"/>
                    <a:pt x="9271" y="10246996"/>
                  </a:cubicBezTo>
                  <a:cubicBezTo>
                    <a:pt x="134747" y="9685402"/>
                    <a:pt x="260350" y="9123935"/>
                    <a:pt x="386207" y="8562467"/>
                  </a:cubicBezTo>
                  <a:cubicBezTo>
                    <a:pt x="565658" y="7761986"/>
                    <a:pt x="745490" y="6961633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6"/>
                    <a:pt x="8605139" y="6846317"/>
                    <a:pt x="8606155" y="1025144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295175" y="863050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xmlns="" id="{1DF1B47E-73A2-4BF6-A39E-D60FF03BF92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69" y="-682160"/>
            <a:ext cx="6772175" cy="4514784"/>
          </a:xfrm>
          <a:prstGeom prst="rect">
            <a:avLst/>
          </a:prstGeom>
        </p:spPr>
      </p:pic>
      <p:grpSp>
        <p:nvGrpSpPr>
          <p:cNvPr id="14" name="Group 2">
            <a:extLst>
              <a:ext uri="{FF2B5EF4-FFF2-40B4-BE49-F238E27FC236}">
                <a16:creationId xmlns:a16="http://schemas.microsoft.com/office/drawing/2014/main" xmlns="" id="{4A146C0B-230B-4629-9331-3C14FE60569E}"/>
              </a:ext>
            </a:extLst>
          </p:cNvPr>
          <p:cNvGrpSpPr/>
          <p:nvPr/>
        </p:nvGrpSpPr>
        <p:grpSpPr>
          <a:xfrm rot="-5400000">
            <a:off x="11780579" y="4542985"/>
            <a:ext cx="11182082" cy="1929323"/>
            <a:chOff x="0" y="0"/>
            <a:chExt cx="3149472" cy="508135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xmlns="" id="{FECEB9D7-66E8-4D37-A7B4-62650300A4C7}"/>
                </a:ext>
              </a:extLst>
            </p:cNvPr>
            <p:cNvSpPr/>
            <p:nvPr/>
          </p:nvSpPr>
          <p:spPr>
            <a:xfrm>
              <a:off x="0" y="0"/>
              <a:ext cx="3149472" cy="508135"/>
            </a:xfrm>
            <a:custGeom>
              <a:avLst/>
              <a:gdLst/>
              <a:ahLst/>
              <a:cxnLst/>
              <a:rect l="l" t="t" r="r" b="b"/>
              <a:pathLst>
                <a:path w="3149472" h="508135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16" name="TextBox 4">
              <a:extLst>
                <a:ext uri="{FF2B5EF4-FFF2-40B4-BE49-F238E27FC236}">
                  <a16:creationId xmlns:a16="http://schemas.microsoft.com/office/drawing/2014/main" xmlns="" id="{250F0883-E702-417E-A1BA-EBFC5B0ECF13}"/>
                </a:ext>
              </a:extLst>
            </p:cNvPr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17" name="Freeform 5">
            <a:extLst>
              <a:ext uri="{FF2B5EF4-FFF2-40B4-BE49-F238E27FC236}">
                <a16:creationId xmlns:a16="http://schemas.microsoft.com/office/drawing/2014/main" xmlns="" id="{2DCF4139-0009-4527-8AE8-B879064938BD}"/>
              </a:ext>
            </a:extLst>
          </p:cNvPr>
          <p:cNvSpPr/>
          <p:nvPr/>
        </p:nvSpPr>
        <p:spPr>
          <a:xfrm>
            <a:off x="11208957" y="-101114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6">
            <a:extLst>
              <a:ext uri="{FF2B5EF4-FFF2-40B4-BE49-F238E27FC236}">
                <a16:creationId xmlns:a16="http://schemas.microsoft.com/office/drawing/2014/main" xmlns="" id="{FA9C71BA-06ED-4D30-A118-EE6A87B27569}"/>
              </a:ext>
            </a:extLst>
          </p:cNvPr>
          <p:cNvGrpSpPr>
            <a:grpSpLocks noChangeAspect="1"/>
          </p:cNvGrpSpPr>
          <p:nvPr/>
        </p:nvGrpSpPr>
        <p:grpSpPr>
          <a:xfrm>
            <a:off x="10380940" y="649592"/>
            <a:ext cx="7516996" cy="8987817"/>
            <a:chOff x="0" y="0"/>
            <a:chExt cx="8603361" cy="10286746"/>
          </a:xfr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xmlns="" id="{D4B8FDE2-1FF1-4F2E-9EFA-E3F0EEF5BA6F}"/>
                </a:ext>
              </a:extLst>
            </p:cNvPr>
            <p:cNvSpPr/>
            <p:nvPr/>
          </p:nvSpPr>
          <p:spPr>
            <a:xfrm>
              <a:off x="-2794" y="-128"/>
              <a:ext cx="8606155" cy="10286874"/>
            </a:xfrm>
            <a:custGeom>
              <a:avLst/>
              <a:gdLst/>
              <a:ahLst/>
              <a:cxnLst/>
              <a:rect l="l" t="t" r="r" b="b"/>
              <a:pathLst>
                <a:path w="8606155" h="10286874">
                  <a:moveTo>
                    <a:pt x="8606155" y="10251441"/>
                  </a:moveTo>
                  <a:cubicBezTo>
                    <a:pt x="8606155" y="10284588"/>
                    <a:pt x="8595487" y="10286874"/>
                    <a:pt x="8567674" y="10286874"/>
                  </a:cubicBezTo>
                  <a:cubicBezTo>
                    <a:pt x="5713094" y="10286239"/>
                    <a:pt x="2858643" y="10286239"/>
                    <a:pt x="4064" y="10286239"/>
                  </a:cubicBezTo>
                  <a:cubicBezTo>
                    <a:pt x="0" y="10272396"/>
                    <a:pt x="6350" y="10259823"/>
                    <a:pt x="9271" y="10246996"/>
                  </a:cubicBezTo>
                  <a:cubicBezTo>
                    <a:pt x="134747" y="9685402"/>
                    <a:pt x="260350" y="9123935"/>
                    <a:pt x="386207" y="8562467"/>
                  </a:cubicBezTo>
                  <a:cubicBezTo>
                    <a:pt x="565658" y="7761986"/>
                    <a:pt x="745490" y="6961633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6"/>
                    <a:pt x="8605139" y="6846317"/>
                    <a:pt x="8606155" y="1025144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0" name="TextBox 9">
            <a:extLst>
              <a:ext uri="{FF2B5EF4-FFF2-40B4-BE49-F238E27FC236}">
                <a16:creationId xmlns:a16="http://schemas.microsoft.com/office/drawing/2014/main" xmlns="" id="{0250B7DC-3589-44A8-82A0-A99F1143ED30}"/>
              </a:ext>
            </a:extLst>
          </p:cNvPr>
          <p:cNvSpPr txBox="1"/>
          <p:nvPr/>
        </p:nvSpPr>
        <p:spPr>
          <a:xfrm>
            <a:off x="1573748" y="3615629"/>
            <a:ext cx="10959085" cy="1743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68"/>
              </a:lnSpc>
            </a:pPr>
            <a:r>
              <a:rPr lang="en-US" sz="11306" b="1" dirty="0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TUES</a:t>
            </a:r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xmlns="" id="{5CD3CAC5-E8E2-4941-BFD3-8F4DDE2A5731}"/>
              </a:ext>
            </a:extLst>
          </p:cNvPr>
          <p:cNvSpPr/>
          <p:nvPr/>
        </p:nvSpPr>
        <p:spPr>
          <a:xfrm>
            <a:off x="-295175" y="863050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xmlns="" id="{44121A05-DADC-428F-92AB-52DC52BBEE58}"/>
              </a:ext>
            </a:extLst>
          </p:cNvPr>
          <p:cNvSpPr txBox="1"/>
          <p:nvPr/>
        </p:nvSpPr>
        <p:spPr>
          <a:xfrm>
            <a:off x="1573748" y="5327661"/>
            <a:ext cx="9659937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68"/>
              </a:lnSpc>
            </a:pPr>
            <a:r>
              <a:rPr lang="en-US" sz="10000" b="1" dirty="0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 NUMBERS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5">
            <a:extLst>
              <a:ext uri="{FF2B5EF4-FFF2-40B4-BE49-F238E27FC236}">
                <a16:creationId xmlns:a16="http://schemas.microsoft.com/office/drawing/2014/main" xmlns="" id="{6B75508A-5B29-481D-AC5F-DBC2D14712BD}"/>
              </a:ext>
            </a:extLst>
          </p:cNvPr>
          <p:cNvGrpSpPr/>
          <p:nvPr/>
        </p:nvGrpSpPr>
        <p:grpSpPr>
          <a:xfrm rot="-10800000">
            <a:off x="13821604" y="9270521"/>
            <a:ext cx="13457996" cy="3264379"/>
            <a:chOff x="0" y="0"/>
            <a:chExt cx="17943995" cy="4352506"/>
          </a:xfrm>
        </p:grpSpPr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xmlns="" id="{17D2CCED-CD08-42FD-B3AC-0D2700990075}"/>
                </a:ext>
              </a:extLst>
            </p:cNvPr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xmlns="" id="{84BF3825-41B6-4CDB-A57E-8CC7256E55BF}"/>
                </a:ext>
              </a:extLst>
            </p:cNvPr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xmlns="" id="{3D771AD3-EEA3-49DE-8852-7D3F413D02FB}"/>
                </a:ext>
              </a:extLst>
            </p:cNvPr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xmlns="" id="{5B274667-379A-4883-801A-AF4BA335BF0F}"/>
                </a:ext>
              </a:extLst>
            </p:cNvPr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 b="-26202"/>
              </a:stretch>
            </a:blipFill>
          </p:spPr>
        </p:sp>
      </p:grpSp>
      <p:grpSp>
        <p:nvGrpSpPr>
          <p:cNvPr id="183" name="Group 15">
            <a:extLst>
              <a:ext uri="{FF2B5EF4-FFF2-40B4-BE49-F238E27FC236}">
                <a16:creationId xmlns:a16="http://schemas.microsoft.com/office/drawing/2014/main" xmlns="" id="{B85D4C0E-E8EC-4E36-950B-B8E1D041070E}"/>
              </a:ext>
            </a:extLst>
          </p:cNvPr>
          <p:cNvGrpSpPr/>
          <p:nvPr/>
        </p:nvGrpSpPr>
        <p:grpSpPr>
          <a:xfrm rot="-10800000">
            <a:off x="117197" y="9204951"/>
            <a:ext cx="13457996" cy="3264379"/>
            <a:chOff x="0" y="0"/>
            <a:chExt cx="17943995" cy="4352506"/>
          </a:xfrm>
        </p:grpSpPr>
        <p:sp>
          <p:nvSpPr>
            <p:cNvPr id="191" name="Freeform 16">
              <a:extLst>
                <a:ext uri="{FF2B5EF4-FFF2-40B4-BE49-F238E27FC236}">
                  <a16:creationId xmlns:a16="http://schemas.microsoft.com/office/drawing/2014/main" xmlns="" id="{2D05E5BA-A0BD-4438-B94F-7656176A4DCD}"/>
                </a:ext>
              </a:extLst>
            </p:cNvPr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2" name="Freeform 17">
              <a:extLst>
                <a:ext uri="{FF2B5EF4-FFF2-40B4-BE49-F238E27FC236}">
                  <a16:creationId xmlns:a16="http://schemas.microsoft.com/office/drawing/2014/main" xmlns="" id="{7C8F0C19-6585-494E-8C3F-2C3E5FD91C11}"/>
                </a:ext>
              </a:extLst>
            </p:cNvPr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193" name="Freeform 18">
              <a:extLst>
                <a:ext uri="{FF2B5EF4-FFF2-40B4-BE49-F238E27FC236}">
                  <a16:creationId xmlns:a16="http://schemas.microsoft.com/office/drawing/2014/main" xmlns="" id="{0FC0F78F-F97E-4452-8F0F-F724A7BBD7AB}"/>
                </a:ext>
              </a:extLst>
            </p:cNvPr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4" name="Freeform 19">
              <a:extLst>
                <a:ext uri="{FF2B5EF4-FFF2-40B4-BE49-F238E27FC236}">
                  <a16:creationId xmlns:a16="http://schemas.microsoft.com/office/drawing/2014/main" xmlns="" id="{E330C761-1241-4235-AB56-45B6D3498DF5}"/>
                </a:ext>
              </a:extLst>
            </p:cNvPr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 b="-26202"/>
              </a:stretch>
            </a:blipFill>
          </p:spPr>
        </p:sp>
      </p:grpSp>
      <p:sp>
        <p:nvSpPr>
          <p:cNvPr id="195" name="Прямоугольник: скругленные углы 194">
            <a:extLst>
              <a:ext uri="{FF2B5EF4-FFF2-40B4-BE49-F238E27FC236}">
                <a16:creationId xmlns:a16="http://schemas.microsoft.com/office/drawing/2014/main" xmlns="" id="{D900FF16-8DD0-45F4-BC23-1272A9FBEE56}"/>
              </a:ext>
            </a:extLst>
          </p:cNvPr>
          <p:cNvSpPr/>
          <p:nvPr/>
        </p:nvSpPr>
        <p:spPr>
          <a:xfrm>
            <a:off x="7351165" y="9056253"/>
            <a:ext cx="3862004" cy="80440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DM Sans Bold" panose="020B0604020202020204" charset="0"/>
            </a:endParaRPr>
          </a:p>
        </p:txBody>
      </p:sp>
      <p:sp>
        <p:nvSpPr>
          <p:cNvPr id="196" name="AutoShape 2">
            <a:extLst>
              <a:ext uri="{FF2B5EF4-FFF2-40B4-BE49-F238E27FC236}">
                <a16:creationId xmlns:a16="http://schemas.microsoft.com/office/drawing/2014/main" xmlns="" id="{8F0D6139-3029-4372-8209-411E56B3E167}"/>
              </a:ext>
            </a:extLst>
          </p:cNvPr>
          <p:cNvSpPr/>
          <p:nvPr/>
        </p:nvSpPr>
        <p:spPr>
          <a:xfrm>
            <a:off x="6309965" y="2900811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xmlns="" id="{AA75745C-9EF0-4830-ACBD-8369D586739D}"/>
              </a:ext>
            </a:extLst>
          </p:cNvPr>
          <p:cNvSpPr txBox="1"/>
          <p:nvPr/>
        </p:nvSpPr>
        <p:spPr>
          <a:xfrm>
            <a:off x="2861608" y="195959"/>
            <a:ext cx="12161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STRATEGY FOR DEVELOPING THE MATERIAL AND TECHNICAL BASE"</a:t>
            </a:r>
            <a:endParaRPr lang="en-US" sz="2800" dirty="0">
              <a:solidFill>
                <a:schemeClr val="bg1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xmlns="" id="{49873E5D-5DBF-4AA7-B824-8591563F0DF2}"/>
              </a:ext>
            </a:extLst>
          </p:cNvPr>
          <p:cNvSpPr txBox="1"/>
          <p:nvPr/>
        </p:nvSpPr>
        <p:spPr>
          <a:xfrm>
            <a:off x="12939" y="679645"/>
            <a:ext cx="18275061" cy="1337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“Implementation of advanced technology aimed at increasing the effectiveness of spiritual and educational activities and enhancing the impact of educational affairs.”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200" b="1" dirty="0">
              <a:solidFill>
                <a:schemeClr val="bg1"/>
              </a:solidFill>
              <a:effectLst/>
              <a:latin typeface="DM Sans Bold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99" name="Прямая соединительная линия 198">
            <a:extLst>
              <a:ext uri="{FF2B5EF4-FFF2-40B4-BE49-F238E27FC236}">
                <a16:creationId xmlns:a16="http://schemas.microsoft.com/office/drawing/2014/main" xmlns="" id="{47B5494B-F933-43FD-84A6-ED93D2270CE4}"/>
              </a:ext>
            </a:extLst>
          </p:cNvPr>
          <p:cNvCxnSpPr>
            <a:cxnSpLocks/>
          </p:cNvCxnSpPr>
          <p:nvPr/>
        </p:nvCxnSpPr>
        <p:spPr>
          <a:xfrm>
            <a:off x="2687015" y="741814"/>
            <a:ext cx="11489266" cy="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aphicFrame>
        <p:nvGraphicFramePr>
          <p:cNvPr id="200" name="Диаграмма 199">
            <a:extLst>
              <a:ext uri="{FF2B5EF4-FFF2-40B4-BE49-F238E27FC236}">
                <a16:creationId xmlns:a16="http://schemas.microsoft.com/office/drawing/2014/main" xmlns="" id="{F62463E6-9361-49C7-85B9-877F50A1E4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1783740"/>
              </p:ext>
            </p:extLst>
          </p:nvPr>
        </p:nvGraphicFramePr>
        <p:xfrm>
          <a:off x="6585239" y="1977170"/>
          <a:ext cx="5618366" cy="2494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1" name="Прямоугольник: скругленные углы 200">
            <a:extLst>
              <a:ext uri="{FF2B5EF4-FFF2-40B4-BE49-F238E27FC236}">
                <a16:creationId xmlns:a16="http://schemas.microsoft.com/office/drawing/2014/main" xmlns="" id="{9ED92DA5-9CB0-4AF5-99DF-EBB6D4D9FC65}"/>
              </a:ext>
            </a:extLst>
          </p:cNvPr>
          <p:cNvSpPr/>
          <p:nvPr/>
        </p:nvSpPr>
        <p:spPr>
          <a:xfrm>
            <a:off x="6787141" y="8060814"/>
            <a:ext cx="2377967" cy="5938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DM Sans Bold" panose="020B0604020202020204" charset="0"/>
            </a:endParaRPr>
          </a:p>
        </p:txBody>
      </p:sp>
      <p:sp>
        <p:nvSpPr>
          <p:cNvPr id="202" name="Прямоугольник: скругленные углы 201">
            <a:extLst>
              <a:ext uri="{FF2B5EF4-FFF2-40B4-BE49-F238E27FC236}">
                <a16:creationId xmlns:a16="http://schemas.microsoft.com/office/drawing/2014/main" xmlns="" id="{C468F745-0423-4BB5-997F-48A4DFA9AB7F}"/>
              </a:ext>
            </a:extLst>
          </p:cNvPr>
          <p:cNvSpPr/>
          <p:nvPr/>
        </p:nvSpPr>
        <p:spPr>
          <a:xfrm>
            <a:off x="9525000" y="8058381"/>
            <a:ext cx="2373442" cy="6098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DM Sans Bold" panose="020B0604020202020204" charset="0"/>
            </a:endParaRPr>
          </a:p>
        </p:txBody>
      </p:sp>
      <p:pic>
        <p:nvPicPr>
          <p:cNvPr id="203" name="Рисунок 202" descr="Здание со сплошной заливкой">
            <a:extLst>
              <a:ext uri="{FF2B5EF4-FFF2-40B4-BE49-F238E27FC236}">
                <a16:creationId xmlns:a16="http://schemas.microsoft.com/office/drawing/2014/main" xmlns="" id="{AB7E45B9-155E-4701-BCF9-8F233CD287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844564" y="8523519"/>
            <a:ext cx="676146" cy="676146"/>
          </a:xfrm>
          <a:prstGeom prst="rect">
            <a:avLst/>
          </a:prstGeom>
        </p:spPr>
      </p:pic>
      <p:pic>
        <p:nvPicPr>
          <p:cNvPr id="204" name="Рисунок 203" descr="Город со сплошной заливкой">
            <a:extLst>
              <a:ext uri="{FF2B5EF4-FFF2-40B4-BE49-F238E27FC236}">
                <a16:creationId xmlns:a16="http://schemas.microsoft.com/office/drawing/2014/main" xmlns="" id="{3B03A79F-C0F6-4CD5-B119-5FACA206803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724400" y="7320976"/>
            <a:ext cx="716955" cy="716955"/>
          </a:xfrm>
          <a:prstGeom prst="rect">
            <a:avLst/>
          </a:prstGeom>
        </p:spPr>
      </p:pic>
      <p:pic>
        <p:nvPicPr>
          <p:cNvPr id="205" name="Рисунок 204" descr="Школа со сплошной заливкой">
            <a:extLst>
              <a:ext uri="{FF2B5EF4-FFF2-40B4-BE49-F238E27FC236}">
                <a16:creationId xmlns:a16="http://schemas.microsoft.com/office/drawing/2014/main" xmlns="" id="{1C4A9100-4EE0-402C-AB0B-56215AE76F0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03328" y="7204209"/>
            <a:ext cx="855618" cy="855618"/>
          </a:xfrm>
          <a:prstGeom prst="rect">
            <a:avLst/>
          </a:prstGeom>
        </p:spPr>
      </p:pic>
      <p:pic>
        <p:nvPicPr>
          <p:cNvPr id="206" name="Рисунок 205">
            <a:extLst>
              <a:ext uri="{FF2B5EF4-FFF2-40B4-BE49-F238E27FC236}">
                <a16:creationId xmlns:a16="http://schemas.microsoft.com/office/drawing/2014/main" xmlns="" id="{A3135034-BF68-493D-A089-FBE930E7F7F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954" y="8518275"/>
            <a:ext cx="624023" cy="676146"/>
          </a:xfrm>
          <a:prstGeom prst="rect">
            <a:avLst/>
          </a:prstGeom>
        </p:spPr>
      </p:pic>
      <p:pic>
        <p:nvPicPr>
          <p:cNvPr id="207" name="Рисунок 206">
            <a:extLst>
              <a:ext uri="{FF2B5EF4-FFF2-40B4-BE49-F238E27FC236}">
                <a16:creationId xmlns:a16="http://schemas.microsoft.com/office/drawing/2014/main" xmlns="" id="{BBDD06CE-78C5-4340-9A58-B5958153F1F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035" y="7381899"/>
            <a:ext cx="605652" cy="520614"/>
          </a:xfrm>
          <a:prstGeom prst="rect">
            <a:avLst/>
          </a:prstGeom>
          <a:ln>
            <a:noFill/>
          </a:ln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xmlns="" id="{BF6DBDE0-6A9A-4F1C-921F-071269C4D64C}"/>
              </a:ext>
            </a:extLst>
          </p:cNvPr>
          <p:cNvSpPr txBox="1"/>
          <p:nvPr/>
        </p:nvSpPr>
        <p:spPr>
          <a:xfrm>
            <a:off x="508916" y="1520712"/>
            <a:ext cx="5968083" cy="97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"AVAILABILITY OF EDUCATIONAL BUILDINGS AND </a:t>
            </a:r>
            <a:b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DORMITORY FOR STUDENTS.“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600" b="1" dirty="0">
              <a:solidFill>
                <a:schemeClr val="bg1"/>
              </a:solidFill>
              <a:effectLst/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xmlns="" id="{C871375A-7A42-4C9B-B7A4-F2DB1FCBAF17}"/>
              </a:ext>
            </a:extLst>
          </p:cNvPr>
          <p:cNvSpPr txBox="1"/>
          <p:nvPr/>
        </p:nvSpPr>
        <p:spPr>
          <a:xfrm>
            <a:off x="2571057" y="1996374"/>
            <a:ext cx="3173265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Student contingent</a:t>
            </a:r>
            <a:endParaRPr lang="en-US" sz="1600" b="1" dirty="0">
              <a:solidFill>
                <a:schemeClr val="bg1"/>
              </a:solidFill>
              <a:effectLst/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0" name="Группа 209">
            <a:extLst>
              <a:ext uri="{FF2B5EF4-FFF2-40B4-BE49-F238E27FC236}">
                <a16:creationId xmlns:a16="http://schemas.microsoft.com/office/drawing/2014/main" xmlns="" id="{926CD5BA-3178-4F30-BCC4-C7B44429F435}"/>
              </a:ext>
            </a:extLst>
          </p:cNvPr>
          <p:cNvGrpSpPr/>
          <p:nvPr/>
        </p:nvGrpSpPr>
        <p:grpSpPr>
          <a:xfrm>
            <a:off x="559568" y="2262197"/>
            <a:ext cx="5536432" cy="2858275"/>
            <a:chOff x="282584" y="1348322"/>
            <a:chExt cx="4105343" cy="1988836"/>
          </a:xfrm>
        </p:grpSpPr>
        <p:grpSp>
          <p:nvGrpSpPr>
            <p:cNvPr id="211" name="Группа 210">
              <a:extLst>
                <a:ext uri="{FF2B5EF4-FFF2-40B4-BE49-F238E27FC236}">
                  <a16:creationId xmlns:a16="http://schemas.microsoft.com/office/drawing/2014/main" xmlns="" id="{75C39915-FB91-407A-8362-A8FBFEF90662}"/>
                </a:ext>
              </a:extLst>
            </p:cNvPr>
            <p:cNvGrpSpPr/>
            <p:nvPr/>
          </p:nvGrpSpPr>
          <p:grpSpPr>
            <a:xfrm>
              <a:off x="377632" y="1348322"/>
              <a:ext cx="3865033" cy="1988836"/>
              <a:chOff x="535517" y="1311853"/>
              <a:chExt cx="3865033" cy="1988836"/>
            </a:xfrm>
          </p:grpSpPr>
          <p:cxnSp>
            <p:nvCxnSpPr>
              <p:cNvPr id="225" name="Прямая соединительная линия 224">
                <a:extLst>
                  <a:ext uri="{FF2B5EF4-FFF2-40B4-BE49-F238E27FC236}">
                    <a16:creationId xmlns:a16="http://schemas.microsoft.com/office/drawing/2014/main" xmlns="" id="{C82397BA-CE24-4CFF-9B6A-754624E6BF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3609" y="1354541"/>
                <a:ext cx="9594" cy="190835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Прямая соединительная линия 225">
                <a:extLst>
                  <a:ext uri="{FF2B5EF4-FFF2-40B4-BE49-F238E27FC236}">
                    <a16:creationId xmlns:a16="http://schemas.microsoft.com/office/drawing/2014/main" xmlns="" id="{7AFE9B85-70E9-4F69-BEE6-83B46B7F49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5400" y="1324223"/>
                <a:ext cx="0" cy="193867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Прямая соединительная линия 226">
                <a:extLst>
                  <a:ext uri="{FF2B5EF4-FFF2-40B4-BE49-F238E27FC236}">
                    <a16:creationId xmlns:a16="http://schemas.microsoft.com/office/drawing/2014/main" xmlns="" id="{F966BB1B-27F4-4E2A-AC52-8A63FC8E62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7875" y="1331392"/>
                <a:ext cx="0" cy="191215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Прямая соединительная линия 227">
                <a:extLst>
                  <a:ext uri="{FF2B5EF4-FFF2-40B4-BE49-F238E27FC236}">
                    <a16:creationId xmlns:a16="http://schemas.microsoft.com/office/drawing/2014/main" xmlns="" id="{9FB3CEE1-C282-4C2A-ABEA-531A1A056D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4751" y="1324223"/>
                <a:ext cx="0" cy="19193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Прямая соединительная линия 228">
                <a:extLst>
                  <a:ext uri="{FF2B5EF4-FFF2-40B4-BE49-F238E27FC236}">
                    <a16:creationId xmlns:a16="http://schemas.microsoft.com/office/drawing/2014/main" xmlns="" id="{FA746D14-00DF-4797-B324-4335646E15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0655" y="1322287"/>
                <a:ext cx="0" cy="18975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Прямая соединительная линия 229">
                <a:extLst>
                  <a:ext uri="{FF2B5EF4-FFF2-40B4-BE49-F238E27FC236}">
                    <a16:creationId xmlns:a16="http://schemas.microsoft.com/office/drawing/2014/main" xmlns="" id="{92D72839-A881-49C6-8AC7-C51EAA04DF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5517" y="1674051"/>
                <a:ext cx="3865033" cy="1187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1" name="Овал 230">
                <a:extLst>
                  <a:ext uri="{FF2B5EF4-FFF2-40B4-BE49-F238E27FC236}">
                    <a16:creationId xmlns:a16="http://schemas.microsoft.com/office/drawing/2014/main" xmlns="" id="{D8A0FBE0-221F-4E03-B6E0-92145E581E82}"/>
                  </a:ext>
                </a:extLst>
              </p:cNvPr>
              <p:cNvSpPr/>
              <p:nvPr/>
            </p:nvSpPr>
            <p:spPr>
              <a:xfrm>
                <a:off x="769277" y="161690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232" name="Овал 231">
                <a:extLst>
                  <a:ext uri="{FF2B5EF4-FFF2-40B4-BE49-F238E27FC236}">
                    <a16:creationId xmlns:a16="http://schemas.microsoft.com/office/drawing/2014/main" xmlns="" id="{38C16A1F-6912-401B-B7CA-8DF803292801}"/>
                  </a:ext>
                </a:extLst>
              </p:cNvPr>
              <p:cNvSpPr/>
              <p:nvPr/>
            </p:nvSpPr>
            <p:spPr>
              <a:xfrm>
                <a:off x="1951464" y="1622385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cxnSp>
            <p:nvCxnSpPr>
              <p:cNvPr id="233" name="Прямая соединительная линия 232">
                <a:extLst>
                  <a:ext uri="{FF2B5EF4-FFF2-40B4-BE49-F238E27FC236}">
                    <a16:creationId xmlns:a16="http://schemas.microsoft.com/office/drawing/2014/main" xmlns="" id="{DA7424F5-24D4-431B-8B22-1CDEE2DEF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9400" y="1311853"/>
                <a:ext cx="0" cy="190907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4" name="Овал 233">
                <a:extLst>
                  <a:ext uri="{FF2B5EF4-FFF2-40B4-BE49-F238E27FC236}">
                    <a16:creationId xmlns:a16="http://schemas.microsoft.com/office/drawing/2014/main" xmlns="" id="{6F2C323C-43E2-474F-8F4A-F1EC9D280389}"/>
                  </a:ext>
                </a:extLst>
              </p:cNvPr>
              <p:cNvSpPr/>
              <p:nvPr/>
            </p:nvSpPr>
            <p:spPr>
              <a:xfrm>
                <a:off x="2904564" y="1616367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235" name="Овал 234">
                <a:extLst>
                  <a:ext uri="{FF2B5EF4-FFF2-40B4-BE49-F238E27FC236}">
                    <a16:creationId xmlns:a16="http://schemas.microsoft.com/office/drawing/2014/main" xmlns="" id="{6747453D-59F8-4EEF-8685-B085B5925AD7}"/>
                  </a:ext>
                </a:extLst>
              </p:cNvPr>
              <p:cNvSpPr/>
              <p:nvPr/>
            </p:nvSpPr>
            <p:spPr>
              <a:xfrm>
                <a:off x="3827097" y="161690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cxnSp>
            <p:nvCxnSpPr>
              <p:cNvPr id="236" name="Прямая соединительная линия 235">
                <a:extLst>
                  <a:ext uri="{FF2B5EF4-FFF2-40B4-BE49-F238E27FC236}">
                    <a16:creationId xmlns:a16="http://schemas.microsoft.com/office/drawing/2014/main" xmlns="" id="{7F14E9A4-FD0F-4EA6-8AF0-332AC28A49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2356" y="2952986"/>
                <a:ext cx="922956" cy="291963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Прямая соединительная линия 236">
                <a:extLst>
                  <a:ext uri="{FF2B5EF4-FFF2-40B4-BE49-F238E27FC236}">
                    <a16:creationId xmlns:a16="http://schemas.microsoft.com/office/drawing/2014/main" xmlns="" id="{434E2ABA-62CF-4FAC-9CFB-8BCF25FBBF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7916" y="2234698"/>
                <a:ext cx="1223988" cy="721851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Прямая соединительная линия 237">
                <a:extLst>
                  <a:ext uri="{FF2B5EF4-FFF2-40B4-BE49-F238E27FC236}">
                    <a16:creationId xmlns:a16="http://schemas.microsoft.com/office/drawing/2014/main" xmlns="" id="{3131D0D2-EEE8-4731-A30B-C60A39425F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19279" y="1997960"/>
                <a:ext cx="1041105" cy="253735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" name="Овал 238">
                <a:extLst>
                  <a:ext uri="{FF2B5EF4-FFF2-40B4-BE49-F238E27FC236}">
                    <a16:creationId xmlns:a16="http://schemas.microsoft.com/office/drawing/2014/main" xmlns="" id="{6B9C1786-D324-4DF3-90C4-FA0A7EA8C294}"/>
                  </a:ext>
                </a:extLst>
              </p:cNvPr>
              <p:cNvSpPr/>
              <p:nvPr/>
            </p:nvSpPr>
            <p:spPr>
              <a:xfrm>
                <a:off x="623262" y="3186403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240" name="Овал 239">
                <a:extLst>
                  <a:ext uri="{FF2B5EF4-FFF2-40B4-BE49-F238E27FC236}">
                    <a16:creationId xmlns:a16="http://schemas.microsoft.com/office/drawing/2014/main" xmlns="" id="{71D03AEA-0ACD-4A18-91A5-F245941D1DAA}"/>
                  </a:ext>
                </a:extLst>
              </p:cNvPr>
              <p:cNvSpPr/>
              <p:nvPr/>
            </p:nvSpPr>
            <p:spPr>
              <a:xfrm>
                <a:off x="2746808" y="2194551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241" name="Овал 240">
                <a:extLst>
                  <a:ext uri="{FF2B5EF4-FFF2-40B4-BE49-F238E27FC236}">
                    <a16:creationId xmlns:a16="http://schemas.microsoft.com/office/drawing/2014/main" xmlns="" id="{CBB58169-3E0A-4739-BA80-C9BD8419A657}"/>
                  </a:ext>
                </a:extLst>
              </p:cNvPr>
              <p:cNvSpPr/>
              <p:nvPr/>
            </p:nvSpPr>
            <p:spPr>
              <a:xfrm>
                <a:off x="1545942" y="2901045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242" name="Овал 241">
                <a:extLst>
                  <a:ext uri="{FF2B5EF4-FFF2-40B4-BE49-F238E27FC236}">
                    <a16:creationId xmlns:a16="http://schemas.microsoft.com/office/drawing/2014/main" xmlns="" id="{D32676CA-4D95-4601-9379-115C8B4A7F87}"/>
                  </a:ext>
                </a:extLst>
              </p:cNvPr>
              <p:cNvSpPr/>
              <p:nvPr/>
            </p:nvSpPr>
            <p:spPr>
              <a:xfrm>
                <a:off x="3837584" y="1913023"/>
                <a:ext cx="126205" cy="9241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</p:grp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xmlns="" id="{F4606EC5-07BE-4EDB-A8A1-21C6216AA9DD}"/>
                </a:ext>
              </a:extLst>
            </p:cNvPr>
            <p:cNvSpPr txBox="1"/>
            <p:nvPr/>
          </p:nvSpPr>
          <p:spPr>
            <a:xfrm>
              <a:off x="436155" y="1385764"/>
              <a:ext cx="684978" cy="198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2022-23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xmlns="" id="{0E610E41-D53A-4166-821E-9811E489BA0B}"/>
                </a:ext>
              </a:extLst>
            </p:cNvPr>
            <p:cNvSpPr txBox="1"/>
            <p:nvPr/>
          </p:nvSpPr>
          <p:spPr>
            <a:xfrm>
              <a:off x="3320419" y="1414698"/>
              <a:ext cx="709160" cy="198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2025-26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xmlns="" id="{C9994E75-52CC-4E3B-87A4-A7F4A94CA584}"/>
                </a:ext>
              </a:extLst>
            </p:cNvPr>
            <p:cNvSpPr txBox="1"/>
            <p:nvPr/>
          </p:nvSpPr>
          <p:spPr>
            <a:xfrm>
              <a:off x="2478918" y="1403938"/>
              <a:ext cx="769138" cy="198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2024-25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xmlns="" id="{DDDD6093-87AD-49C1-A2F6-D6F8F74808CC}"/>
                </a:ext>
              </a:extLst>
            </p:cNvPr>
            <p:cNvSpPr txBox="1"/>
            <p:nvPr/>
          </p:nvSpPr>
          <p:spPr>
            <a:xfrm>
              <a:off x="1496486" y="1384295"/>
              <a:ext cx="709348" cy="198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2023-24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xmlns="" id="{E79EF2E8-1AFA-4A12-87A4-3C5A871335B7}"/>
                </a:ext>
              </a:extLst>
            </p:cNvPr>
            <p:cNvSpPr txBox="1"/>
            <p:nvPr/>
          </p:nvSpPr>
          <p:spPr>
            <a:xfrm>
              <a:off x="1216421" y="2680634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16768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xmlns="" id="{0916B66A-1CBF-4C14-895E-322DA6D4EA60}"/>
                </a:ext>
              </a:extLst>
            </p:cNvPr>
            <p:cNvSpPr txBox="1"/>
            <p:nvPr/>
          </p:nvSpPr>
          <p:spPr>
            <a:xfrm>
              <a:off x="282584" y="2994350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8872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xmlns="" id="{43BDE63D-5FCF-4461-AA6E-C664C6EC966B}"/>
                </a:ext>
              </a:extLst>
            </p:cNvPr>
            <p:cNvSpPr txBox="1"/>
            <p:nvPr/>
          </p:nvSpPr>
          <p:spPr>
            <a:xfrm>
              <a:off x="2395621" y="1985119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23669</a:t>
              </a:r>
              <a:endParaRPr lang="en-US" sz="10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xmlns="" id="{1173ABBD-AE8C-4AAE-A1B8-1821D7753E45}"/>
                </a:ext>
              </a:extLst>
            </p:cNvPr>
            <p:cNvSpPr txBox="1"/>
            <p:nvPr/>
          </p:nvSpPr>
          <p:spPr>
            <a:xfrm>
              <a:off x="3702642" y="1756701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30669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xmlns="" id="{2F2A009F-F5C6-40DA-8202-ADC85412264E}"/>
                </a:ext>
              </a:extLst>
            </p:cNvPr>
            <p:cNvSpPr txBox="1"/>
            <p:nvPr/>
          </p:nvSpPr>
          <p:spPr>
            <a:xfrm>
              <a:off x="1329978" y="3004391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</a:t>
              </a:r>
              <a:r>
                <a:rPr lang="en-US" sz="1000" b="1" dirty="0">
                  <a:solidFill>
                    <a:srgbClr val="F79646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7896</a:t>
              </a:r>
              <a:endParaRPr lang="en-US" sz="1000" b="1" dirty="0">
                <a:solidFill>
                  <a:srgbClr val="F79646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xmlns="" id="{AAAE7693-AE2B-4C19-A4FD-F68CF85FF73F}"/>
                </a:ext>
              </a:extLst>
            </p:cNvPr>
            <p:cNvSpPr txBox="1"/>
            <p:nvPr/>
          </p:nvSpPr>
          <p:spPr>
            <a:xfrm>
              <a:off x="3857789" y="2002591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</a:t>
              </a:r>
              <a:r>
                <a:rPr lang="en-US" sz="1000" b="1" dirty="0">
                  <a:solidFill>
                    <a:srgbClr val="F79646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7000</a:t>
              </a:r>
              <a:endParaRPr lang="en-US" sz="1000" b="1" dirty="0">
                <a:solidFill>
                  <a:srgbClr val="F79646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xmlns="" id="{AFEA6197-5951-4514-A66F-45EC6ABDD41F}"/>
                </a:ext>
              </a:extLst>
            </p:cNvPr>
            <p:cNvSpPr txBox="1"/>
            <p:nvPr/>
          </p:nvSpPr>
          <p:spPr>
            <a:xfrm>
              <a:off x="2473644" y="2375208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+6901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xmlns="" id="{9B88F859-138B-4F16-B0FF-953632749AEB}"/>
                </a:ext>
              </a:extLst>
            </p:cNvPr>
            <p:cNvSpPr txBox="1"/>
            <p:nvPr/>
          </p:nvSpPr>
          <p:spPr>
            <a:xfrm>
              <a:off x="1903996" y="2780765"/>
              <a:ext cx="2306845" cy="197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"Educational areas of buildings."</a:t>
              </a:r>
              <a:endParaRPr lang="en-US" sz="10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xmlns="" id="{73568AF3-E4B0-41BC-812A-B2E66DF0DF6A}"/>
                </a:ext>
              </a:extLst>
            </p:cNvPr>
            <p:cNvSpPr txBox="1"/>
            <p:nvPr/>
          </p:nvSpPr>
          <p:spPr>
            <a:xfrm>
              <a:off x="381306" y="2016432"/>
              <a:ext cx="1985439" cy="432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"Change in the capacity of educational buildings"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US" sz="10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3" name="Группа 242">
            <a:extLst>
              <a:ext uri="{FF2B5EF4-FFF2-40B4-BE49-F238E27FC236}">
                <a16:creationId xmlns:a16="http://schemas.microsoft.com/office/drawing/2014/main" xmlns="" id="{BD119899-6C1C-4310-A785-B23BAD6A7278}"/>
              </a:ext>
            </a:extLst>
          </p:cNvPr>
          <p:cNvGrpSpPr/>
          <p:nvPr/>
        </p:nvGrpSpPr>
        <p:grpSpPr>
          <a:xfrm>
            <a:off x="1355981" y="5143504"/>
            <a:ext cx="3141086" cy="718768"/>
            <a:chOff x="198894" y="3599022"/>
            <a:chExt cx="1783110" cy="459081"/>
          </a:xfrm>
        </p:grpSpPr>
        <p:sp>
          <p:nvSpPr>
            <p:cNvPr id="244" name="Прямоугольник: скругленные углы 243">
              <a:extLst>
                <a:ext uri="{FF2B5EF4-FFF2-40B4-BE49-F238E27FC236}">
                  <a16:creationId xmlns:a16="http://schemas.microsoft.com/office/drawing/2014/main" xmlns="" id="{B452230A-6D82-4B2F-9BB3-5818BE0611F6}"/>
                </a:ext>
              </a:extLst>
            </p:cNvPr>
            <p:cNvSpPr/>
            <p:nvPr/>
          </p:nvSpPr>
          <p:spPr>
            <a:xfrm>
              <a:off x="241253" y="3599022"/>
              <a:ext cx="1740751" cy="4590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51D40"/>
                </a:solidFill>
                <a:latin typeface="DM Sans Bold" panose="020B0604020202020204" charset="0"/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xmlns="" id="{CFB69749-5D13-41A1-8FC9-2D8A50DCA356}"/>
                </a:ext>
              </a:extLst>
            </p:cNvPr>
            <p:cNvSpPr txBox="1"/>
            <p:nvPr/>
          </p:nvSpPr>
          <p:spPr>
            <a:xfrm>
              <a:off x="233097" y="3639607"/>
              <a:ext cx="1730295" cy="2021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b="1" dirty="0">
                  <a:solidFill>
                    <a:srgbClr val="051D40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Useful area     45 650,2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xmlns="" id="{1D2F8D20-69DE-46EA-88A8-57ADCE9DB55D}"/>
                </a:ext>
              </a:extLst>
            </p:cNvPr>
            <p:cNvSpPr txBox="1"/>
            <p:nvPr/>
          </p:nvSpPr>
          <p:spPr>
            <a:xfrm>
              <a:off x="198894" y="3812528"/>
              <a:ext cx="1736371" cy="20161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Educational area    </a:t>
              </a:r>
              <a:r>
                <a:rPr lang="ru-RU" sz="1400" b="1" dirty="0">
                  <a:solidFill>
                    <a:srgbClr val="051D40"/>
                  </a:solidFill>
                  <a:ea typeface="Tahoma" panose="020B0604030504040204" pitchFamily="34" charset="0"/>
                  <a:cs typeface="Times New Roman" panose="02020603050405020304" pitchFamily="18" charset="0"/>
                </a:rPr>
                <a:t>32 687,3</a:t>
              </a:r>
              <a:endParaRPr lang="en-US" sz="1400" b="1" dirty="0">
                <a:solidFill>
                  <a:srgbClr val="051D40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7" name="Группа 246">
            <a:extLst>
              <a:ext uri="{FF2B5EF4-FFF2-40B4-BE49-F238E27FC236}">
                <a16:creationId xmlns:a16="http://schemas.microsoft.com/office/drawing/2014/main" xmlns="" id="{2BCD20AF-67AA-440B-9D2A-4100025AE9D5}"/>
              </a:ext>
            </a:extLst>
          </p:cNvPr>
          <p:cNvGrpSpPr/>
          <p:nvPr/>
        </p:nvGrpSpPr>
        <p:grpSpPr>
          <a:xfrm>
            <a:off x="2960792" y="5982169"/>
            <a:ext cx="2447961" cy="568217"/>
            <a:chOff x="2025168" y="3612467"/>
            <a:chExt cx="1907151" cy="407418"/>
          </a:xfrm>
        </p:grpSpPr>
        <p:sp>
          <p:nvSpPr>
            <p:cNvPr id="248" name="Прямоугольник: скругленные углы 247">
              <a:extLst>
                <a:ext uri="{FF2B5EF4-FFF2-40B4-BE49-F238E27FC236}">
                  <a16:creationId xmlns:a16="http://schemas.microsoft.com/office/drawing/2014/main" xmlns="" id="{5294CF74-BDCC-4BD2-A368-43209AAC7F41}"/>
                </a:ext>
              </a:extLst>
            </p:cNvPr>
            <p:cNvSpPr/>
            <p:nvPr/>
          </p:nvSpPr>
          <p:spPr>
            <a:xfrm>
              <a:off x="2169516" y="3612467"/>
              <a:ext cx="1740751" cy="40741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accent5">
                    <a:lumMod val="75000"/>
                  </a:schemeClr>
                </a:solidFill>
                <a:latin typeface="DM Sans Bold" panose="020B0604020202020204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xmlns="" id="{FA037A5D-3E9C-4773-84FB-1DA7500CA9A1}"/>
                </a:ext>
              </a:extLst>
            </p:cNvPr>
            <p:cNvSpPr txBox="1"/>
            <p:nvPr/>
          </p:nvSpPr>
          <p:spPr>
            <a:xfrm>
              <a:off x="2025168" y="3696328"/>
              <a:ext cx="1907151" cy="24274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DM Sans Bold" panose="020B0604020202020204" charset="0"/>
                  <a:cs typeface="Times New Roman" panose="02020603050405020304" pitchFamily="18" charset="0"/>
                </a:rPr>
                <a:t>Shift coefficient </a:t>
              </a:r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50" name="Группа 249">
            <a:extLst>
              <a:ext uri="{FF2B5EF4-FFF2-40B4-BE49-F238E27FC236}">
                <a16:creationId xmlns:a16="http://schemas.microsoft.com/office/drawing/2014/main" xmlns="" id="{81E0BB49-56A2-485A-90B7-2E71DFD64BAD}"/>
              </a:ext>
            </a:extLst>
          </p:cNvPr>
          <p:cNvGrpSpPr/>
          <p:nvPr/>
        </p:nvGrpSpPr>
        <p:grpSpPr>
          <a:xfrm>
            <a:off x="327522" y="5966161"/>
            <a:ext cx="2494134" cy="584226"/>
            <a:chOff x="175985" y="4113535"/>
            <a:chExt cx="1806019" cy="384050"/>
          </a:xfrm>
        </p:grpSpPr>
        <p:sp>
          <p:nvSpPr>
            <p:cNvPr id="251" name="Прямоугольник: скругленные углы 250">
              <a:extLst>
                <a:ext uri="{FF2B5EF4-FFF2-40B4-BE49-F238E27FC236}">
                  <a16:creationId xmlns:a16="http://schemas.microsoft.com/office/drawing/2014/main" xmlns="" id="{180E0A90-C1AC-4B94-9D21-86D6D03C9359}"/>
                </a:ext>
              </a:extLst>
            </p:cNvPr>
            <p:cNvSpPr/>
            <p:nvPr/>
          </p:nvSpPr>
          <p:spPr>
            <a:xfrm>
              <a:off x="241253" y="4113535"/>
              <a:ext cx="1740751" cy="38405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DM Sans Bold" panose="020B0604020202020204" charset="0"/>
              </a:endParaRP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xmlns="" id="{8D312D75-8F63-489D-B411-CD020C67AAB9}"/>
                </a:ext>
              </a:extLst>
            </p:cNvPr>
            <p:cNvSpPr txBox="1"/>
            <p:nvPr/>
          </p:nvSpPr>
          <p:spPr>
            <a:xfrm>
              <a:off x="175985" y="4195850"/>
              <a:ext cx="1796290" cy="20232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  For a student   </a:t>
              </a:r>
              <a:r>
                <a:rPr lang="ru-RU" sz="1400" b="1" dirty="0">
                  <a:solidFill>
                    <a:srgbClr val="051D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.</a:t>
              </a:r>
              <a:r>
                <a:rPr lang="ru-RU" sz="1400" b="1" dirty="0">
                  <a:solidFill>
                    <a:srgbClr val="051D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sz="1400" b="1" u="none" strike="noStrike" dirty="0">
                  <a:solidFill>
                    <a:srgbClr val="051D40"/>
                  </a:solidFill>
                  <a:effectLst/>
                  <a:latin typeface="DM Sans Bold" panose="020B0604020202020204" charset="0"/>
                </a:rPr>
                <a:t>m²</a:t>
              </a:r>
              <a:endPara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53" name="Прямая соединительная линия 252">
            <a:extLst>
              <a:ext uri="{FF2B5EF4-FFF2-40B4-BE49-F238E27FC236}">
                <a16:creationId xmlns:a16="http://schemas.microsoft.com/office/drawing/2014/main" xmlns="" id="{B476BB18-8597-47A1-ABFC-BFB475F90538}"/>
              </a:ext>
            </a:extLst>
          </p:cNvPr>
          <p:cNvCxnSpPr/>
          <p:nvPr/>
        </p:nvCxnSpPr>
        <p:spPr>
          <a:xfrm flipV="1">
            <a:off x="921463" y="6656704"/>
            <a:ext cx="3963480" cy="1911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54" name="TextBox 253">
            <a:extLst>
              <a:ext uri="{FF2B5EF4-FFF2-40B4-BE49-F238E27FC236}">
                <a16:creationId xmlns:a16="http://schemas.microsoft.com/office/drawing/2014/main" xmlns="" id="{06CC04CF-2C7B-4FDB-94AE-216E155DD39A}"/>
              </a:ext>
            </a:extLst>
          </p:cNvPr>
          <p:cNvSpPr txBox="1"/>
          <p:nvPr/>
        </p:nvSpPr>
        <p:spPr>
          <a:xfrm>
            <a:off x="6534925" y="7315807"/>
            <a:ext cx="5739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DM Sans Bold" panose="020B0604020202020204" charset="0"/>
                <a:cs typeface="Times New Roman" panose="02020603050405020304" pitchFamily="18" charset="0"/>
              </a:rPr>
              <a:t>CONSTRUCTION OF ADDITIONAL INFRASTRUCTURE FACILITIES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xmlns="" id="{1B346A19-140E-4974-880A-285876EE2EC5}"/>
              </a:ext>
            </a:extLst>
          </p:cNvPr>
          <p:cNvSpPr txBox="1"/>
          <p:nvPr/>
        </p:nvSpPr>
        <p:spPr>
          <a:xfrm>
            <a:off x="849575" y="7894098"/>
            <a:ext cx="566657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2023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xmlns="" id="{58F4ABD1-FB03-42A4-9082-35BBA68F112F}"/>
              </a:ext>
            </a:extLst>
          </p:cNvPr>
          <p:cNvSpPr txBox="1"/>
          <p:nvPr/>
        </p:nvSpPr>
        <p:spPr>
          <a:xfrm>
            <a:off x="3904086" y="9157075"/>
            <a:ext cx="1607122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2027-30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xmlns="" id="{A2EA434E-C800-4281-A45F-68067B83DBBA}"/>
              </a:ext>
            </a:extLst>
          </p:cNvPr>
          <p:cNvSpPr txBox="1"/>
          <p:nvPr/>
        </p:nvSpPr>
        <p:spPr>
          <a:xfrm>
            <a:off x="1753064" y="9177885"/>
            <a:ext cx="847197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2025-26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xmlns="" id="{4283B374-09FF-460A-9B24-468BA8B82259}"/>
              </a:ext>
            </a:extLst>
          </p:cNvPr>
          <p:cNvSpPr txBox="1"/>
          <p:nvPr/>
        </p:nvSpPr>
        <p:spPr>
          <a:xfrm>
            <a:off x="4707647" y="7949235"/>
            <a:ext cx="838200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2025-</a:t>
            </a:r>
            <a:r>
              <a:rPr lang="ru-RU" sz="1200" b="1" dirty="0">
                <a:solidFill>
                  <a:schemeClr val="bg1"/>
                </a:solidFill>
                <a:highlight>
                  <a:srgbClr val="0000FF"/>
                </a:highlight>
                <a:ea typeface="Tahoma" panose="020B0604030504040204" pitchFamily="34" charset="0"/>
                <a:cs typeface="Times New Roman" panose="02020603050405020304" pitchFamily="18" charset="0"/>
              </a:rPr>
              <a:t>30</a:t>
            </a:r>
            <a:endParaRPr lang="en-US" sz="1200" b="1" dirty="0">
              <a:solidFill>
                <a:schemeClr val="bg1"/>
              </a:solidFill>
              <a:highlight>
                <a:srgbClr val="0000FF"/>
              </a:highlight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xmlns="" id="{70D77D0D-2F8D-4002-93C5-9CDF9B130316}"/>
              </a:ext>
            </a:extLst>
          </p:cNvPr>
          <p:cNvSpPr txBox="1"/>
          <p:nvPr/>
        </p:nvSpPr>
        <p:spPr>
          <a:xfrm>
            <a:off x="3030114" y="7886873"/>
            <a:ext cx="656147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2024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xmlns="" id="{E637B83E-5B89-4D80-BECB-E9FD90758202}"/>
              </a:ext>
            </a:extLst>
          </p:cNvPr>
          <p:cNvSpPr txBox="1"/>
          <p:nvPr/>
        </p:nvSpPr>
        <p:spPr>
          <a:xfrm>
            <a:off x="2118416" y="8073146"/>
            <a:ext cx="2042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7500-seat educational building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xmlns="" id="{C13E108A-B707-4AEE-8D83-0151D7961E5A}"/>
              </a:ext>
            </a:extLst>
          </p:cNvPr>
          <p:cNvSpPr txBox="1"/>
          <p:nvPr/>
        </p:nvSpPr>
        <p:spPr>
          <a:xfrm>
            <a:off x="3764551" y="8094965"/>
            <a:ext cx="2549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2</a:t>
            </a: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000-seat student dormitory building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xmlns="" id="{64C4E681-FBFD-461F-9CAB-D66CFB0CF10C}"/>
              </a:ext>
            </a:extLst>
          </p:cNvPr>
          <p:cNvSpPr txBox="1"/>
          <p:nvPr/>
        </p:nvSpPr>
        <p:spPr>
          <a:xfrm>
            <a:off x="2652495" y="9382694"/>
            <a:ext cx="38125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Outdoor and indoor</a:t>
            </a:r>
            <a:b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sport facilities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xmlns="" id="{AC41B450-C947-43C4-9607-48D2D225DF63}"/>
              </a:ext>
            </a:extLst>
          </p:cNvPr>
          <p:cNvSpPr txBox="1"/>
          <p:nvPr/>
        </p:nvSpPr>
        <p:spPr>
          <a:xfrm>
            <a:off x="621149" y="9392366"/>
            <a:ext cx="28585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Construction of 68-apartment  houses for professors and teachers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xmlns="" id="{84C4B035-4792-4D36-A582-AD7C068C9119}"/>
              </a:ext>
            </a:extLst>
          </p:cNvPr>
          <p:cNvSpPr txBox="1"/>
          <p:nvPr/>
        </p:nvSpPr>
        <p:spPr>
          <a:xfrm>
            <a:off x="185582" y="8073146"/>
            <a:ext cx="20859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Medical faculty building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xmlns="" id="{FFE61897-4A24-49F5-B831-E42FA5BB06B1}"/>
              </a:ext>
            </a:extLst>
          </p:cNvPr>
          <p:cNvSpPr txBox="1"/>
          <p:nvPr/>
        </p:nvSpPr>
        <p:spPr>
          <a:xfrm>
            <a:off x="7543088" y="1620307"/>
            <a:ext cx="4446297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THE AREA OF  UNIVERSITY CAMPUS</a:t>
            </a:r>
          </a:p>
        </p:txBody>
      </p:sp>
      <p:cxnSp>
        <p:nvCxnSpPr>
          <p:cNvPr id="266" name="Прямая соединительная линия 265">
            <a:extLst>
              <a:ext uri="{FF2B5EF4-FFF2-40B4-BE49-F238E27FC236}">
                <a16:creationId xmlns:a16="http://schemas.microsoft.com/office/drawing/2014/main" xmlns="" id="{266820ED-72BB-4E35-B079-1820D97A9717}"/>
              </a:ext>
            </a:extLst>
          </p:cNvPr>
          <p:cNvCxnSpPr/>
          <p:nvPr/>
        </p:nvCxnSpPr>
        <p:spPr>
          <a:xfrm flipV="1">
            <a:off x="7548939" y="4438590"/>
            <a:ext cx="3963480" cy="1911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xmlns="" id="{80B57069-AC16-4BCA-97D4-3CEA94327EC9}"/>
              </a:ext>
            </a:extLst>
          </p:cNvPr>
          <p:cNvSpPr txBox="1"/>
          <p:nvPr/>
        </p:nvSpPr>
        <p:spPr>
          <a:xfrm>
            <a:off x="6796542" y="4533900"/>
            <a:ext cx="5310143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DM Sans Bold" panose="020B0604020202020204" charset="0"/>
              </a:rPr>
              <a:t>University Building Capacity</a:t>
            </a:r>
            <a:endParaRPr lang="en-US" sz="1600" b="1" dirty="0">
              <a:solidFill>
                <a:schemeClr val="bg1">
                  <a:lumMod val="95000"/>
                </a:schemeClr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8" name="Таблица 267">
            <a:extLst>
              <a:ext uri="{FF2B5EF4-FFF2-40B4-BE49-F238E27FC236}">
                <a16:creationId xmlns:a16="http://schemas.microsoft.com/office/drawing/2014/main" xmlns="" id="{1E7D02C1-95E9-49CC-B7B6-0AA83CD25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229"/>
              </p:ext>
            </p:extLst>
          </p:nvPr>
        </p:nvGraphicFramePr>
        <p:xfrm>
          <a:off x="6563468" y="4914899"/>
          <a:ext cx="5618365" cy="210867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93740">
                  <a:extLst>
                    <a:ext uri="{9D8B030D-6E8A-4147-A177-3AD203B41FA5}">
                      <a16:colId xmlns:a16="http://schemas.microsoft.com/office/drawing/2014/main" xmlns="" val="1697758280"/>
                    </a:ext>
                  </a:extLst>
                </a:gridCol>
                <a:gridCol w="901944">
                  <a:extLst>
                    <a:ext uri="{9D8B030D-6E8A-4147-A177-3AD203B41FA5}">
                      <a16:colId xmlns:a16="http://schemas.microsoft.com/office/drawing/2014/main" xmlns="" val="3410471065"/>
                    </a:ext>
                  </a:extLst>
                </a:gridCol>
                <a:gridCol w="1822681">
                  <a:extLst>
                    <a:ext uri="{9D8B030D-6E8A-4147-A177-3AD203B41FA5}">
                      <a16:colId xmlns:a16="http://schemas.microsoft.com/office/drawing/2014/main" xmlns="" val="210981598"/>
                    </a:ext>
                  </a:extLst>
                </a:gridCol>
              </a:tblGrid>
              <a:tr h="3810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Name of objects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Area  m²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402213980"/>
                  </a:ext>
                </a:extLst>
              </a:tr>
              <a:tr h="429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Educational buildings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4 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32687,3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863910877"/>
                  </a:ext>
                </a:extLst>
              </a:tr>
              <a:tr h="2707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Auditories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148 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31791,4 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483734580"/>
                  </a:ext>
                </a:extLst>
              </a:tr>
              <a:tr h="2916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Laboratories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9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435,7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187185773"/>
                  </a:ext>
                </a:extLst>
              </a:tr>
              <a:tr h="379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Co</a:t>
                      </a:r>
                      <a:r>
                        <a:rPr lang="en-US" sz="1200" b="1" i="0" u="none" strike="noStrike" kern="1200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  <a:ea typeface="+mn-ea"/>
                          <a:cs typeface="Times New Roman" panose="02020603050405020304" pitchFamily="18" charset="0"/>
                        </a:rPr>
                        <a:t>mp</a:t>
                      </a:r>
                      <a:r>
                        <a:rPr lang="en-US" sz="1200" b="1" i="0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uter cabinets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10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460,2 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979718309"/>
                  </a:ext>
                </a:extLst>
              </a:tr>
              <a:tr h="3560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  <a:ea typeface="+mn-ea"/>
                          <a:cs typeface="Times New Roman" panose="02020603050405020304" pitchFamily="18" charset="0"/>
                        </a:rPr>
                        <a:t>Supplementary training buildings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1482,8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160562018"/>
                  </a:ext>
                </a:extLst>
              </a:tr>
            </a:tbl>
          </a:graphicData>
        </a:graphic>
      </p:graphicFrame>
      <p:cxnSp>
        <p:nvCxnSpPr>
          <p:cNvPr id="269" name="Прямая соединительная линия 268">
            <a:extLst>
              <a:ext uri="{FF2B5EF4-FFF2-40B4-BE49-F238E27FC236}">
                <a16:creationId xmlns:a16="http://schemas.microsoft.com/office/drawing/2014/main" xmlns="" id="{88202B36-2C4F-4D1C-8789-C9970FEE28BB}"/>
              </a:ext>
            </a:extLst>
          </p:cNvPr>
          <p:cNvCxnSpPr/>
          <p:nvPr/>
        </p:nvCxnSpPr>
        <p:spPr>
          <a:xfrm flipV="1">
            <a:off x="7300427" y="7309504"/>
            <a:ext cx="3963480" cy="1911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xmlns="" id="{B20B7797-38E8-412C-BC8F-4D79EECD073B}"/>
              </a:ext>
            </a:extLst>
          </p:cNvPr>
          <p:cNvSpPr txBox="1"/>
          <p:nvPr/>
        </p:nvSpPr>
        <p:spPr>
          <a:xfrm>
            <a:off x="763129" y="6893480"/>
            <a:ext cx="4927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NEWLY CREATED STUDENT SEATS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xmlns="" id="{21FAFBE0-E0FE-4F4E-86A5-6F3A28EB3DFB}"/>
              </a:ext>
            </a:extLst>
          </p:cNvPr>
          <p:cNvSpPr txBox="1"/>
          <p:nvPr/>
        </p:nvSpPr>
        <p:spPr>
          <a:xfrm>
            <a:off x="7443764" y="7734674"/>
            <a:ext cx="2005036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2022 -2023-yy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6E63C55A-45AB-4ECB-AB1E-57AAB91692D8}"/>
              </a:ext>
            </a:extLst>
          </p:cNvPr>
          <p:cNvSpPr txBox="1"/>
          <p:nvPr/>
        </p:nvSpPr>
        <p:spPr>
          <a:xfrm>
            <a:off x="8686800" y="8748094"/>
            <a:ext cx="1508658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2026 -2027-yy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xmlns="" id="{CD95086F-60EA-4F0D-BE35-697F9F122058}"/>
              </a:ext>
            </a:extLst>
          </p:cNvPr>
          <p:cNvSpPr txBox="1"/>
          <p:nvPr/>
        </p:nvSpPr>
        <p:spPr>
          <a:xfrm>
            <a:off x="10264179" y="7734300"/>
            <a:ext cx="1470621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2027 -2030-yy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xmlns="" id="{84253672-04F4-4720-A47D-A3C5211B27FB}"/>
              </a:ext>
            </a:extLst>
          </p:cNvPr>
          <p:cNvSpPr txBox="1"/>
          <p:nvPr/>
        </p:nvSpPr>
        <p:spPr>
          <a:xfrm>
            <a:off x="6733206" y="8113694"/>
            <a:ext cx="24869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Establishing medical diagnostic centre</a:t>
            </a:r>
            <a:endParaRPr lang="en-US" sz="1300" b="1" dirty="0">
              <a:solidFill>
                <a:srgbClr val="051D40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xmlns="" id="{EE48DAC9-E2C8-4B41-9185-B37C660DCA4F}"/>
              </a:ext>
            </a:extLst>
          </p:cNvPr>
          <p:cNvSpPr txBox="1"/>
          <p:nvPr/>
        </p:nvSpPr>
        <p:spPr>
          <a:xfrm>
            <a:off x="9523881" y="8008674"/>
            <a:ext cx="23163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DM Sans Bold" panose="020B0604020202020204" charset="0"/>
                <a:cs typeface="Times New Roman" panose="02020603050405020304" pitchFamily="18" charset="0"/>
              </a:rPr>
              <a:t>Improving service delivery and digital marketing services</a:t>
            </a:r>
            <a:endParaRPr lang="en-US" sz="1300" b="1" dirty="0">
              <a:solidFill>
                <a:srgbClr val="051D40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xmlns="" id="{C259488C-E171-4508-A64D-8276F894ED8D}"/>
              </a:ext>
            </a:extLst>
          </p:cNvPr>
          <p:cNvSpPr txBox="1"/>
          <p:nvPr/>
        </p:nvSpPr>
        <p:spPr>
          <a:xfrm>
            <a:off x="7351165" y="9089123"/>
            <a:ext cx="37733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DM Sans Bold" panose="020B0604020202020204" charset="0"/>
                <a:cs typeface="Times New Roman" panose="02020603050405020304" pitchFamily="18" charset="0"/>
              </a:rPr>
              <a:t>Establishing a center for language training, IT education, and medical courses</a:t>
            </a:r>
            <a:endParaRPr lang="en-US" sz="1400" b="1" dirty="0">
              <a:solidFill>
                <a:srgbClr val="051D40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xmlns="" id="{53C950C3-B6B2-4B2B-B641-4430EF182439}"/>
              </a:ext>
            </a:extLst>
          </p:cNvPr>
          <p:cNvSpPr txBox="1"/>
          <p:nvPr/>
        </p:nvSpPr>
        <p:spPr>
          <a:xfrm>
            <a:off x="13882129" y="1560861"/>
            <a:ext cx="4305680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DORMITORY FOR STUDENTS.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xmlns="" id="{9A59E925-18A4-4CB7-B921-E16E960FC4D4}"/>
              </a:ext>
            </a:extLst>
          </p:cNvPr>
          <p:cNvSpPr txBox="1"/>
          <p:nvPr/>
        </p:nvSpPr>
        <p:spPr>
          <a:xfrm>
            <a:off x="17325166" y="3722348"/>
            <a:ext cx="10108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1650</a:t>
            </a:r>
          </a:p>
          <a:p>
            <a:endParaRPr lang="en-US" sz="1200" dirty="0">
              <a:solidFill>
                <a:schemeClr val="bg1"/>
              </a:solidFill>
              <a:latin typeface="DM Sans Bold" panose="020B0604020202020204" charset="0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xmlns="" id="{27D0333A-5899-42C2-AEA6-1F8771E3FA76}"/>
              </a:ext>
            </a:extLst>
          </p:cNvPr>
          <p:cNvSpPr txBox="1"/>
          <p:nvPr/>
        </p:nvSpPr>
        <p:spPr>
          <a:xfrm>
            <a:off x="12580657" y="4732227"/>
            <a:ext cx="10108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latin typeface="DM Sans Bold" panose="020B0604020202020204" charset="0"/>
              </a:rPr>
              <a:t>200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xmlns="" id="{56BF9F53-1BA7-4E29-B193-F0621BBAEC61}"/>
              </a:ext>
            </a:extLst>
          </p:cNvPr>
          <p:cNvSpPr txBox="1"/>
          <p:nvPr/>
        </p:nvSpPr>
        <p:spPr>
          <a:xfrm>
            <a:off x="17453410" y="3390735"/>
            <a:ext cx="770451" cy="252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b="1" dirty="0">
                <a:solidFill>
                  <a:schemeClr val="accent6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+1500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xmlns="" id="{9F5769C0-84F7-42A9-AE06-BAD2CC9C9C56}"/>
              </a:ext>
            </a:extLst>
          </p:cNvPr>
          <p:cNvSpPr txBox="1"/>
          <p:nvPr/>
        </p:nvSpPr>
        <p:spPr>
          <a:xfrm>
            <a:off x="12649498" y="4089055"/>
            <a:ext cx="770451" cy="252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b="1" dirty="0">
                <a:solidFill>
                  <a:schemeClr val="accent6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+50</a:t>
            </a:r>
          </a:p>
        </p:txBody>
      </p:sp>
      <p:grpSp>
        <p:nvGrpSpPr>
          <p:cNvPr id="282" name="Группа 281">
            <a:extLst>
              <a:ext uri="{FF2B5EF4-FFF2-40B4-BE49-F238E27FC236}">
                <a16:creationId xmlns:a16="http://schemas.microsoft.com/office/drawing/2014/main" xmlns="" id="{AE397C01-E566-4544-BD50-93102DAE4CF4}"/>
              </a:ext>
            </a:extLst>
          </p:cNvPr>
          <p:cNvGrpSpPr/>
          <p:nvPr/>
        </p:nvGrpSpPr>
        <p:grpSpPr>
          <a:xfrm>
            <a:off x="12888568" y="1905714"/>
            <a:ext cx="6405611" cy="3372061"/>
            <a:chOff x="8181435" y="1098528"/>
            <a:chExt cx="4795029" cy="3414260"/>
          </a:xfrm>
        </p:grpSpPr>
        <p:cxnSp>
          <p:nvCxnSpPr>
            <p:cNvPr id="283" name="Прямая соединительная линия 282">
              <a:extLst>
                <a:ext uri="{FF2B5EF4-FFF2-40B4-BE49-F238E27FC236}">
                  <a16:creationId xmlns:a16="http://schemas.microsoft.com/office/drawing/2014/main" xmlns="" id="{DD6BD2EE-2550-4056-B812-336E551EB7E0}"/>
                </a:ext>
              </a:extLst>
            </p:cNvPr>
            <p:cNvCxnSpPr>
              <a:cxnSpLocks/>
            </p:cNvCxnSpPr>
            <p:nvPr/>
          </p:nvCxnSpPr>
          <p:spPr>
            <a:xfrm>
              <a:off x="8602617" y="1145757"/>
              <a:ext cx="9727" cy="32409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Прямая соединительная линия 283">
              <a:extLst>
                <a:ext uri="{FF2B5EF4-FFF2-40B4-BE49-F238E27FC236}">
                  <a16:creationId xmlns:a16="http://schemas.microsoft.com/office/drawing/2014/main" xmlns="" id="{ED4B05FE-73F2-4AB1-97EE-53F2DA72096C}"/>
                </a:ext>
              </a:extLst>
            </p:cNvPr>
            <p:cNvCxnSpPr>
              <a:cxnSpLocks/>
            </p:cNvCxnSpPr>
            <p:nvPr/>
          </p:nvCxnSpPr>
          <p:spPr>
            <a:xfrm>
              <a:off x="9315517" y="1166305"/>
              <a:ext cx="0" cy="3220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Прямая соединительная линия 284">
              <a:extLst>
                <a:ext uri="{FF2B5EF4-FFF2-40B4-BE49-F238E27FC236}">
                  <a16:creationId xmlns:a16="http://schemas.microsoft.com/office/drawing/2014/main" xmlns="" id="{DFF5DEF1-DACD-4152-8D6A-853C886C2856}"/>
                </a:ext>
              </a:extLst>
            </p:cNvPr>
            <p:cNvCxnSpPr>
              <a:cxnSpLocks/>
            </p:cNvCxnSpPr>
            <p:nvPr/>
          </p:nvCxnSpPr>
          <p:spPr>
            <a:xfrm>
              <a:off x="10038164" y="1178214"/>
              <a:ext cx="0" cy="31763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Прямая соединительная линия 285">
              <a:extLst>
                <a:ext uri="{FF2B5EF4-FFF2-40B4-BE49-F238E27FC236}">
                  <a16:creationId xmlns:a16="http://schemas.microsoft.com/office/drawing/2014/main" xmlns="" id="{C3406653-AE77-4FB1-9C44-0B52C2ACA35E}"/>
                </a:ext>
              </a:extLst>
            </p:cNvPr>
            <p:cNvCxnSpPr>
              <a:cxnSpLocks/>
            </p:cNvCxnSpPr>
            <p:nvPr/>
          </p:nvCxnSpPr>
          <p:spPr>
            <a:xfrm>
              <a:off x="11370065" y="1166305"/>
              <a:ext cx="0" cy="31882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Прямая соединительная линия 286">
              <a:extLst>
                <a:ext uri="{FF2B5EF4-FFF2-40B4-BE49-F238E27FC236}">
                  <a16:creationId xmlns:a16="http://schemas.microsoft.com/office/drawing/2014/main" xmlns="" id="{5A968832-DC0F-4A1F-884F-A8565326DB98}"/>
                </a:ext>
              </a:extLst>
            </p:cNvPr>
            <p:cNvCxnSpPr>
              <a:cxnSpLocks/>
            </p:cNvCxnSpPr>
            <p:nvPr/>
          </p:nvCxnSpPr>
          <p:spPr>
            <a:xfrm>
              <a:off x="10674672" y="1163089"/>
              <a:ext cx="0" cy="31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Прямая соединительная линия 287">
              <a:extLst>
                <a:ext uri="{FF2B5EF4-FFF2-40B4-BE49-F238E27FC236}">
                  <a16:creationId xmlns:a16="http://schemas.microsoft.com/office/drawing/2014/main" xmlns="" id="{5C43CA46-A38E-4FFC-B329-167A5D4B17B9}"/>
                </a:ext>
              </a:extLst>
            </p:cNvPr>
            <p:cNvCxnSpPr>
              <a:cxnSpLocks/>
            </p:cNvCxnSpPr>
            <p:nvPr/>
          </p:nvCxnSpPr>
          <p:spPr>
            <a:xfrm>
              <a:off x="11950746" y="1145757"/>
              <a:ext cx="0" cy="31712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Прямая соединительная линия 288">
              <a:extLst>
                <a:ext uri="{FF2B5EF4-FFF2-40B4-BE49-F238E27FC236}">
                  <a16:creationId xmlns:a16="http://schemas.microsoft.com/office/drawing/2014/main" xmlns="" id="{045D8AE4-C577-4D37-A929-125FE8FF3461}"/>
                </a:ext>
              </a:extLst>
            </p:cNvPr>
            <p:cNvCxnSpPr>
              <a:cxnSpLocks/>
              <a:endCxn id="293" idx="3"/>
            </p:cNvCxnSpPr>
            <p:nvPr/>
          </p:nvCxnSpPr>
          <p:spPr>
            <a:xfrm flipV="1">
              <a:off x="8797759" y="1891457"/>
              <a:ext cx="917526" cy="40666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Прямая соединительная линия 289">
              <a:extLst>
                <a:ext uri="{FF2B5EF4-FFF2-40B4-BE49-F238E27FC236}">
                  <a16:creationId xmlns:a16="http://schemas.microsoft.com/office/drawing/2014/main" xmlns="" id="{11455A52-6A93-4E0F-835A-8577B72BE7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1980" y="1427781"/>
              <a:ext cx="1937047" cy="43043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91" name="Овал 290">
              <a:extLst>
                <a:ext uri="{FF2B5EF4-FFF2-40B4-BE49-F238E27FC236}">
                  <a16:creationId xmlns:a16="http://schemas.microsoft.com/office/drawing/2014/main" xmlns="" id="{B5B3BBB7-16C8-48A3-8662-47B0AC6C654C}"/>
                </a:ext>
              </a:extLst>
            </p:cNvPr>
            <p:cNvSpPr/>
            <p:nvPr/>
          </p:nvSpPr>
          <p:spPr>
            <a:xfrm>
              <a:off x="10981098" y="1528099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292" name="Овал 291">
              <a:extLst>
                <a:ext uri="{FF2B5EF4-FFF2-40B4-BE49-F238E27FC236}">
                  <a16:creationId xmlns:a16="http://schemas.microsoft.com/office/drawing/2014/main" xmlns="" id="{DE8A568D-9C3B-4BAF-AE09-3075A4F786AC}"/>
                </a:ext>
              </a:extLst>
            </p:cNvPr>
            <p:cNvSpPr/>
            <p:nvPr/>
          </p:nvSpPr>
          <p:spPr>
            <a:xfrm>
              <a:off x="10368422" y="1642385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293" name="Овал 292">
              <a:extLst>
                <a:ext uri="{FF2B5EF4-FFF2-40B4-BE49-F238E27FC236}">
                  <a16:creationId xmlns:a16="http://schemas.microsoft.com/office/drawing/2014/main" xmlns="" id="{24F4EEA2-717E-4F65-B601-6AFEEEAD0C12}"/>
                </a:ext>
              </a:extLst>
            </p:cNvPr>
            <p:cNvSpPr/>
            <p:nvPr/>
          </p:nvSpPr>
          <p:spPr>
            <a:xfrm>
              <a:off x="9698236" y="1793908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294" name="Овал 293">
              <a:extLst>
                <a:ext uri="{FF2B5EF4-FFF2-40B4-BE49-F238E27FC236}">
                  <a16:creationId xmlns:a16="http://schemas.microsoft.com/office/drawing/2014/main" xmlns="" id="{6B2BC9AA-B921-4889-BD91-F4288D55B15F}"/>
                </a:ext>
              </a:extLst>
            </p:cNvPr>
            <p:cNvSpPr/>
            <p:nvPr/>
          </p:nvSpPr>
          <p:spPr>
            <a:xfrm>
              <a:off x="8724837" y="2241634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295" name="Овал 294">
              <a:extLst>
                <a:ext uri="{FF2B5EF4-FFF2-40B4-BE49-F238E27FC236}">
                  <a16:creationId xmlns:a16="http://schemas.microsoft.com/office/drawing/2014/main" xmlns="" id="{DAC36CAF-B2E5-481F-A2DF-19852F26E582}"/>
                </a:ext>
              </a:extLst>
            </p:cNvPr>
            <p:cNvSpPr/>
            <p:nvPr/>
          </p:nvSpPr>
          <p:spPr>
            <a:xfrm>
              <a:off x="11584407" y="1360112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cxnSp>
          <p:nvCxnSpPr>
            <p:cNvPr id="296" name="Прямая соединительная линия 295">
              <a:extLst>
                <a:ext uri="{FF2B5EF4-FFF2-40B4-BE49-F238E27FC236}">
                  <a16:creationId xmlns:a16="http://schemas.microsoft.com/office/drawing/2014/main" xmlns="" id="{E7224371-10BA-482D-AF15-52773FB82F1E}"/>
                </a:ext>
              </a:extLst>
            </p:cNvPr>
            <p:cNvCxnSpPr/>
            <p:nvPr/>
          </p:nvCxnSpPr>
          <p:spPr>
            <a:xfrm flipV="1">
              <a:off x="8216854" y="2872848"/>
              <a:ext cx="3619500" cy="7468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Овал 296">
              <a:extLst>
                <a:ext uri="{FF2B5EF4-FFF2-40B4-BE49-F238E27FC236}">
                  <a16:creationId xmlns:a16="http://schemas.microsoft.com/office/drawing/2014/main" xmlns="" id="{EDD3625F-BC16-4CAC-8D2F-2F1C5D88E093}"/>
                </a:ext>
              </a:extLst>
            </p:cNvPr>
            <p:cNvSpPr/>
            <p:nvPr/>
          </p:nvSpPr>
          <p:spPr>
            <a:xfrm>
              <a:off x="8181435" y="3558864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298" name="Овал 297">
              <a:extLst>
                <a:ext uri="{FF2B5EF4-FFF2-40B4-BE49-F238E27FC236}">
                  <a16:creationId xmlns:a16="http://schemas.microsoft.com/office/drawing/2014/main" xmlns="" id="{6BFDD8B9-B9E6-44AE-AFE5-DE6C64B649CC}"/>
                </a:ext>
              </a:extLst>
            </p:cNvPr>
            <p:cNvSpPr/>
            <p:nvPr/>
          </p:nvSpPr>
          <p:spPr>
            <a:xfrm>
              <a:off x="10971741" y="2957630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299" name="Овал 298">
              <a:extLst>
                <a:ext uri="{FF2B5EF4-FFF2-40B4-BE49-F238E27FC236}">
                  <a16:creationId xmlns:a16="http://schemas.microsoft.com/office/drawing/2014/main" xmlns="" id="{E3EB7592-B570-44C9-83D4-A12B2ACD13DC}"/>
                </a:ext>
              </a:extLst>
            </p:cNvPr>
            <p:cNvSpPr/>
            <p:nvPr/>
          </p:nvSpPr>
          <p:spPr>
            <a:xfrm>
              <a:off x="10317502" y="3109079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00" name="Овал 299">
              <a:extLst>
                <a:ext uri="{FF2B5EF4-FFF2-40B4-BE49-F238E27FC236}">
                  <a16:creationId xmlns:a16="http://schemas.microsoft.com/office/drawing/2014/main" xmlns="" id="{E97A6859-E239-4E95-8C73-857E21053ABE}"/>
                </a:ext>
              </a:extLst>
            </p:cNvPr>
            <p:cNvSpPr/>
            <p:nvPr/>
          </p:nvSpPr>
          <p:spPr>
            <a:xfrm>
              <a:off x="9657076" y="3246271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01" name="Овал 300">
              <a:extLst>
                <a:ext uri="{FF2B5EF4-FFF2-40B4-BE49-F238E27FC236}">
                  <a16:creationId xmlns:a16="http://schemas.microsoft.com/office/drawing/2014/main" xmlns="" id="{301FC555-E487-4137-A072-6FAB4AD3624B}"/>
                </a:ext>
              </a:extLst>
            </p:cNvPr>
            <p:cNvSpPr/>
            <p:nvPr/>
          </p:nvSpPr>
          <p:spPr>
            <a:xfrm>
              <a:off x="8950883" y="3412099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02" name="Овал 301">
              <a:extLst>
                <a:ext uri="{FF2B5EF4-FFF2-40B4-BE49-F238E27FC236}">
                  <a16:creationId xmlns:a16="http://schemas.microsoft.com/office/drawing/2014/main" xmlns="" id="{BD96AB8D-DB33-4183-B1F1-38FF241B73DC}"/>
                </a:ext>
              </a:extLst>
            </p:cNvPr>
            <p:cNvSpPr/>
            <p:nvPr/>
          </p:nvSpPr>
          <p:spPr>
            <a:xfrm>
              <a:off x="11794175" y="2812593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grpSp>
          <p:nvGrpSpPr>
            <p:cNvPr id="303" name="Группа 302">
              <a:extLst>
                <a:ext uri="{FF2B5EF4-FFF2-40B4-BE49-F238E27FC236}">
                  <a16:creationId xmlns:a16="http://schemas.microsoft.com/office/drawing/2014/main" xmlns="" id="{C1FA7B1B-963A-4D1A-8D6B-57D60488FBF5}"/>
                </a:ext>
              </a:extLst>
            </p:cNvPr>
            <p:cNvGrpSpPr/>
            <p:nvPr/>
          </p:nvGrpSpPr>
          <p:grpSpPr>
            <a:xfrm>
              <a:off x="8256419" y="3875542"/>
              <a:ext cx="3563490" cy="425508"/>
              <a:chOff x="8144642" y="3721108"/>
              <a:chExt cx="3563490" cy="425508"/>
            </a:xfrm>
          </p:grpSpPr>
          <p:cxnSp>
            <p:nvCxnSpPr>
              <p:cNvPr id="337" name="Прямая соединительная линия 336">
                <a:extLst>
                  <a:ext uri="{FF2B5EF4-FFF2-40B4-BE49-F238E27FC236}">
                    <a16:creationId xmlns:a16="http://schemas.microsoft.com/office/drawing/2014/main" xmlns="" id="{743BDE41-472B-49C9-B3C4-6EF9455244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1435" y="3820759"/>
                <a:ext cx="3519389" cy="29404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8" name="Овал 337">
                <a:extLst>
                  <a:ext uri="{FF2B5EF4-FFF2-40B4-BE49-F238E27FC236}">
                    <a16:creationId xmlns:a16="http://schemas.microsoft.com/office/drawing/2014/main" xmlns="" id="{293336C7-17CF-4D07-9DF1-1E013A076BD6}"/>
                  </a:ext>
                </a:extLst>
              </p:cNvPr>
              <p:cNvSpPr/>
              <p:nvPr/>
            </p:nvSpPr>
            <p:spPr>
              <a:xfrm>
                <a:off x="8144642" y="372110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339" name="Овал 338">
                <a:extLst>
                  <a:ext uri="{FF2B5EF4-FFF2-40B4-BE49-F238E27FC236}">
                    <a16:creationId xmlns:a16="http://schemas.microsoft.com/office/drawing/2014/main" xmlns="" id="{DF62D950-1697-4630-86E5-AEDF795E2509}"/>
                  </a:ext>
                </a:extLst>
              </p:cNvPr>
              <p:cNvSpPr/>
              <p:nvPr/>
            </p:nvSpPr>
            <p:spPr>
              <a:xfrm>
                <a:off x="9685323" y="387304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340" name="Овал 339">
                <a:extLst>
                  <a:ext uri="{FF2B5EF4-FFF2-40B4-BE49-F238E27FC236}">
                    <a16:creationId xmlns:a16="http://schemas.microsoft.com/office/drawing/2014/main" xmlns="" id="{08BB9EE9-AA91-4DCF-9304-4EBD3B99CAD5}"/>
                  </a:ext>
                </a:extLst>
              </p:cNvPr>
              <p:cNvSpPr/>
              <p:nvPr/>
            </p:nvSpPr>
            <p:spPr>
              <a:xfrm>
                <a:off x="8933278" y="3806521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341" name="Овал 340">
                <a:extLst>
                  <a:ext uri="{FF2B5EF4-FFF2-40B4-BE49-F238E27FC236}">
                    <a16:creationId xmlns:a16="http://schemas.microsoft.com/office/drawing/2014/main" xmlns="" id="{61AFE585-4796-4DF7-8C2E-1BF29C36D227}"/>
                  </a:ext>
                </a:extLst>
              </p:cNvPr>
              <p:cNvSpPr/>
              <p:nvPr/>
            </p:nvSpPr>
            <p:spPr>
              <a:xfrm>
                <a:off x="10298210" y="3930191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342" name="Овал 341">
                <a:extLst>
                  <a:ext uri="{FF2B5EF4-FFF2-40B4-BE49-F238E27FC236}">
                    <a16:creationId xmlns:a16="http://schemas.microsoft.com/office/drawing/2014/main" xmlns="" id="{528CFA70-D845-4D73-9366-DED34ABA9E08}"/>
                  </a:ext>
                </a:extLst>
              </p:cNvPr>
              <p:cNvSpPr/>
              <p:nvPr/>
            </p:nvSpPr>
            <p:spPr>
              <a:xfrm>
                <a:off x="11044792" y="399702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343" name="Овал 342">
                <a:extLst>
                  <a:ext uri="{FF2B5EF4-FFF2-40B4-BE49-F238E27FC236}">
                    <a16:creationId xmlns:a16="http://schemas.microsoft.com/office/drawing/2014/main" xmlns="" id="{A0258BC4-3120-4B84-9700-1A796359D948}"/>
                  </a:ext>
                </a:extLst>
              </p:cNvPr>
              <p:cNvSpPr/>
              <p:nvPr/>
            </p:nvSpPr>
            <p:spPr>
              <a:xfrm>
                <a:off x="11591715" y="4032330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xmlns="" id="{19B1DE6F-8CB3-4442-911F-4E0955DCAC8E}"/>
                </a:ext>
              </a:extLst>
            </p:cNvPr>
            <p:cNvSpPr txBox="1"/>
            <p:nvPr/>
          </p:nvSpPr>
          <p:spPr>
            <a:xfrm>
              <a:off x="8722143" y="1116016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2023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xmlns="" id="{4627934B-8CB4-4983-AEEC-DB854814DE2F}"/>
                </a:ext>
              </a:extLst>
            </p:cNvPr>
            <p:cNvSpPr txBox="1"/>
            <p:nvPr/>
          </p:nvSpPr>
          <p:spPr>
            <a:xfrm>
              <a:off x="10772489" y="1106058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xmlns="" id="{D57D464A-999B-4735-B629-4D1C14862DD2}"/>
                </a:ext>
              </a:extLst>
            </p:cNvPr>
            <p:cNvSpPr txBox="1"/>
            <p:nvPr/>
          </p:nvSpPr>
          <p:spPr>
            <a:xfrm>
              <a:off x="11405716" y="1106058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2027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xmlns="" id="{DACC7CB6-44A7-4A11-8493-419BE215A53F}"/>
                </a:ext>
              </a:extLst>
            </p:cNvPr>
            <p:cNvSpPr txBox="1"/>
            <p:nvPr/>
          </p:nvSpPr>
          <p:spPr>
            <a:xfrm>
              <a:off x="10160891" y="1098528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2025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xmlns="" id="{50CB44E9-7A6C-4B53-AC46-CC9C8D133D8B}"/>
                </a:ext>
              </a:extLst>
            </p:cNvPr>
            <p:cNvSpPr txBox="1"/>
            <p:nvPr/>
          </p:nvSpPr>
          <p:spPr>
            <a:xfrm>
              <a:off x="9455874" y="1116016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xmlns="" id="{4EE22F94-5D1E-4AC4-B463-5BE98EDBFDA8}"/>
                </a:ext>
              </a:extLst>
            </p:cNvPr>
            <p:cNvSpPr txBox="1"/>
            <p:nvPr/>
          </p:nvSpPr>
          <p:spPr>
            <a:xfrm>
              <a:off x="8565765" y="2286103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200" b="1" dirty="0">
                  <a:solidFill>
                    <a:schemeClr val="bg1"/>
                  </a:solidFill>
                </a:rPr>
                <a:t>200</a:t>
              </a:r>
              <a:endParaRPr lang="en-US" sz="1200" b="1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xmlns="" id="{EECF5D18-F6FF-4933-8FD0-4819FB4D8A24}"/>
                </a:ext>
              </a:extLst>
            </p:cNvPr>
            <p:cNvSpPr txBox="1"/>
            <p:nvPr/>
          </p:nvSpPr>
          <p:spPr>
            <a:xfrm>
              <a:off x="10776675" y="1631577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10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xmlns="" id="{73BE29DF-5FF2-4224-A888-73FB4312A349}"/>
                </a:ext>
              </a:extLst>
            </p:cNvPr>
            <p:cNvSpPr txBox="1"/>
            <p:nvPr/>
          </p:nvSpPr>
          <p:spPr>
            <a:xfrm>
              <a:off x="10158951" y="1746901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50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xmlns="" id="{547D03C2-28B4-4B12-8827-47F467A2D453}"/>
                </a:ext>
              </a:extLst>
            </p:cNvPr>
            <p:cNvSpPr txBox="1"/>
            <p:nvPr/>
          </p:nvSpPr>
          <p:spPr>
            <a:xfrm>
              <a:off x="9526469" y="1919194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250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xmlns="" id="{E200D057-6522-4F9A-B5E6-0A95F63791A3}"/>
                </a:ext>
              </a:extLst>
            </p:cNvPr>
            <p:cNvSpPr txBox="1"/>
            <p:nvPr/>
          </p:nvSpPr>
          <p:spPr>
            <a:xfrm>
              <a:off x="11414627" y="1479486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000</a:t>
              </a: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xmlns="" id="{A7EA5B08-B2B3-4816-BE4C-9272287C04DA}"/>
                </a:ext>
              </a:extLst>
            </p:cNvPr>
            <p:cNvSpPr txBox="1"/>
            <p:nvPr/>
          </p:nvSpPr>
          <p:spPr>
            <a:xfrm>
              <a:off x="8616340" y="2457421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2023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xmlns="" id="{2B3B0A69-0D01-436E-A91E-441ABF7AD6A9}"/>
                </a:ext>
              </a:extLst>
            </p:cNvPr>
            <p:cNvSpPr txBox="1"/>
            <p:nvPr/>
          </p:nvSpPr>
          <p:spPr>
            <a:xfrm>
              <a:off x="9389117" y="2439000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xmlns="" id="{9DD624D3-76D5-4DC6-9D39-8C116B7D321B}"/>
                </a:ext>
              </a:extLst>
            </p:cNvPr>
            <p:cNvSpPr txBox="1"/>
            <p:nvPr/>
          </p:nvSpPr>
          <p:spPr>
            <a:xfrm>
              <a:off x="10105829" y="2447857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xmlns="" id="{3C04B904-1B96-4545-AC5E-F8D1CB771DF3}"/>
                </a:ext>
              </a:extLst>
            </p:cNvPr>
            <p:cNvSpPr txBox="1"/>
            <p:nvPr/>
          </p:nvSpPr>
          <p:spPr>
            <a:xfrm>
              <a:off x="10765533" y="2476517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xmlns="" id="{D77F0DF9-843B-46E0-AEDD-9A2799E0325C}"/>
                </a:ext>
              </a:extLst>
            </p:cNvPr>
            <p:cNvSpPr txBox="1"/>
            <p:nvPr/>
          </p:nvSpPr>
          <p:spPr>
            <a:xfrm>
              <a:off x="11380817" y="2409889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2027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xmlns="" id="{FA8F4A94-EB6E-441A-8DA5-77A87269CA88}"/>
                </a:ext>
              </a:extLst>
            </p:cNvPr>
            <p:cNvSpPr txBox="1"/>
            <p:nvPr/>
          </p:nvSpPr>
          <p:spPr>
            <a:xfrm>
              <a:off x="9828828" y="1938761"/>
              <a:ext cx="3147636" cy="553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The persisting demand for </a:t>
              </a:r>
              <a:br>
                <a:rPr lang="en-US" sz="14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</a:br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student accommodation</a:t>
              </a:r>
              <a:endParaRPr lang="en-US" sz="1400" b="1" dirty="0">
                <a:solidFill>
                  <a:schemeClr val="bg1">
                    <a:lumMod val="95000"/>
                  </a:schemeClr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xmlns="" id="{A0E5C130-451C-41B2-8077-B7CF134EA765}"/>
                </a:ext>
              </a:extLst>
            </p:cNvPr>
            <p:cNvSpPr txBox="1"/>
            <p:nvPr/>
          </p:nvSpPr>
          <p:spPr>
            <a:xfrm>
              <a:off x="8764914" y="3600521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2023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xmlns="" id="{7EF85337-1ADF-450D-8031-2746CCB50696}"/>
                </a:ext>
              </a:extLst>
            </p:cNvPr>
            <p:cNvSpPr txBox="1"/>
            <p:nvPr/>
          </p:nvSpPr>
          <p:spPr>
            <a:xfrm>
              <a:off x="9484759" y="3597564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xmlns="" id="{206CAD23-23E2-4C10-B097-08F9521BB7AF}"/>
                </a:ext>
              </a:extLst>
            </p:cNvPr>
            <p:cNvSpPr txBox="1"/>
            <p:nvPr/>
          </p:nvSpPr>
          <p:spPr>
            <a:xfrm>
              <a:off x="10162513" y="3617615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xmlns="" id="{888372E4-76F6-453A-B3E8-CA65112F1BA2}"/>
                </a:ext>
              </a:extLst>
            </p:cNvPr>
            <p:cNvSpPr txBox="1"/>
            <p:nvPr/>
          </p:nvSpPr>
          <p:spPr>
            <a:xfrm>
              <a:off x="10818836" y="3610624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xmlns="" id="{B7664880-6FE5-49D2-AF10-ABB1059E3D09}"/>
                </a:ext>
              </a:extLst>
            </p:cNvPr>
            <p:cNvSpPr txBox="1"/>
            <p:nvPr/>
          </p:nvSpPr>
          <p:spPr>
            <a:xfrm>
              <a:off x="11441537" y="3591110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2027</a:t>
              </a: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xmlns="" id="{4E947CC3-C1A7-430F-9652-9559CBC169C6}"/>
                </a:ext>
              </a:extLst>
            </p:cNvPr>
            <p:cNvSpPr txBox="1"/>
            <p:nvPr/>
          </p:nvSpPr>
          <p:spPr>
            <a:xfrm>
              <a:off x="8192054" y="3555098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xmlns="" id="{D1245EE5-8EB9-498C-B7F5-F6F6570BA722}"/>
                </a:ext>
              </a:extLst>
            </p:cNvPr>
            <p:cNvSpPr txBox="1"/>
            <p:nvPr/>
          </p:nvSpPr>
          <p:spPr>
            <a:xfrm>
              <a:off x="9526469" y="3318665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25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xmlns="" id="{2F6D463F-A1EE-42CC-A6E9-93CDA5F6EC79}"/>
                </a:ext>
              </a:extLst>
            </p:cNvPr>
            <p:cNvSpPr txBox="1"/>
            <p:nvPr/>
          </p:nvSpPr>
          <p:spPr>
            <a:xfrm>
              <a:off x="10783546" y="3080294"/>
              <a:ext cx="756696" cy="4674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75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xmlns="" id="{4DEBE350-B4A2-4B01-A5C6-4AE506D8DE12}"/>
                </a:ext>
              </a:extLst>
            </p:cNvPr>
            <p:cNvSpPr txBox="1"/>
            <p:nvPr/>
          </p:nvSpPr>
          <p:spPr>
            <a:xfrm>
              <a:off x="8982066" y="3394784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xmlns="" id="{96AC4649-DDAD-417F-A111-EAA1C9D438B8}"/>
                </a:ext>
              </a:extLst>
            </p:cNvPr>
            <p:cNvSpPr txBox="1"/>
            <p:nvPr/>
          </p:nvSpPr>
          <p:spPr>
            <a:xfrm>
              <a:off x="8802207" y="4038536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xmlns="" id="{2B146D47-1DF1-4786-A5FE-05356ADF7393}"/>
                </a:ext>
              </a:extLst>
            </p:cNvPr>
            <p:cNvSpPr txBox="1"/>
            <p:nvPr/>
          </p:nvSpPr>
          <p:spPr>
            <a:xfrm>
              <a:off x="10258569" y="4156862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25</a:t>
              </a:r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xmlns="" id="{F8BCB084-D79F-450E-9789-DEF30A941EE9}"/>
                </a:ext>
              </a:extLst>
            </p:cNvPr>
            <p:cNvSpPr txBox="1"/>
            <p:nvPr/>
          </p:nvSpPr>
          <p:spPr>
            <a:xfrm>
              <a:off x="9630374" y="4082685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50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xmlns="" id="{D43304D4-4F45-43E7-BD13-B5C1BA699217}"/>
                </a:ext>
              </a:extLst>
            </p:cNvPr>
            <p:cNvSpPr txBox="1"/>
            <p:nvPr/>
          </p:nvSpPr>
          <p:spPr>
            <a:xfrm>
              <a:off x="10868916" y="4216065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250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xmlns="" id="{68BE74AB-FE03-45E6-9485-A5211715CCF6}"/>
                </a:ext>
              </a:extLst>
            </p:cNvPr>
            <p:cNvSpPr txBox="1"/>
            <p:nvPr/>
          </p:nvSpPr>
          <p:spPr>
            <a:xfrm>
              <a:off x="11468900" y="4232323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35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xmlns="" id="{609D0F23-B380-406E-886C-FEEB1FAFDE64}"/>
                </a:ext>
              </a:extLst>
            </p:cNvPr>
            <p:cNvSpPr txBox="1"/>
            <p:nvPr/>
          </p:nvSpPr>
          <p:spPr>
            <a:xfrm>
              <a:off x="9329095" y="3034082"/>
              <a:ext cx="576734" cy="255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+250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xmlns="" id="{F556C344-4B7A-4582-AFED-0CCEA757E290}"/>
                </a:ext>
              </a:extLst>
            </p:cNvPr>
            <p:cNvSpPr txBox="1"/>
            <p:nvPr/>
          </p:nvSpPr>
          <p:spPr>
            <a:xfrm>
              <a:off x="10072677" y="2903339"/>
              <a:ext cx="576734" cy="255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+500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xmlns="" id="{5B2E6A2B-6B98-402F-A9AB-047822950466}"/>
                </a:ext>
              </a:extLst>
            </p:cNvPr>
            <p:cNvSpPr txBox="1"/>
            <p:nvPr/>
          </p:nvSpPr>
          <p:spPr>
            <a:xfrm>
              <a:off x="9738763" y="3219553"/>
              <a:ext cx="2286627" cy="5530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The persisting demand for student accommodation</a:t>
              </a:r>
              <a:endParaRPr lang="en-US" sz="1400" b="1" dirty="0">
                <a:solidFill>
                  <a:schemeClr val="bg1">
                    <a:lumMod val="95000"/>
                  </a:schemeClr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44" name="Таблица 343">
            <a:extLst>
              <a:ext uri="{FF2B5EF4-FFF2-40B4-BE49-F238E27FC236}">
                <a16:creationId xmlns:a16="http://schemas.microsoft.com/office/drawing/2014/main" xmlns="" id="{F653DB8A-5DCF-42B1-9454-33295DB03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672773"/>
              </p:ext>
            </p:extLst>
          </p:nvPr>
        </p:nvGraphicFramePr>
        <p:xfrm>
          <a:off x="12589053" y="6046819"/>
          <a:ext cx="5371425" cy="182809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2286">
                  <a:extLst>
                    <a:ext uri="{9D8B030D-6E8A-4147-A177-3AD203B41FA5}">
                      <a16:colId xmlns:a16="http://schemas.microsoft.com/office/drawing/2014/main" xmlns="" val="3221827101"/>
                    </a:ext>
                  </a:extLst>
                </a:gridCol>
                <a:gridCol w="1541844">
                  <a:extLst>
                    <a:ext uri="{9D8B030D-6E8A-4147-A177-3AD203B41FA5}">
                      <a16:colId xmlns:a16="http://schemas.microsoft.com/office/drawing/2014/main" xmlns="" val="2099833603"/>
                    </a:ext>
                  </a:extLst>
                </a:gridCol>
                <a:gridCol w="1317867">
                  <a:extLst>
                    <a:ext uri="{9D8B030D-6E8A-4147-A177-3AD203B41FA5}">
                      <a16:colId xmlns:a16="http://schemas.microsoft.com/office/drawing/2014/main" xmlns="" val="2830177320"/>
                    </a:ext>
                  </a:extLst>
                </a:gridCol>
                <a:gridCol w="1012021">
                  <a:extLst>
                    <a:ext uri="{9D8B030D-6E8A-4147-A177-3AD203B41FA5}">
                      <a16:colId xmlns:a16="http://schemas.microsoft.com/office/drawing/2014/main" xmlns="" val="1281292787"/>
                    </a:ext>
                  </a:extLst>
                </a:gridCol>
                <a:gridCol w="1077407">
                  <a:extLst>
                    <a:ext uri="{9D8B030D-6E8A-4147-A177-3AD203B41FA5}">
                      <a16:colId xmlns:a16="http://schemas.microsoft.com/office/drawing/2014/main" xmlns="" val="2643898675"/>
                    </a:ext>
                  </a:extLst>
                </a:gridCol>
              </a:tblGrid>
              <a:tr h="4276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№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dirty="0"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Training Name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dirty="0">
                          <a:latin typeface="DM Sans Bold" panose="020B0604020202020204" charset="0"/>
                        </a:rPr>
                        <a:t>Specialization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dirty="0"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Number of Participants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dirty="0">
                          <a:latin typeface="DM Sans Bold" panose="020B0604020202020204" charset="0"/>
                        </a:rPr>
                        <a:t>Time of Establishment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292744925"/>
                  </a:ext>
                </a:extLst>
              </a:tr>
              <a:tr h="4276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dirty="0"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Language Teaching Cente</a:t>
                      </a:r>
                      <a:r>
                        <a:rPr lang="en-US" sz="1200" b="0" dirty="0">
                          <a:latin typeface="DM Sans Bold" panose="020B0604020202020204" charset="0"/>
                        </a:rPr>
                        <a:t>r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dirty="0">
                          <a:latin typeface="DM Sans Bold" panose="020B0604020202020204" charset="0"/>
                        </a:rPr>
                        <a:t>English, Turkish, Russian languages.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800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2024 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734495267"/>
                  </a:ext>
                </a:extLst>
              </a:tr>
              <a:tr h="842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Vocational Training Center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Nursing and dental technician</a:t>
                      </a:r>
                    </a:p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100 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2025 </a:t>
                      </a:r>
                      <a:endParaRPr lang="en-US" sz="1200" b="0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784115947"/>
                  </a:ext>
                </a:extLst>
              </a:tr>
            </a:tbl>
          </a:graphicData>
        </a:graphic>
      </p:graphicFrame>
      <p:graphicFrame>
        <p:nvGraphicFramePr>
          <p:cNvPr id="345" name="Таблица 344">
            <a:extLst>
              <a:ext uri="{FF2B5EF4-FFF2-40B4-BE49-F238E27FC236}">
                <a16:creationId xmlns:a16="http://schemas.microsoft.com/office/drawing/2014/main" xmlns="" id="{E06ED0B0-AE2C-4EA9-B4AA-0A63FAC48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686506"/>
              </p:ext>
            </p:extLst>
          </p:nvPr>
        </p:nvGraphicFramePr>
        <p:xfrm>
          <a:off x="12605712" y="8267700"/>
          <a:ext cx="5354766" cy="166500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98537">
                  <a:extLst>
                    <a:ext uri="{9D8B030D-6E8A-4147-A177-3AD203B41FA5}">
                      <a16:colId xmlns:a16="http://schemas.microsoft.com/office/drawing/2014/main" xmlns="" val="3221827101"/>
                    </a:ext>
                  </a:extLst>
                </a:gridCol>
                <a:gridCol w="1827730">
                  <a:extLst>
                    <a:ext uri="{9D8B030D-6E8A-4147-A177-3AD203B41FA5}">
                      <a16:colId xmlns:a16="http://schemas.microsoft.com/office/drawing/2014/main" xmlns="" val="2830177320"/>
                    </a:ext>
                  </a:extLst>
                </a:gridCol>
                <a:gridCol w="1726244">
                  <a:extLst>
                    <a:ext uri="{9D8B030D-6E8A-4147-A177-3AD203B41FA5}">
                      <a16:colId xmlns:a16="http://schemas.microsoft.com/office/drawing/2014/main" xmlns="" val="1281292787"/>
                    </a:ext>
                  </a:extLst>
                </a:gridCol>
                <a:gridCol w="1302255">
                  <a:extLst>
                    <a:ext uri="{9D8B030D-6E8A-4147-A177-3AD203B41FA5}">
                      <a16:colId xmlns:a16="http://schemas.microsoft.com/office/drawing/2014/main" xmlns="" val="2643898675"/>
                    </a:ext>
                  </a:extLst>
                </a:gridCol>
              </a:tblGrid>
              <a:tr h="7178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№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   Rented building 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  The number of rented rooms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The rented area </a:t>
                      </a:r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m²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292744925"/>
                  </a:ext>
                </a:extLst>
              </a:tr>
              <a:tr h="50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Law College Building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11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606,6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734495267"/>
                  </a:ext>
                </a:extLst>
              </a:tr>
              <a:tr h="4433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</a:t>
                      </a:r>
                      <a:endParaRPr lang="en-US" sz="1200" b="1" i="0" u="none" strike="noStrike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  <a:cs typeface="Times New Roman" panose="02020603050405020304" pitchFamily="18" charset="0"/>
                        </a:rPr>
                        <a:t>Sports college building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5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876,2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784115947"/>
                  </a:ext>
                </a:extLst>
              </a:tr>
            </a:tbl>
          </a:graphicData>
        </a:graphic>
      </p:graphicFrame>
      <p:sp>
        <p:nvSpPr>
          <p:cNvPr id="346" name="TextBox 345">
            <a:extLst>
              <a:ext uri="{FF2B5EF4-FFF2-40B4-BE49-F238E27FC236}">
                <a16:creationId xmlns:a16="http://schemas.microsoft.com/office/drawing/2014/main" xmlns="" id="{A93DBEB0-68F1-4E86-B6C3-8E3B2CAF5FB7}"/>
              </a:ext>
            </a:extLst>
          </p:cNvPr>
          <p:cNvSpPr txBox="1"/>
          <p:nvPr/>
        </p:nvSpPr>
        <p:spPr>
          <a:xfrm>
            <a:off x="12389852" y="5402662"/>
            <a:ext cx="5946173" cy="612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DM Sans Bold" panose="020B0604020202020204" charset="0"/>
                <a:cs typeface="Times New Roman" panose="02020603050405020304" pitchFamily="18" charset="0"/>
              </a:rPr>
              <a:t>TRAINING COURSES ESTABLISHED AT UNIVERSITY ACADEMIC BUILDINGS</a:t>
            </a:r>
            <a:endParaRPr lang="en-US" sz="1600" b="1" dirty="0">
              <a:solidFill>
                <a:schemeClr val="bg1">
                  <a:lumMod val="95000"/>
                </a:schemeClr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xmlns="" id="{F8AC895C-C3BD-42B9-8D85-9669B1FA64E0}"/>
              </a:ext>
            </a:extLst>
          </p:cNvPr>
          <p:cNvSpPr txBox="1"/>
          <p:nvPr/>
        </p:nvSpPr>
        <p:spPr>
          <a:xfrm>
            <a:off x="13012399" y="7924836"/>
            <a:ext cx="4948079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DM Sans Bold" panose="020B0604020202020204" charset="0"/>
                <a:cs typeface="Times New Roman" panose="02020603050405020304" pitchFamily="18" charset="0"/>
              </a:rPr>
              <a:t>UNIVERSITY  RENTED EDUCATIONAL BUILDINGS</a:t>
            </a:r>
            <a:endParaRPr lang="en-US" sz="1600" b="1" dirty="0">
              <a:solidFill>
                <a:schemeClr val="bg1">
                  <a:lumMod val="95000"/>
                </a:schemeClr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8" name="AutoShape 2">
            <a:extLst>
              <a:ext uri="{FF2B5EF4-FFF2-40B4-BE49-F238E27FC236}">
                <a16:creationId xmlns:a16="http://schemas.microsoft.com/office/drawing/2014/main" xmlns="" id="{94DEDBB7-18E3-4D23-83ED-6FBEE69EA2C6}"/>
              </a:ext>
            </a:extLst>
          </p:cNvPr>
          <p:cNvSpPr/>
          <p:nvPr/>
        </p:nvSpPr>
        <p:spPr>
          <a:xfrm>
            <a:off x="12344400" y="2919806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cxnSp>
        <p:nvCxnSpPr>
          <p:cNvPr id="349" name="Прямая соединительная линия 348">
            <a:extLst>
              <a:ext uri="{FF2B5EF4-FFF2-40B4-BE49-F238E27FC236}">
                <a16:creationId xmlns:a16="http://schemas.microsoft.com/office/drawing/2014/main" xmlns="" id="{19BE96B2-386D-4212-8B3E-2E9FA7F91374}"/>
              </a:ext>
            </a:extLst>
          </p:cNvPr>
          <p:cNvCxnSpPr/>
          <p:nvPr/>
        </p:nvCxnSpPr>
        <p:spPr>
          <a:xfrm flipV="1">
            <a:off x="1150063" y="5056504"/>
            <a:ext cx="3963480" cy="1911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30">
            <a:extLst>
              <a:ext uri="{FF2B5EF4-FFF2-40B4-BE49-F238E27FC236}">
                <a16:creationId xmlns:a16="http://schemas.microsoft.com/office/drawing/2014/main" xmlns="" id="{B0AE9289-899C-450A-B889-70234A1C3E11}"/>
              </a:ext>
            </a:extLst>
          </p:cNvPr>
          <p:cNvSpPr/>
          <p:nvPr/>
        </p:nvSpPr>
        <p:spPr>
          <a:xfrm>
            <a:off x="17442642" y="117096"/>
            <a:ext cx="9077445" cy="9077445"/>
          </a:xfrm>
          <a:custGeom>
            <a:avLst/>
            <a:gdLst/>
            <a:ahLst/>
            <a:cxnLst/>
            <a:rect l="l" t="t" r="r" b="b"/>
            <a:pathLst>
              <a:path w="9077445" h="9077445">
                <a:moveTo>
                  <a:pt x="0" y="0"/>
                </a:moveTo>
                <a:lnTo>
                  <a:pt x="9077444" y="0"/>
                </a:lnTo>
                <a:lnTo>
                  <a:pt x="9077444" y="9077445"/>
                </a:lnTo>
                <a:lnTo>
                  <a:pt x="0" y="907744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30">
            <a:extLst>
              <a:ext uri="{FF2B5EF4-FFF2-40B4-BE49-F238E27FC236}">
                <a16:creationId xmlns:a16="http://schemas.microsoft.com/office/drawing/2014/main" xmlns="" id="{DDF367AE-50BE-47FE-9065-67292E2C607D}"/>
              </a:ext>
            </a:extLst>
          </p:cNvPr>
          <p:cNvSpPr/>
          <p:nvPr/>
        </p:nvSpPr>
        <p:spPr>
          <a:xfrm>
            <a:off x="-7659113" y="451884"/>
            <a:ext cx="9077445" cy="9077445"/>
          </a:xfrm>
          <a:custGeom>
            <a:avLst/>
            <a:gdLst/>
            <a:ahLst/>
            <a:cxnLst/>
            <a:rect l="l" t="t" r="r" b="b"/>
            <a:pathLst>
              <a:path w="9077445" h="9077445">
                <a:moveTo>
                  <a:pt x="0" y="0"/>
                </a:moveTo>
                <a:lnTo>
                  <a:pt x="9077444" y="0"/>
                </a:lnTo>
                <a:lnTo>
                  <a:pt x="9077444" y="9077445"/>
                </a:lnTo>
                <a:lnTo>
                  <a:pt x="0" y="907744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0" name="TextBox 33">
            <a:extLst>
              <a:ext uri="{FF2B5EF4-FFF2-40B4-BE49-F238E27FC236}">
                <a16:creationId xmlns:a16="http://schemas.microsoft.com/office/drawing/2014/main" xmlns="" id="{7B1621DF-F346-43D2-B06E-3251BEC7E36F}"/>
              </a:ext>
            </a:extLst>
          </p:cNvPr>
          <p:cNvSpPr txBox="1"/>
          <p:nvPr/>
        </p:nvSpPr>
        <p:spPr>
          <a:xfrm>
            <a:off x="18669000" y="8698"/>
            <a:ext cx="1690455" cy="97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xmlns="" id="{0B970650-2FEB-411A-8C40-7FE88C08B4D9}"/>
              </a:ext>
            </a:extLst>
          </p:cNvPr>
          <p:cNvCxnSpPr/>
          <p:nvPr/>
        </p:nvCxnSpPr>
        <p:spPr>
          <a:xfrm>
            <a:off x="2971800" y="571500"/>
            <a:ext cx="11759381" cy="0"/>
          </a:xfrm>
          <a:prstGeom prst="line">
            <a:avLst/>
          </a:prstGeom>
          <a:ln>
            <a:solidFill>
              <a:schemeClr val="accent5">
                <a:alpha val="5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C0CB0DBB-3B16-4A11-98F2-F91E733AEBD2}"/>
              </a:ext>
            </a:extLst>
          </p:cNvPr>
          <p:cNvSpPr txBox="1"/>
          <p:nvPr/>
        </p:nvSpPr>
        <p:spPr>
          <a:xfrm>
            <a:off x="66555" y="678800"/>
            <a:ext cx="90774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</a:rPr>
              <a:t>ACADEMIC AND SCIENTIFIC LABORATORY RENEWAL IN 2022-2025</a:t>
            </a:r>
            <a:endParaRPr lang="ru-RU" sz="1600" b="1" dirty="0">
              <a:solidFill>
                <a:schemeClr val="bg1"/>
              </a:solidFill>
              <a:ea typeface="Calibri" panose="020F0502020204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12373120-5D3A-472C-B0DA-57462974B7C0}"/>
              </a:ext>
            </a:extLst>
          </p:cNvPr>
          <p:cNvSpPr txBox="1"/>
          <p:nvPr/>
        </p:nvSpPr>
        <p:spPr>
          <a:xfrm flipH="1">
            <a:off x="782006" y="976559"/>
            <a:ext cx="7788976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0215" algn="ctr"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</a:rPr>
              <a:t>TRAINING LABORATORIES (FUNDED BY THE UNIVERSITY)</a:t>
            </a:r>
          </a:p>
          <a:p>
            <a:pPr marL="0" marR="0" indent="450215" algn="ctr">
              <a:spcAft>
                <a:spcPts val="800"/>
              </a:spcAft>
            </a:pPr>
            <a:endParaRPr lang="ru-RU" sz="1200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aphicFrame>
        <p:nvGraphicFramePr>
          <p:cNvPr id="54" name="Диаграмма 53">
            <a:extLst>
              <a:ext uri="{FF2B5EF4-FFF2-40B4-BE49-F238E27FC236}">
                <a16:creationId xmlns:a16="http://schemas.microsoft.com/office/drawing/2014/main" xmlns="" id="{CD04BA96-29B5-4835-A370-BDE4D1EA35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648511"/>
              </p:ext>
            </p:extLst>
          </p:nvPr>
        </p:nvGraphicFramePr>
        <p:xfrm>
          <a:off x="526520" y="6709425"/>
          <a:ext cx="4392170" cy="3287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A77028E1-41AB-4A03-9216-FBDAB65304BE}"/>
              </a:ext>
            </a:extLst>
          </p:cNvPr>
          <p:cNvSpPr txBox="1"/>
          <p:nvPr/>
        </p:nvSpPr>
        <p:spPr>
          <a:xfrm>
            <a:off x="12741159" y="811464"/>
            <a:ext cx="38151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</a:rPr>
              <a:t>SCIENTIFIC SCHOOLS</a:t>
            </a:r>
            <a:endParaRPr lang="en-US" sz="1600" dirty="0">
              <a:solidFill>
                <a:schemeClr val="bg1"/>
              </a:solidFill>
              <a:effectLst/>
              <a:latin typeface="DM Sans Bold" panose="020B0604020202020204" charset="0"/>
              <a:ea typeface="Calibri" panose="020F0502020204030204" pitchFamily="34" charset="0"/>
            </a:endParaRPr>
          </a:p>
        </p:txBody>
      </p: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xmlns="" id="{6AD48A64-0896-41D6-B9BA-70D55CF45E05}"/>
              </a:ext>
            </a:extLst>
          </p:cNvPr>
          <p:cNvGrpSpPr/>
          <p:nvPr/>
        </p:nvGrpSpPr>
        <p:grpSpPr>
          <a:xfrm>
            <a:off x="9349341" y="1181100"/>
            <a:ext cx="8557659" cy="5242626"/>
            <a:chOff x="6078481" y="564434"/>
            <a:chExt cx="6203737" cy="4050749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AEA133EF-E94B-4318-B2EB-B169B187B37D}"/>
                </a:ext>
              </a:extLst>
            </p:cNvPr>
            <p:cNvSpPr txBox="1"/>
            <p:nvPr/>
          </p:nvSpPr>
          <p:spPr>
            <a:xfrm>
              <a:off x="6078481" y="1831548"/>
              <a:ext cx="876097" cy="552518"/>
            </a:xfrm>
            <a:prstGeom prst="flowChartAlternateProcess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Areas of scientific schools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76E909E8-DE14-492B-A585-03D96958B483}"/>
                </a:ext>
              </a:extLst>
            </p:cNvPr>
            <p:cNvSpPr txBox="1"/>
            <p:nvPr/>
          </p:nvSpPr>
          <p:spPr>
            <a:xfrm>
              <a:off x="7084028" y="603078"/>
              <a:ext cx="854135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Chemistry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369F6991-CA6B-4E72-B888-9843F1F1DD4D}"/>
                </a:ext>
              </a:extLst>
            </p:cNvPr>
            <p:cNvSpPr txBox="1"/>
            <p:nvPr/>
          </p:nvSpPr>
          <p:spPr>
            <a:xfrm>
              <a:off x="7113046" y="1058585"/>
              <a:ext cx="852005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Biophysics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666D6FE7-ED7C-40BA-BEEA-643145E214B1}"/>
                </a:ext>
              </a:extLst>
            </p:cNvPr>
            <p:cNvSpPr txBox="1"/>
            <p:nvPr/>
          </p:nvSpPr>
          <p:spPr>
            <a:xfrm>
              <a:off x="7066692" y="1496122"/>
              <a:ext cx="864000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Biology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BB250571-8495-4CC3-9164-E4B219E7BA54}"/>
                </a:ext>
              </a:extLst>
            </p:cNvPr>
            <p:cNvSpPr txBox="1"/>
            <p:nvPr/>
          </p:nvSpPr>
          <p:spPr>
            <a:xfrm>
              <a:off x="7076483" y="1959379"/>
              <a:ext cx="854135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Anatomy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9D30A77A-6169-413E-B0C7-2E3BD4888805}"/>
                </a:ext>
              </a:extLst>
            </p:cNvPr>
            <p:cNvSpPr txBox="1"/>
            <p:nvPr/>
          </p:nvSpPr>
          <p:spPr>
            <a:xfrm>
              <a:off x="7067174" y="2402958"/>
              <a:ext cx="854134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Physiology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ADF3B34C-A62D-4596-9FFA-084F422D0AB4}"/>
                </a:ext>
              </a:extLst>
            </p:cNvPr>
            <p:cNvSpPr txBox="1"/>
            <p:nvPr/>
          </p:nvSpPr>
          <p:spPr>
            <a:xfrm>
              <a:off x="7066692" y="2889873"/>
              <a:ext cx="854136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Histology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F8C6BAD6-59E3-40FA-B5C6-873D3CC20212}"/>
                </a:ext>
              </a:extLst>
            </p:cNvPr>
            <p:cNvSpPr txBox="1"/>
            <p:nvPr/>
          </p:nvSpPr>
          <p:spPr>
            <a:xfrm>
              <a:off x="7057507" y="3353130"/>
              <a:ext cx="864000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History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63F22DDB-CA43-4608-A4EC-E4A4C1D28AF4}"/>
                </a:ext>
              </a:extLst>
            </p:cNvPr>
            <p:cNvSpPr txBox="1"/>
            <p:nvPr/>
          </p:nvSpPr>
          <p:spPr>
            <a:xfrm>
              <a:off x="7062439" y="3815696"/>
              <a:ext cx="854136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Ethnography  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5CB81971-93C8-4FAE-A850-5840466C0093}"/>
                </a:ext>
              </a:extLst>
            </p:cNvPr>
            <p:cNvSpPr txBox="1"/>
            <p:nvPr/>
          </p:nvSpPr>
          <p:spPr>
            <a:xfrm>
              <a:off x="8692446" y="564434"/>
              <a:ext cx="3563032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Prospects for the extraction  and medical use of  chemical substances from plants growing in Uzbekistan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375C344E-63C2-4C4E-AEC9-2E2D6D6F038F}"/>
                </a:ext>
              </a:extLst>
            </p:cNvPr>
            <p:cNvSpPr txBox="1"/>
            <p:nvPr/>
          </p:nvSpPr>
          <p:spPr>
            <a:xfrm>
              <a:off x="8060762" y="598727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2022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xmlns="" id="{ACAF833F-24E6-4DC9-B393-147BC51FA7DF}"/>
                </a:ext>
              </a:extLst>
            </p:cNvPr>
            <p:cNvSpPr txBox="1"/>
            <p:nvPr/>
          </p:nvSpPr>
          <p:spPr>
            <a:xfrm>
              <a:off x="8060762" y="1044700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023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xmlns="" id="{B9F66791-331D-45A6-BBAF-7FBD32EFCE8C}"/>
                </a:ext>
              </a:extLst>
            </p:cNvPr>
            <p:cNvSpPr txBox="1"/>
            <p:nvPr/>
          </p:nvSpPr>
          <p:spPr>
            <a:xfrm>
              <a:off x="8692446" y="1020624"/>
              <a:ext cx="3563032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Studying biochemical  processes in the body  using physical methods 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xmlns="" id="{01CD6F6A-29FD-48FC-88EF-8B10167F7FBA}"/>
                </a:ext>
              </a:extLst>
            </p:cNvPr>
            <p:cNvSpPr txBox="1"/>
            <p:nvPr/>
          </p:nvSpPr>
          <p:spPr>
            <a:xfrm>
              <a:off x="8062408" y="1495993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2024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xmlns="" id="{25DB3025-DDFE-405D-B06F-DA0A0D1C793E}"/>
                </a:ext>
              </a:extLst>
            </p:cNvPr>
            <p:cNvSpPr txBox="1"/>
            <p:nvPr/>
          </p:nvSpPr>
          <p:spPr>
            <a:xfrm>
              <a:off x="8681108" y="1480793"/>
              <a:ext cx="3563032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Population of medicinal plants in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Surkhandarya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xmlns="" id="{494DB812-5787-42C8-88E7-E1681689150C}"/>
                </a:ext>
              </a:extLst>
            </p:cNvPr>
            <p:cNvSpPr txBox="1"/>
            <p:nvPr/>
          </p:nvSpPr>
          <p:spPr>
            <a:xfrm>
              <a:off x="8067129" y="1941966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2025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xmlns="" id="{3D19C2D7-EE97-4A27-8C8E-E0D045FCE13D}"/>
                </a:ext>
              </a:extLst>
            </p:cNvPr>
            <p:cNvSpPr txBox="1"/>
            <p:nvPr/>
          </p:nvSpPr>
          <p:spPr>
            <a:xfrm>
              <a:off x="8681107" y="1766484"/>
              <a:ext cx="3574370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Analysis of anthropometric ,and morphological indicators in diseases of organisms living in the warm climates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xmlns="" id="{9926E112-92B6-479B-8880-5668FA64FEFF}"/>
                </a:ext>
              </a:extLst>
            </p:cNvPr>
            <p:cNvSpPr txBox="1"/>
            <p:nvPr/>
          </p:nvSpPr>
          <p:spPr>
            <a:xfrm>
              <a:off x="8067129" y="2398784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2025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xmlns="" id="{C9FAAFC0-8472-431E-A337-3510D3C34CF4}"/>
                </a:ext>
              </a:extLst>
            </p:cNvPr>
            <p:cNvSpPr txBox="1"/>
            <p:nvPr/>
          </p:nvSpPr>
          <p:spPr>
            <a:xfrm>
              <a:off x="8681106" y="2320163"/>
              <a:ext cx="3574370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Studying physiological processes in the body using physiological  methods 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xmlns="" id="{50C0CF7D-9900-4576-8737-8CEFED99F77C}"/>
                </a:ext>
              </a:extLst>
            </p:cNvPr>
            <p:cNvSpPr txBox="1"/>
            <p:nvPr/>
          </p:nvSpPr>
          <p:spPr>
            <a:xfrm>
              <a:off x="8057162" y="2892406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2025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xmlns="" id="{334EEBFA-B4DD-45F3-B8A8-180482A61277}"/>
                </a:ext>
              </a:extLst>
            </p:cNvPr>
            <p:cNvSpPr txBox="1"/>
            <p:nvPr/>
          </p:nvSpPr>
          <p:spPr>
            <a:xfrm>
              <a:off x="8692446" y="2840069"/>
              <a:ext cx="3574370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Study of physiological processes in the body using histochemical and immunohistochemical methods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xmlns="" id="{A6F30DA1-C9B2-4DD4-9824-F0E328BA9CF4}"/>
                </a:ext>
              </a:extLst>
            </p:cNvPr>
            <p:cNvSpPr txBox="1"/>
            <p:nvPr/>
          </p:nvSpPr>
          <p:spPr>
            <a:xfrm>
              <a:off x="8067129" y="3338380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2025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xmlns="" id="{96585E83-8297-49E4-8935-B2116ABB0594}"/>
                </a:ext>
              </a:extLst>
            </p:cNvPr>
            <p:cNvSpPr txBox="1"/>
            <p:nvPr/>
          </p:nvSpPr>
          <p:spPr>
            <a:xfrm>
              <a:off x="8681108" y="3302259"/>
              <a:ext cx="3585708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Introducing digital technologies  and artificial intelligence into the educational process of history 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xmlns="" id="{6340F2F6-8E3E-47DA-B43D-AAED0538A0B8}"/>
                </a:ext>
              </a:extLst>
            </p:cNvPr>
            <p:cNvSpPr txBox="1"/>
            <p:nvPr/>
          </p:nvSpPr>
          <p:spPr>
            <a:xfrm>
              <a:off x="8052897" y="3792723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2025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xmlns="" id="{9F747304-B498-4AF6-8765-CFE42CDA613D}"/>
                </a:ext>
              </a:extLst>
            </p:cNvPr>
            <p:cNvSpPr txBox="1"/>
            <p:nvPr/>
          </p:nvSpPr>
          <p:spPr>
            <a:xfrm>
              <a:off x="8658432" y="3747399"/>
              <a:ext cx="3585708" cy="552518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The main directions and schools of  modern  ethnography, priority  theoretical and  methodological views related to the theory of ethnos 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xmlns="" id="{127A29C0-C718-42E3-9B25-54AA5A8CDE03}"/>
                </a:ext>
              </a:extLst>
            </p:cNvPr>
            <p:cNvSpPr txBox="1"/>
            <p:nvPr/>
          </p:nvSpPr>
          <p:spPr>
            <a:xfrm>
              <a:off x="7057507" y="4303301"/>
              <a:ext cx="880656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Biochemistry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xmlns="" id="{6F5BC676-C53C-41B4-9DC8-87D2A855F131}"/>
                </a:ext>
              </a:extLst>
            </p:cNvPr>
            <p:cNvSpPr txBox="1"/>
            <p:nvPr/>
          </p:nvSpPr>
          <p:spPr>
            <a:xfrm>
              <a:off x="8086225" y="4306059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2026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xmlns="" id="{25CF90D4-094D-4684-9DB3-9C1A89D32C73}"/>
                </a:ext>
              </a:extLst>
            </p:cNvPr>
            <p:cNvSpPr txBox="1"/>
            <p:nvPr/>
          </p:nvSpPr>
          <p:spPr>
            <a:xfrm>
              <a:off x="8696510" y="4378389"/>
              <a:ext cx="3585708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Biochemical analysis of blood, urine and lymph</a:t>
              </a:r>
            </a:p>
          </p:txBody>
        </p:sp>
      </p:grpSp>
      <p:graphicFrame>
        <p:nvGraphicFramePr>
          <p:cNvPr id="126" name="Таблица 125">
            <a:extLst>
              <a:ext uri="{FF2B5EF4-FFF2-40B4-BE49-F238E27FC236}">
                <a16:creationId xmlns:a16="http://schemas.microsoft.com/office/drawing/2014/main" xmlns="" id="{5958D34B-F8BD-4C54-A112-FFE8164A2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043051"/>
              </p:ext>
            </p:extLst>
          </p:nvPr>
        </p:nvGraphicFramePr>
        <p:xfrm>
          <a:off x="5409923" y="6972300"/>
          <a:ext cx="12585188" cy="3251511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49346">
                  <a:extLst>
                    <a:ext uri="{9D8B030D-6E8A-4147-A177-3AD203B41FA5}">
                      <a16:colId xmlns:a16="http://schemas.microsoft.com/office/drawing/2014/main" xmlns="" val="2412190412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950659728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905255576"/>
                    </a:ext>
                  </a:extLst>
                </a:gridCol>
                <a:gridCol w="818673">
                  <a:extLst>
                    <a:ext uri="{9D8B030D-6E8A-4147-A177-3AD203B41FA5}">
                      <a16:colId xmlns:a16="http://schemas.microsoft.com/office/drawing/2014/main" xmlns="" val="3903734109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3995636124"/>
                    </a:ext>
                  </a:extLst>
                </a:gridCol>
                <a:gridCol w="167244">
                  <a:extLst>
                    <a:ext uri="{9D8B030D-6E8A-4147-A177-3AD203B41FA5}">
                      <a16:colId xmlns:a16="http://schemas.microsoft.com/office/drawing/2014/main" xmlns="" val="4049532059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864908799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716044720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3056698115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381897438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3857948873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3307057509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18366745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68286963"/>
                    </a:ext>
                  </a:extLst>
                </a:gridCol>
              </a:tblGrid>
              <a:tr h="225267">
                <a:tc rowSpan="2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Faculty name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2023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2024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2025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2026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119995038"/>
                  </a:ext>
                </a:extLst>
              </a:tr>
              <a:tr h="15141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Training laboratory / upgraded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leveli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Scientific laboratory / updated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leveli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Virtual lab fill level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Training laboratory / upgraded level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Scientific laboratory / refreshed rate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Virtual lab fill level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Training laboratory / upgraded</a:t>
                      </a:r>
                      <a:r>
                        <a:rPr lang="en-US" sz="1200" b="0" baseline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l</a:t>
                      </a:r>
                      <a:r>
                        <a:rPr lang="en-US" sz="12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evel</a:t>
                      </a:r>
                      <a:endParaRPr lang="en-US" sz="1200" b="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Scientific laboratory / refreshed rate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Virtual lab fill level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Training laboratory / upgraded level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Scientific laboratory / refreshed rate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Virtual lab fill level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26340592"/>
                  </a:ext>
                </a:extLst>
              </a:tr>
              <a:tr h="201954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Medicine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12%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9%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5%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16%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13%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8%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23%</a:t>
                      </a:r>
                      <a:endParaRPr lang="en-US" sz="1400" b="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17%</a:t>
                      </a:r>
                      <a:endParaRPr lang="en-US" sz="140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12%</a:t>
                      </a:r>
                      <a:endParaRPr lang="en-US" sz="140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28%</a:t>
                      </a:r>
                      <a:endParaRPr lang="en-US" sz="140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21%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18%</a:t>
                      </a:r>
                      <a:endParaRPr lang="en-US" sz="140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28782184"/>
                  </a:ext>
                </a:extLst>
              </a:tr>
              <a:tr h="592566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Economics and Information Technology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10%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7%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4%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12%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11%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6%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15%</a:t>
                      </a:r>
                      <a:endParaRPr lang="en-US" sz="1400" b="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14%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9%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13%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12%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78696264"/>
                  </a:ext>
                </a:extLst>
              </a:tr>
              <a:tr h="497441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Pedagogy and social and humanities sciences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8%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6%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4%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9%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10%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9%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11%</a:t>
                      </a:r>
                      <a:endParaRPr lang="en-US" sz="1400" b="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15%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16%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17%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14%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13%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57226193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xmlns="" id="{02A384AE-073E-4C83-8B4E-F00CFAA89256}"/>
              </a:ext>
            </a:extLst>
          </p:cNvPr>
          <p:cNvSpPr txBox="1"/>
          <p:nvPr/>
        </p:nvSpPr>
        <p:spPr>
          <a:xfrm>
            <a:off x="8891016" y="6557546"/>
            <a:ext cx="63315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</a:rPr>
              <a:t>EDUCATIONAL AND SCIENTIFIC LABORATORIES</a:t>
            </a:r>
            <a:endParaRPr lang="en-US" sz="1600" dirty="0">
              <a:solidFill>
                <a:schemeClr val="bg1"/>
              </a:solidFill>
              <a:effectLst/>
              <a:latin typeface="DM Sans Bold" panose="020B0604020202020204" charset="0"/>
              <a:ea typeface="Calibri" panose="020F0502020204030204" pitchFamily="34" charset="0"/>
            </a:endParaRPr>
          </a:p>
        </p:txBody>
      </p:sp>
      <p:sp>
        <p:nvSpPr>
          <p:cNvPr id="129" name="AutoShape 2">
            <a:extLst>
              <a:ext uri="{FF2B5EF4-FFF2-40B4-BE49-F238E27FC236}">
                <a16:creationId xmlns:a16="http://schemas.microsoft.com/office/drawing/2014/main" xmlns="" id="{EC59DCCF-6ABF-44C1-9C56-6AF120DCD99C}"/>
              </a:ext>
            </a:extLst>
          </p:cNvPr>
          <p:cNvSpPr/>
          <p:nvPr/>
        </p:nvSpPr>
        <p:spPr>
          <a:xfrm>
            <a:off x="5257800" y="6501742"/>
            <a:ext cx="0" cy="3547252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130" name="Таблица 129">
            <a:extLst>
              <a:ext uri="{FF2B5EF4-FFF2-40B4-BE49-F238E27FC236}">
                <a16:creationId xmlns:a16="http://schemas.microsoft.com/office/drawing/2014/main" xmlns="" id="{4C7778CB-19C3-44A9-888F-3CB26DBBC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47598"/>
              </p:ext>
            </p:extLst>
          </p:nvPr>
        </p:nvGraphicFramePr>
        <p:xfrm>
          <a:off x="542454" y="1378716"/>
          <a:ext cx="4562452" cy="4858577"/>
        </p:xfrm>
        <a:graphic>
          <a:graphicData uri="http://schemas.openxmlformats.org/drawingml/2006/table">
            <a:tbl>
              <a:tblPr>
                <a:tableStyleId>{5A111915-BE36-4E01-A7E5-04B1672EAD32}</a:tableStyleId>
              </a:tblPr>
              <a:tblGrid>
                <a:gridCol w="2892990">
                  <a:extLst>
                    <a:ext uri="{9D8B030D-6E8A-4147-A177-3AD203B41FA5}">
                      <a16:colId xmlns:a16="http://schemas.microsoft.com/office/drawing/2014/main" xmlns="" val="1381507521"/>
                    </a:ext>
                  </a:extLst>
                </a:gridCol>
                <a:gridCol w="1669462">
                  <a:extLst>
                    <a:ext uri="{9D8B030D-6E8A-4147-A177-3AD203B41FA5}">
                      <a16:colId xmlns:a16="http://schemas.microsoft.com/office/drawing/2014/main" xmlns="" val="3965176601"/>
                    </a:ext>
                  </a:extLst>
                </a:gridCol>
              </a:tblGrid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Thermostat TSO-1/80 SPU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Medical and biological physics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0916865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Magnetic stirrerMS7-H550-Pro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79830270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High-speed centrifugeD2012 plus</a:t>
                      </a:r>
                      <a:endParaRPr lang="it-IT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86377812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Digital pH meterPHS-3E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Biochemistry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26853409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Urine analyzerMS7-H550-Pro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Medicinal and biological chemistry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47423262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Laboratory electric furnace</a:t>
                      </a:r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SNOL 8.2</a:t>
                      </a:r>
                      <a:endParaRPr lang="it-IT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98577041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Times New Roman" panose="02020603050405020304" pitchFamily="18" charset="0"/>
                        <a:buNone/>
                      </a:pP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Operating room organization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Physiology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94456106"/>
                  </a:ext>
                </a:extLst>
              </a:tr>
              <a:tr h="3416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Sevtsev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table. To determine visual acuity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36073066"/>
                  </a:ext>
                </a:extLst>
              </a:tr>
              <a:tr h="3416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Laboratory equipment set for blood typing and blood analysis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Pathological physiology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10610755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Dinamometr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90198156"/>
                  </a:ext>
                </a:extLst>
              </a:tr>
              <a:tr h="3416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Sevtsev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table. To determine visual acuity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14249696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Neurological hammer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Clinical Anatomy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05688911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Autoclave-sterilizer GR85DF (automatic)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42803931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Centrifuge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OXTA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60284208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Picoflow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meter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Histology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52094571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Spirometer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35356552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Microton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Polyautomatic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Pathological anatomy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30154222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ECG machine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00264784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Times New Roman" panose="02020603050405020304" pitchFamily="18" charset="0"/>
                        <a:buNone/>
                      </a:pP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Autoclave (for sterilization)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77019489"/>
                  </a:ext>
                </a:extLst>
              </a:tr>
              <a:tr h="17479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Times New Roman" panose="02020603050405020304" pitchFamily="18" charset="0"/>
                        <a:buNone/>
                      </a:pP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Establishing an animal vivarium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Microbiology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6810882"/>
                  </a:ext>
                </a:extLst>
              </a:tr>
              <a:tr h="835254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Times New Roman" panose="02020603050405020304" pitchFamily="18" charset="0"/>
                        <a:buNone/>
                      </a:pP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To</a:t>
                      </a:r>
                      <a:r>
                        <a:rPr lang="en-US" sz="1100" b="0" u="none" strike="noStrike" baseline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create IT laboratory consisting of following network </a:t>
                      </a:r>
                      <a:r>
                        <a:rPr lang="en-US" sz="1100" b="0" u="none" strike="noStrike" baseline="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deoartments</a:t>
                      </a:r>
                      <a:r>
                        <a:rPr lang="en-US" sz="1100" b="0" u="none" strike="noStrike" baseline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such </a:t>
                      </a:r>
                      <a:r>
                        <a:rPr lang="en-US" sz="1100" b="0" u="none" strike="noStrike" baseline="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as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Roboto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technology, 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Compyuter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graphics, Mobile Apps, Web development, Desktop software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Information Technology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45877151"/>
                  </a:ext>
                </a:extLst>
              </a:tr>
            </a:tbl>
          </a:graphicData>
        </a:graphic>
      </p:graphicFrame>
      <p:graphicFrame>
        <p:nvGraphicFramePr>
          <p:cNvPr id="131" name="Таблица 130">
            <a:extLst>
              <a:ext uri="{FF2B5EF4-FFF2-40B4-BE49-F238E27FC236}">
                <a16:creationId xmlns:a16="http://schemas.microsoft.com/office/drawing/2014/main" xmlns="" id="{9233194E-8F6F-4AB3-AFDA-ABB70FA80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24150"/>
              </p:ext>
            </p:extLst>
          </p:nvPr>
        </p:nvGraphicFramePr>
        <p:xfrm>
          <a:off x="5316933" y="1453869"/>
          <a:ext cx="3813909" cy="40674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xmlns="" val="3715704961"/>
                    </a:ext>
                  </a:extLst>
                </a:gridCol>
                <a:gridCol w="1653909">
                  <a:extLst>
                    <a:ext uri="{9D8B030D-6E8A-4147-A177-3AD203B41FA5}">
                      <a16:colId xmlns:a16="http://schemas.microsoft.com/office/drawing/2014/main" xmlns="" val="3528304817"/>
                    </a:ext>
                  </a:extLst>
                </a:gridCol>
              </a:tblGrid>
              <a:tr h="29165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Urine analyzer MS7-H550-Pro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Studies on the extraction of alkaloids and other chemicals from the composition of medicinal plants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12972153"/>
                  </a:ext>
                </a:extLst>
              </a:tr>
              <a:tr h="356496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Laboratory electric furnace SNOL 8.2</a:t>
                      </a:r>
                      <a:endParaRPr lang="it-IT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3917386"/>
                  </a:ext>
                </a:extLst>
              </a:tr>
              <a:tr h="1831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AquadistillatorADEa-4-</a:t>
                      </a:r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</a:rPr>
                        <a:t>С3МО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13794307"/>
                  </a:ext>
                </a:extLst>
              </a:tr>
              <a:tr h="356496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High speed centrifuge D2012 plus</a:t>
                      </a:r>
                      <a:endParaRPr lang="it-IT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24850710"/>
                  </a:ext>
                </a:extLst>
              </a:tr>
              <a:tr h="1831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Saxlet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oil analyzer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44818677"/>
                  </a:ext>
                </a:extLst>
              </a:tr>
              <a:tr h="35649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Digital stationary pH-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metr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PHS-3E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60917455"/>
                  </a:ext>
                </a:extLst>
              </a:tr>
              <a:tr h="35649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For the preservation of experimental animals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Based on scientific research, the study of the pathogenesis of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moldelization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and rejection of diseases, as well as the experimental study of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ustivor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treatment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methodsri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87827242"/>
                  </a:ext>
                </a:extLst>
              </a:tr>
              <a:tr h="1831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Biochemical analyzer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07707704"/>
                  </a:ext>
                </a:extLst>
              </a:tr>
              <a:tr h="1831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IFA analyzer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59229629"/>
                  </a:ext>
                </a:extLst>
              </a:tr>
              <a:tr h="1831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Urine analyzer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01833535"/>
                  </a:ext>
                </a:extLst>
              </a:tr>
              <a:tr h="1831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Blood analyzer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05442047"/>
                  </a:ext>
                </a:extLst>
              </a:tr>
              <a:tr h="1831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Thermostat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17655492"/>
                  </a:ext>
                </a:extLst>
              </a:tr>
              <a:tr h="1831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Autoclave-sterilizer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07816486"/>
                  </a:ext>
                </a:extLst>
              </a:tr>
              <a:tr h="1831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Department building cutlets for vivarium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11129807"/>
                  </a:ext>
                </a:extLst>
              </a:tr>
              <a:tr h="1831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Cutlets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4025146"/>
                  </a:ext>
                </a:extLst>
              </a:tr>
              <a:tr h="35649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Set of large and small surgical instruments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15858653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xmlns="" id="{7F68952F-5BD5-4325-8A4B-B2BF9FA3E56A}"/>
              </a:ext>
            </a:extLst>
          </p:cNvPr>
          <p:cNvSpPr txBox="1"/>
          <p:nvPr/>
        </p:nvSpPr>
        <p:spPr>
          <a:xfrm>
            <a:off x="397601" y="6326544"/>
            <a:ext cx="456244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spcAft>
                <a:spcPts val="800"/>
              </a:spcAft>
            </a:pP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</a:rPr>
              <a:t>PARTICIPATION OF STUDENTS AND DOCTORAL STUDENTS IN SCIENTIFIC SCHOOL PROJECTS</a:t>
            </a:r>
            <a:endParaRPr lang="en-US" sz="1400" dirty="0">
              <a:solidFill>
                <a:schemeClr val="bg1"/>
              </a:solidFill>
              <a:effectLst/>
              <a:latin typeface="DM Sans Bold" panose="020B0604020202020204" charset="0"/>
              <a:ea typeface="Calibri" panose="020F050202020403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xmlns="" id="{D57ECE46-95D5-44AD-8840-7D2C22DE8759}"/>
              </a:ext>
            </a:extLst>
          </p:cNvPr>
          <p:cNvSpPr txBox="1"/>
          <p:nvPr/>
        </p:nvSpPr>
        <p:spPr>
          <a:xfrm>
            <a:off x="2512441" y="38838"/>
            <a:ext cx="14043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0215" algn="ctr">
              <a:spcAft>
                <a:spcPts val="800"/>
              </a:spcAft>
            </a:pPr>
            <a:r>
              <a:rPr lang="en-US" sz="2800" dirty="0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</a:rPr>
              <a:t>PROSPECTS FOR THE DEVELOPMENT OF SCIENTIFIC ACTIVITY</a:t>
            </a:r>
            <a:endParaRPr lang="ru-RU" sz="2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Freeform 4">
            <a:extLst>
              <a:ext uri="{FF2B5EF4-FFF2-40B4-BE49-F238E27FC236}">
                <a16:creationId xmlns:a16="http://schemas.microsoft.com/office/drawing/2014/main" xmlns="" id="{7230EDD2-4B0C-41F4-BEB8-99EDE16D6147}"/>
              </a:ext>
            </a:extLst>
          </p:cNvPr>
          <p:cNvSpPr/>
          <p:nvPr/>
        </p:nvSpPr>
        <p:spPr>
          <a:xfrm>
            <a:off x="-5919198" y="-5541287"/>
            <a:ext cx="10196686" cy="10196685"/>
          </a:xfrm>
          <a:custGeom>
            <a:avLst/>
            <a:gdLst/>
            <a:ahLst/>
            <a:cxnLst/>
            <a:rect l="l" t="t" r="r" b="b"/>
            <a:pathLst>
              <a:path w="8414387" h="8414387">
                <a:moveTo>
                  <a:pt x="0" y="0"/>
                </a:moveTo>
                <a:lnTo>
                  <a:pt x="8414387" y="0"/>
                </a:lnTo>
                <a:lnTo>
                  <a:pt x="8414387" y="8414387"/>
                </a:lnTo>
                <a:lnTo>
                  <a:pt x="0" y="841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4" name="Freeform 4">
            <a:extLst>
              <a:ext uri="{FF2B5EF4-FFF2-40B4-BE49-F238E27FC236}">
                <a16:creationId xmlns:a16="http://schemas.microsoft.com/office/drawing/2014/main" xmlns="" id="{387D8DE0-6D71-44D3-AC0B-05DC03D8FA78}"/>
              </a:ext>
            </a:extLst>
          </p:cNvPr>
          <p:cNvSpPr/>
          <p:nvPr/>
        </p:nvSpPr>
        <p:spPr>
          <a:xfrm>
            <a:off x="14697329" y="6667836"/>
            <a:ext cx="8414387" cy="8414387"/>
          </a:xfrm>
          <a:custGeom>
            <a:avLst/>
            <a:gdLst/>
            <a:ahLst/>
            <a:cxnLst/>
            <a:rect l="l" t="t" r="r" b="b"/>
            <a:pathLst>
              <a:path w="8414387" h="8414387">
                <a:moveTo>
                  <a:pt x="0" y="0"/>
                </a:moveTo>
                <a:lnTo>
                  <a:pt x="8414387" y="0"/>
                </a:lnTo>
                <a:lnTo>
                  <a:pt x="8414387" y="8414387"/>
                </a:lnTo>
                <a:lnTo>
                  <a:pt x="0" y="841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xmlns="" id="{8E9C758D-3B82-4AB7-9DC6-59AA403778C6}"/>
              </a:ext>
            </a:extLst>
          </p:cNvPr>
          <p:cNvSpPr txBox="1"/>
          <p:nvPr/>
        </p:nvSpPr>
        <p:spPr>
          <a:xfrm>
            <a:off x="0" y="266700"/>
            <a:ext cx="1828800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chemeClr val="bg1"/>
                </a:solidFill>
                <a:latin typeface="Now Bold" panose="020B0604020202020204" charset="0"/>
              </a:rPr>
              <a:t>YOUTH ENGAGEMENT STRATEGY AT TERMEZ UNIVERSITY OF ECONOMICS AND SERVICE</a:t>
            </a:r>
            <a:endParaRPr lang="en-GB" sz="2800" b="1" dirty="0">
              <a:solidFill>
                <a:schemeClr val="bg1"/>
              </a:solidFill>
              <a:latin typeface="Now Bold" panose="020B0604020202020204" charset="0"/>
            </a:endParaRPr>
          </a:p>
        </p:txBody>
      </p:sp>
      <p:sp>
        <p:nvSpPr>
          <p:cNvPr id="166" name="Text 0">
            <a:extLst>
              <a:ext uri="{FF2B5EF4-FFF2-40B4-BE49-F238E27FC236}">
                <a16:creationId xmlns:a16="http://schemas.microsoft.com/office/drawing/2014/main" xmlns="" id="{3F10CFD7-A10C-46B2-AE87-EBDD8A4BD5E8}"/>
              </a:ext>
            </a:extLst>
          </p:cNvPr>
          <p:cNvSpPr/>
          <p:nvPr/>
        </p:nvSpPr>
        <p:spPr>
          <a:xfrm>
            <a:off x="1244284" y="832732"/>
            <a:ext cx="15900994" cy="29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INTEGRATING ADVANCED TECHNOLOGIES TO IMPROVE THE EFFICIENCY OF BOTH SPIRITUAL AND EDUCATIONAL ACTIVITIES AND THE IMPACT OF UPBRINGING EFFORTS</a:t>
            </a:r>
            <a:endParaRPr lang="uz-Cyrl-UZ" sz="1600" b="1" dirty="0">
              <a:solidFill>
                <a:schemeClr val="bg1"/>
              </a:solidFill>
              <a:ea typeface="Calibri" panose="020F050202020403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xmlns="" id="{A31E1766-692F-43C6-AED2-985DEF67C6DB}"/>
              </a:ext>
            </a:extLst>
          </p:cNvPr>
          <p:cNvSpPr txBox="1"/>
          <p:nvPr/>
        </p:nvSpPr>
        <p:spPr>
          <a:xfrm>
            <a:off x="723502" y="1616383"/>
            <a:ext cx="5146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solidFill>
                  <a:schemeClr val="bg1"/>
                </a:solidFill>
                <a:latin typeface="DM Sans Bold" panose="020B0604020202020204" charset="0"/>
              </a:rPr>
              <a:t>        </a:t>
            </a: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</a:rPr>
              <a:t>       1. ENHANCING THE EFFECTIVENESS OF YOUTH AFFAIRS AND SPIRITUAL-EDUCATIONAL ACTIVITIES.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xmlns="" id="{E78D2A75-2EE4-4C4D-8A6E-8F5B6FFEA1D9}"/>
              </a:ext>
            </a:extLst>
          </p:cNvPr>
          <p:cNvSpPr txBox="1"/>
          <p:nvPr/>
        </p:nvSpPr>
        <p:spPr>
          <a:xfrm>
            <a:off x="652248" y="2097573"/>
            <a:ext cx="53256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Establishing an interdepartmental lab for sociological and psychological analysis within the spiritual, educational, and disciplinary management system of university. Implementing systematic training for leaders and staff in the field.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xmlns="" id="{56341965-AA2B-4DFA-BC26-053D25BE5082}"/>
              </a:ext>
            </a:extLst>
          </p:cNvPr>
          <p:cNvSpPr txBox="1"/>
          <p:nvPr/>
        </p:nvSpPr>
        <p:spPr>
          <a:xfrm>
            <a:off x="664767" y="3629680"/>
            <a:ext cx="53131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</a:rPr>
              <a:t>               2. ORGANIZING MEANINGFUL ACTIVITIES AND ENSURING STUDENT ENGAGEMENT DURING FREE TIME.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xmlns="" id="{6A600B60-DA9C-46E5-B89F-B817839D7D6C}"/>
              </a:ext>
            </a:extLst>
          </p:cNvPr>
          <p:cNvSpPr txBox="1"/>
          <p:nvPr/>
        </p:nvSpPr>
        <p:spPr>
          <a:xfrm>
            <a:off x="657549" y="4202549"/>
            <a:ext cx="553412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Establishing a creative students' park, “Book-café”, and “Student tech zone” for talented and creative students at the university. Launching the “Student media center” and implementing a “Modern technologies and unified interactive cluster center” for student engagement.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xmlns="" id="{F5107C47-1367-4C10-B798-880CBB6CB57D}"/>
              </a:ext>
            </a:extLst>
          </p:cNvPr>
          <p:cNvSpPr txBox="1"/>
          <p:nvPr/>
        </p:nvSpPr>
        <p:spPr>
          <a:xfrm>
            <a:off x="664767" y="5687080"/>
            <a:ext cx="50745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</a:rPr>
              <a:t>               3. ENHANCING THE STUDENT SELF-MANAGEMENT SYSTEM AND OPTIMIZING THE EFFECTIVENESS OF THEIR ACTIVITIES.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xmlns="" id="{DB2D2D4A-36BF-4452-A5C7-0E8F924EFB00}"/>
              </a:ext>
            </a:extLst>
          </p:cNvPr>
          <p:cNvSpPr txBox="1"/>
          <p:nvPr/>
        </p:nvSpPr>
        <p:spPr>
          <a:xfrm>
            <a:off x="609813" y="6372460"/>
            <a:ext cx="55341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Exploring the practices of prestigious higher education institutions abroad and establishing the “Student council” at the university.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xmlns="" id="{BABA9022-7F87-429E-BD96-201568A2B675}"/>
              </a:ext>
            </a:extLst>
          </p:cNvPr>
          <p:cNvSpPr txBox="1"/>
          <p:nvPr/>
        </p:nvSpPr>
        <p:spPr>
          <a:xfrm>
            <a:off x="672802" y="7605236"/>
            <a:ext cx="51852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b="1" dirty="0">
                <a:solidFill>
                  <a:schemeClr val="bg1"/>
                </a:solidFill>
                <a:latin typeface="DM Sans Bold" panose="020B0604020202020204" charset="0"/>
              </a:rPr>
              <a:t>                 </a:t>
            </a: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</a:rPr>
              <a:t>4. </a:t>
            </a: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</a:rPr>
              <a:t>PROMOTING THE SOCIAL ENGAGEMENT OF FEMALE STUDENTS AND ORGANIZING SYSTEMATIC EFFORTS TO PREPARE THEM AS PRACTICAL PROFESSIONALS.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xmlns="" id="{DE1F5C03-3570-483F-9EAF-1635C8606CD3}"/>
              </a:ext>
            </a:extLst>
          </p:cNvPr>
          <p:cNvSpPr txBox="1"/>
          <p:nvPr/>
        </p:nvSpPr>
        <p:spPr>
          <a:xfrm>
            <a:off x="681371" y="8530544"/>
            <a:ext cx="566428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Launching the “</a:t>
            </a:r>
            <a:r>
              <a:rPr lang="en-US" sz="1400" dirty="0" err="1">
                <a:solidFill>
                  <a:schemeClr val="bg1"/>
                </a:solidFill>
                <a:latin typeface="DM Sans" pitchFamily="2" charset="0"/>
              </a:rPr>
              <a:t>Zulfiyaxonim</a:t>
            </a:r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pitchFamily="2" charset="0"/>
              </a:rPr>
              <a:t>izdoshlari</a:t>
            </a:r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” club for talented and creative female students at the university, and offering systematic support to female students in need of social protection, including those listed in the ‘Temir daftar' and “</a:t>
            </a:r>
            <a:r>
              <a:rPr lang="en-US" sz="1400" dirty="0" err="1">
                <a:solidFill>
                  <a:schemeClr val="bg1"/>
                </a:solidFill>
                <a:latin typeface="DM Sans" pitchFamily="2" charset="0"/>
              </a:rPr>
              <a:t>Yoshlar</a:t>
            </a:r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pitchFamily="2" charset="0"/>
              </a:rPr>
              <a:t>daftari</a:t>
            </a:r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” to help them gain vocational skills free of charge.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xmlns="" id="{785AD070-E80C-4C7A-8BE0-F04CD886A9DA}"/>
              </a:ext>
            </a:extLst>
          </p:cNvPr>
          <p:cNvSpPr txBox="1"/>
          <p:nvPr/>
        </p:nvSpPr>
        <p:spPr>
          <a:xfrm>
            <a:off x="6738344" y="1669105"/>
            <a:ext cx="52223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solidFill>
                  <a:schemeClr val="bg1"/>
                </a:solidFill>
                <a:latin typeface="DM Sans" charset="0"/>
                <a:ea typeface="Franklin Gothic Heavy" panose="020B0903020102020204" pitchFamily="34" charset="0"/>
                <a:cs typeface="Franklin Gothic Heavy" panose="020B0903020102020204" pitchFamily="34" charset="0"/>
              </a:rPr>
              <a:t>              </a:t>
            </a:r>
            <a:r>
              <a:rPr lang="en-US" sz="1400" b="0" i="0" u="none" strike="noStrike" spc="0" dirty="0">
                <a:solidFill>
                  <a:schemeClr val="bg1"/>
                </a:solidFill>
                <a:effectLst/>
                <a:latin typeface="DM Sans Bold" panose="020B0604020202020204" charset="0"/>
                <a:ea typeface="Franklin Gothic Heavy" panose="020B0903020102020204" pitchFamily="34" charset="0"/>
                <a:cs typeface="Franklin Gothic Heavy" panose="020B0903020102020204" pitchFamily="34" charset="0"/>
              </a:rPr>
              <a:t> 5. </a:t>
            </a: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</a:rPr>
              <a:t>DEVELOPING A UNIVERSITY PROGRAM TO PROMOTE NATIONAL SPORTS AMONG STUDENTS AND NURTURE CHAMPIONS FOR NATIONAL, ASIAN, WORLD, AND OLYMPIC GAMES</a:t>
            </a:r>
            <a:endParaRPr lang="uz-Cyrl-UZ" sz="1400" dirty="0">
              <a:solidFill>
                <a:schemeClr val="bg1"/>
              </a:solidFill>
            </a:endParaRPr>
          </a:p>
        </p:txBody>
      </p:sp>
      <p:graphicFrame>
        <p:nvGraphicFramePr>
          <p:cNvPr id="176" name="Таблица 175">
            <a:extLst>
              <a:ext uri="{FF2B5EF4-FFF2-40B4-BE49-F238E27FC236}">
                <a16:creationId xmlns:a16="http://schemas.microsoft.com/office/drawing/2014/main" xmlns="" id="{F15A980B-FB75-4E16-8C6D-0C390A846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577928"/>
              </p:ext>
            </p:extLst>
          </p:nvPr>
        </p:nvGraphicFramePr>
        <p:xfrm>
          <a:off x="6497990" y="2808766"/>
          <a:ext cx="5680319" cy="356300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64261">
                  <a:extLst>
                    <a:ext uri="{9D8B030D-6E8A-4147-A177-3AD203B41FA5}">
                      <a16:colId xmlns:a16="http://schemas.microsoft.com/office/drawing/2014/main" xmlns="" val="3812862088"/>
                    </a:ext>
                  </a:extLst>
                </a:gridCol>
                <a:gridCol w="1859676">
                  <a:extLst>
                    <a:ext uri="{9D8B030D-6E8A-4147-A177-3AD203B41FA5}">
                      <a16:colId xmlns:a16="http://schemas.microsoft.com/office/drawing/2014/main" xmlns="" val="3075881301"/>
                    </a:ext>
                  </a:extLst>
                </a:gridCol>
                <a:gridCol w="539819">
                  <a:extLst>
                    <a:ext uri="{9D8B030D-6E8A-4147-A177-3AD203B41FA5}">
                      <a16:colId xmlns:a16="http://schemas.microsoft.com/office/drawing/2014/main" xmlns="" val="791459531"/>
                    </a:ext>
                  </a:extLst>
                </a:gridCol>
                <a:gridCol w="585105">
                  <a:extLst>
                    <a:ext uri="{9D8B030D-6E8A-4147-A177-3AD203B41FA5}">
                      <a16:colId xmlns:a16="http://schemas.microsoft.com/office/drawing/2014/main" xmlns="" val="2402434065"/>
                    </a:ext>
                  </a:extLst>
                </a:gridCol>
                <a:gridCol w="515138">
                  <a:extLst>
                    <a:ext uri="{9D8B030D-6E8A-4147-A177-3AD203B41FA5}">
                      <a16:colId xmlns:a16="http://schemas.microsoft.com/office/drawing/2014/main" xmlns="" val="3628146781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xmlns="" val="2953373719"/>
                    </a:ext>
                  </a:extLst>
                </a:gridCol>
                <a:gridCol w="636983">
                  <a:extLst>
                    <a:ext uri="{9D8B030D-6E8A-4147-A177-3AD203B41FA5}">
                      <a16:colId xmlns:a16="http://schemas.microsoft.com/office/drawing/2014/main" xmlns="" val="2701329986"/>
                    </a:ext>
                  </a:extLst>
                </a:gridCol>
                <a:gridCol w="530772">
                  <a:extLst>
                    <a:ext uri="{9D8B030D-6E8A-4147-A177-3AD203B41FA5}">
                      <a16:colId xmlns:a16="http://schemas.microsoft.com/office/drawing/2014/main" xmlns="" val="4276954764"/>
                    </a:ext>
                  </a:extLst>
                </a:gridCol>
              </a:tblGrid>
              <a:tr h="5003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№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Target Indicators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2026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2027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2029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2030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44040679"/>
                  </a:ext>
                </a:extLst>
              </a:tr>
              <a:tr h="52703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Circles and Clubs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14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16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17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19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19836710"/>
                  </a:ext>
                </a:extLst>
              </a:tr>
              <a:tr h="552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Uzbekistan, Asian, World, and Olympic Champions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22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30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36227462"/>
                  </a:ext>
                </a:extLst>
              </a:tr>
              <a:tr h="506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Rooms of 5 important initiatives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3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4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6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7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631438"/>
                  </a:ext>
                </a:extLst>
              </a:tr>
              <a:tr h="552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Winners of Competitions and Contests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12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83430757"/>
                  </a:ext>
                </a:extLst>
              </a:tr>
              <a:tr h="552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Winners of Competitions and Contests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3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4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6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7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89077491"/>
                  </a:ext>
                </a:extLst>
              </a:tr>
            </a:tbl>
          </a:graphicData>
        </a:graphic>
      </p:graphicFrame>
      <p:sp>
        <p:nvSpPr>
          <p:cNvPr id="177" name="TextBox 176">
            <a:extLst>
              <a:ext uri="{FF2B5EF4-FFF2-40B4-BE49-F238E27FC236}">
                <a16:creationId xmlns:a16="http://schemas.microsoft.com/office/drawing/2014/main" xmlns="" id="{1BC2D182-BE05-41EA-99EB-E6CE89FBFA2B}"/>
              </a:ext>
            </a:extLst>
          </p:cNvPr>
          <p:cNvSpPr txBox="1"/>
          <p:nvPr/>
        </p:nvSpPr>
        <p:spPr>
          <a:xfrm>
            <a:off x="6731767" y="6748233"/>
            <a:ext cx="49680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solidFill>
                  <a:schemeClr val="bg1"/>
                </a:solidFill>
                <a:latin typeface="DM Sans Bold" panose="020B0604020202020204" charset="0"/>
              </a:rPr>
              <a:t>                </a:t>
            </a: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</a:rPr>
              <a:t>6. INTEGRATING DIGITAL TECHNOLOGIES WIDELY FOR SYSTEMATIC MONITORING OF ACTIVITIES IN THE SPIRITUAL AND EDUCATIONAL SECTOR.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xmlns="" id="{93284DAF-28D8-45FF-BA05-CE6D6247DA73}"/>
              </a:ext>
            </a:extLst>
          </p:cNvPr>
          <p:cNvSpPr txBox="1"/>
          <p:nvPr/>
        </p:nvSpPr>
        <p:spPr>
          <a:xfrm>
            <a:off x="6573992" y="7486897"/>
            <a:ext cx="56642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-organizing various contests and events through mobile applications;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-digitizing the allocation of student dormitory spaces;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-creating a secure student mobile app to maintain public order;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-developing an effective system to support students with disabilities at the university.</a:t>
            </a:r>
            <a:endParaRPr lang="uz-Cyrl-UZ" sz="1400" dirty="0">
              <a:solidFill>
                <a:schemeClr val="bg1"/>
              </a:solidFill>
            </a:endParaRPr>
          </a:p>
        </p:txBody>
      </p:sp>
      <p:grpSp>
        <p:nvGrpSpPr>
          <p:cNvPr id="179" name="Google Shape;713;p22">
            <a:extLst>
              <a:ext uri="{FF2B5EF4-FFF2-40B4-BE49-F238E27FC236}">
                <a16:creationId xmlns:a16="http://schemas.microsoft.com/office/drawing/2014/main" xmlns="" id="{D0D20666-9A90-4E62-8F1A-606DC0FA8B0F}"/>
              </a:ext>
            </a:extLst>
          </p:cNvPr>
          <p:cNvGrpSpPr/>
          <p:nvPr/>
        </p:nvGrpSpPr>
        <p:grpSpPr>
          <a:xfrm>
            <a:off x="14066457" y="2349224"/>
            <a:ext cx="2319305" cy="644795"/>
            <a:chOff x="5193875" y="1091738"/>
            <a:chExt cx="2485751" cy="678146"/>
          </a:xfrm>
        </p:grpSpPr>
        <p:grpSp>
          <p:nvGrpSpPr>
            <p:cNvPr id="180" name="Google Shape;714;p22">
              <a:extLst>
                <a:ext uri="{FF2B5EF4-FFF2-40B4-BE49-F238E27FC236}">
                  <a16:creationId xmlns:a16="http://schemas.microsoft.com/office/drawing/2014/main" xmlns="" id="{FC81F717-A83C-442A-8F3B-5E53E9842852}"/>
                </a:ext>
              </a:extLst>
            </p:cNvPr>
            <p:cNvGrpSpPr/>
            <p:nvPr/>
          </p:nvGrpSpPr>
          <p:grpSpPr>
            <a:xfrm flipH="1">
              <a:off x="5193875" y="1091738"/>
              <a:ext cx="2485751" cy="678146"/>
              <a:chOff x="800213" y="1002738"/>
              <a:chExt cx="2485751" cy="678146"/>
            </a:xfrm>
          </p:grpSpPr>
          <p:sp>
            <p:nvSpPr>
              <p:cNvPr id="182" name="Google Shape;715;p22">
                <a:extLst>
                  <a:ext uri="{FF2B5EF4-FFF2-40B4-BE49-F238E27FC236}">
                    <a16:creationId xmlns:a16="http://schemas.microsoft.com/office/drawing/2014/main" xmlns="" id="{0D194281-7D9A-491F-AC5E-9277398268A2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83" name="Google Shape;716;p22">
                <a:extLst>
                  <a:ext uri="{FF2B5EF4-FFF2-40B4-BE49-F238E27FC236}">
                    <a16:creationId xmlns:a16="http://schemas.microsoft.com/office/drawing/2014/main" xmlns="" id="{EFF6E775-7B93-450B-A41A-84C1F9B771A1}"/>
                  </a:ext>
                </a:extLst>
              </p:cNvPr>
              <p:cNvSpPr/>
              <p:nvPr/>
            </p:nvSpPr>
            <p:spPr>
              <a:xfrm flipH="1">
                <a:off x="260788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181" name="Google Shape;717;p22">
              <a:extLst>
                <a:ext uri="{FF2B5EF4-FFF2-40B4-BE49-F238E27FC236}">
                  <a16:creationId xmlns:a16="http://schemas.microsoft.com/office/drawing/2014/main" xmlns="" id="{9EA04394-5B8D-4D95-AF33-9A616188DF84}"/>
                </a:ext>
              </a:extLst>
            </p:cNvPr>
            <p:cNvSpPr txBox="1"/>
            <p:nvPr/>
          </p:nvSpPr>
          <p:spPr>
            <a:xfrm>
              <a:off x="5897250" y="1210612"/>
              <a:ext cx="1652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TUES chess club</a:t>
              </a:r>
              <a:endParaRPr sz="12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4" name="Google Shape;718;p22">
            <a:extLst>
              <a:ext uri="{FF2B5EF4-FFF2-40B4-BE49-F238E27FC236}">
                <a16:creationId xmlns:a16="http://schemas.microsoft.com/office/drawing/2014/main" xmlns="" id="{24471CF3-E6E3-4D2E-A613-86C82227E288}"/>
              </a:ext>
            </a:extLst>
          </p:cNvPr>
          <p:cNvGrpSpPr/>
          <p:nvPr/>
        </p:nvGrpSpPr>
        <p:grpSpPr>
          <a:xfrm>
            <a:off x="15178262" y="2927121"/>
            <a:ext cx="2319305" cy="644795"/>
            <a:chOff x="5941100" y="2054463"/>
            <a:chExt cx="2485751" cy="678146"/>
          </a:xfrm>
        </p:grpSpPr>
        <p:grpSp>
          <p:nvGrpSpPr>
            <p:cNvPr id="185" name="Google Shape;719;p22">
              <a:extLst>
                <a:ext uri="{FF2B5EF4-FFF2-40B4-BE49-F238E27FC236}">
                  <a16:creationId xmlns:a16="http://schemas.microsoft.com/office/drawing/2014/main" xmlns="" id="{61C80714-CB5A-4273-87D1-09B955C579E0}"/>
                </a:ext>
              </a:extLst>
            </p:cNvPr>
            <p:cNvGrpSpPr/>
            <p:nvPr/>
          </p:nvGrpSpPr>
          <p:grpSpPr>
            <a:xfrm flipH="1">
              <a:off x="5941100" y="2054463"/>
              <a:ext cx="2485751" cy="678146"/>
              <a:chOff x="800213" y="1002738"/>
              <a:chExt cx="2485751" cy="678146"/>
            </a:xfrm>
          </p:grpSpPr>
          <p:sp>
            <p:nvSpPr>
              <p:cNvPr id="187" name="Google Shape;720;p22">
                <a:extLst>
                  <a:ext uri="{FF2B5EF4-FFF2-40B4-BE49-F238E27FC236}">
                    <a16:creationId xmlns:a16="http://schemas.microsoft.com/office/drawing/2014/main" xmlns="" id="{3ADD694D-4417-4101-B94E-BD51284D1DC6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88" name="Google Shape;721;p22">
                <a:extLst>
                  <a:ext uri="{FF2B5EF4-FFF2-40B4-BE49-F238E27FC236}">
                    <a16:creationId xmlns:a16="http://schemas.microsoft.com/office/drawing/2014/main" xmlns="" id="{A19B3B43-5BFC-4C81-AF7E-958CA1920D23}"/>
                  </a:ext>
                </a:extLst>
              </p:cNvPr>
              <p:cNvSpPr/>
              <p:nvPr/>
            </p:nvSpPr>
            <p:spPr>
              <a:xfrm flipH="1">
                <a:off x="260788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186" name="Google Shape;722;p22">
              <a:extLst>
                <a:ext uri="{FF2B5EF4-FFF2-40B4-BE49-F238E27FC236}">
                  <a16:creationId xmlns:a16="http://schemas.microsoft.com/office/drawing/2014/main" xmlns="" id="{551B232A-6689-4043-88E1-25C358A49107}"/>
                </a:ext>
              </a:extLst>
            </p:cNvPr>
            <p:cNvSpPr txBox="1"/>
            <p:nvPr/>
          </p:nvSpPr>
          <p:spPr>
            <a:xfrm>
              <a:off x="6658025" y="2173337"/>
              <a:ext cx="1652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“Bookworm student” circle</a:t>
              </a:r>
              <a:endParaRPr sz="12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9" name="Google Shape;723;p22">
            <a:extLst>
              <a:ext uri="{FF2B5EF4-FFF2-40B4-BE49-F238E27FC236}">
                <a16:creationId xmlns:a16="http://schemas.microsoft.com/office/drawing/2014/main" xmlns="" id="{DEAB4A10-7B1F-4A82-BED3-E39CEC65B79F}"/>
              </a:ext>
            </a:extLst>
          </p:cNvPr>
          <p:cNvGrpSpPr/>
          <p:nvPr/>
        </p:nvGrpSpPr>
        <p:grpSpPr>
          <a:xfrm>
            <a:off x="15020110" y="4279640"/>
            <a:ext cx="2332004" cy="644795"/>
            <a:chOff x="5927490" y="3017001"/>
            <a:chExt cx="2499361" cy="678146"/>
          </a:xfrm>
        </p:grpSpPr>
        <p:grpSp>
          <p:nvGrpSpPr>
            <p:cNvPr id="190" name="Google Shape;724;p22">
              <a:extLst>
                <a:ext uri="{FF2B5EF4-FFF2-40B4-BE49-F238E27FC236}">
                  <a16:creationId xmlns:a16="http://schemas.microsoft.com/office/drawing/2014/main" xmlns="" id="{B7D7E259-EEFD-42FB-A147-02632A88F553}"/>
                </a:ext>
              </a:extLst>
            </p:cNvPr>
            <p:cNvGrpSpPr/>
            <p:nvPr/>
          </p:nvGrpSpPr>
          <p:grpSpPr>
            <a:xfrm flipH="1">
              <a:off x="5927490" y="3017001"/>
              <a:ext cx="2499361" cy="678146"/>
              <a:chOff x="800213" y="1002738"/>
              <a:chExt cx="2499361" cy="678146"/>
            </a:xfrm>
          </p:grpSpPr>
          <p:sp>
            <p:nvSpPr>
              <p:cNvPr id="192" name="Google Shape;725;p22">
                <a:extLst>
                  <a:ext uri="{FF2B5EF4-FFF2-40B4-BE49-F238E27FC236}">
                    <a16:creationId xmlns:a16="http://schemas.microsoft.com/office/drawing/2014/main" xmlns="" id="{CBA46AC3-72BF-4495-8113-E70C9CA1A418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93" name="Google Shape;726;p22">
                <a:extLst>
                  <a:ext uri="{FF2B5EF4-FFF2-40B4-BE49-F238E27FC236}">
                    <a16:creationId xmlns:a16="http://schemas.microsoft.com/office/drawing/2014/main" xmlns="" id="{ED07EF57-B817-4D84-BC75-C4F5559787E5}"/>
                  </a:ext>
                </a:extLst>
              </p:cNvPr>
              <p:cNvSpPr/>
              <p:nvPr/>
            </p:nvSpPr>
            <p:spPr>
              <a:xfrm flipH="1">
                <a:off x="262149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191" name="Google Shape;727;p22">
              <a:extLst>
                <a:ext uri="{FF2B5EF4-FFF2-40B4-BE49-F238E27FC236}">
                  <a16:creationId xmlns:a16="http://schemas.microsoft.com/office/drawing/2014/main" xmlns="" id="{82FB77ED-27B2-4F56-9958-728351A804EC}"/>
                </a:ext>
              </a:extLst>
            </p:cNvPr>
            <p:cNvSpPr txBox="1"/>
            <p:nvPr/>
          </p:nvSpPr>
          <p:spPr>
            <a:xfrm>
              <a:off x="6658025" y="3135874"/>
              <a:ext cx="1652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Student media center</a:t>
              </a:r>
              <a:endParaRPr sz="12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4" name="Google Shape;733;p22">
            <a:extLst>
              <a:ext uri="{FF2B5EF4-FFF2-40B4-BE49-F238E27FC236}">
                <a16:creationId xmlns:a16="http://schemas.microsoft.com/office/drawing/2014/main" xmlns="" id="{133A9BB3-F53A-4838-B9A6-325C1D0F8F89}"/>
              </a:ext>
            </a:extLst>
          </p:cNvPr>
          <p:cNvGrpSpPr/>
          <p:nvPr/>
        </p:nvGrpSpPr>
        <p:grpSpPr>
          <a:xfrm>
            <a:off x="14262741" y="4856261"/>
            <a:ext cx="2460055" cy="644795"/>
            <a:chOff x="5193875" y="3981851"/>
            <a:chExt cx="2636602" cy="678146"/>
          </a:xfrm>
        </p:grpSpPr>
        <p:grpSp>
          <p:nvGrpSpPr>
            <p:cNvPr id="195" name="Google Shape;734;p22">
              <a:extLst>
                <a:ext uri="{FF2B5EF4-FFF2-40B4-BE49-F238E27FC236}">
                  <a16:creationId xmlns:a16="http://schemas.microsoft.com/office/drawing/2014/main" xmlns="" id="{B45F25E1-A363-4091-B0E5-BE7A3B6D0BA4}"/>
                </a:ext>
              </a:extLst>
            </p:cNvPr>
            <p:cNvGrpSpPr/>
            <p:nvPr/>
          </p:nvGrpSpPr>
          <p:grpSpPr>
            <a:xfrm flipH="1">
              <a:off x="5193875" y="3981851"/>
              <a:ext cx="2485751" cy="678146"/>
              <a:chOff x="800213" y="1002738"/>
              <a:chExt cx="2485751" cy="678146"/>
            </a:xfrm>
          </p:grpSpPr>
          <p:sp>
            <p:nvSpPr>
              <p:cNvPr id="197" name="Google Shape;735;p22">
                <a:extLst>
                  <a:ext uri="{FF2B5EF4-FFF2-40B4-BE49-F238E27FC236}">
                    <a16:creationId xmlns:a16="http://schemas.microsoft.com/office/drawing/2014/main" xmlns="" id="{CA56660E-6341-4458-B819-CD97B7E098F6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98" name="Google Shape;736;p22">
                <a:extLst>
                  <a:ext uri="{FF2B5EF4-FFF2-40B4-BE49-F238E27FC236}">
                    <a16:creationId xmlns:a16="http://schemas.microsoft.com/office/drawing/2014/main" xmlns="" id="{1A79031F-14C6-495E-8885-BA8F1A729369}"/>
                  </a:ext>
                </a:extLst>
              </p:cNvPr>
              <p:cNvSpPr/>
              <p:nvPr/>
            </p:nvSpPr>
            <p:spPr>
              <a:xfrm flipH="1">
                <a:off x="260788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196" name="Google Shape;737;p22">
              <a:extLst>
                <a:ext uri="{FF2B5EF4-FFF2-40B4-BE49-F238E27FC236}">
                  <a16:creationId xmlns:a16="http://schemas.microsoft.com/office/drawing/2014/main" xmlns="" id="{7133902D-CCD2-422E-A891-D7DA49C5E9F9}"/>
                </a:ext>
              </a:extLst>
            </p:cNvPr>
            <p:cNvSpPr txBox="1"/>
            <p:nvPr/>
          </p:nvSpPr>
          <p:spPr>
            <a:xfrm>
              <a:off x="5929925" y="4100724"/>
              <a:ext cx="1900552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Student volunteering center</a:t>
              </a:r>
            </a:p>
          </p:txBody>
        </p:sp>
      </p:grpSp>
      <p:grpSp>
        <p:nvGrpSpPr>
          <p:cNvPr id="199" name="Google Shape;754;p22">
            <a:extLst>
              <a:ext uri="{FF2B5EF4-FFF2-40B4-BE49-F238E27FC236}">
                <a16:creationId xmlns:a16="http://schemas.microsoft.com/office/drawing/2014/main" xmlns="" id="{79BF24B7-4702-4A78-98FA-00E0295AA2A3}"/>
              </a:ext>
            </a:extLst>
          </p:cNvPr>
          <p:cNvGrpSpPr/>
          <p:nvPr/>
        </p:nvGrpSpPr>
        <p:grpSpPr>
          <a:xfrm>
            <a:off x="13450896" y="3039419"/>
            <a:ext cx="1743147" cy="1667287"/>
            <a:chOff x="3479930" y="1734747"/>
            <a:chExt cx="2178931" cy="2165258"/>
          </a:xfrm>
        </p:grpSpPr>
        <p:sp>
          <p:nvSpPr>
            <p:cNvPr id="200" name="Google Shape;755;p22">
              <a:extLst>
                <a:ext uri="{FF2B5EF4-FFF2-40B4-BE49-F238E27FC236}">
                  <a16:creationId xmlns:a16="http://schemas.microsoft.com/office/drawing/2014/main" xmlns="" id="{203607AC-1DDC-4768-B73F-9D88E00FB7A0}"/>
                </a:ext>
              </a:extLst>
            </p:cNvPr>
            <p:cNvSpPr/>
            <p:nvPr/>
          </p:nvSpPr>
          <p:spPr>
            <a:xfrm>
              <a:off x="3479930" y="1734747"/>
              <a:ext cx="958505" cy="2151169"/>
            </a:xfrm>
            <a:custGeom>
              <a:avLst/>
              <a:gdLst/>
              <a:ahLst/>
              <a:cxnLst/>
              <a:rect l="l" t="t" r="r" b="b"/>
              <a:pathLst>
                <a:path w="12976" h="29122" fill="none" extrusionOk="0">
                  <a:moveTo>
                    <a:pt x="12976" y="29122"/>
                  </a:moveTo>
                  <a:cubicBezTo>
                    <a:pt x="5673" y="28288"/>
                    <a:pt x="1" y="22087"/>
                    <a:pt x="1" y="14561"/>
                  </a:cubicBezTo>
                  <a:cubicBezTo>
                    <a:pt x="1" y="7035"/>
                    <a:pt x="5673" y="834"/>
                    <a:pt x="12976" y="0"/>
                  </a:cubicBezTo>
                </a:path>
              </a:pathLst>
            </a:custGeom>
            <a:noFill/>
            <a:ln w="19050" cap="rnd" cmpd="sng">
              <a:solidFill>
                <a:srgbClr val="C6C6C6"/>
              </a:solidFill>
              <a:prstDash val="dot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56;p22">
              <a:extLst>
                <a:ext uri="{FF2B5EF4-FFF2-40B4-BE49-F238E27FC236}">
                  <a16:creationId xmlns:a16="http://schemas.microsoft.com/office/drawing/2014/main" xmlns="" id="{3E66DDB2-C15D-462A-85D6-6BBF437FF73D}"/>
                </a:ext>
              </a:extLst>
            </p:cNvPr>
            <p:cNvSpPr/>
            <p:nvPr/>
          </p:nvSpPr>
          <p:spPr>
            <a:xfrm>
              <a:off x="4422691" y="3871418"/>
              <a:ext cx="30138" cy="28587"/>
            </a:xfrm>
            <a:custGeom>
              <a:avLst/>
              <a:gdLst/>
              <a:ahLst/>
              <a:cxnLst/>
              <a:rect l="l" t="t" r="r" b="b"/>
              <a:pathLst>
                <a:path w="408" h="387" extrusionOk="0">
                  <a:moveTo>
                    <a:pt x="203" y="1"/>
                  </a:moveTo>
                  <a:cubicBezTo>
                    <a:pt x="106" y="1"/>
                    <a:pt x="23" y="73"/>
                    <a:pt x="11" y="171"/>
                  </a:cubicBezTo>
                  <a:cubicBezTo>
                    <a:pt x="0" y="278"/>
                    <a:pt x="76" y="374"/>
                    <a:pt x="182" y="385"/>
                  </a:cubicBezTo>
                  <a:cubicBezTo>
                    <a:pt x="189" y="386"/>
                    <a:pt x="197" y="386"/>
                    <a:pt x="204" y="386"/>
                  </a:cubicBezTo>
                  <a:cubicBezTo>
                    <a:pt x="301" y="386"/>
                    <a:pt x="384" y="314"/>
                    <a:pt x="396" y="216"/>
                  </a:cubicBezTo>
                  <a:cubicBezTo>
                    <a:pt x="408" y="110"/>
                    <a:pt x="332" y="14"/>
                    <a:pt x="225" y="2"/>
                  </a:cubicBezTo>
                  <a:cubicBezTo>
                    <a:pt x="217" y="1"/>
                    <a:pt x="210" y="1"/>
                    <a:pt x="203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57;p22">
              <a:extLst>
                <a:ext uri="{FF2B5EF4-FFF2-40B4-BE49-F238E27FC236}">
                  <a16:creationId xmlns:a16="http://schemas.microsoft.com/office/drawing/2014/main" xmlns="" id="{150B87C4-3765-48A3-9128-65BE2F7B660F}"/>
                </a:ext>
              </a:extLst>
            </p:cNvPr>
            <p:cNvSpPr/>
            <p:nvPr/>
          </p:nvSpPr>
          <p:spPr>
            <a:xfrm>
              <a:off x="4700357" y="1734747"/>
              <a:ext cx="958505" cy="2151169"/>
            </a:xfrm>
            <a:custGeom>
              <a:avLst/>
              <a:gdLst/>
              <a:ahLst/>
              <a:cxnLst/>
              <a:rect l="l" t="t" r="r" b="b"/>
              <a:pathLst>
                <a:path w="12976" h="29122" fill="none" extrusionOk="0">
                  <a:moveTo>
                    <a:pt x="1" y="29122"/>
                  </a:moveTo>
                  <a:cubicBezTo>
                    <a:pt x="7303" y="28288"/>
                    <a:pt x="12975" y="22087"/>
                    <a:pt x="12975" y="14561"/>
                  </a:cubicBezTo>
                  <a:cubicBezTo>
                    <a:pt x="12975" y="7035"/>
                    <a:pt x="7303" y="834"/>
                    <a:pt x="1" y="0"/>
                  </a:cubicBezTo>
                </a:path>
              </a:pathLst>
            </a:custGeom>
            <a:noFill/>
            <a:ln w="19050" cap="rnd" cmpd="sng">
              <a:solidFill>
                <a:srgbClr val="C6C6C6"/>
              </a:solidFill>
              <a:prstDash val="dot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58;p22">
              <a:extLst>
                <a:ext uri="{FF2B5EF4-FFF2-40B4-BE49-F238E27FC236}">
                  <a16:creationId xmlns:a16="http://schemas.microsoft.com/office/drawing/2014/main" xmlns="" id="{98551571-8B40-4B46-9116-C4A46F80CC65}"/>
                </a:ext>
              </a:extLst>
            </p:cNvPr>
            <p:cNvSpPr/>
            <p:nvPr/>
          </p:nvSpPr>
          <p:spPr>
            <a:xfrm>
              <a:off x="4686026" y="3871418"/>
              <a:ext cx="30212" cy="28587"/>
            </a:xfrm>
            <a:custGeom>
              <a:avLst/>
              <a:gdLst/>
              <a:ahLst/>
              <a:cxnLst/>
              <a:rect l="l" t="t" r="r" b="b"/>
              <a:pathLst>
                <a:path w="409" h="387" extrusionOk="0">
                  <a:moveTo>
                    <a:pt x="205" y="1"/>
                  </a:moveTo>
                  <a:cubicBezTo>
                    <a:pt x="197" y="1"/>
                    <a:pt x="190" y="1"/>
                    <a:pt x="182" y="2"/>
                  </a:cubicBezTo>
                  <a:cubicBezTo>
                    <a:pt x="77" y="14"/>
                    <a:pt x="1" y="110"/>
                    <a:pt x="13" y="216"/>
                  </a:cubicBezTo>
                  <a:cubicBezTo>
                    <a:pt x="23" y="314"/>
                    <a:pt x="106" y="386"/>
                    <a:pt x="204" y="386"/>
                  </a:cubicBezTo>
                  <a:cubicBezTo>
                    <a:pt x="211" y="386"/>
                    <a:pt x="219" y="386"/>
                    <a:pt x="227" y="385"/>
                  </a:cubicBezTo>
                  <a:cubicBezTo>
                    <a:pt x="332" y="374"/>
                    <a:pt x="408" y="278"/>
                    <a:pt x="396" y="171"/>
                  </a:cubicBezTo>
                  <a:cubicBezTo>
                    <a:pt x="385" y="73"/>
                    <a:pt x="301" y="1"/>
                    <a:pt x="205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59;p22">
              <a:extLst>
                <a:ext uri="{FF2B5EF4-FFF2-40B4-BE49-F238E27FC236}">
                  <a16:creationId xmlns:a16="http://schemas.microsoft.com/office/drawing/2014/main" xmlns="" id="{A227AB8B-C4D5-417F-A14A-72FFBE0B9D1F}"/>
                </a:ext>
              </a:extLst>
            </p:cNvPr>
            <p:cNvSpPr/>
            <p:nvPr/>
          </p:nvSpPr>
          <p:spPr>
            <a:xfrm>
              <a:off x="3619981" y="1854042"/>
              <a:ext cx="913593" cy="913593"/>
            </a:xfrm>
            <a:custGeom>
              <a:avLst/>
              <a:gdLst/>
              <a:ahLst/>
              <a:cxnLst/>
              <a:rect l="l" t="t" r="r" b="b"/>
              <a:pathLst>
                <a:path w="12368" h="12368" extrusionOk="0">
                  <a:moveTo>
                    <a:pt x="12368" y="0"/>
                  </a:moveTo>
                  <a:cubicBezTo>
                    <a:pt x="5670" y="294"/>
                    <a:pt x="294" y="5670"/>
                    <a:pt x="0" y="12368"/>
                  </a:cubicBezTo>
                  <a:lnTo>
                    <a:pt x="1707" y="12368"/>
                  </a:lnTo>
                  <a:cubicBezTo>
                    <a:pt x="1998" y="6613"/>
                    <a:pt x="6613" y="1998"/>
                    <a:pt x="12368" y="1707"/>
                  </a:cubicBezTo>
                  <a:lnTo>
                    <a:pt x="1236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60;p22">
              <a:extLst>
                <a:ext uri="{FF2B5EF4-FFF2-40B4-BE49-F238E27FC236}">
                  <a16:creationId xmlns:a16="http://schemas.microsoft.com/office/drawing/2014/main" xmlns="" id="{F5545102-3FAC-4747-9B98-3276D986177F}"/>
                </a:ext>
              </a:extLst>
            </p:cNvPr>
            <p:cNvSpPr/>
            <p:nvPr/>
          </p:nvSpPr>
          <p:spPr>
            <a:xfrm>
              <a:off x="4631070" y="1854633"/>
              <a:ext cx="901553" cy="913002"/>
            </a:xfrm>
            <a:custGeom>
              <a:avLst/>
              <a:gdLst/>
              <a:ahLst/>
              <a:cxnLst/>
              <a:rect l="l" t="t" r="r" b="b"/>
              <a:pathLst>
                <a:path w="12205" h="12360" extrusionOk="0">
                  <a:moveTo>
                    <a:pt x="1" y="0"/>
                  </a:moveTo>
                  <a:lnTo>
                    <a:pt x="1" y="1712"/>
                  </a:lnTo>
                  <a:cubicBezTo>
                    <a:pt x="5678" y="2082"/>
                    <a:pt x="10208" y="6661"/>
                    <a:pt x="10497" y="12360"/>
                  </a:cubicBezTo>
                  <a:lnTo>
                    <a:pt x="12204" y="12360"/>
                  </a:lnTo>
                  <a:cubicBezTo>
                    <a:pt x="11912" y="5718"/>
                    <a:pt x="6622" y="374"/>
                    <a:pt x="1" y="0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61;p22">
              <a:extLst>
                <a:ext uri="{FF2B5EF4-FFF2-40B4-BE49-F238E27FC236}">
                  <a16:creationId xmlns:a16="http://schemas.microsoft.com/office/drawing/2014/main" xmlns="" id="{C552F95A-B1D7-4455-8C61-55976F831F0E}"/>
                </a:ext>
              </a:extLst>
            </p:cNvPr>
            <p:cNvSpPr/>
            <p:nvPr/>
          </p:nvSpPr>
          <p:spPr>
            <a:xfrm>
              <a:off x="4631070" y="2865131"/>
              <a:ext cx="900888" cy="900888"/>
            </a:xfrm>
            <a:custGeom>
              <a:avLst/>
              <a:gdLst/>
              <a:ahLst/>
              <a:cxnLst/>
              <a:rect l="l" t="t" r="r" b="b"/>
              <a:pathLst>
                <a:path w="12196" h="12196" extrusionOk="0">
                  <a:moveTo>
                    <a:pt x="10485" y="1"/>
                  </a:moveTo>
                  <a:cubicBezTo>
                    <a:pt x="10117" y="5624"/>
                    <a:pt x="5624" y="10118"/>
                    <a:pt x="1" y="10485"/>
                  </a:cubicBezTo>
                  <a:lnTo>
                    <a:pt x="1" y="12196"/>
                  </a:lnTo>
                  <a:cubicBezTo>
                    <a:pt x="6567" y="11825"/>
                    <a:pt x="11825" y="6567"/>
                    <a:pt x="12196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62;p22">
              <a:extLst>
                <a:ext uri="{FF2B5EF4-FFF2-40B4-BE49-F238E27FC236}">
                  <a16:creationId xmlns:a16="http://schemas.microsoft.com/office/drawing/2014/main" xmlns="" id="{545BF4B0-3901-42EA-9329-A614AA56DA1E}"/>
                </a:ext>
              </a:extLst>
            </p:cNvPr>
            <p:cNvSpPr/>
            <p:nvPr/>
          </p:nvSpPr>
          <p:spPr>
            <a:xfrm>
              <a:off x="3620572" y="2865131"/>
              <a:ext cx="913002" cy="901553"/>
            </a:xfrm>
            <a:custGeom>
              <a:avLst/>
              <a:gdLst/>
              <a:ahLst/>
              <a:cxnLst/>
              <a:rect l="l" t="t" r="r" b="b"/>
              <a:pathLst>
                <a:path w="12360" h="12205" extrusionOk="0">
                  <a:moveTo>
                    <a:pt x="0" y="1"/>
                  </a:moveTo>
                  <a:cubicBezTo>
                    <a:pt x="374" y="6622"/>
                    <a:pt x="5717" y="11912"/>
                    <a:pt x="12360" y="12204"/>
                  </a:cubicBezTo>
                  <a:lnTo>
                    <a:pt x="12360" y="10497"/>
                  </a:lnTo>
                  <a:cubicBezTo>
                    <a:pt x="6661" y="10208"/>
                    <a:pt x="2082" y="5678"/>
                    <a:pt x="1712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63;p22">
              <a:extLst>
                <a:ext uri="{FF2B5EF4-FFF2-40B4-BE49-F238E27FC236}">
                  <a16:creationId xmlns:a16="http://schemas.microsoft.com/office/drawing/2014/main" xmlns="" id="{36609EF2-6064-4134-8291-835FE9FFE493}"/>
                </a:ext>
              </a:extLst>
            </p:cNvPr>
            <p:cNvSpPr/>
            <p:nvPr/>
          </p:nvSpPr>
          <p:spPr>
            <a:xfrm>
              <a:off x="3679222" y="1913357"/>
              <a:ext cx="1794020" cy="1793946"/>
            </a:xfrm>
            <a:custGeom>
              <a:avLst/>
              <a:gdLst/>
              <a:ahLst/>
              <a:cxnLst/>
              <a:rect l="l" t="t" r="r" b="b"/>
              <a:pathLst>
                <a:path w="24287" h="24286" fill="none" extrusionOk="0">
                  <a:moveTo>
                    <a:pt x="24287" y="12143"/>
                  </a:moveTo>
                  <a:cubicBezTo>
                    <a:pt x="24287" y="18850"/>
                    <a:pt x="18851" y="24286"/>
                    <a:pt x="12144" y="24286"/>
                  </a:cubicBezTo>
                  <a:cubicBezTo>
                    <a:pt x="5437" y="24286"/>
                    <a:pt x="0" y="18850"/>
                    <a:pt x="0" y="12143"/>
                  </a:cubicBezTo>
                  <a:cubicBezTo>
                    <a:pt x="0" y="5436"/>
                    <a:pt x="5437" y="0"/>
                    <a:pt x="12144" y="0"/>
                  </a:cubicBezTo>
                  <a:cubicBezTo>
                    <a:pt x="18851" y="0"/>
                    <a:pt x="24287" y="5436"/>
                    <a:pt x="24287" y="12143"/>
                  </a:cubicBezTo>
                  <a:close/>
                </a:path>
              </a:pathLst>
            </a:custGeom>
            <a:noFill/>
            <a:ln w="3100" cap="flat" cmpd="sng">
              <a:solidFill>
                <a:srgbClr val="FFFFFF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64;p22">
              <a:extLst>
                <a:ext uri="{FF2B5EF4-FFF2-40B4-BE49-F238E27FC236}">
                  <a16:creationId xmlns:a16="http://schemas.microsoft.com/office/drawing/2014/main" xmlns="" id="{6B30BEF3-1B92-4B6B-8A39-C4230F146C42}"/>
                </a:ext>
              </a:extLst>
            </p:cNvPr>
            <p:cNvSpPr/>
            <p:nvPr/>
          </p:nvSpPr>
          <p:spPr>
            <a:xfrm>
              <a:off x="4964135" y="3694434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1" y="0"/>
                  </a:moveTo>
                  <a:cubicBezTo>
                    <a:pt x="520" y="0"/>
                    <a:pt x="0" y="519"/>
                    <a:pt x="0" y="1160"/>
                  </a:cubicBezTo>
                  <a:cubicBezTo>
                    <a:pt x="0" y="1801"/>
                    <a:pt x="520" y="2321"/>
                    <a:pt x="1161" y="2321"/>
                  </a:cubicBezTo>
                  <a:cubicBezTo>
                    <a:pt x="1802" y="2321"/>
                    <a:pt x="2321" y="1801"/>
                    <a:pt x="2321" y="1160"/>
                  </a:cubicBezTo>
                  <a:cubicBezTo>
                    <a:pt x="2321" y="519"/>
                    <a:pt x="1802" y="0"/>
                    <a:pt x="11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65;p22">
              <a:extLst>
                <a:ext uri="{FF2B5EF4-FFF2-40B4-BE49-F238E27FC236}">
                  <a16:creationId xmlns:a16="http://schemas.microsoft.com/office/drawing/2014/main" xmlns="" id="{010D2B9A-9D15-4DB3-B581-9C37A0A10E5A}"/>
                </a:ext>
              </a:extLst>
            </p:cNvPr>
            <p:cNvSpPr/>
            <p:nvPr/>
          </p:nvSpPr>
          <p:spPr>
            <a:xfrm>
              <a:off x="5460372" y="2232979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0" y="0"/>
                  </a:moveTo>
                  <a:cubicBezTo>
                    <a:pt x="519" y="0"/>
                    <a:pt x="0" y="519"/>
                    <a:pt x="0" y="1160"/>
                  </a:cubicBezTo>
                  <a:cubicBezTo>
                    <a:pt x="0" y="1801"/>
                    <a:pt x="519" y="2321"/>
                    <a:pt x="1160" y="2321"/>
                  </a:cubicBezTo>
                  <a:cubicBezTo>
                    <a:pt x="1801" y="2321"/>
                    <a:pt x="2321" y="1801"/>
                    <a:pt x="2321" y="1160"/>
                  </a:cubicBezTo>
                  <a:cubicBezTo>
                    <a:pt x="2321" y="519"/>
                    <a:pt x="1801" y="0"/>
                    <a:pt x="11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66;p22">
              <a:extLst>
                <a:ext uri="{FF2B5EF4-FFF2-40B4-BE49-F238E27FC236}">
                  <a16:creationId xmlns:a16="http://schemas.microsoft.com/office/drawing/2014/main" xmlns="" id="{6F0E10F2-476A-48E8-83AE-7E5F007970F0}"/>
                </a:ext>
              </a:extLst>
            </p:cNvPr>
            <p:cNvSpPr/>
            <p:nvPr/>
          </p:nvSpPr>
          <p:spPr>
            <a:xfrm>
              <a:off x="4964135" y="1754765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1" y="0"/>
                  </a:moveTo>
                  <a:cubicBezTo>
                    <a:pt x="520" y="0"/>
                    <a:pt x="0" y="520"/>
                    <a:pt x="0" y="1160"/>
                  </a:cubicBezTo>
                  <a:cubicBezTo>
                    <a:pt x="0" y="1801"/>
                    <a:pt x="520" y="2321"/>
                    <a:pt x="1161" y="2321"/>
                  </a:cubicBezTo>
                  <a:cubicBezTo>
                    <a:pt x="1802" y="2321"/>
                    <a:pt x="2321" y="1801"/>
                    <a:pt x="2321" y="1160"/>
                  </a:cubicBezTo>
                  <a:cubicBezTo>
                    <a:pt x="2321" y="520"/>
                    <a:pt x="1802" y="0"/>
                    <a:pt x="11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67;p22">
              <a:extLst>
                <a:ext uri="{FF2B5EF4-FFF2-40B4-BE49-F238E27FC236}">
                  <a16:creationId xmlns:a16="http://schemas.microsoft.com/office/drawing/2014/main" xmlns="" id="{B32AAE94-E326-4C3E-9198-1CECACD14D30}"/>
                </a:ext>
              </a:extLst>
            </p:cNvPr>
            <p:cNvSpPr/>
            <p:nvPr/>
          </p:nvSpPr>
          <p:spPr>
            <a:xfrm>
              <a:off x="5460372" y="3216220"/>
              <a:ext cx="171446" cy="171520"/>
            </a:xfrm>
            <a:custGeom>
              <a:avLst/>
              <a:gdLst/>
              <a:ahLst/>
              <a:cxnLst/>
              <a:rect l="l" t="t" r="r" b="b"/>
              <a:pathLst>
                <a:path w="2321" h="2322" extrusionOk="0">
                  <a:moveTo>
                    <a:pt x="1160" y="1"/>
                  </a:moveTo>
                  <a:cubicBezTo>
                    <a:pt x="519" y="1"/>
                    <a:pt x="0" y="521"/>
                    <a:pt x="0" y="1162"/>
                  </a:cubicBezTo>
                  <a:cubicBezTo>
                    <a:pt x="0" y="1803"/>
                    <a:pt x="519" y="2321"/>
                    <a:pt x="1160" y="2321"/>
                  </a:cubicBezTo>
                  <a:cubicBezTo>
                    <a:pt x="1801" y="2321"/>
                    <a:pt x="2321" y="1803"/>
                    <a:pt x="2321" y="1162"/>
                  </a:cubicBezTo>
                  <a:cubicBezTo>
                    <a:pt x="2321" y="521"/>
                    <a:pt x="1801" y="1"/>
                    <a:pt x="11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68;p22">
              <a:extLst>
                <a:ext uri="{FF2B5EF4-FFF2-40B4-BE49-F238E27FC236}">
                  <a16:creationId xmlns:a16="http://schemas.microsoft.com/office/drawing/2014/main" xmlns="" id="{04DE8CDF-627E-48F8-A778-D672BCC716CC}"/>
                </a:ext>
              </a:extLst>
            </p:cNvPr>
            <p:cNvSpPr/>
            <p:nvPr/>
          </p:nvSpPr>
          <p:spPr>
            <a:xfrm>
              <a:off x="4008003" y="3694434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0" y="0"/>
                  </a:moveTo>
                  <a:cubicBezTo>
                    <a:pt x="519" y="0"/>
                    <a:pt x="0" y="519"/>
                    <a:pt x="0" y="1160"/>
                  </a:cubicBezTo>
                  <a:cubicBezTo>
                    <a:pt x="0" y="1801"/>
                    <a:pt x="519" y="2321"/>
                    <a:pt x="1160" y="2321"/>
                  </a:cubicBezTo>
                  <a:cubicBezTo>
                    <a:pt x="1801" y="2321"/>
                    <a:pt x="2321" y="1801"/>
                    <a:pt x="2321" y="1160"/>
                  </a:cubicBezTo>
                  <a:cubicBezTo>
                    <a:pt x="2321" y="519"/>
                    <a:pt x="1801" y="0"/>
                    <a:pt x="1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69;p22">
              <a:extLst>
                <a:ext uri="{FF2B5EF4-FFF2-40B4-BE49-F238E27FC236}">
                  <a16:creationId xmlns:a16="http://schemas.microsoft.com/office/drawing/2014/main" xmlns="" id="{22D79356-660C-4F86-B43C-B64B46CD1DB4}"/>
                </a:ext>
              </a:extLst>
            </p:cNvPr>
            <p:cNvSpPr/>
            <p:nvPr/>
          </p:nvSpPr>
          <p:spPr>
            <a:xfrm>
              <a:off x="3511766" y="2232979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1" y="0"/>
                  </a:moveTo>
                  <a:cubicBezTo>
                    <a:pt x="520" y="0"/>
                    <a:pt x="0" y="519"/>
                    <a:pt x="0" y="1160"/>
                  </a:cubicBezTo>
                  <a:cubicBezTo>
                    <a:pt x="0" y="1801"/>
                    <a:pt x="520" y="2321"/>
                    <a:pt x="1161" y="2321"/>
                  </a:cubicBezTo>
                  <a:cubicBezTo>
                    <a:pt x="1802" y="2321"/>
                    <a:pt x="2321" y="1801"/>
                    <a:pt x="2321" y="1160"/>
                  </a:cubicBezTo>
                  <a:cubicBezTo>
                    <a:pt x="2321" y="519"/>
                    <a:pt x="1802" y="0"/>
                    <a:pt x="1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70;p22">
              <a:extLst>
                <a:ext uri="{FF2B5EF4-FFF2-40B4-BE49-F238E27FC236}">
                  <a16:creationId xmlns:a16="http://schemas.microsoft.com/office/drawing/2014/main" xmlns="" id="{EA609F72-AA5D-4F7E-B107-D7FB0DCD4D69}"/>
                </a:ext>
              </a:extLst>
            </p:cNvPr>
            <p:cNvSpPr/>
            <p:nvPr/>
          </p:nvSpPr>
          <p:spPr>
            <a:xfrm>
              <a:off x="4008003" y="1754765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0" y="0"/>
                  </a:moveTo>
                  <a:cubicBezTo>
                    <a:pt x="519" y="0"/>
                    <a:pt x="0" y="520"/>
                    <a:pt x="0" y="1160"/>
                  </a:cubicBezTo>
                  <a:cubicBezTo>
                    <a:pt x="0" y="1801"/>
                    <a:pt x="519" y="2321"/>
                    <a:pt x="1160" y="2321"/>
                  </a:cubicBezTo>
                  <a:cubicBezTo>
                    <a:pt x="1801" y="2321"/>
                    <a:pt x="2321" y="1801"/>
                    <a:pt x="2321" y="1160"/>
                  </a:cubicBezTo>
                  <a:cubicBezTo>
                    <a:pt x="2321" y="520"/>
                    <a:pt x="1801" y="0"/>
                    <a:pt x="11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71;p22">
              <a:extLst>
                <a:ext uri="{FF2B5EF4-FFF2-40B4-BE49-F238E27FC236}">
                  <a16:creationId xmlns:a16="http://schemas.microsoft.com/office/drawing/2014/main" xmlns="" id="{043E8857-1ECE-46D4-9D3E-704114BDD1B0}"/>
                </a:ext>
              </a:extLst>
            </p:cNvPr>
            <p:cNvSpPr/>
            <p:nvPr/>
          </p:nvSpPr>
          <p:spPr>
            <a:xfrm>
              <a:off x="3511766" y="3216220"/>
              <a:ext cx="171446" cy="171520"/>
            </a:xfrm>
            <a:custGeom>
              <a:avLst/>
              <a:gdLst/>
              <a:ahLst/>
              <a:cxnLst/>
              <a:rect l="l" t="t" r="r" b="b"/>
              <a:pathLst>
                <a:path w="2321" h="2322" extrusionOk="0">
                  <a:moveTo>
                    <a:pt x="1161" y="1"/>
                  </a:moveTo>
                  <a:cubicBezTo>
                    <a:pt x="520" y="1"/>
                    <a:pt x="0" y="521"/>
                    <a:pt x="0" y="1162"/>
                  </a:cubicBezTo>
                  <a:cubicBezTo>
                    <a:pt x="0" y="1803"/>
                    <a:pt x="520" y="2321"/>
                    <a:pt x="1161" y="2321"/>
                  </a:cubicBezTo>
                  <a:cubicBezTo>
                    <a:pt x="1802" y="2321"/>
                    <a:pt x="2321" y="1803"/>
                    <a:pt x="2321" y="1162"/>
                  </a:cubicBezTo>
                  <a:cubicBezTo>
                    <a:pt x="2321" y="521"/>
                    <a:pt x="1802" y="1"/>
                    <a:pt x="11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" name="Google Shape;794;p22">
            <a:extLst>
              <a:ext uri="{FF2B5EF4-FFF2-40B4-BE49-F238E27FC236}">
                <a16:creationId xmlns:a16="http://schemas.microsoft.com/office/drawing/2014/main" xmlns="" id="{3187AC37-08FA-488F-B971-DF1C6E3CFB34}"/>
              </a:ext>
            </a:extLst>
          </p:cNvPr>
          <p:cNvGrpSpPr/>
          <p:nvPr/>
        </p:nvGrpSpPr>
        <p:grpSpPr>
          <a:xfrm>
            <a:off x="14277223" y="2538164"/>
            <a:ext cx="237088" cy="278590"/>
            <a:chOff x="6033071" y="1587084"/>
            <a:chExt cx="176472" cy="203493"/>
          </a:xfrm>
        </p:grpSpPr>
        <p:sp>
          <p:nvSpPr>
            <p:cNvPr id="218" name="Google Shape;795;p22">
              <a:extLst>
                <a:ext uri="{FF2B5EF4-FFF2-40B4-BE49-F238E27FC236}">
                  <a16:creationId xmlns:a16="http://schemas.microsoft.com/office/drawing/2014/main" xmlns="" id="{9967BC3C-9774-438E-832C-1BE2F4DCA5AF}"/>
                </a:ext>
              </a:extLst>
            </p:cNvPr>
            <p:cNvSpPr/>
            <p:nvPr/>
          </p:nvSpPr>
          <p:spPr>
            <a:xfrm>
              <a:off x="6063580" y="1587084"/>
              <a:ext cx="115356" cy="203493"/>
            </a:xfrm>
            <a:custGeom>
              <a:avLst/>
              <a:gdLst/>
              <a:ahLst/>
              <a:cxnLst/>
              <a:rect l="l" t="t" r="r" b="b"/>
              <a:pathLst>
                <a:path w="1157" h="2041" extrusionOk="0">
                  <a:moveTo>
                    <a:pt x="493" y="422"/>
                  </a:moveTo>
                  <a:cubicBezTo>
                    <a:pt x="496" y="425"/>
                    <a:pt x="499" y="428"/>
                    <a:pt x="500" y="432"/>
                  </a:cubicBezTo>
                  <a:cubicBezTo>
                    <a:pt x="500" y="433"/>
                    <a:pt x="500" y="433"/>
                    <a:pt x="500" y="433"/>
                  </a:cubicBezTo>
                  <a:cubicBezTo>
                    <a:pt x="504" y="439"/>
                    <a:pt x="506" y="446"/>
                    <a:pt x="507" y="452"/>
                  </a:cubicBezTo>
                  <a:cubicBezTo>
                    <a:pt x="507" y="454"/>
                    <a:pt x="508" y="454"/>
                    <a:pt x="508" y="456"/>
                  </a:cubicBezTo>
                  <a:cubicBezTo>
                    <a:pt x="510" y="463"/>
                    <a:pt x="511" y="469"/>
                    <a:pt x="511" y="476"/>
                  </a:cubicBezTo>
                  <a:cubicBezTo>
                    <a:pt x="511" y="483"/>
                    <a:pt x="510" y="489"/>
                    <a:pt x="508" y="496"/>
                  </a:cubicBezTo>
                  <a:cubicBezTo>
                    <a:pt x="508" y="498"/>
                    <a:pt x="507" y="500"/>
                    <a:pt x="507" y="501"/>
                  </a:cubicBezTo>
                  <a:cubicBezTo>
                    <a:pt x="506" y="508"/>
                    <a:pt x="504" y="514"/>
                    <a:pt x="500" y="520"/>
                  </a:cubicBezTo>
                  <a:cubicBezTo>
                    <a:pt x="500" y="520"/>
                    <a:pt x="500" y="521"/>
                    <a:pt x="500" y="521"/>
                  </a:cubicBezTo>
                  <a:cubicBezTo>
                    <a:pt x="499" y="524"/>
                    <a:pt x="496" y="528"/>
                    <a:pt x="493" y="531"/>
                  </a:cubicBezTo>
                  <a:cubicBezTo>
                    <a:pt x="492" y="528"/>
                    <a:pt x="489" y="524"/>
                    <a:pt x="487" y="521"/>
                  </a:cubicBezTo>
                  <a:cubicBezTo>
                    <a:pt x="487" y="521"/>
                    <a:pt x="486" y="520"/>
                    <a:pt x="486" y="520"/>
                  </a:cubicBezTo>
                  <a:cubicBezTo>
                    <a:pt x="484" y="514"/>
                    <a:pt x="482" y="508"/>
                    <a:pt x="480" y="501"/>
                  </a:cubicBezTo>
                  <a:cubicBezTo>
                    <a:pt x="479" y="500"/>
                    <a:pt x="479" y="498"/>
                    <a:pt x="479" y="496"/>
                  </a:cubicBezTo>
                  <a:cubicBezTo>
                    <a:pt x="478" y="489"/>
                    <a:pt x="477" y="483"/>
                    <a:pt x="477" y="476"/>
                  </a:cubicBezTo>
                  <a:cubicBezTo>
                    <a:pt x="477" y="469"/>
                    <a:pt x="478" y="463"/>
                    <a:pt x="479" y="456"/>
                  </a:cubicBezTo>
                  <a:cubicBezTo>
                    <a:pt x="479" y="454"/>
                    <a:pt x="479" y="454"/>
                    <a:pt x="480" y="452"/>
                  </a:cubicBezTo>
                  <a:cubicBezTo>
                    <a:pt x="482" y="446"/>
                    <a:pt x="484" y="439"/>
                    <a:pt x="486" y="433"/>
                  </a:cubicBezTo>
                  <a:cubicBezTo>
                    <a:pt x="487" y="433"/>
                    <a:pt x="487" y="433"/>
                    <a:pt x="487" y="432"/>
                  </a:cubicBezTo>
                  <a:cubicBezTo>
                    <a:pt x="489" y="428"/>
                    <a:pt x="492" y="425"/>
                    <a:pt x="493" y="422"/>
                  </a:cubicBezTo>
                  <a:close/>
                  <a:moveTo>
                    <a:pt x="664" y="422"/>
                  </a:moveTo>
                  <a:cubicBezTo>
                    <a:pt x="666" y="425"/>
                    <a:pt x="668" y="428"/>
                    <a:pt x="670" y="432"/>
                  </a:cubicBezTo>
                  <a:cubicBezTo>
                    <a:pt x="671" y="433"/>
                    <a:pt x="671" y="433"/>
                    <a:pt x="671" y="433"/>
                  </a:cubicBezTo>
                  <a:cubicBezTo>
                    <a:pt x="674" y="439"/>
                    <a:pt x="676" y="446"/>
                    <a:pt x="678" y="452"/>
                  </a:cubicBezTo>
                  <a:cubicBezTo>
                    <a:pt x="678" y="454"/>
                    <a:pt x="679" y="454"/>
                    <a:pt x="679" y="456"/>
                  </a:cubicBezTo>
                  <a:cubicBezTo>
                    <a:pt x="680" y="463"/>
                    <a:pt x="681" y="469"/>
                    <a:pt x="681" y="476"/>
                  </a:cubicBezTo>
                  <a:cubicBezTo>
                    <a:pt x="681" y="483"/>
                    <a:pt x="680" y="489"/>
                    <a:pt x="679" y="496"/>
                  </a:cubicBezTo>
                  <a:cubicBezTo>
                    <a:pt x="679" y="498"/>
                    <a:pt x="678" y="500"/>
                    <a:pt x="678" y="501"/>
                  </a:cubicBezTo>
                  <a:cubicBezTo>
                    <a:pt x="676" y="508"/>
                    <a:pt x="674" y="514"/>
                    <a:pt x="671" y="520"/>
                  </a:cubicBezTo>
                  <a:cubicBezTo>
                    <a:pt x="671" y="520"/>
                    <a:pt x="671" y="521"/>
                    <a:pt x="670" y="521"/>
                  </a:cubicBezTo>
                  <a:cubicBezTo>
                    <a:pt x="668" y="524"/>
                    <a:pt x="666" y="528"/>
                    <a:pt x="664" y="531"/>
                  </a:cubicBezTo>
                  <a:cubicBezTo>
                    <a:pt x="662" y="528"/>
                    <a:pt x="659" y="524"/>
                    <a:pt x="658" y="521"/>
                  </a:cubicBezTo>
                  <a:cubicBezTo>
                    <a:pt x="658" y="521"/>
                    <a:pt x="657" y="520"/>
                    <a:pt x="657" y="520"/>
                  </a:cubicBezTo>
                  <a:cubicBezTo>
                    <a:pt x="654" y="514"/>
                    <a:pt x="651" y="508"/>
                    <a:pt x="651" y="501"/>
                  </a:cubicBezTo>
                  <a:cubicBezTo>
                    <a:pt x="650" y="500"/>
                    <a:pt x="650" y="498"/>
                    <a:pt x="649" y="496"/>
                  </a:cubicBezTo>
                  <a:cubicBezTo>
                    <a:pt x="648" y="489"/>
                    <a:pt x="647" y="483"/>
                    <a:pt x="647" y="476"/>
                  </a:cubicBezTo>
                  <a:cubicBezTo>
                    <a:pt x="647" y="469"/>
                    <a:pt x="648" y="463"/>
                    <a:pt x="649" y="456"/>
                  </a:cubicBezTo>
                  <a:cubicBezTo>
                    <a:pt x="650" y="454"/>
                    <a:pt x="650" y="454"/>
                    <a:pt x="651" y="452"/>
                  </a:cubicBezTo>
                  <a:cubicBezTo>
                    <a:pt x="651" y="446"/>
                    <a:pt x="654" y="439"/>
                    <a:pt x="657" y="433"/>
                  </a:cubicBezTo>
                  <a:cubicBezTo>
                    <a:pt x="657" y="433"/>
                    <a:pt x="658" y="433"/>
                    <a:pt x="658" y="432"/>
                  </a:cubicBezTo>
                  <a:cubicBezTo>
                    <a:pt x="659" y="428"/>
                    <a:pt x="662" y="425"/>
                    <a:pt x="664" y="422"/>
                  </a:cubicBezTo>
                  <a:close/>
                  <a:moveTo>
                    <a:pt x="749" y="374"/>
                  </a:moveTo>
                  <a:cubicBezTo>
                    <a:pt x="803" y="374"/>
                    <a:pt x="851" y="426"/>
                    <a:pt x="851" y="484"/>
                  </a:cubicBezTo>
                  <a:cubicBezTo>
                    <a:pt x="851" y="534"/>
                    <a:pt x="829" y="581"/>
                    <a:pt x="790" y="612"/>
                  </a:cubicBezTo>
                  <a:lnTo>
                    <a:pt x="659" y="722"/>
                  </a:lnTo>
                  <a:cubicBezTo>
                    <a:pt x="651" y="729"/>
                    <a:pt x="647" y="738"/>
                    <a:pt x="647" y="749"/>
                  </a:cubicBezTo>
                  <a:lnTo>
                    <a:pt x="647" y="986"/>
                  </a:lnTo>
                  <a:lnTo>
                    <a:pt x="511" y="986"/>
                  </a:lnTo>
                  <a:lnTo>
                    <a:pt x="511" y="749"/>
                  </a:lnTo>
                  <a:cubicBezTo>
                    <a:pt x="511" y="738"/>
                    <a:pt x="506" y="729"/>
                    <a:pt x="499" y="722"/>
                  </a:cubicBezTo>
                  <a:lnTo>
                    <a:pt x="367" y="612"/>
                  </a:lnTo>
                  <a:cubicBezTo>
                    <a:pt x="328" y="581"/>
                    <a:pt x="307" y="534"/>
                    <a:pt x="307" y="484"/>
                  </a:cubicBezTo>
                  <a:cubicBezTo>
                    <a:pt x="307" y="426"/>
                    <a:pt x="355" y="374"/>
                    <a:pt x="409" y="374"/>
                  </a:cubicBezTo>
                  <a:cubicBezTo>
                    <a:pt x="419" y="374"/>
                    <a:pt x="430" y="376"/>
                    <a:pt x="439" y="379"/>
                  </a:cubicBezTo>
                  <a:cubicBezTo>
                    <a:pt x="439" y="380"/>
                    <a:pt x="438" y="381"/>
                    <a:pt x="438" y="382"/>
                  </a:cubicBezTo>
                  <a:cubicBezTo>
                    <a:pt x="434" y="387"/>
                    <a:pt x="431" y="393"/>
                    <a:pt x="428" y="399"/>
                  </a:cubicBezTo>
                  <a:cubicBezTo>
                    <a:pt x="427" y="400"/>
                    <a:pt x="426" y="401"/>
                    <a:pt x="426" y="402"/>
                  </a:cubicBezTo>
                  <a:cubicBezTo>
                    <a:pt x="423" y="409"/>
                    <a:pt x="420" y="416"/>
                    <a:pt x="417" y="424"/>
                  </a:cubicBezTo>
                  <a:cubicBezTo>
                    <a:pt x="417" y="426"/>
                    <a:pt x="417" y="427"/>
                    <a:pt x="416" y="429"/>
                  </a:cubicBezTo>
                  <a:cubicBezTo>
                    <a:pt x="414" y="435"/>
                    <a:pt x="413" y="440"/>
                    <a:pt x="411" y="447"/>
                  </a:cubicBezTo>
                  <a:cubicBezTo>
                    <a:pt x="411" y="448"/>
                    <a:pt x="410" y="451"/>
                    <a:pt x="410" y="453"/>
                  </a:cubicBezTo>
                  <a:cubicBezTo>
                    <a:pt x="410" y="460"/>
                    <a:pt x="409" y="468"/>
                    <a:pt x="409" y="476"/>
                  </a:cubicBezTo>
                  <a:cubicBezTo>
                    <a:pt x="409" y="528"/>
                    <a:pt x="432" y="576"/>
                    <a:pt x="472" y="608"/>
                  </a:cubicBezTo>
                  <a:cubicBezTo>
                    <a:pt x="479" y="613"/>
                    <a:pt x="486" y="616"/>
                    <a:pt x="493" y="616"/>
                  </a:cubicBezTo>
                  <a:cubicBezTo>
                    <a:pt x="501" y="616"/>
                    <a:pt x="509" y="613"/>
                    <a:pt x="515" y="608"/>
                  </a:cubicBezTo>
                  <a:cubicBezTo>
                    <a:pt x="555" y="576"/>
                    <a:pt x="579" y="528"/>
                    <a:pt x="579" y="476"/>
                  </a:cubicBezTo>
                  <a:cubicBezTo>
                    <a:pt x="579" y="468"/>
                    <a:pt x="578" y="460"/>
                    <a:pt x="577" y="453"/>
                  </a:cubicBezTo>
                  <a:cubicBezTo>
                    <a:pt x="576" y="451"/>
                    <a:pt x="576" y="448"/>
                    <a:pt x="575" y="447"/>
                  </a:cubicBezTo>
                  <a:cubicBezTo>
                    <a:pt x="575" y="440"/>
                    <a:pt x="574" y="435"/>
                    <a:pt x="572" y="429"/>
                  </a:cubicBezTo>
                  <a:cubicBezTo>
                    <a:pt x="571" y="427"/>
                    <a:pt x="571" y="426"/>
                    <a:pt x="570" y="424"/>
                  </a:cubicBezTo>
                  <a:cubicBezTo>
                    <a:pt x="568" y="416"/>
                    <a:pt x="565" y="409"/>
                    <a:pt x="562" y="402"/>
                  </a:cubicBezTo>
                  <a:cubicBezTo>
                    <a:pt x="561" y="401"/>
                    <a:pt x="560" y="400"/>
                    <a:pt x="560" y="399"/>
                  </a:cubicBezTo>
                  <a:cubicBezTo>
                    <a:pt x="556" y="393"/>
                    <a:pt x="553" y="387"/>
                    <a:pt x="549" y="382"/>
                  </a:cubicBezTo>
                  <a:cubicBezTo>
                    <a:pt x="549" y="381"/>
                    <a:pt x="548" y="380"/>
                    <a:pt x="548" y="379"/>
                  </a:cubicBezTo>
                  <a:cubicBezTo>
                    <a:pt x="558" y="376"/>
                    <a:pt x="568" y="374"/>
                    <a:pt x="579" y="374"/>
                  </a:cubicBezTo>
                  <a:cubicBezTo>
                    <a:pt x="589" y="374"/>
                    <a:pt x="599" y="376"/>
                    <a:pt x="610" y="379"/>
                  </a:cubicBezTo>
                  <a:cubicBezTo>
                    <a:pt x="609" y="380"/>
                    <a:pt x="609" y="381"/>
                    <a:pt x="608" y="382"/>
                  </a:cubicBezTo>
                  <a:cubicBezTo>
                    <a:pt x="604" y="387"/>
                    <a:pt x="601" y="393"/>
                    <a:pt x="598" y="399"/>
                  </a:cubicBezTo>
                  <a:cubicBezTo>
                    <a:pt x="597" y="400"/>
                    <a:pt x="596" y="401"/>
                    <a:pt x="596" y="402"/>
                  </a:cubicBezTo>
                  <a:cubicBezTo>
                    <a:pt x="593" y="409"/>
                    <a:pt x="589" y="416"/>
                    <a:pt x="588" y="424"/>
                  </a:cubicBezTo>
                  <a:cubicBezTo>
                    <a:pt x="587" y="426"/>
                    <a:pt x="587" y="427"/>
                    <a:pt x="586" y="429"/>
                  </a:cubicBezTo>
                  <a:cubicBezTo>
                    <a:pt x="584" y="435"/>
                    <a:pt x="582" y="440"/>
                    <a:pt x="582" y="447"/>
                  </a:cubicBezTo>
                  <a:cubicBezTo>
                    <a:pt x="582" y="448"/>
                    <a:pt x="581" y="451"/>
                    <a:pt x="581" y="453"/>
                  </a:cubicBezTo>
                  <a:cubicBezTo>
                    <a:pt x="580" y="460"/>
                    <a:pt x="579" y="468"/>
                    <a:pt x="579" y="476"/>
                  </a:cubicBezTo>
                  <a:cubicBezTo>
                    <a:pt x="579" y="528"/>
                    <a:pt x="602" y="576"/>
                    <a:pt x="643" y="608"/>
                  </a:cubicBezTo>
                  <a:cubicBezTo>
                    <a:pt x="649" y="613"/>
                    <a:pt x="656" y="616"/>
                    <a:pt x="664" y="616"/>
                  </a:cubicBezTo>
                  <a:cubicBezTo>
                    <a:pt x="672" y="616"/>
                    <a:pt x="679" y="613"/>
                    <a:pt x="685" y="608"/>
                  </a:cubicBezTo>
                  <a:cubicBezTo>
                    <a:pt x="726" y="576"/>
                    <a:pt x="749" y="528"/>
                    <a:pt x="749" y="476"/>
                  </a:cubicBezTo>
                  <a:cubicBezTo>
                    <a:pt x="749" y="468"/>
                    <a:pt x="748" y="460"/>
                    <a:pt x="747" y="453"/>
                  </a:cubicBezTo>
                  <a:cubicBezTo>
                    <a:pt x="747" y="451"/>
                    <a:pt x="747" y="448"/>
                    <a:pt x="746" y="447"/>
                  </a:cubicBezTo>
                  <a:cubicBezTo>
                    <a:pt x="745" y="440"/>
                    <a:pt x="743" y="435"/>
                    <a:pt x="741" y="429"/>
                  </a:cubicBezTo>
                  <a:cubicBezTo>
                    <a:pt x="741" y="427"/>
                    <a:pt x="740" y="426"/>
                    <a:pt x="740" y="424"/>
                  </a:cubicBezTo>
                  <a:cubicBezTo>
                    <a:pt x="738" y="416"/>
                    <a:pt x="735" y="409"/>
                    <a:pt x="732" y="402"/>
                  </a:cubicBezTo>
                  <a:cubicBezTo>
                    <a:pt x="731" y="401"/>
                    <a:pt x="730" y="400"/>
                    <a:pt x="729" y="399"/>
                  </a:cubicBezTo>
                  <a:cubicBezTo>
                    <a:pt x="727" y="393"/>
                    <a:pt x="723" y="387"/>
                    <a:pt x="720" y="382"/>
                  </a:cubicBezTo>
                  <a:cubicBezTo>
                    <a:pt x="719" y="381"/>
                    <a:pt x="719" y="380"/>
                    <a:pt x="718" y="379"/>
                  </a:cubicBezTo>
                  <a:cubicBezTo>
                    <a:pt x="728" y="376"/>
                    <a:pt x="738" y="374"/>
                    <a:pt x="749" y="374"/>
                  </a:cubicBezTo>
                  <a:close/>
                  <a:moveTo>
                    <a:pt x="579" y="68"/>
                  </a:moveTo>
                  <a:cubicBezTo>
                    <a:pt x="860" y="68"/>
                    <a:pt x="1089" y="297"/>
                    <a:pt x="1089" y="578"/>
                  </a:cubicBezTo>
                  <a:cubicBezTo>
                    <a:pt x="1089" y="738"/>
                    <a:pt x="1013" y="890"/>
                    <a:pt x="884" y="986"/>
                  </a:cubicBezTo>
                  <a:lnTo>
                    <a:pt x="715" y="986"/>
                  </a:lnTo>
                  <a:lnTo>
                    <a:pt x="715" y="764"/>
                  </a:lnTo>
                  <a:lnTo>
                    <a:pt x="834" y="665"/>
                  </a:lnTo>
                  <a:cubicBezTo>
                    <a:pt x="888" y="620"/>
                    <a:pt x="919" y="554"/>
                    <a:pt x="919" y="484"/>
                  </a:cubicBezTo>
                  <a:cubicBezTo>
                    <a:pt x="919" y="387"/>
                    <a:pt x="841" y="306"/>
                    <a:pt x="749" y="306"/>
                  </a:cubicBezTo>
                  <a:cubicBezTo>
                    <a:pt x="719" y="306"/>
                    <a:pt x="690" y="315"/>
                    <a:pt x="664" y="330"/>
                  </a:cubicBezTo>
                  <a:cubicBezTo>
                    <a:pt x="637" y="315"/>
                    <a:pt x="608" y="307"/>
                    <a:pt x="579" y="307"/>
                  </a:cubicBezTo>
                  <a:cubicBezTo>
                    <a:pt x="550" y="307"/>
                    <a:pt x="520" y="315"/>
                    <a:pt x="494" y="330"/>
                  </a:cubicBezTo>
                  <a:cubicBezTo>
                    <a:pt x="468" y="315"/>
                    <a:pt x="439" y="306"/>
                    <a:pt x="409" y="306"/>
                  </a:cubicBezTo>
                  <a:cubicBezTo>
                    <a:pt x="316" y="306"/>
                    <a:pt x="238" y="387"/>
                    <a:pt x="238" y="484"/>
                  </a:cubicBezTo>
                  <a:cubicBezTo>
                    <a:pt x="238" y="554"/>
                    <a:pt x="270" y="620"/>
                    <a:pt x="323" y="665"/>
                  </a:cubicBezTo>
                  <a:lnTo>
                    <a:pt x="443" y="764"/>
                  </a:lnTo>
                  <a:lnTo>
                    <a:pt x="443" y="986"/>
                  </a:lnTo>
                  <a:lnTo>
                    <a:pt x="273" y="986"/>
                  </a:lnTo>
                  <a:cubicBezTo>
                    <a:pt x="145" y="890"/>
                    <a:pt x="68" y="738"/>
                    <a:pt x="68" y="578"/>
                  </a:cubicBezTo>
                  <a:cubicBezTo>
                    <a:pt x="68" y="297"/>
                    <a:pt x="298" y="68"/>
                    <a:pt x="579" y="68"/>
                  </a:cubicBezTo>
                  <a:close/>
                  <a:moveTo>
                    <a:pt x="885" y="1054"/>
                  </a:moveTo>
                  <a:cubicBezTo>
                    <a:pt x="904" y="1055"/>
                    <a:pt x="919" y="1070"/>
                    <a:pt x="919" y="1088"/>
                  </a:cubicBezTo>
                  <a:cubicBezTo>
                    <a:pt x="919" y="1107"/>
                    <a:pt x="904" y="1122"/>
                    <a:pt x="885" y="1122"/>
                  </a:cubicBezTo>
                  <a:lnTo>
                    <a:pt x="272" y="1122"/>
                  </a:lnTo>
                  <a:cubicBezTo>
                    <a:pt x="254" y="1122"/>
                    <a:pt x="238" y="1107"/>
                    <a:pt x="238" y="1088"/>
                  </a:cubicBezTo>
                  <a:cubicBezTo>
                    <a:pt x="238" y="1070"/>
                    <a:pt x="254" y="1054"/>
                    <a:pt x="272" y="1054"/>
                  </a:cubicBezTo>
                  <a:close/>
                  <a:moveTo>
                    <a:pt x="885" y="1190"/>
                  </a:moveTo>
                  <a:cubicBezTo>
                    <a:pt x="904" y="1190"/>
                    <a:pt x="919" y="1206"/>
                    <a:pt x="919" y="1224"/>
                  </a:cubicBezTo>
                  <a:cubicBezTo>
                    <a:pt x="919" y="1244"/>
                    <a:pt x="904" y="1259"/>
                    <a:pt x="885" y="1259"/>
                  </a:cubicBezTo>
                  <a:lnTo>
                    <a:pt x="272" y="1259"/>
                  </a:lnTo>
                  <a:cubicBezTo>
                    <a:pt x="254" y="1259"/>
                    <a:pt x="238" y="1244"/>
                    <a:pt x="238" y="1224"/>
                  </a:cubicBezTo>
                  <a:cubicBezTo>
                    <a:pt x="238" y="1206"/>
                    <a:pt x="254" y="1190"/>
                    <a:pt x="272" y="1190"/>
                  </a:cubicBezTo>
                  <a:close/>
                  <a:moveTo>
                    <a:pt x="885" y="1327"/>
                  </a:moveTo>
                  <a:cubicBezTo>
                    <a:pt x="904" y="1327"/>
                    <a:pt x="919" y="1341"/>
                    <a:pt x="919" y="1361"/>
                  </a:cubicBezTo>
                  <a:cubicBezTo>
                    <a:pt x="919" y="1379"/>
                    <a:pt x="904" y="1395"/>
                    <a:pt x="885" y="1395"/>
                  </a:cubicBezTo>
                  <a:lnTo>
                    <a:pt x="272" y="1395"/>
                  </a:lnTo>
                  <a:cubicBezTo>
                    <a:pt x="254" y="1395"/>
                    <a:pt x="238" y="1379"/>
                    <a:pt x="238" y="1361"/>
                  </a:cubicBezTo>
                  <a:cubicBezTo>
                    <a:pt x="238" y="1341"/>
                    <a:pt x="254" y="1327"/>
                    <a:pt x="272" y="1327"/>
                  </a:cubicBezTo>
                  <a:close/>
                  <a:moveTo>
                    <a:pt x="851" y="1463"/>
                  </a:moveTo>
                  <a:lnTo>
                    <a:pt x="851" y="1637"/>
                  </a:lnTo>
                  <a:lnTo>
                    <a:pt x="802" y="1604"/>
                  </a:lnTo>
                  <a:cubicBezTo>
                    <a:pt x="796" y="1600"/>
                    <a:pt x="789" y="1598"/>
                    <a:pt x="783" y="1598"/>
                  </a:cubicBezTo>
                  <a:cubicBezTo>
                    <a:pt x="776" y="1598"/>
                    <a:pt x="770" y="1600"/>
                    <a:pt x="764" y="1604"/>
                  </a:cubicBezTo>
                  <a:lnTo>
                    <a:pt x="681" y="1660"/>
                  </a:lnTo>
                  <a:lnTo>
                    <a:pt x="597" y="1604"/>
                  </a:lnTo>
                  <a:cubicBezTo>
                    <a:pt x="592" y="1600"/>
                    <a:pt x="585" y="1598"/>
                    <a:pt x="579" y="1598"/>
                  </a:cubicBezTo>
                  <a:cubicBezTo>
                    <a:pt x="572" y="1598"/>
                    <a:pt x="565" y="1600"/>
                    <a:pt x="560" y="1604"/>
                  </a:cubicBezTo>
                  <a:lnTo>
                    <a:pt x="477" y="1660"/>
                  </a:lnTo>
                  <a:lnTo>
                    <a:pt x="394" y="1604"/>
                  </a:lnTo>
                  <a:cubicBezTo>
                    <a:pt x="388" y="1600"/>
                    <a:pt x="382" y="1598"/>
                    <a:pt x="375" y="1598"/>
                  </a:cubicBezTo>
                  <a:cubicBezTo>
                    <a:pt x="368" y="1598"/>
                    <a:pt x="362" y="1600"/>
                    <a:pt x="355" y="1604"/>
                  </a:cubicBezTo>
                  <a:lnTo>
                    <a:pt x="307" y="1637"/>
                  </a:lnTo>
                  <a:lnTo>
                    <a:pt x="307" y="1463"/>
                  </a:lnTo>
                  <a:close/>
                  <a:moveTo>
                    <a:pt x="782" y="1673"/>
                  </a:moveTo>
                  <a:lnTo>
                    <a:pt x="831" y="1706"/>
                  </a:lnTo>
                  <a:lnTo>
                    <a:pt x="700" y="1837"/>
                  </a:lnTo>
                  <a:lnTo>
                    <a:pt x="457" y="1837"/>
                  </a:lnTo>
                  <a:lnTo>
                    <a:pt x="326" y="1706"/>
                  </a:lnTo>
                  <a:lnTo>
                    <a:pt x="375" y="1673"/>
                  </a:lnTo>
                  <a:lnTo>
                    <a:pt x="458" y="1729"/>
                  </a:lnTo>
                  <a:cubicBezTo>
                    <a:pt x="463" y="1733"/>
                    <a:pt x="470" y="1735"/>
                    <a:pt x="476" y="1735"/>
                  </a:cubicBezTo>
                  <a:cubicBezTo>
                    <a:pt x="483" y="1735"/>
                    <a:pt x="489" y="1733"/>
                    <a:pt x="495" y="1729"/>
                  </a:cubicBezTo>
                  <a:lnTo>
                    <a:pt x="579" y="1673"/>
                  </a:lnTo>
                  <a:lnTo>
                    <a:pt x="662" y="1729"/>
                  </a:lnTo>
                  <a:cubicBezTo>
                    <a:pt x="668" y="1733"/>
                    <a:pt x="674" y="1735"/>
                    <a:pt x="681" y="1735"/>
                  </a:cubicBezTo>
                  <a:cubicBezTo>
                    <a:pt x="687" y="1735"/>
                    <a:pt x="694" y="1733"/>
                    <a:pt x="699" y="1729"/>
                  </a:cubicBezTo>
                  <a:lnTo>
                    <a:pt x="782" y="1673"/>
                  </a:lnTo>
                  <a:close/>
                  <a:moveTo>
                    <a:pt x="633" y="1905"/>
                  </a:moveTo>
                  <a:lnTo>
                    <a:pt x="579" y="1959"/>
                  </a:lnTo>
                  <a:lnTo>
                    <a:pt x="525" y="1905"/>
                  </a:lnTo>
                  <a:close/>
                  <a:moveTo>
                    <a:pt x="579" y="0"/>
                  </a:moveTo>
                  <a:cubicBezTo>
                    <a:pt x="260" y="0"/>
                    <a:pt x="1" y="260"/>
                    <a:pt x="1" y="578"/>
                  </a:cubicBezTo>
                  <a:cubicBezTo>
                    <a:pt x="1" y="747"/>
                    <a:pt x="75" y="906"/>
                    <a:pt x="202" y="1016"/>
                  </a:cubicBezTo>
                  <a:cubicBezTo>
                    <a:pt x="183" y="1034"/>
                    <a:pt x="170" y="1060"/>
                    <a:pt x="170" y="1088"/>
                  </a:cubicBezTo>
                  <a:cubicBezTo>
                    <a:pt x="170" y="1114"/>
                    <a:pt x="181" y="1138"/>
                    <a:pt x="197" y="1156"/>
                  </a:cubicBezTo>
                  <a:cubicBezTo>
                    <a:pt x="181" y="1175"/>
                    <a:pt x="170" y="1198"/>
                    <a:pt x="170" y="1224"/>
                  </a:cubicBezTo>
                  <a:cubicBezTo>
                    <a:pt x="170" y="1251"/>
                    <a:pt x="181" y="1274"/>
                    <a:pt x="197" y="1293"/>
                  </a:cubicBezTo>
                  <a:cubicBezTo>
                    <a:pt x="181" y="1311"/>
                    <a:pt x="170" y="1335"/>
                    <a:pt x="170" y="1361"/>
                  </a:cubicBezTo>
                  <a:cubicBezTo>
                    <a:pt x="170" y="1405"/>
                    <a:pt x="199" y="1442"/>
                    <a:pt x="238" y="1457"/>
                  </a:cubicBezTo>
                  <a:lnTo>
                    <a:pt x="238" y="1700"/>
                  </a:lnTo>
                  <a:cubicBezTo>
                    <a:pt x="238" y="1710"/>
                    <a:pt x="242" y="1719"/>
                    <a:pt x="249" y="1725"/>
                  </a:cubicBezTo>
                  <a:lnTo>
                    <a:pt x="555" y="2031"/>
                  </a:lnTo>
                  <a:cubicBezTo>
                    <a:pt x="562" y="2037"/>
                    <a:pt x="570" y="2041"/>
                    <a:pt x="579" y="2041"/>
                  </a:cubicBezTo>
                  <a:cubicBezTo>
                    <a:pt x="588" y="2041"/>
                    <a:pt x="596" y="2037"/>
                    <a:pt x="603" y="2031"/>
                  </a:cubicBezTo>
                  <a:lnTo>
                    <a:pt x="909" y="1725"/>
                  </a:lnTo>
                  <a:cubicBezTo>
                    <a:pt x="915" y="1719"/>
                    <a:pt x="919" y="1710"/>
                    <a:pt x="919" y="1700"/>
                  </a:cubicBezTo>
                  <a:lnTo>
                    <a:pt x="919" y="1457"/>
                  </a:lnTo>
                  <a:cubicBezTo>
                    <a:pt x="959" y="1442"/>
                    <a:pt x="987" y="1405"/>
                    <a:pt x="987" y="1361"/>
                  </a:cubicBezTo>
                  <a:cubicBezTo>
                    <a:pt x="987" y="1335"/>
                    <a:pt x="976" y="1311"/>
                    <a:pt x="961" y="1293"/>
                  </a:cubicBezTo>
                  <a:cubicBezTo>
                    <a:pt x="977" y="1274"/>
                    <a:pt x="987" y="1251"/>
                    <a:pt x="987" y="1224"/>
                  </a:cubicBezTo>
                  <a:cubicBezTo>
                    <a:pt x="987" y="1198"/>
                    <a:pt x="976" y="1175"/>
                    <a:pt x="961" y="1156"/>
                  </a:cubicBezTo>
                  <a:cubicBezTo>
                    <a:pt x="977" y="1138"/>
                    <a:pt x="987" y="1114"/>
                    <a:pt x="987" y="1088"/>
                  </a:cubicBezTo>
                  <a:cubicBezTo>
                    <a:pt x="987" y="1060"/>
                    <a:pt x="975" y="1034"/>
                    <a:pt x="956" y="1016"/>
                  </a:cubicBezTo>
                  <a:cubicBezTo>
                    <a:pt x="1083" y="906"/>
                    <a:pt x="1157" y="747"/>
                    <a:pt x="1157" y="578"/>
                  </a:cubicBezTo>
                  <a:cubicBezTo>
                    <a:pt x="1157" y="260"/>
                    <a:pt x="898" y="0"/>
                    <a:pt x="579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96;p22">
              <a:extLst>
                <a:ext uri="{FF2B5EF4-FFF2-40B4-BE49-F238E27FC236}">
                  <a16:creationId xmlns:a16="http://schemas.microsoft.com/office/drawing/2014/main" xmlns="" id="{A7795C1F-A89B-4AB5-A184-68662EF6FC30}"/>
                </a:ext>
              </a:extLst>
            </p:cNvPr>
            <p:cNvSpPr/>
            <p:nvPr/>
          </p:nvSpPr>
          <p:spPr>
            <a:xfrm>
              <a:off x="6173052" y="1587981"/>
              <a:ext cx="18445" cy="18545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137" y="1"/>
                  </a:moveTo>
                  <a:lnTo>
                    <a:pt x="0" y="137"/>
                  </a:lnTo>
                  <a:lnTo>
                    <a:pt x="49" y="185"/>
                  </a:lnTo>
                  <a:lnTo>
                    <a:pt x="185" y="49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97;p22">
              <a:extLst>
                <a:ext uri="{FF2B5EF4-FFF2-40B4-BE49-F238E27FC236}">
                  <a16:creationId xmlns:a16="http://schemas.microsoft.com/office/drawing/2014/main" xmlns="" id="{743416B4-B64D-45FF-A953-D6B01F471BCC}"/>
                </a:ext>
              </a:extLst>
            </p:cNvPr>
            <p:cNvSpPr/>
            <p:nvPr/>
          </p:nvSpPr>
          <p:spPr>
            <a:xfrm>
              <a:off x="6173052" y="1682996"/>
              <a:ext cx="18445" cy="18445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49" y="1"/>
                  </a:moveTo>
                  <a:lnTo>
                    <a:pt x="0" y="49"/>
                  </a:lnTo>
                  <a:lnTo>
                    <a:pt x="137" y="185"/>
                  </a:lnTo>
                  <a:lnTo>
                    <a:pt x="185" y="137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98;p22">
              <a:extLst>
                <a:ext uri="{FF2B5EF4-FFF2-40B4-BE49-F238E27FC236}">
                  <a16:creationId xmlns:a16="http://schemas.microsoft.com/office/drawing/2014/main" xmlns="" id="{B3E3EC87-5C1C-4368-810F-4EE2B927B331}"/>
                </a:ext>
              </a:extLst>
            </p:cNvPr>
            <p:cNvSpPr/>
            <p:nvPr/>
          </p:nvSpPr>
          <p:spPr>
            <a:xfrm>
              <a:off x="6189104" y="1641321"/>
              <a:ext cx="20439" cy="6879"/>
            </a:xfrm>
            <a:custGeom>
              <a:avLst/>
              <a:gdLst/>
              <a:ahLst/>
              <a:cxnLst/>
              <a:rect l="l" t="t" r="r" b="b"/>
              <a:pathLst>
                <a:path w="205" h="69" extrusionOk="0">
                  <a:moveTo>
                    <a:pt x="0" y="0"/>
                  </a:moveTo>
                  <a:lnTo>
                    <a:pt x="0" y="68"/>
                  </a:lnTo>
                  <a:lnTo>
                    <a:pt x="204" y="68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99;p22">
              <a:extLst>
                <a:ext uri="{FF2B5EF4-FFF2-40B4-BE49-F238E27FC236}">
                  <a16:creationId xmlns:a16="http://schemas.microsoft.com/office/drawing/2014/main" xmlns="" id="{7A6C836E-E6E5-41FF-BD53-D344DE8E17BC}"/>
                </a:ext>
              </a:extLst>
            </p:cNvPr>
            <p:cNvSpPr/>
            <p:nvPr/>
          </p:nvSpPr>
          <p:spPr>
            <a:xfrm>
              <a:off x="6051017" y="1587981"/>
              <a:ext cx="18445" cy="18545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48" y="1"/>
                  </a:moveTo>
                  <a:lnTo>
                    <a:pt x="0" y="49"/>
                  </a:lnTo>
                  <a:lnTo>
                    <a:pt x="137" y="185"/>
                  </a:lnTo>
                  <a:lnTo>
                    <a:pt x="185" y="137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800;p22">
              <a:extLst>
                <a:ext uri="{FF2B5EF4-FFF2-40B4-BE49-F238E27FC236}">
                  <a16:creationId xmlns:a16="http://schemas.microsoft.com/office/drawing/2014/main" xmlns="" id="{2C984378-C9D7-469A-B35B-B1AB9FBD6F2D}"/>
                </a:ext>
              </a:extLst>
            </p:cNvPr>
            <p:cNvSpPr/>
            <p:nvPr/>
          </p:nvSpPr>
          <p:spPr>
            <a:xfrm>
              <a:off x="6051017" y="1682996"/>
              <a:ext cx="18445" cy="18445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137" y="1"/>
                  </a:moveTo>
                  <a:lnTo>
                    <a:pt x="0" y="137"/>
                  </a:lnTo>
                  <a:lnTo>
                    <a:pt x="48" y="185"/>
                  </a:lnTo>
                  <a:lnTo>
                    <a:pt x="185" y="49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801;p22">
              <a:extLst>
                <a:ext uri="{FF2B5EF4-FFF2-40B4-BE49-F238E27FC236}">
                  <a16:creationId xmlns:a16="http://schemas.microsoft.com/office/drawing/2014/main" xmlns="" id="{6D67BB70-AFD7-4E9A-B34A-75B8DE9CA57B}"/>
                </a:ext>
              </a:extLst>
            </p:cNvPr>
            <p:cNvSpPr/>
            <p:nvPr/>
          </p:nvSpPr>
          <p:spPr>
            <a:xfrm>
              <a:off x="6033071" y="1641321"/>
              <a:ext cx="20439" cy="6879"/>
            </a:xfrm>
            <a:custGeom>
              <a:avLst/>
              <a:gdLst/>
              <a:ahLst/>
              <a:cxnLst/>
              <a:rect l="l" t="t" r="r" b="b"/>
              <a:pathLst>
                <a:path w="205" h="69" extrusionOk="0">
                  <a:moveTo>
                    <a:pt x="0" y="0"/>
                  </a:moveTo>
                  <a:lnTo>
                    <a:pt x="0" y="68"/>
                  </a:lnTo>
                  <a:lnTo>
                    <a:pt x="205" y="68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802;p22">
              <a:extLst>
                <a:ext uri="{FF2B5EF4-FFF2-40B4-BE49-F238E27FC236}">
                  <a16:creationId xmlns:a16="http://schemas.microsoft.com/office/drawing/2014/main" xmlns="" id="{484FAE0C-9F34-4F95-B2EF-3B370D2EA615}"/>
                </a:ext>
              </a:extLst>
            </p:cNvPr>
            <p:cNvSpPr/>
            <p:nvPr/>
          </p:nvSpPr>
          <p:spPr>
            <a:xfrm>
              <a:off x="6161885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1" y="0"/>
                  </a:moveTo>
                  <a:lnTo>
                    <a:pt x="1" y="67"/>
                  </a:lnTo>
                  <a:lnTo>
                    <a:pt x="69" y="67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803;p22">
              <a:extLst>
                <a:ext uri="{FF2B5EF4-FFF2-40B4-BE49-F238E27FC236}">
                  <a16:creationId xmlns:a16="http://schemas.microsoft.com/office/drawing/2014/main" xmlns="" id="{96F27CE5-AB52-4C4B-8B0B-B9903165DF94}"/>
                </a:ext>
              </a:extLst>
            </p:cNvPr>
            <p:cNvSpPr/>
            <p:nvPr/>
          </p:nvSpPr>
          <p:spPr>
            <a:xfrm>
              <a:off x="6175445" y="1749895"/>
              <a:ext cx="6979" cy="6780"/>
            </a:xfrm>
            <a:custGeom>
              <a:avLst/>
              <a:gdLst/>
              <a:ahLst/>
              <a:cxnLst/>
              <a:rect l="l" t="t" r="r" b="b"/>
              <a:pathLst>
                <a:path w="70" h="68" extrusionOk="0">
                  <a:moveTo>
                    <a:pt x="1" y="0"/>
                  </a:moveTo>
                  <a:lnTo>
                    <a:pt x="1" y="67"/>
                  </a:lnTo>
                  <a:lnTo>
                    <a:pt x="69" y="67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804;p22">
              <a:extLst>
                <a:ext uri="{FF2B5EF4-FFF2-40B4-BE49-F238E27FC236}">
                  <a16:creationId xmlns:a16="http://schemas.microsoft.com/office/drawing/2014/main" xmlns="" id="{0BAD5732-E10A-46C8-87C7-E44C93575FA6}"/>
                </a:ext>
              </a:extLst>
            </p:cNvPr>
            <p:cNvSpPr/>
            <p:nvPr/>
          </p:nvSpPr>
          <p:spPr>
            <a:xfrm>
              <a:off x="6189104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0" y="0"/>
                  </a:moveTo>
                  <a:lnTo>
                    <a:pt x="0" y="67"/>
                  </a:lnTo>
                  <a:lnTo>
                    <a:pt x="68" y="6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805;p22">
              <a:extLst>
                <a:ext uri="{FF2B5EF4-FFF2-40B4-BE49-F238E27FC236}">
                  <a16:creationId xmlns:a16="http://schemas.microsoft.com/office/drawing/2014/main" xmlns="" id="{AB3493BE-52F1-4E9F-9340-BC2E85591F78}"/>
                </a:ext>
              </a:extLst>
            </p:cNvPr>
            <p:cNvSpPr/>
            <p:nvPr/>
          </p:nvSpPr>
          <p:spPr>
            <a:xfrm>
              <a:off x="6046630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1" y="0"/>
                  </a:moveTo>
                  <a:lnTo>
                    <a:pt x="1" y="67"/>
                  </a:lnTo>
                  <a:lnTo>
                    <a:pt x="69" y="67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806;p22">
              <a:extLst>
                <a:ext uri="{FF2B5EF4-FFF2-40B4-BE49-F238E27FC236}">
                  <a16:creationId xmlns:a16="http://schemas.microsoft.com/office/drawing/2014/main" xmlns="" id="{1EC5BE14-CDD9-47E1-8197-86FB703D6969}"/>
                </a:ext>
              </a:extLst>
            </p:cNvPr>
            <p:cNvSpPr/>
            <p:nvPr/>
          </p:nvSpPr>
          <p:spPr>
            <a:xfrm>
              <a:off x="6060190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1" y="0"/>
                  </a:moveTo>
                  <a:lnTo>
                    <a:pt x="1" y="67"/>
                  </a:lnTo>
                  <a:lnTo>
                    <a:pt x="68" y="6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807;p22">
              <a:extLst>
                <a:ext uri="{FF2B5EF4-FFF2-40B4-BE49-F238E27FC236}">
                  <a16:creationId xmlns:a16="http://schemas.microsoft.com/office/drawing/2014/main" xmlns="" id="{71E886B9-70E8-43DE-A9A3-9E77AAEE721B}"/>
                </a:ext>
              </a:extLst>
            </p:cNvPr>
            <p:cNvSpPr/>
            <p:nvPr/>
          </p:nvSpPr>
          <p:spPr>
            <a:xfrm>
              <a:off x="6073749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0" y="0"/>
                  </a:moveTo>
                  <a:lnTo>
                    <a:pt x="0" y="67"/>
                  </a:lnTo>
                  <a:lnTo>
                    <a:pt x="68" y="6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808;p22">
            <a:extLst>
              <a:ext uri="{FF2B5EF4-FFF2-40B4-BE49-F238E27FC236}">
                <a16:creationId xmlns:a16="http://schemas.microsoft.com/office/drawing/2014/main" xmlns="" id="{D052B28A-10F1-468A-8580-075441F32429}"/>
              </a:ext>
            </a:extLst>
          </p:cNvPr>
          <p:cNvGrpSpPr/>
          <p:nvPr/>
        </p:nvGrpSpPr>
        <p:grpSpPr>
          <a:xfrm>
            <a:off x="15369893" y="3127384"/>
            <a:ext cx="257582" cy="253621"/>
            <a:chOff x="6252315" y="2481197"/>
            <a:chExt cx="191727" cy="185245"/>
          </a:xfrm>
        </p:grpSpPr>
        <p:sp>
          <p:nvSpPr>
            <p:cNvPr id="232" name="Google Shape;809;p22">
              <a:extLst>
                <a:ext uri="{FF2B5EF4-FFF2-40B4-BE49-F238E27FC236}">
                  <a16:creationId xmlns:a16="http://schemas.microsoft.com/office/drawing/2014/main" xmlns="" id="{A1977D39-0858-457F-AA05-BE910A86A69C}"/>
                </a:ext>
              </a:extLst>
            </p:cNvPr>
            <p:cNvSpPr/>
            <p:nvPr/>
          </p:nvSpPr>
          <p:spPr>
            <a:xfrm>
              <a:off x="6252315" y="2542014"/>
              <a:ext cx="165606" cy="82354"/>
            </a:xfrm>
            <a:custGeom>
              <a:avLst/>
              <a:gdLst/>
              <a:ahLst/>
              <a:cxnLst/>
              <a:rect l="l" t="t" r="r" b="b"/>
              <a:pathLst>
                <a:path w="1661" h="826" extrusionOk="0">
                  <a:moveTo>
                    <a:pt x="28" y="1"/>
                  </a:moveTo>
                  <a:cubicBezTo>
                    <a:pt x="13" y="1"/>
                    <a:pt x="1" y="13"/>
                    <a:pt x="1" y="28"/>
                  </a:cubicBezTo>
                  <a:lnTo>
                    <a:pt x="1" y="799"/>
                  </a:lnTo>
                  <a:cubicBezTo>
                    <a:pt x="1" y="814"/>
                    <a:pt x="13" y="826"/>
                    <a:pt x="28" y="826"/>
                  </a:cubicBezTo>
                  <a:lnTo>
                    <a:pt x="1119" y="826"/>
                  </a:lnTo>
                  <a:cubicBezTo>
                    <a:pt x="1135" y="826"/>
                    <a:pt x="1147" y="814"/>
                    <a:pt x="1147" y="799"/>
                  </a:cubicBezTo>
                  <a:cubicBezTo>
                    <a:pt x="1147" y="783"/>
                    <a:pt x="1135" y="771"/>
                    <a:pt x="1119" y="771"/>
                  </a:cubicBezTo>
                  <a:lnTo>
                    <a:pt x="56" y="771"/>
                  </a:lnTo>
                  <a:lnTo>
                    <a:pt x="56" y="56"/>
                  </a:lnTo>
                  <a:lnTo>
                    <a:pt x="1606" y="56"/>
                  </a:lnTo>
                  <a:lnTo>
                    <a:pt x="1606" y="125"/>
                  </a:lnTo>
                  <a:cubicBezTo>
                    <a:pt x="1606" y="139"/>
                    <a:pt x="1618" y="152"/>
                    <a:pt x="1634" y="152"/>
                  </a:cubicBezTo>
                  <a:cubicBezTo>
                    <a:pt x="1649" y="152"/>
                    <a:pt x="1661" y="139"/>
                    <a:pt x="1661" y="125"/>
                  </a:cubicBezTo>
                  <a:lnTo>
                    <a:pt x="1661" y="28"/>
                  </a:lnTo>
                  <a:cubicBezTo>
                    <a:pt x="1661" y="13"/>
                    <a:pt x="1649" y="1"/>
                    <a:pt x="1634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810;p22">
              <a:extLst>
                <a:ext uri="{FF2B5EF4-FFF2-40B4-BE49-F238E27FC236}">
                  <a16:creationId xmlns:a16="http://schemas.microsoft.com/office/drawing/2014/main" xmlns="" id="{26F9DD8B-E72D-44CE-8C4D-7401E721AE55}"/>
                </a:ext>
              </a:extLst>
            </p:cNvPr>
            <p:cNvSpPr/>
            <p:nvPr/>
          </p:nvSpPr>
          <p:spPr>
            <a:xfrm>
              <a:off x="6258496" y="2500439"/>
              <a:ext cx="140281" cy="34397"/>
            </a:xfrm>
            <a:custGeom>
              <a:avLst/>
              <a:gdLst/>
              <a:ahLst/>
              <a:cxnLst/>
              <a:rect l="l" t="t" r="r" b="b"/>
              <a:pathLst>
                <a:path w="1407" h="345" extrusionOk="0">
                  <a:moveTo>
                    <a:pt x="94" y="0"/>
                  </a:moveTo>
                  <a:cubicBezTo>
                    <a:pt x="89" y="0"/>
                    <a:pt x="85" y="2"/>
                    <a:pt x="80" y="5"/>
                  </a:cubicBezTo>
                  <a:cubicBezTo>
                    <a:pt x="74" y="8"/>
                    <a:pt x="69" y="14"/>
                    <a:pt x="68" y="21"/>
                  </a:cubicBezTo>
                  <a:lnTo>
                    <a:pt x="4" y="310"/>
                  </a:lnTo>
                  <a:cubicBezTo>
                    <a:pt x="0" y="325"/>
                    <a:pt x="10" y="340"/>
                    <a:pt x="24" y="343"/>
                  </a:cubicBezTo>
                  <a:cubicBezTo>
                    <a:pt x="27" y="344"/>
                    <a:pt x="29" y="344"/>
                    <a:pt x="31" y="344"/>
                  </a:cubicBezTo>
                  <a:cubicBezTo>
                    <a:pt x="43" y="344"/>
                    <a:pt x="55" y="335"/>
                    <a:pt x="58" y="322"/>
                  </a:cubicBezTo>
                  <a:lnTo>
                    <a:pt x="115" y="61"/>
                  </a:lnTo>
                  <a:lnTo>
                    <a:pt x="1373" y="343"/>
                  </a:lnTo>
                  <a:cubicBezTo>
                    <a:pt x="1374" y="343"/>
                    <a:pt x="1377" y="344"/>
                    <a:pt x="1379" y="344"/>
                  </a:cubicBezTo>
                  <a:cubicBezTo>
                    <a:pt x="1394" y="344"/>
                    <a:pt x="1407" y="332"/>
                    <a:pt x="1407" y="316"/>
                  </a:cubicBezTo>
                  <a:cubicBezTo>
                    <a:pt x="1406" y="303"/>
                    <a:pt x="1397" y="293"/>
                    <a:pt x="1385" y="289"/>
                  </a:cubicBezTo>
                  <a:lnTo>
                    <a:pt x="100" y="1"/>
                  </a:lnTo>
                  <a:cubicBezTo>
                    <a:pt x="98" y="1"/>
                    <a:pt x="96" y="0"/>
                    <a:pt x="94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811;p22">
              <a:extLst>
                <a:ext uri="{FF2B5EF4-FFF2-40B4-BE49-F238E27FC236}">
                  <a16:creationId xmlns:a16="http://schemas.microsoft.com/office/drawing/2014/main" xmlns="" id="{B4B86E12-AAF2-476A-B01E-F048DF52ECAA}"/>
                </a:ext>
              </a:extLst>
            </p:cNvPr>
            <p:cNvSpPr/>
            <p:nvPr/>
          </p:nvSpPr>
          <p:spPr>
            <a:xfrm>
              <a:off x="6293491" y="2481197"/>
              <a:ext cx="89633" cy="37588"/>
            </a:xfrm>
            <a:custGeom>
              <a:avLst/>
              <a:gdLst/>
              <a:ahLst/>
              <a:cxnLst/>
              <a:rect l="l" t="t" r="r" b="b"/>
              <a:pathLst>
                <a:path w="899" h="377" extrusionOk="0">
                  <a:moveTo>
                    <a:pt x="98" y="0"/>
                  </a:moveTo>
                  <a:cubicBezTo>
                    <a:pt x="87" y="0"/>
                    <a:pt x="77" y="6"/>
                    <a:pt x="72" y="16"/>
                  </a:cubicBezTo>
                  <a:lnTo>
                    <a:pt x="8" y="144"/>
                  </a:lnTo>
                  <a:cubicBezTo>
                    <a:pt x="1" y="157"/>
                    <a:pt x="5" y="174"/>
                    <a:pt x="19" y="181"/>
                  </a:cubicBezTo>
                  <a:cubicBezTo>
                    <a:pt x="23" y="184"/>
                    <a:pt x="28" y="185"/>
                    <a:pt x="32" y="185"/>
                  </a:cubicBezTo>
                  <a:cubicBezTo>
                    <a:pt x="42" y="185"/>
                    <a:pt x="51" y="179"/>
                    <a:pt x="57" y="171"/>
                  </a:cubicBezTo>
                  <a:cubicBezTo>
                    <a:pt x="57" y="170"/>
                    <a:pt x="57" y="169"/>
                    <a:pt x="58" y="169"/>
                  </a:cubicBezTo>
                  <a:lnTo>
                    <a:pt x="110" y="63"/>
                  </a:lnTo>
                  <a:lnTo>
                    <a:pt x="857" y="374"/>
                  </a:lnTo>
                  <a:cubicBezTo>
                    <a:pt x="860" y="376"/>
                    <a:pt x="864" y="376"/>
                    <a:pt x="868" y="376"/>
                  </a:cubicBezTo>
                  <a:cubicBezTo>
                    <a:pt x="878" y="376"/>
                    <a:pt x="888" y="370"/>
                    <a:pt x="892" y="359"/>
                  </a:cubicBezTo>
                  <a:cubicBezTo>
                    <a:pt x="898" y="345"/>
                    <a:pt x="891" y="330"/>
                    <a:pt x="878" y="323"/>
                  </a:cubicBezTo>
                  <a:lnTo>
                    <a:pt x="107" y="2"/>
                  </a:lnTo>
                  <a:cubicBezTo>
                    <a:pt x="104" y="1"/>
                    <a:pt x="101" y="0"/>
                    <a:pt x="98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812;p22">
              <a:extLst>
                <a:ext uri="{FF2B5EF4-FFF2-40B4-BE49-F238E27FC236}">
                  <a16:creationId xmlns:a16="http://schemas.microsoft.com/office/drawing/2014/main" xmlns="" id="{499E235F-4407-491D-BE24-7BFEB38908C5}"/>
                </a:ext>
              </a:extLst>
            </p:cNvPr>
            <p:cNvSpPr/>
            <p:nvPr/>
          </p:nvSpPr>
          <p:spPr>
            <a:xfrm>
              <a:off x="6354708" y="2554875"/>
              <a:ext cx="31007" cy="5583"/>
            </a:xfrm>
            <a:custGeom>
              <a:avLst/>
              <a:gdLst/>
              <a:ahLst/>
              <a:cxnLst/>
              <a:rect l="l" t="t" r="r" b="b"/>
              <a:pathLst>
                <a:path w="311" h="56" extrusionOk="0">
                  <a:moveTo>
                    <a:pt x="29" y="0"/>
                  </a:moveTo>
                  <a:cubicBezTo>
                    <a:pt x="13" y="0"/>
                    <a:pt x="1" y="12"/>
                    <a:pt x="1" y="27"/>
                  </a:cubicBezTo>
                  <a:cubicBezTo>
                    <a:pt x="1" y="43"/>
                    <a:pt x="13" y="55"/>
                    <a:pt x="29" y="55"/>
                  </a:cubicBezTo>
                  <a:lnTo>
                    <a:pt x="284" y="55"/>
                  </a:lnTo>
                  <a:cubicBezTo>
                    <a:pt x="298" y="55"/>
                    <a:pt x="311" y="43"/>
                    <a:pt x="311" y="27"/>
                  </a:cubicBezTo>
                  <a:cubicBezTo>
                    <a:pt x="311" y="12"/>
                    <a:pt x="298" y="0"/>
                    <a:pt x="284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813;p22">
              <a:extLst>
                <a:ext uri="{FF2B5EF4-FFF2-40B4-BE49-F238E27FC236}">
                  <a16:creationId xmlns:a16="http://schemas.microsoft.com/office/drawing/2014/main" xmlns="" id="{9F12DEC8-FAAF-4F71-82A8-BD318935DF03}"/>
                </a:ext>
              </a:extLst>
            </p:cNvPr>
            <p:cNvSpPr/>
            <p:nvPr/>
          </p:nvSpPr>
          <p:spPr>
            <a:xfrm>
              <a:off x="6303761" y="2554975"/>
              <a:ext cx="56332" cy="56432"/>
            </a:xfrm>
            <a:custGeom>
              <a:avLst/>
              <a:gdLst/>
              <a:ahLst/>
              <a:cxnLst/>
              <a:rect l="l" t="t" r="r" b="b"/>
              <a:pathLst>
                <a:path w="565" h="566" extrusionOk="0">
                  <a:moveTo>
                    <a:pt x="283" y="52"/>
                  </a:moveTo>
                  <a:cubicBezTo>
                    <a:pt x="410" y="52"/>
                    <a:pt x="513" y="155"/>
                    <a:pt x="513" y="283"/>
                  </a:cubicBezTo>
                  <a:cubicBezTo>
                    <a:pt x="513" y="411"/>
                    <a:pt x="410" y="514"/>
                    <a:pt x="283" y="514"/>
                  </a:cubicBezTo>
                  <a:cubicBezTo>
                    <a:pt x="155" y="514"/>
                    <a:pt x="52" y="411"/>
                    <a:pt x="52" y="283"/>
                  </a:cubicBezTo>
                  <a:cubicBezTo>
                    <a:pt x="52" y="155"/>
                    <a:pt x="155" y="52"/>
                    <a:pt x="283" y="52"/>
                  </a:cubicBezTo>
                  <a:close/>
                  <a:moveTo>
                    <a:pt x="283" y="1"/>
                  </a:moveTo>
                  <a:cubicBezTo>
                    <a:pt x="127" y="1"/>
                    <a:pt x="0" y="127"/>
                    <a:pt x="0" y="283"/>
                  </a:cubicBezTo>
                  <a:cubicBezTo>
                    <a:pt x="0" y="439"/>
                    <a:pt x="127" y="566"/>
                    <a:pt x="283" y="566"/>
                  </a:cubicBezTo>
                  <a:cubicBezTo>
                    <a:pt x="438" y="566"/>
                    <a:pt x="565" y="439"/>
                    <a:pt x="565" y="283"/>
                  </a:cubicBezTo>
                  <a:cubicBezTo>
                    <a:pt x="565" y="127"/>
                    <a:pt x="438" y="1"/>
                    <a:pt x="283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814;p22">
              <a:extLst>
                <a:ext uri="{FF2B5EF4-FFF2-40B4-BE49-F238E27FC236}">
                  <a16:creationId xmlns:a16="http://schemas.microsoft.com/office/drawing/2014/main" xmlns="" id="{2EF1DBAA-3998-48F0-87BB-BF93F4C76117}"/>
                </a:ext>
              </a:extLst>
            </p:cNvPr>
            <p:cNvSpPr/>
            <p:nvPr/>
          </p:nvSpPr>
          <p:spPr>
            <a:xfrm>
              <a:off x="6373552" y="2563948"/>
              <a:ext cx="70490" cy="102494"/>
            </a:xfrm>
            <a:custGeom>
              <a:avLst/>
              <a:gdLst/>
              <a:ahLst/>
              <a:cxnLst/>
              <a:rect l="l" t="t" r="r" b="b"/>
              <a:pathLst>
                <a:path w="707" h="1028" extrusionOk="0">
                  <a:moveTo>
                    <a:pt x="353" y="64"/>
                  </a:moveTo>
                  <a:cubicBezTo>
                    <a:pt x="539" y="64"/>
                    <a:pt x="636" y="111"/>
                    <a:pt x="642" y="129"/>
                  </a:cubicBezTo>
                  <a:cubicBezTo>
                    <a:pt x="636" y="147"/>
                    <a:pt x="539" y="193"/>
                    <a:pt x="353" y="193"/>
                  </a:cubicBezTo>
                  <a:cubicBezTo>
                    <a:pt x="165" y="193"/>
                    <a:pt x="69" y="146"/>
                    <a:pt x="64" y="130"/>
                  </a:cubicBezTo>
                  <a:lnTo>
                    <a:pt x="64" y="129"/>
                  </a:lnTo>
                  <a:cubicBezTo>
                    <a:pt x="69" y="112"/>
                    <a:pt x="165" y="64"/>
                    <a:pt x="353" y="64"/>
                  </a:cubicBezTo>
                  <a:close/>
                  <a:moveTo>
                    <a:pt x="642" y="207"/>
                  </a:moveTo>
                  <a:lnTo>
                    <a:pt x="642" y="257"/>
                  </a:lnTo>
                  <a:cubicBezTo>
                    <a:pt x="637" y="275"/>
                    <a:pt x="541" y="321"/>
                    <a:pt x="353" y="321"/>
                  </a:cubicBezTo>
                  <a:cubicBezTo>
                    <a:pt x="165" y="321"/>
                    <a:pt x="69" y="275"/>
                    <a:pt x="64" y="257"/>
                  </a:cubicBezTo>
                  <a:lnTo>
                    <a:pt x="64" y="207"/>
                  </a:lnTo>
                  <a:cubicBezTo>
                    <a:pt x="132" y="241"/>
                    <a:pt x="246" y="257"/>
                    <a:pt x="353" y="257"/>
                  </a:cubicBezTo>
                  <a:cubicBezTo>
                    <a:pt x="461" y="257"/>
                    <a:pt x="574" y="241"/>
                    <a:pt x="642" y="207"/>
                  </a:cubicBezTo>
                  <a:close/>
                  <a:moveTo>
                    <a:pt x="642" y="335"/>
                  </a:moveTo>
                  <a:lnTo>
                    <a:pt x="642" y="385"/>
                  </a:lnTo>
                  <a:cubicBezTo>
                    <a:pt x="637" y="403"/>
                    <a:pt x="541" y="450"/>
                    <a:pt x="353" y="450"/>
                  </a:cubicBezTo>
                  <a:cubicBezTo>
                    <a:pt x="165" y="450"/>
                    <a:pt x="69" y="403"/>
                    <a:pt x="64" y="386"/>
                  </a:cubicBezTo>
                  <a:lnTo>
                    <a:pt x="64" y="335"/>
                  </a:lnTo>
                  <a:cubicBezTo>
                    <a:pt x="132" y="369"/>
                    <a:pt x="246" y="386"/>
                    <a:pt x="353" y="386"/>
                  </a:cubicBezTo>
                  <a:cubicBezTo>
                    <a:pt x="461" y="386"/>
                    <a:pt x="574" y="369"/>
                    <a:pt x="642" y="335"/>
                  </a:cubicBezTo>
                  <a:close/>
                  <a:moveTo>
                    <a:pt x="642" y="463"/>
                  </a:moveTo>
                  <a:lnTo>
                    <a:pt x="642" y="514"/>
                  </a:lnTo>
                  <a:cubicBezTo>
                    <a:pt x="637" y="532"/>
                    <a:pt x="541" y="579"/>
                    <a:pt x="353" y="579"/>
                  </a:cubicBezTo>
                  <a:cubicBezTo>
                    <a:pt x="165" y="579"/>
                    <a:pt x="69" y="532"/>
                    <a:pt x="64" y="514"/>
                  </a:cubicBezTo>
                  <a:lnTo>
                    <a:pt x="64" y="463"/>
                  </a:lnTo>
                  <a:cubicBezTo>
                    <a:pt x="132" y="498"/>
                    <a:pt x="246" y="514"/>
                    <a:pt x="353" y="514"/>
                  </a:cubicBezTo>
                  <a:cubicBezTo>
                    <a:pt x="461" y="514"/>
                    <a:pt x="574" y="498"/>
                    <a:pt x="642" y="463"/>
                  </a:cubicBezTo>
                  <a:close/>
                  <a:moveTo>
                    <a:pt x="642" y="592"/>
                  </a:moveTo>
                  <a:lnTo>
                    <a:pt x="642" y="642"/>
                  </a:lnTo>
                  <a:cubicBezTo>
                    <a:pt x="637" y="660"/>
                    <a:pt x="541" y="707"/>
                    <a:pt x="353" y="707"/>
                  </a:cubicBezTo>
                  <a:cubicBezTo>
                    <a:pt x="165" y="707"/>
                    <a:pt x="69" y="660"/>
                    <a:pt x="64" y="642"/>
                  </a:cubicBezTo>
                  <a:lnTo>
                    <a:pt x="64" y="592"/>
                  </a:lnTo>
                  <a:cubicBezTo>
                    <a:pt x="132" y="627"/>
                    <a:pt x="246" y="642"/>
                    <a:pt x="353" y="642"/>
                  </a:cubicBezTo>
                  <a:cubicBezTo>
                    <a:pt x="461" y="642"/>
                    <a:pt x="574" y="627"/>
                    <a:pt x="642" y="592"/>
                  </a:cubicBezTo>
                  <a:close/>
                  <a:moveTo>
                    <a:pt x="642" y="720"/>
                  </a:moveTo>
                  <a:lnTo>
                    <a:pt x="642" y="771"/>
                  </a:lnTo>
                  <a:cubicBezTo>
                    <a:pt x="637" y="788"/>
                    <a:pt x="541" y="835"/>
                    <a:pt x="353" y="835"/>
                  </a:cubicBezTo>
                  <a:cubicBezTo>
                    <a:pt x="165" y="835"/>
                    <a:pt x="69" y="788"/>
                    <a:pt x="64" y="771"/>
                  </a:cubicBezTo>
                  <a:lnTo>
                    <a:pt x="64" y="720"/>
                  </a:lnTo>
                  <a:cubicBezTo>
                    <a:pt x="132" y="755"/>
                    <a:pt x="246" y="771"/>
                    <a:pt x="353" y="771"/>
                  </a:cubicBezTo>
                  <a:cubicBezTo>
                    <a:pt x="461" y="771"/>
                    <a:pt x="574" y="755"/>
                    <a:pt x="642" y="720"/>
                  </a:cubicBezTo>
                  <a:close/>
                  <a:moveTo>
                    <a:pt x="642" y="848"/>
                  </a:moveTo>
                  <a:lnTo>
                    <a:pt x="642" y="899"/>
                  </a:lnTo>
                  <a:cubicBezTo>
                    <a:pt x="637" y="917"/>
                    <a:pt x="541" y="964"/>
                    <a:pt x="353" y="964"/>
                  </a:cubicBezTo>
                  <a:cubicBezTo>
                    <a:pt x="165" y="964"/>
                    <a:pt x="69" y="917"/>
                    <a:pt x="64" y="899"/>
                  </a:cubicBezTo>
                  <a:lnTo>
                    <a:pt x="64" y="848"/>
                  </a:lnTo>
                  <a:cubicBezTo>
                    <a:pt x="132" y="883"/>
                    <a:pt x="246" y="899"/>
                    <a:pt x="353" y="899"/>
                  </a:cubicBezTo>
                  <a:cubicBezTo>
                    <a:pt x="461" y="899"/>
                    <a:pt x="574" y="883"/>
                    <a:pt x="642" y="848"/>
                  </a:cubicBezTo>
                  <a:close/>
                  <a:moveTo>
                    <a:pt x="353" y="1"/>
                  </a:moveTo>
                  <a:cubicBezTo>
                    <a:pt x="183" y="1"/>
                    <a:pt x="0" y="41"/>
                    <a:pt x="0" y="129"/>
                  </a:cubicBezTo>
                  <a:lnTo>
                    <a:pt x="0" y="899"/>
                  </a:lnTo>
                  <a:cubicBezTo>
                    <a:pt x="0" y="987"/>
                    <a:pt x="183" y="1027"/>
                    <a:pt x="353" y="1027"/>
                  </a:cubicBezTo>
                  <a:cubicBezTo>
                    <a:pt x="523" y="1027"/>
                    <a:pt x="707" y="987"/>
                    <a:pt x="707" y="899"/>
                  </a:cubicBezTo>
                  <a:lnTo>
                    <a:pt x="707" y="129"/>
                  </a:lnTo>
                  <a:cubicBezTo>
                    <a:pt x="707" y="41"/>
                    <a:pt x="523" y="1"/>
                    <a:pt x="353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815;p22">
              <a:extLst>
                <a:ext uri="{FF2B5EF4-FFF2-40B4-BE49-F238E27FC236}">
                  <a16:creationId xmlns:a16="http://schemas.microsoft.com/office/drawing/2014/main" xmlns="" id="{5F6BF3BF-8164-46F2-BB0E-B054A6796EF2}"/>
                </a:ext>
              </a:extLst>
            </p:cNvPr>
            <p:cNvSpPr/>
            <p:nvPr/>
          </p:nvSpPr>
          <p:spPr>
            <a:xfrm>
              <a:off x="6265176" y="2554875"/>
              <a:ext cx="43969" cy="56731"/>
            </a:xfrm>
            <a:custGeom>
              <a:avLst/>
              <a:gdLst/>
              <a:ahLst/>
              <a:cxnLst/>
              <a:rect l="l" t="t" r="r" b="b"/>
              <a:pathLst>
                <a:path w="441" h="569" extrusionOk="0">
                  <a:moveTo>
                    <a:pt x="171" y="0"/>
                  </a:moveTo>
                  <a:cubicBezTo>
                    <a:pt x="164" y="0"/>
                    <a:pt x="157" y="3"/>
                    <a:pt x="152" y="8"/>
                  </a:cubicBezTo>
                  <a:lnTo>
                    <a:pt x="8" y="148"/>
                  </a:lnTo>
                  <a:cubicBezTo>
                    <a:pt x="3" y="154"/>
                    <a:pt x="0" y="162"/>
                    <a:pt x="0" y="170"/>
                  </a:cubicBezTo>
                  <a:lnTo>
                    <a:pt x="0" y="398"/>
                  </a:lnTo>
                  <a:cubicBezTo>
                    <a:pt x="0" y="405"/>
                    <a:pt x="3" y="412"/>
                    <a:pt x="7" y="416"/>
                  </a:cubicBezTo>
                  <a:lnTo>
                    <a:pt x="138" y="560"/>
                  </a:lnTo>
                  <a:cubicBezTo>
                    <a:pt x="143" y="565"/>
                    <a:pt x="150" y="568"/>
                    <a:pt x="158" y="568"/>
                  </a:cubicBezTo>
                  <a:lnTo>
                    <a:pt x="413" y="568"/>
                  </a:lnTo>
                  <a:cubicBezTo>
                    <a:pt x="428" y="568"/>
                    <a:pt x="440" y="556"/>
                    <a:pt x="440" y="541"/>
                  </a:cubicBezTo>
                  <a:cubicBezTo>
                    <a:pt x="440" y="526"/>
                    <a:pt x="428" y="513"/>
                    <a:pt x="413" y="513"/>
                  </a:cubicBezTo>
                  <a:lnTo>
                    <a:pt x="171" y="513"/>
                  </a:lnTo>
                  <a:lnTo>
                    <a:pt x="55" y="388"/>
                  </a:lnTo>
                  <a:lnTo>
                    <a:pt x="55" y="179"/>
                  </a:lnTo>
                  <a:lnTo>
                    <a:pt x="182" y="55"/>
                  </a:lnTo>
                  <a:lnTo>
                    <a:pt x="413" y="55"/>
                  </a:lnTo>
                  <a:cubicBezTo>
                    <a:pt x="428" y="55"/>
                    <a:pt x="440" y="43"/>
                    <a:pt x="440" y="27"/>
                  </a:cubicBezTo>
                  <a:cubicBezTo>
                    <a:pt x="440" y="12"/>
                    <a:pt x="428" y="0"/>
                    <a:pt x="413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816;p22">
              <a:extLst>
                <a:ext uri="{FF2B5EF4-FFF2-40B4-BE49-F238E27FC236}">
                  <a16:creationId xmlns:a16="http://schemas.microsoft.com/office/drawing/2014/main" xmlns="" id="{8A271D08-87F9-4DB0-9D4C-AB0B8770AF7A}"/>
                </a:ext>
              </a:extLst>
            </p:cNvPr>
            <p:cNvSpPr/>
            <p:nvPr/>
          </p:nvSpPr>
          <p:spPr>
            <a:xfrm>
              <a:off x="6322305" y="2568734"/>
              <a:ext cx="19243" cy="28914"/>
            </a:xfrm>
            <a:custGeom>
              <a:avLst/>
              <a:gdLst/>
              <a:ahLst/>
              <a:cxnLst/>
              <a:rect l="l" t="t" r="r" b="b"/>
              <a:pathLst>
                <a:path w="193" h="290" extrusionOk="0">
                  <a:moveTo>
                    <a:pt x="97" y="1"/>
                  </a:moveTo>
                  <a:cubicBezTo>
                    <a:pt x="79" y="1"/>
                    <a:pt x="65" y="15"/>
                    <a:pt x="65" y="33"/>
                  </a:cubicBezTo>
                  <a:lnTo>
                    <a:pt x="65" y="34"/>
                  </a:lnTo>
                  <a:cubicBezTo>
                    <a:pt x="29" y="39"/>
                    <a:pt x="2" y="69"/>
                    <a:pt x="0" y="105"/>
                  </a:cubicBezTo>
                  <a:cubicBezTo>
                    <a:pt x="3" y="146"/>
                    <a:pt x="36" y="177"/>
                    <a:pt x="76" y="177"/>
                  </a:cubicBezTo>
                  <a:cubicBezTo>
                    <a:pt x="77" y="177"/>
                    <a:pt x="79" y="177"/>
                    <a:pt x="80" y="177"/>
                  </a:cubicBezTo>
                  <a:lnTo>
                    <a:pt x="113" y="177"/>
                  </a:lnTo>
                  <a:cubicBezTo>
                    <a:pt x="123" y="177"/>
                    <a:pt x="129" y="183"/>
                    <a:pt x="129" y="185"/>
                  </a:cubicBezTo>
                  <a:cubicBezTo>
                    <a:pt x="129" y="188"/>
                    <a:pt x="123" y="194"/>
                    <a:pt x="113" y="194"/>
                  </a:cubicBezTo>
                  <a:lnTo>
                    <a:pt x="32" y="194"/>
                  </a:lnTo>
                  <a:cubicBezTo>
                    <a:pt x="15" y="194"/>
                    <a:pt x="0" y="208"/>
                    <a:pt x="0" y="225"/>
                  </a:cubicBezTo>
                  <a:cubicBezTo>
                    <a:pt x="0" y="243"/>
                    <a:pt x="15" y="257"/>
                    <a:pt x="32" y="257"/>
                  </a:cubicBezTo>
                  <a:lnTo>
                    <a:pt x="65" y="257"/>
                  </a:lnTo>
                  <a:cubicBezTo>
                    <a:pt x="65" y="275"/>
                    <a:pt x="79" y="290"/>
                    <a:pt x="97" y="290"/>
                  </a:cubicBezTo>
                  <a:cubicBezTo>
                    <a:pt x="114" y="290"/>
                    <a:pt x="129" y="275"/>
                    <a:pt x="129" y="257"/>
                  </a:cubicBezTo>
                  <a:lnTo>
                    <a:pt x="129" y="256"/>
                  </a:lnTo>
                  <a:cubicBezTo>
                    <a:pt x="164" y="251"/>
                    <a:pt x="191" y="222"/>
                    <a:pt x="193" y="186"/>
                  </a:cubicBezTo>
                  <a:cubicBezTo>
                    <a:pt x="190" y="145"/>
                    <a:pt x="157" y="113"/>
                    <a:pt x="117" y="113"/>
                  </a:cubicBezTo>
                  <a:cubicBezTo>
                    <a:pt x="116" y="113"/>
                    <a:pt x="114" y="113"/>
                    <a:pt x="113" y="113"/>
                  </a:cubicBezTo>
                  <a:lnTo>
                    <a:pt x="80" y="113"/>
                  </a:lnTo>
                  <a:cubicBezTo>
                    <a:pt x="71" y="113"/>
                    <a:pt x="65" y="107"/>
                    <a:pt x="65" y="105"/>
                  </a:cubicBezTo>
                  <a:cubicBezTo>
                    <a:pt x="65" y="103"/>
                    <a:pt x="71" y="97"/>
                    <a:pt x="80" y="97"/>
                  </a:cubicBezTo>
                  <a:lnTo>
                    <a:pt x="161" y="97"/>
                  </a:lnTo>
                  <a:cubicBezTo>
                    <a:pt x="179" y="97"/>
                    <a:pt x="193" y="83"/>
                    <a:pt x="193" y="65"/>
                  </a:cubicBezTo>
                  <a:cubicBezTo>
                    <a:pt x="193" y="47"/>
                    <a:pt x="179" y="33"/>
                    <a:pt x="161" y="33"/>
                  </a:cubicBezTo>
                  <a:lnTo>
                    <a:pt x="129" y="33"/>
                  </a:lnTo>
                  <a:cubicBezTo>
                    <a:pt x="129" y="15"/>
                    <a:pt x="114" y="1"/>
                    <a:pt x="97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" name="Google Shape;817;p22">
            <a:extLst>
              <a:ext uri="{FF2B5EF4-FFF2-40B4-BE49-F238E27FC236}">
                <a16:creationId xmlns:a16="http://schemas.microsoft.com/office/drawing/2014/main" xmlns="" id="{2826803A-08A6-4556-97D0-C3961FEB5C42}"/>
              </a:ext>
            </a:extLst>
          </p:cNvPr>
          <p:cNvGrpSpPr/>
          <p:nvPr/>
        </p:nvGrpSpPr>
        <p:grpSpPr>
          <a:xfrm>
            <a:off x="15209486" y="4489374"/>
            <a:ext cx="231329" cy="235600"/>
            <a:chOff x="6265375" y="3369328"/>
            <a:chExt cx="172186" cy="172087"/>
          </a:xfrm>
        </p:grpSpPr>
        <p:sp>
          <p:nvSpPr>
            <p:cNvPr id="241" name="Google Shape;818;p22">
              <a:extLst>
                <a:ext uri="{FF2B5EF4-FFF2-40B4-BE49-F238E27FC236}">
                  <a16:creationId xmlns:a16="http://schemas.microsoft.com/office/drawing/2014/main" xmlns="" id="{098BFB3E-5EFF-46DF-896B-DE8968E80AC8}"/>
                </a:ext>
              </a:extLst>
            </p:cNvPr>
            <p:cNvSpPr/>
            <p:nvPr/>
          </p:nvSpPr>
          <p:spPr>
            <a:xfrm>
              <a:off x="6265375" y="3369328"/>
              <a:ext cx="172186" cy="172087"/>
            </a:xfrm>
            <a:custGeom>
              <a:avLst/>
              <a:gdLst/>
              <a:ahLst/>
              <a:cxnLst/>
              <a:rect l="l" t="t" r="r" b="b"/>
              <a:pathLst>
                <a:path w="1727" h="1726" extrusionOk="0">
                  <a:moveTo>
                    <a:pt x="979" y="172"/>
                  </a:moveTo>
                  <a:lnTo>
                    <a:pt x="979" y="287"/>
                  </a:lnTo>
                  <a:lnTo>
                    <a:pt x="691" y="287"/>
                  </a:lnTo>
                  <a:lnTo>
                    <a:pt x="691" y="172"/>
                  </a:lnTo>
                  <a:close/>
                  <a:moveTo>
                    <a:pt x="1008" y="58"/>
                  </a:moveTo>
                  <a:cubicBezTo>
                    <a:pt x="1055" y="58"/>
                    <a:pt x="1094" y="96"/>
                    <a:pt x="1094" y="144"/>
                  </a:cubicBezTo>
                  <a:lnTo>
                    <a:pt x="1094" y="287"/>
                  </a:lnTo>
                  <a:lnTo>
                    <a:pt x="1036" y="287"/>
                  </a:lnTo>
                  <a:lnTo>
                    <a:pt x="1036" y="144"/>
                  </a:lnTo>
                  <a:cubicBezTo>
                    <a:pt x="1036" y="128"/>
                    <a:pt x="1023" y="115"/>
                    <a:pt x="1008" y="115"/>
                  </a:cubicBezTo>
                  <a:lnTo>
                    <a:pt x="662" y="115"/>
                  </a:lnTo>
                  <a:cubicBezTo>
                    <a:pt x="646" y="115"/>
                    <a:pt x="634" y="128"/>
                    <a:pt x="634" y="144"/>
                  </a:cubicBezTo>
                  <a:lnTo>
                    <a:pt x="634" y="287"/>
                  </a:lnTo>
                  <a:lnTo>
                    <a:pt x="576" y="287"/>
                  </a:lnTo>
                  <a:lnTo>
                    <a:pt x="576" y="144"/>
                  </a:lnTo>
                  <a:cubicBezTo>
                    <a:pt x="576" y="96"/>
                    <a:pt x="615" y="58"/>
                    <a:pt x="662" y="58"/>
                  </a:cubicBezTo>
                  <a:close/>
                  <a:moveTo>
                    <a:pt x="950" y="834"/>
                  </a:moveTo>
                  <a:lnTo>
                    <a:pt x="950" y="892"/>
                  </a:lnTo>
                  <a:lnTo>
                    <a:pt x="719" y="892"/>
                  </a:lnTo>
                  <a:lnTo>
                    <a:pt x="719" y="834"/>
                  </a:lnTo>
                  <a:close/>
                  <a:moveTo>
                    <a:pt x="1525" y="345"/>
                  </a:moveTo>
                  <a:cubicBezTo>
                    <a:pt x="1573" y="345"/>
                    <a:pt x="1611" y="383"/>
                    <a:pt x="1611" y="431"/>
                  </a:cubicBezTo>
                  <a:lnTo>
                    <a:pt x="1611" y="575"/>
                  </a:lnTo>
                  <a:lnTo>
                    <a:pt x="1611" y="747"/>
                  </a:lnTo>
                  <a:cubicBezTo>
                    <a:pt x="1611" y="827"/>
                    <a:pt x="1547" y="892"/>
                    <a:pt x="1468" y="892"/>
                  </a:cubicBezTo>
                  <a:lnTo>
                    <a:pt x="1449" y="892"/>
                  </a:lnTo>
                  <a:cubicBezTo>
                    <a:pt x="1401" y="873"/>
                    <a:pt x="1349" y="863"/>
                    <a:pt x="1295" y="863"/>
                  </a:cubicBezTo>
                  <a:cubicBezTo>
                    <a:pt x="1241" y="863"/>
                    <a:pt x="1189" y="873"/>
                    <a:pt x="1141" y="892"/>
                  </a:cubicBezTo>
                  <a:lnTo>
                    <a:pt x="1008" y="892"/>
                  </a:lnTo>
                  <a:lnTo>
                    <a:pt x="1008" y="805"/>
                  </a:lnTo>
                  <a:cubicBezTo>
                    <a:pt x="1008" y="789"/>
                    <a:pt x="994" y="776"/>
                    <a:pt x="979" y="776"/>
                  </a:cubicBezTo>
                  <a:lnTo>
                    <a:pt x="691" y="776"/>
                  </a:lnTo>
                  <a:cubicBezTo>
                    <a:pt x="675" y="776"/>
                    <a:pt x="662" y="789"/>
                    <a:pt x="662" y="805"/>
                  </a:cubicBezTo>
                  <a:lnTo>
                    <a:pt x="662" y="892"/>
                  </a:lnTo>
                  <a:lnTo>
                    <a:pt x="202" y="892"/>
                  </a:lnTo>
                  <a:cubicBezTo>
                    <a:pt x="123" y="892"/>
                    <a:pt x="58" y="827"/>
                    <a:pt x="58" y="747"/>
                  </a:cubicBezTo>
                  <a:lnTo>
                    <a:pt x="58" y="489"/>
                  </a:lnTo>
                  <a:lnTo>
                    <a:pt x="58" y="431"/>
                  </a:lnTo>
                  <a:cubicBezTo>
                    <a:pt x="58" y="383"/>
                    <a:pt x="97" y="345"/>
                    <a:pt x="145" y="345"/>
                  </a:cubicBezTo>
                  <a:close/>
                  <a:moveTo>
                    <a:pt x="1611" y="888"/>
                  </a:moveTo>
                  <a:lnTo>
                    <a:pt x="1611" y="1002"/>
                  </a:lnTo>
                  <a:cubicBezTo>
                    <a:pt x="1589" y="977"/>
                    <a:pt x="1564" y="955"/>
                    <a:pt x="1536" y="937"/>
                  </a:cubicBezTo>
                  <a:cubicBezTo>
                    <a:pt x="1565" y="926"/>
                    <a:pt x="1591" y="910"/>
                    <a:pt x="1611" y="888"/>
                  </a:cubicBezTo>
                  <a:close/>
                  <a:moveTo>
                    <a:pt x="346" y="949"/>
                  </a:moveTo>
                  <a:lnTo>
                    <a:pt x="346" y="1036"/>
                  </a:lnTo>
                  <a:lnTo>
                    <a:pt x="259" y="1036"/>
                  </a:lnTo>
                  <a:lnTo>
                    <a:pt x="259" y="949"/>
                  </a:lnTo>
                  <a:close/>
                  <a:moveTo>
                    <a:pt x="58" y="888"/>
                  </a:moveTo>
                  <a:cubicBezTo>
                    <a:pt x="95" y="926"/>
                    <a:pt x="146" y="949"/>
                    <a:pt x="202" y="949"/>
                  </a:cubicBezTo>
                  <a:lnTo>
                    <a:pt x="202" y="1064"/>
                  </a:lnTo>
                  <a:cubicBezTo>
                    <a:pt x="202" y="1080"/>
                    <a:pt x="215" y="1093"/>
                    <a:pt x="231" y="1093"/>
                  </a:cubicBezTo>
                  <a:lnTo>
                    <a:pt x="375" y="1093"/>
                  </a:lnTo>
                  <a:cubicBezTo>
                    <a:pt x="390" y="1093"/>
                    <a:pt x="403" y="1080"/>
                    <a:pt x="403" y="1064"/>
                  </a:cubicBezTo>
                  <a:lnTo>
                    <a:pt x="403" y="949"/>
                  </a:lnTo>
                  <a:lnTo>
                    <a:pt x="1037" y="949"/>
                  </a:lnTo>
                  <a:cubicBezTo>
                    <a:pt x="932" y="1028"/>
                    <a:pt x="864" y="1153"/>
                    <a:pt x="864" y="1294"/>
                  </a:cubicBezTo>
                  <a:cubicBezTo>
                    <a:pt x="864" y="1379"/>
                    <a:pt x="889" y="1457"/>
                    <a:pt x="931" y="1525"/>
                  </a:cubicBezTo>
                  <a:lnTo>
                    <a:pt x="145" y="1525"/>
                  </a:lnTo>
                  <a:cubicBezTo>
                    <a:pt x="97" y="1525"/>
                    <a:pt x="58" y="1485"/>
                    <a:pt x="58" y="1438"/>
                  </a:cubicBezTo>
                  <a:lnTo>
                    <a:pt x="58" y="888"/>
                  </a:lnTo>
                  <a:close/>
                  <a:moveTo>
                    <a:pt x="1324" y="922"/>
                  </a:moveTo>
                  <a:cubicBezTo>
                    <a:pt x="1507" y="936"/>
                    <a:pt x="1654" y="1082"/>
                    <a:pt x="1668" y="1265"/>
                  </a:cubicBezTo>
                  <a:lnTo>
                    <a:pt x="1611" y="1265"/>
                  </a:lnTo>
                  <a:lnTo>
                    <a:pt x="1611" y="1323"/>
                  </a:lnTo>
                  <a:lnTo>
                    <a:pt x="1668" y="1323"/>
                  </a:lnTo>
                  <a:cubicBezTo>
                    <a:pt x="1654" y="1506"/>
                    <a:pt x="1507" y="1653"/>
                    <a:pt x="1324" y="1667"/>
                  </a:cubicBezTo>
                  <a:lnTo>
                    <a:pt x="1324" y="1610"/>
                  </a:lnTo>
                  <a:lnTo>
                    <a:pt x="1266" y="1610"/>
                  </a:lnTo>
                  <a:lnTo>
                    <a:pt x="1266" y="1667"/>
                  </a:lnTo>
                  <a:cubicBezTo>
                    <a:pt x="1162" y="1659"/>
                    <a:pt x="1070" y="1608"/>
                    <a:pt x="1008" y="1532"/>
                  </a:cubicBezTo>
                  <a:lnTo>
                    <a:pt x="1008" y="1525"/>
                  </a:lnTo>
                  <a:lnTo>
                    <a:pt x="1001" y="1525"/>
                  </a:lnTo>
                  <a:cubicBezTo>
                    <a:pt x="957" y="1468"/>
                    <a:pt x="928" y="1399"/>
                    <a:pt x="923" y="1323"/>
                  </a:cubicBezTo>
                  <a:lnTo>
                    <a:pt x="979" y="1323"/>
                  </a:lnTo>
                  <a:lnTo>
                    <a:pt x="979" y="1265"/>
                  </a:lnTo>
                  <a:lnTo>
                    <a:pt x="923" y="1265"/>
                  </a:lnTo>
                  <a:cubicBezTo>
                    <a:pt x="937" y="1082"/>
                    <a:pt x="1083" y="936"/>
                    <a:pt x="1266" y="922"/>
                  </a:cubicBezTo>
                  <a:lnTo>
                    <a:pt x="1266" y="978"/>
                  </a:lnTo>
                  <a:lnTo>
                    <a:pt x="1324" y="978"/>
                  </a:lnTo>
                  <a:lnTo>
                    <a:pt x="1324" y="922"/>
                  </a:lnTo>
                  <a:close/>
                  <a:moveTo>
                    <a:pt x="662" y="0"/>
                  </a:moveTo>
                  <a:cubicBezTo>
                    <a:pt x="583" y="0"/>
                    <a:pt x="519" y="65"/>
                    <a:pt x="519" y="144"/>
                  </a:cubicBezTo>
                  <a:lnTo>
                    <a:pt x="519" y="287"/>
                  </a:lnTo>
                  <a:lnTo>
                    <a:pt x="145" y="287"/>
                  </a:lnTo>
                  <a:cubicBezTo>
                    <a:pt x="65" y="287"/>
                    <a:pt x="1" y="352"/>
                    <a:pt x="1" y="431"/>
                  </a:cubicBezTo>
                  <a:lnTo>
                    <a:pt x="1" y="489"/>
                  </a:lnTo>
                  <a:lnTo>
                    <a:pt x="1" y="747"/>
                  </a:lnTo>
                  <a:lnTo>
                    <a:pt x="1" y="1438"/>
                  </a:lnTo>
                  <a:cubicBezTo>
                    <a:pt x="1" y="1518"/>
                    <a:pt x="65" y="1582"/>
                    <a:pt x="145" y="1582"/>
                  </a:cubicBezTo>
                  <a:lnTo>
                    <a:pt x="974" y="1582"/>
                  </a:lnTo>
                  <a:cubicBezTo>
                    <a:pt x="1053" y="1670"/>
                    <a:pt x="1167" y="1725"/>
                    <a:pt x="1295" y="1725"/>
                  </a:cubicBezTo>
                  <a:cubicBezTo>
                    <a:pt x="1533" y="1725"/>
                    <a:pt x="1726" y="1532"/>
                    <a:pt x="1726" y="1294"/>
                  </a:cubicBezTo>
                  <a:cubicBezTo>
                    <a:pt x="1726" y="1216"/>
                    <a:pt x="1705" y="1143"/>
                    <a:pt x="1669" y="1080"/>
                  </a:cubicBezTo>
                  <a:lnTo>
                    <a:pt x="1669" y="747"/>
                  </a:lnTo>
                  <a:lnTo>
                    <a:pt x="1669" y="575"/>
                  </a:lnTo>
                  <a:lnTo>
                    <a:pt x="1669" y="431"/>
                  </a:lnTo>
                  <a:cubicBezTo>
                    <a:pt x="1669" y="352"/>
                    <a:pt x="1604" y="287"/>
                    <a:pt x="1525" y="287"/>
                  </a:cubicBezTo>
                  <a:lnTo>
                    <a:pt x="1151" y="287"/>
                  </a:lnTo>
                  <a:lnTo>
                    <a:pt x="1151" y="144"/>
                  </a:lnTo>
                  <a:cubicBezTo>
                    <a:pt x="1151" y="65"/>
                    <a:pt x="1087" y="0"/>
                    <a:pt x="1008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" name="Google Shape;819;p22">
              <a:extLst>
                <a:ext uri="{FF2B5EF4-FFF2-40B4-BE49-F238E27FC236}">
                  <a16:creationId xmlns:a16="http://schemas.microsoft.com/office/drawing/2014/main" xmlns="" id="{708C7EF1-6230-41BE-A129-A4DB5062B28A}"/>
                </a:ext>
              </a:extLst>
            </p:cNvPr>
            <p:cNvSpPr/>
            <p:nvPr/>
          </p:nvSpPr>
          <p:spPr>
            <a:xfrm>
              <a:off x="6391598" y="3472518"/>
              <a:ext cx="22134" cy="45165"/>
            </a:xfrm>
            <a:custGeom>
              <a:avLst/>
              <a:gdLst/>
              <a:ahLst/>
              <a:cxnLst/>
              <a:rect l="l" t="t" r="r" b="b"/>
              <a:pathLst>
                <a:path w="222" h="453" extrusionOk="0">
                  <a:moveTo>
                    <a:pt x="0" y="1"/>
                  </a:moveTo>
                  <a:lnTo>
                    <a:pt x="0" y="259"/>
                  </a:lnTo>
                  <a:cubicBezTo>
                    <a:pt x="0" y="267"/>
                    <a:pt x="4" y="274"/>
                    <a:pt x="9" y="279"/>
                  </a:cubicBezTo>
                  <a:lnTo>
                    <a:pt x="181" y="452"/>
                  </a:lnTo>
                  <a:lnTo>
                    <a:pt x="222" y="411"/>
                  </a:lnTo>
                  <a:lnTo>
                    <a:pt x="58" y="247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820;p22">
              <a:extLst>
                <a:ext uri="{FF2B5EF4-FFF2-40B4-BE49-F238E27FC236}">
                  <a16:creationId xmlns:a16="http://schemas.microsoft.com/office/drawing/2014/main" xmlns="" id="{06F172B3-B357-443B-80EA-92A833C45402}"/>
                </a:ext>
              </a:extLst>
            </p:cNvPr>
            <p:cNvSpPr/>
            <p:nvPr/>
          </p:nvSpPr>
          <p:spPr>
            <a:xfrm>
              <a:off x="6391598" y="3443804"/>
              <a:ext cx="5783" cy="5882"/>
            </a:xfrm>
            <a:custGeom>
              <a:avLst/>
              <a:gdLst/>
              <a:ahLst/>
              <a:cxnLst/>
              <a:rect l="l" t="t" r="r" b="b"/>
              <a:pathLst>
                <a:path w="58" h="59" extrusionOk="0">
                  <a:moveTo>
                    <a:pt x="0" y="0"/>
                  </a:moveTo>
                  <a:lnTo>
                    <a:pt x="0" y="58"/>
                  </a:lnTo>
                  <a:lnTo>
                    <a:pt x="58" y="58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821;p22">
              <a:extLst>
                <a:ext uri="{FF2B5EF4-FFF2-40B4-BE49-F238E27FC236}">
                  <a16:creationId xmlns:a16="http://schemas.microsoft.com/office/drawing/2014/main" xmlns="" id="{75A6D25F-C80E-4BD4-831F-5C5FCA362078}"/>
                </a:ext>
              </a:extLst>
            </p:cNvPr>
            <p:cNvSpPr/>
            <p:nvPr/>
          </p:nvSpPr>
          <p:spPr>
            <a:xfrm>
              <a:off x="6403063" y="3443804"/>
              <a:ext cx="5783" cy="5882"/>
            </a:xfrm>
            <a:custGeom>
              <a:avLst/>
              <a:gdLst/>
              <a:ahLst/>
              <a:cxnLst/>
              <a:rect l="l" t="t" r="r" b="b"/>
              <a:pathLst>
                <a:path w="58" h="59" extrusionOk="0">
                  <a:moveTo>
                    <a:pt x="0" y="0"/>
                  </a:moveTo>
                  <a:lnTo>
                    <a:pt x="0" y="58"/>
                  </a:lnTo>
                  <a:lnTo>
                    <a:pt x="58" y="58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822;p22">
              <a:extLst>
                <a:ext uri="{FF2B5EF4-FFF2-40B4-BE49-F238E27FC236}">
                  <a16:creationId xmlns:a16="http://schemas.microsoft.com/office/drawing/2014/main" xmlns="" id="{B8B3DDD2-0CC9-405D-BE27-9C26B25F7C83}"/>
                </a:ext>
              </a:extLst>
            </p:cNvPr>
            <p:cNvSpPr/>
            <p:nvPr/>
          </p:nvSpPr>
          <p:spPr>
            <a:xfrm>
              <a:off x="6380032" y="3443804"/>
              <a:ext cx="5882" cy="5882"/>
            </a:xfrm>
            <a:custGeom>
              <a:avLst/>
              <a:gdLst/>
              <a:ahLst/>
              <a:cxnLst/>
              <a:rect l="l" t="t" r="r" b="b"/>
              <a:pathLst>
                <a:path w="59" h="59" extrusionOk="0">
                  <a:moveTo>
                    <a:pt x="1" y="0"/>
                  </a:moveTo>
                  <a:lnTo>
                    <a:pt x="1" y="58"/>
                  </a:lnTo>
                  <a:lnTo>
                    <a:pt x="58" y="58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" name="Google Shape;823;p22">
            <a:extLst>
              <a:ext uri="{FF2B5EF4-FFF2-40B4-BE49-F238E27FC236}">
                <a16:creationId xmlns:a16="http://schemas.microsoft.com/office/drawing/2014/main" xmlns="" id="{251B3924-EFF8-4E5B-A6D0-62CBD55FE5FE}"/>
              </a:ext>
            </a:extLst>
          </p:cNvPr>
          <p:cNvGrpSpPr/>
          <p:nvPr/>
        </p:nvGrpSpPr>
        <p:grpSpPr>
          <a:xfrm>
            <a:off x="14477147" y="5054580"/>
            <a:ext cx="176738" cy="257317"/>
            <a:chOff x="6064477" y="4246093"/>
            <a:chExt cx="108576" cy="155137"/>
          </a:xfrm>
        </p:grpSpPr>
        <p:sp>
          <p:nvSpPr>
            <p:cNvPr id="247" name="Google Shape;824;p22">
              <a:extLst>
                <a:ext uri="{FF2B5EF4-FFF2-40B4-BE49-F238E27FC236}">
                  <a16:creationId xmlns:a16="http://schemas.microsoft.com/office/drawing/2014/main" xmlns="" id="{A8E32600-FA71-491F-B577-6A463CF420F3}"/>
                </a:ext>
              </a:extLst>
            </p:cNvPr>
            <p:cNvSpPr/>
            <p:nvPr/>
          </p:nvSpPr>
          <p:spPr>
            <a:xfrm>
              <a:off x="6064477" y="4246093"/>
              <a:ext cx="108576" cy="155137"/>
            </a:xfrm>
            <a:custGeom>
              <a:avLst/>
              <a:gdLst/>
              <a:ahLst/>
              <a:cxnLst/>
              <a:rect l="l" t="t" r="r" b="b"/>
              <a:pathLst>
                <a:path w="1089" h="1556" extrusionOk="0">
                  <a:moveTo>
                    <a:pt x="959" y="53"/>
                  </a:moveTo>
                  <a:cubicBezTo>
                    <a:pt x="1002" y="53"/>
                    <a:pt x="1037" y="88"/>
                    <a:pt x="1037" y="130"/>
                  </a:cubicBezTo>
                  <a:lnTo>
                    <a:pt x="1037" y="156"/>
                  </a:lnTo>
                  <a:lnTo>
                    <a:pt x="52" y="156"/>
                  </a:lnTo>
                  <a:lnTo>
                    <a:pt x="52" y="130"/>
                  </a:lnTo>
                  <a:cubicBezTo>
                    <a:pt x="52" y="88"/>
                    <a:pt x="87" y="53"/>
                    <a:pt x="130" y="53"/>
                  </a:cubicBezTo>
                  <a:close/>
                  <a:moveTo>
                    <a:pt x="1037" y="208"/>
                  </a:moveTo>
                  <a:lnTo>
                    <a:pt x="1037" y="1296"/>
                  </a:lnTo>
                  <a:lnTo>
                    <a:pt x="52" y="1296"/>
                  </a:lnTo>
                  <a:lnTo>
                    <a:pt x="52" y="208"/>
                  </a:lnTo>
                  <a:close/>
                  <a:moveTo>
                    <a:pt x="1037" y="1348"/>
                  </a:moveTo>
                  <a:lnTo>
                    <a:pt x="1037" y="1426"/>
                  </a:lnTo>
                  <a:cubicBezTo>
                    <a:pt x="1037" y="1469"/>
                    <a:pt x="1002" y="1504"/>
                    <a:pt x="959" y="1504"/>
                  </a:cubicBezTo>
                  <a:lnTo>
                    <a:pt x="130" y="1504"/>
                  </a:lnTo>
                  <a:cubicBezTo>
                    <a:pt x="87" y="1504"/>
                    <a:pt x="52" y="1469"/>
                    <a:pt x="52" y="1426"/>
                  </a:cubicBezTo>
                  <a:lnTo>
                    <a:pt x="52" y="1348"/>
                  </a:lnTo>
                  <a:close/>
                  <a:moveTo>
                    <a:pt x="130" y="0"/>
                  </a:moveTo>
                  <a:cubicBezTo>
                    <a:pt x="58" y="0"/>
                    <a:pt x="1" y="59"/>
                    <a:pt x="1" y="130"/>
                  </a:cubicBezTo>
                  <a:lnTo>
                    <a:pt x="1" y="1426"/>
                  </a:lnTo>
                  <a:cubicBezTo>
                    <a:pt x="1" y="1498"/>
                    <a:pt x="58" y="1555"/>
                    <a:pt x="130" y="1555"/>
                  </a:cubicBezTo>
                  <a:lnTo>
                    <a:pt x="959" y="1555"/>
                  </a:lnTo>
                  <a:cubicBezTo>
                    <a:pt x="1031" y="1555"/>
                    <a:pt x="1089" y="1498"/>
                    <a:pt x="1089" y="1426"/>
                  </a:cubicBezTo>
                  <a:lnTo>
                    <a:pt x="1089" y="130"/>
                  </a:lnTo>
                  <a:cubicBezTo>
                    <a:pt x="1089" y="59"/>
                    <a:pt x="1031" y="0"/>
                    <a:pt x="959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825;p22">
              <a:extLst>
                <a:ext uri="{FF2B5EF4-FFF2-40B4-BE49-F238E27FC236}">
                  <a16:creationId xmlns:a16="http://schemas.microsoft.com/office/drawing/2014/main" xmlns="" id="{236D983E-34EC-49AA-8913-B482AB4691A5}"/>
                </a:ext>
              </a:extLst>
            </p:cNvPr>
            <p:cNvSpPr/>
            <p:nvPr/>
          </p:nvSpPr>
          <p:spPr>
            <a:xfrm>
              <a:off x="6078036" y="4277499"/>
              <a:ext cx="80360" cy="77269"/>
            </a:xfrm>
            <a:custGeom>
              <a:avLst/>
              <a:gdLst/>
              <a:ahLst/>
              <a:cxnLst/>
              <a:rect l="l" t="t" r="r" b="b"/>
              <a:pathLst>
                <a:path w="806" h="775" extrusionOk="0">
                  <a:moveTo>
                    <a:pt x="197" y="52"/>
                  </a:moveTo>
                  <a:cubicBezTo>
                    <a:pt x="204" y="52"/>
                    <a:pt x="210" y="55"/>
                    <a:pt x="215" y="60"/>
                  </a:cubicBezTo>
                  <a:lnTo>
                    <a:pt x="216" y="60"/>
                  </a:lnTo>
                  <a:lnTo>
                    <a:pt x="298" y="142"/>
                  </a:lnTo>
                  <a:cubicBezTo>
                    <a:pt x="307" y="152"/>
                    <a:pt x="307" y="168"/>
                    <a:pt x="298" y="179"/>
                  </a:cubicBezTo>
                  <a:lnTo>
                    <a:pt x="231" y="245"/>
                  </a:lnTo>
                  <a:cubicBezTo>
                    <a:pt x="225" y="250"/>
                    <a:pt x="223" y="257"/>
                    <a:pt x="223" y="263"/>
                  </a:cubicBezTo>
                  <a:cubicBezTo>
                    <a:pt x="223" y="270"/>
                    <a:pt x="225" y="277"/>
                    <a:pt x="231" y="282"/>
                  </a:cubicBezTo>
                  <a:lnTo>
                    <a:pt x="515" y="567"/>
                  </a:lnTo>
                  <a:cubicBezTo>
                    <a:pt x="520" y="572"/>
                    <a:pt x="527" y="575"/>
                    <a:pt x="534" y="575"/>
                  </a:cubicBezTo>
                  <a:cubicBezTo>
                    <a:pt x="540" y="575"/>
                    <a:pt x="547" y="572"/>
                    <a:pt x="552" y="567"/>
                  </a:cubicBezTo>
                  <a:lnTo>
                    <a:pt x="619" y="500"/>
                  </a:lnTo>
                  <a:cubicBezTo>
                    <a:pt x="624" y="495"/>
                    <a:pt x="631" y="493"/>
                    <a:pt x="637" y="493"/>
                  </a:cubicBezTo>
                  <a:cubicBezTo>
                    <a:pt x="644" y="493"/>
                    <a:pt x="651" y="495"/>
                    <a:pt x="656" y="500"/>
                  </a:cubicBezTo>
                  <a:lnTo>
                    <a:pt x="738" y="582"/>
                  </a:lnTo>
                  <a:cubicBezTo>
                    <a:pt x="748" y="592"/>
                    <a:pt x="748" y="609"/>
                    <a:pt x="738" y="619"/>
                  </a:cubicBezTo>
                  <a:lnTo>
                    <a:pt x="688" y="669"/>
                  </a:lnTo>
                  <a:cubicBezTo>
                    <a:pt x="654" y="703"/>
                    <a:pt x="609" y="722"/>
                    <a:pt x="560" y="722"/>
                  </a:cubicBezTo>
                  <a:cubicBezTo>
                    <a:pt x="512" y="722"/>
                    <a:pt x="465" y="703"/>
                    <a:pt x="431" y="669"/>
                  </a:cubicBezTo>
                  <a:lnTo>
                    <a:pt x="128" y="366"/>
                  </a:lnTo>
                  <a:cubicBezTo>
                    <a:pt x="58" y="296"/>
                    <a:pt x="58" y="180"/>
                    <a:pt x="128" y="110"/>
                  </a:cubicBezTo>
                  <a:lnTo>
                    <a:pt x="179" y="60"/>
                  </a:lnTo>
                  <a:cubicBezTo>
                    <a:pt x="183" y="55"/>
                    <a:pt x="190" y="52"/>
                    <a:pt x="197" y="52"/>
                  </a:cubicBezTo>
                  <a:close/>
                  <a:moveTo>
                    <a:pt x="197" y="1"/>
                  </a:moveTo>
                  <a:cubicBezTo>
                    <a:pt x="177" y="1"/>
                    <a:pt x="157" y="8"/>
                    <a:pt x="142" y="23"/>
                  </a:cubicBezTo>
                  <a:lnTo>
                    <a:pt x="92" y="73"/>
                  </a:lnTo>
                  <a:cubicBezTo>
                    <a:pt x="1" y="164"/>
                    <a:pt x="1" y="312"/>
                    <a:pt x="92" y="403"/>
                  </a:cubicBezTo>
                  <a:lnTo>
                    <a:pt x="395" y="706"/>
                  </a:lnTo>
                  <a:cubicBezTo>
                    <a:pt x="439" y="750"/>
                    <a:pt x="498" y="774"/>
                    <a:pt x="560" y="774"/>
                  </a:cubicBezTo>
                  <a:cubicBezTo>
                    <a:pt x="622" y="774"/>
                    <a:pt x="681" y="750"/>
                    <a:pt x="725" y="706"/>
                  </a:cubicBezTo>
                  <a:lnTo>
                    <a:pt x="774" y="655"/>
                  </a:lnTo>
                  <a:cubicBezTo>
                    <a:pt x="805" y="626"/>
                    <a:pt x="805" y="576"/>
                    <a:pt x="774" y="545"/>
                  </a:cubicBezTo>
                  <a:lnTo>
                    <a:pt x="692" y="463"/>
                  </a:lnTo>
                  <a:cubicBezTo>
                    <a:pt x="678" y="449"/>
                    <a:pt x="658" y="442"/>
                    <a:pt x="638" y="442"/>
                  </a:cubicBezTo>
                  <a:cubicBezTo>
                    <a:pt x="618" y="442"/>
                    <a:pt x="597" y="449"/>
                    <a:pt x="582" y="463"/>
                  </a:cubicBezTo>
                  <a:lnTo>
                    <a:pt x="534" y="512"/>
                  </a:lnTo>
                  <a:lnTo>
                    <a:pt x="286" y="263"/>
                  </a:lnTo>
                  <a:lnTo>
                    <a:pt x="334" y="215"/>
                  </a:lnTo>
                  <a:cubicBezTo>
                    <a:pt x="364" y="185"/>
                    <a:pt x="364" y="136"/>
                    <a:pt x="334" y="105"/>
                  </a:cubicBezTo>
                  <a:lnTo>
                    <a:pt x="251" y="23"/>
                  </a:lnTo>
                  <a:cubicBezTo>
                    <a:pt x="237" y="8"/>
                    <a:pt x="217" y="1"/>
                    <a:pt x="197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826;p22">
              <a:extLst>
                <a:ext uri="{FF2B5EF4-FFF2-40B4-BE49-F238E27FC236}">
                  <a16:creationId xmlns:a16="http://schemas.microsoft.com/office/drawing/2014/main" xmlns="" id="{CD90C5BF-AAAF-4777-8426-B8988C9C1A6B}"/>
                </a:ext>
              </a:extLst>
            </p:cNvPr>
            <p:cNvSpPr/>
            <p:nvPr/>
          </p:nvSpPr>
          <p:spPr>
            <a:xfrm>
              <a:off x="6116122" y="4359751"/>
              <a:ext cx="5284" cy="5284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0" y="1"/>
                  </a:moveTo>
                  <a:lnTo>
                    <a:pt x="0" y="53"/>
                  </a:lnTo>
                  <a:lnTo>
                    <a:pt x="53" y="53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827;p22">
              <a:extLst>
                <a:ext uri="{FF2B5EF4-FFF2-40B4-BE49-F238E27FC236}">
                  <a16:creationId xmlns:a16="http://schemas.microsoft.com/office/drawing/2014/main" xmlns="" id="{3A115D62-9FAC-42DB-882F-666D3583D1AD}"/>
                </a:ext>
              </a:extLst>
            </p:cNvPr>
            <p:cNvSpPr/>
            <p:nvPr/>
          </p:nvSpPr>
          <p:spPr>
            <a:xfrm>
              <a:off x="6105853" y="4359751"/>
              <a:ext cx="5185" cy="5284"/>
            </a:xfrm>
            <a:custGeom>
              <a:avLst/>
              <a:gdLst/>
              <a:ahLst/>
              <a:cxnLst/>
              <a:rect l="l" t="t" r="r" b="b"/>
              <a:pathLst>
                <a:path w="52" h="53" extrusionOk="0">
                  <a:moveTo>
                    <a:pt x="0" y="1"/>
                  </a:moveTo>
                  <a:lnTo>
                    <a:pt x="0" y="53"/>
                  </a:lnTo>
                  <a:lnTo>
                    <a:pt x="52" y="53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828;p22">
              <a:extLst>
                <a:ext uri="{FF2B5EF4-FFF2-40B4-BE49-F238E27FC236}">
                  <a16:creationId xmlns:a16="http://schemas.microsoft.com/office/drawing/2014/main" xmlns="" id="{4B36BA0E-2955-4EE9-8E81-445AA196691B}"/>
                </a:ext>
              </a:extLst>
            </p:cNvPr>
            <p:cNvSpPr/>
            <p:nvPr/>
          </p:nvSpPr>
          <p:spPr>
            <a:xfrm>
              <a:off x="6126491" y="4359751"/>
              <a:ext cx="5284" cy="5284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0" y="1"/>
                  </a:moveTo>
                  <a:lnTo>
                    <a:pt x="0" y="53"/>
                  </a:lnTo>
                  <a:lnTo>
                    <a:pt x="53" y="53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829;p22">
              <a:extLst>
                <a:ext uri="{FF2B5EF4-FFF2-40B4-BE49-F238E27FC236}">
                  <a16:creationId xmlns:a16="http://schemas.microsoft.com/office/drawing/2014/main" xmlns="" id="{07616053-B1DD-40B1-BC91-8A82F588BFD0}"/>
                </a:ext>
              </a:extLst>
            </p:cNvPr>
            <p:cNvSpPr/>
            <p:nvPr/>
          </p:nvSpPr>
          <p:spPr>
            <a:xfrm>
              <a:off x="6118714" y="4302922"/>
              <a:ext cx="12961" cy="13061"/>
            </a:xfrm>
            <a:custGeom>
              <a:avLst/>
              <a:gdLst/>
              <a:ahLst/>
              <a:cxnLst/>
              <a:rect l="l" t="t" r="r" b="b"/>
              <a:pathLst>
                <a:path w="130" h="131" extrusionOk="0">
                  <a:moveTo>
                    <a:pt x="1" y="0"/>
                  </a:moveTo>
                  <a:lnTo>
                    <a:pt x="1" y="53"/>
                  </a:lnTo>
                  <a:cubicBezTo>
                    <a:pt x="43" y="53"/>
                    <a:pt x="78" y="88"/>
                    <a:pt x="78" y="131"/>
                  </a:cubicBezTo>
                  <a:lnTo>
                    <a:pt x="130" y="131"/>
                  </a:lnTo>
                  <a:cubicBezTo>
                    <a:pt x="130" y="59"/>
                    <a:pt x="72" y="0"/>
                    <a:pt x="1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830;p22">
              <a:extLst>
                <a:ext uri="{FF2B5EF4-FFF2-40B4-BE49-F238E27FC236}">
                  <a16:creationId xmlns:a16="http://schemas.microsoft.com/office/drawing/2014/main" xmlns="" id="{2CB845B8-EC8F-4F46-AC95-A819E2948E86}"/>
                </a:ext>
              </a:extLst>
            </p:cNvPr>
            <p:cNvSpPr/>
            <p:nvPr/>
          </p:nvSpPr>
          <p:spPr>
            <a:xfrm>
              <a:off x="6118714" y="4292553"/>
              <a:ext cx="23330" cy="23430"/>
            </a:xfrm>
            <a:custGeom>
              <a:avLst/>
              <a:gdLst/>
              <a:ahLst/>
              <a:cxnLst/>
              <a:rect l="l" t="t" r="r" b="b"/>
              <a:pathLst>
                <a:path w="234" h="235" extrusionOk="0">
                  <a:moveTo>
                    <a:pt x="1" y="1"/>
                  </a:moveTo>
                  <a:lnTo>
                    <a:pt x="1" y="53"/>
                  </a:lnTo>
                  <a:cubicBezTo>
                    <a:pt x="101" y="53"/>
                    <a:pt x="182" y="134"/>
                    <a:pt x="182" y="235"/>
                  </a:cubicBezTo>
                  <a:lnTo>
                    <a:pt x="234" y="235"/>
                  </a:lnTo>
                  <a:cubicBezTo>
                    <a:pt x="234" y="105"/>
                    <a:pt x="129" y="1"/>
                    <a:pt x="1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831;p22">
              <a:extLst>
                <a:ext uri="{FF2B5EF4-FFF2-40B4-BE49-F238E27FC236}">
                  <a16:creationId xmlns:a16="http://schemas.microsoft.com/office/drawing/2014/main" xmlns="" id="{B08972A1-A78E-406B-9D50-6A2939B352AA}"/>
                </a:ext>
              </a:extLst>
            </p:cNvPr>
            <p:cNvSpPr/>
            <p:nvPr/>
          </p:nvSpPr>
          <p:spPr>
            <a:xfrm>
              <a:off x="6118714" y="4282284"/>
              <a:ext cx="33699" cy="33699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1" y="1"/>
                  </a:moveTo>
                  <a:lnTo>
                    <a:pt x="1" y="52"/>
                  </a:lnTo>
                  <a:cubicBezTo>
                    <a:pt x="158" y="52"/>
                    <a:pt x="286" y="180"/>
                    <a:pt x="286" y="338"/>
                  </a:cubicBezTo>
                  <a:lnTo>
                    <a:pt x="338" y="338"/>
                  </a:lnTo>
                  <a:cubicBezTo>
                    <a:pt x="338" y="152"/>
                    <a:pt x="187" y="1"/>
                    <a:pt x="1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" name="Google Shape;718;p22">
            <a:extLst>
              <a:ext uri="{FF2B5EF4-FFF2-40B4-BE49-F238E27FC236}">
                <a16:creationId xmlns:a16="http://schemas.microsoft.com/office/drawing/2014/main" xmlns="" id="{E2C00291-D38D-4A22-A6EF-531C72C2DC17}"/>
              </a:ext>
            </a:extLst>
          </p:cNvPr>
          <p:cNvGrpSpPr/>
          <p:nvPr/>
        </p:nvGrpSpPr>
        <p:grpSpPr>
          <a:xfrm>
            <a:off x="15387172" y="3629090"/>
            <a:ext cx="2319305" cy="644795"/>
            <a:chOff x="5941100" y="2054463"/>
            <a:chExt cx="2485751" cy="678146"/>
          </a:xfrm>
        </p:grpSpPr>
        <p:grpSp>
          <p:nvGrpSpPr>
            <p:cNvPr id="256" name="Google Shape;719;p22">
              <a:extLst>
                <a:ext uri="{FF2B5EF4-FFF2-40B4-BE49-F238E27FC236}">
                  <a16:creationId xmlns:a16="http://schemas.microsoft.com/office/drawing/2014/main" xmlns="" id="{52BFE4A2-69F3-49CB-A934-A0AE25508731}"/>
                </a:ext>
              </a:extLst>
            </p:cNvPr>
            <p:cNvGrpSpPr/>
            <p:nvPr/>
          </p:nvGrpSpPr>
          <p:grpSpPr>
            <a:xfrm flipH="1">
              <a:off x="5941100" y="2054463"/>
              <a:ext cx="2485751" cy="678146"/>
              <a:chOff x="800213" y="1002738"/>
              <a:chExt cx="2485751" cy="678146"/>
            </a:xfrm>
          </p:grpSpPr>
          <p:sp>
            <p:nvSpPr>
              <p:cNvPr id="258" name="Google Shape;720;p22">
                <a:extLst>
                  <a:ext uri="{FF2B5EF4-FFF2-40B4-BE49-F238E27FC236}">
                    <a16:creationId xmlns:a16="http://schemas.microsoft.com/office/drawing/2014/main" xmlns="" id="{185054EF-B8A5-480A-BC4E-75CAFA2C71F2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259" name="Google Shape;721;p22">
                <a:extLst>
                  <a:ext uri="{FF2B5EF4-FFF2-40B4-BE49-F238E27FC236}">
                    <a16:creationId xmlns:a16="http://schemas.microsoft.com/office/drawing/2014/main" xmlns="" id="{58C0F085-0610-49BD-9063-43AF3EE2C599}"/>
                  </a:ext>
                </a:extLst>
              </p:cNvPr>
              <p:cNvSpPr/>
              <p:nvPr/>
            </p:nvSpPr>
            <p:spPr>
              <a:xfrm flipH="1">
                <a:off x="260788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257" name="Google Shape;722;p22">
              <a:extLst>
                <a:ext uri="{FF2B5EF4-FFF2-40B4-BE49-F238E27FC236}">
                  <a16:creationId xmlns:a16="http://schemas.microsoft.com/office/drawing/2014/main" xmlns="" id="{6057C2E4-96B8-4BD9-8A90-90A17131DD11}"/>
                </a:ext>
              </a:extLst>
            </p:cNvPr>
            <p:cNvSpPr txBox="1"/>
            <p:nvPr/>
          </p:nvSpPr>
          <p:spPr>
            <a:xfrm>
              <a:off x="6569231" y="2168351"/>
              <a:ext cx="1841981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DM Sans" pitchFamily="2" charset="0"/>
                </a:rPr>
                <a:t>Socio-Psychological Service Center</a:t>
              </a:r>
              <a:endParaRPr sz="1200" b="1" dirty="0">
                <a:solidFill>
                  <a:schemeClr val="bg1"/>
                </a:solidFill>
                <a:latin typeface="DM Sans" pitchFamily="2" charset="0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0" name="Google Shape;808;p22">
            <a:extLst>
              <a:ext uri="{FF2B5EF4-FFF2-40B4-BE49-F238E27FC236}">
                <a16:creationId xmlns:a16="http://schemas.microsoft.com/office/drawing/2014/main" xmlns="" id="{7BFD880A-21CC-4B13-B47C-E8502387EFE8}"/>
              </a:ext>
            </a:extLst>
          </p:cNvPr>
          <p:cNvGrpSpPr/>
          <p:nvPr/>
        </p:nvGrpSpPr>
        <p:grpSpPr>
          <a:xfrm>
            <a:off x="15587875" y="3842053"/>
            <a:ext cx="257582" cy="253621"/>
            <a:chOff x="6252315" y="2481197"/>
            <a:chExt cx="191727" cy="185245"/>
          </a:xfrm>
        </p:grpSpPr>
        <p:sp>
          <p:nvSpPr>
            <p:cNvPr id="261" name="Google Shape;809;p22">
              <a:extLst>
                <a:ext uri="{FF2B5EF4-FFF2-40B4-BE49-F238E27FC236}">
                  <a16:creationId xmlns:a16="http://schemas.microsoft.com/office/drawing/2014/main" xmlns="" id="{0CB75E64-0145-4C7E-9EB2-100921E9A3A2}"/>
                </a:ext>
              </a:extLst>
            </p:cNvPr>
            <p:cNvSpPr/>
            <p:nvPr/>
          </p:nvSpPr>
          <p:spPr>
            <a:xfrm>
              <a:off x="6252315" y="2542014"/>
              <a:ext cx="165606" cy="82354"/>
            </a:xfrm>
            <a:custGeom>
              <a:avLst/>
              <a:gdLst/>
              <a:ahLst/>
              <a:cxnLst/>
              <a:rect l="l" t="t" r="r" b="b"/>
              <a:pathLst>
                <a:path w="1661" h="826" extrusionOk="0">
                  <a:moveTo>
                    <a:pt x="28" y="1"/>
                  </a:moveTo>
                  <a:cubicBezTo>
                    <a:pt x="13" y="1"/>
                    <a:pt x="1" y="13"/>
                    <a:pt x="1" y="28"/>
                  </a:cubicBezTo>
                  <a:lnTo>
                    <a:pt x="1" y="799"/>
                  </a:lnTo>
                  <a:cubicBezTo>
                    <a:pt x="1" y="814"/>
                    <a:pt x="13" y="826"/>
                    <a:pt x="28" y="826"/>
                  </a:cubicBezTo>
                  <a:lnTo>
                    <a:pt x="1119" y="826"/>
                  </a:lnTo>
                  <a:cubicBezTo>
                    <a:pt x="1135" y="826"/>
                    <a:pt x="1147" y="814"/>
                    <a:pt x="1147" y="799"/>
                  </a:cubicBezTo>
                  <a:cubicBezTo>
                    <a:pt x="1147" y="783"/>
                    <a:pt x="1135" y="771"/>
                    <a:pt x="1119" y="771"/>
                  </a:cubicBezTo>
                  <a:lnTo>
                    <a:pt x="56" y="771"/>
                  </a:lnTo>
                  <a:lnTo>
                    <a:pt x="56" y="56"/>
                  </a:lnTo>
                  <a:lnTo>
                    <a:pt x="1606" y="56"/>
                  </a:lnTo>
                  <a:lnTo>
                    <a:pt x="1606" y="125"/>
                  </a:lnTo>
                  <a:cubicBezTo>
                    <a:pt x="1606" y="139"/>
                    <a:pt x="1618" y="152"/>
                    <a:pt x="1634" y="152"/>
                  </a:cubicBezTo>
                  <a:cubicBezTo>
                    <a:pt x="1649" y="152"/>
                    <a:pt x="1661" y="139"/>
                    <a:pt x="1661" y="125"/>
                  </a:cubicBezTo>
                  <a:lnTo>
                    <a:pt x="1661" y="28"/>
                  </a:lnTo>
                  <a:cubicBezTo>
                    <a:pt x="1661" y="13"/>
                    <a:pt x="1649" y="1"/>
                    <a:pt x="1634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810;p22">
              <a:extLst>
                <a:ext uri="{FF2B5EF4-FFF2-40B4-BE49-F238E27FC236}">
                  <a16:creationId xmlns:a16="http://schemas.microsoft.com/office/drawing/2014/main" xmlns="" id="{325F4458-D5A4-4D09-9E30-962C0D7D3368}"/>
                </a:ext>
              </a:extLst>
            </p:cNvPr>
            <p:cNvSpPr/>
            <p:nvPr/>
          </p:nvSpPr>
          <p:spPr>
            <a:xfrm>
              <a:off x="6258496" y="2500439"/>
              <a:ext cx="140281" cy="34397"/>
            </a:xfrm>
            <a:custGeom>
              <a:avLst/>
              <a:gdLst/>
              <a:ahLst/>
              <a:cxnLst/>
              <a:rect l="l" t="t" r="r" b="b"/>
              <a:pathLst>
                <a:path w="1407" h="345" extrusionOk="0">
                  <a:moveTo>
                    <a:pt x="94" y="0"/>
                  </a:moveTo>
                  <a:cubicBezTo>
                    <a:pt x="89" y="0"/>
                    <a:pt x="85" y="2"/>
                    <a:pt x="80" y="5"/>
                  </a:cubicBezTo>
                  <a:cubicBezTo>
                    <a:pt x="74" y="8"/>
                    <a:pt x="69" y="14"/>
                    <a:pt x="68" y="21"/>
                  </a:cubicBezTo>
                  <a:lnTo>
                    <a:pt x="4" y="310"/>
                  </a:lnTo>
                  <a:cubicBezTo>
                    <a:pt x="0" y="325"/>
                    <a:pt x="10" y="340"/>
                    <a:pt x="24" y="343"/>
                  </a:cubicBezTo>
                  <a:cubicBezTo>
                    <a:pt x="27" y="344"/>
                    <a:pt x="29" y="344"/>
                    <a:pt x="31" y="344"/>
                  </a:cubicBezTo>
                  <a:cubicBezTo>
                    <a:pt x="43" y="344"/>
                    <a:pt x="55" y="335"/>
                    <a:pt x="58" y="322"/>
                  </a:cubicBezTo>
                  <a:lnTo>
                    <a:pt x="115" y="61"/>
                  </a:lnTo>
                  <a:lnTo>
                    <a:pt x="1373" y="343"/>
                  </a:lnTo>
                  <a:cubicBezTo>
                    <a:pt x="1374" y="343"/>
                    <a:pt x="1377" y="344"/>
                    <a:pt x="1379" y="344"/>
                  </a:cubicBezTo>
                  <a:cubicBezTo>
                    <a:pt x="1394" y="344"/>
                    <a:pt x="1407" y="332"/>
                    <a:pt x="1407" y="316"/>
                  </a:cubicBezTo>
                  <a:cubicBezTo>
                    <a:pt x="1406" y="303"/>
                    <a:pt x="1397" y="293"/>
                    <a:pt x="1385" y="289"/>
                  </a:cubicBezTo>
                  <a:lnTo>
                    <a:pt x="100" y="1"/>
                  </a:lnTo>
                  <a:cubicBezTo>
                    <a:pt x="98" y="1"/>
                    <a:pt x="96" y="0"/>
                    <a:pt x="94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811;p22">
              <a:extLst>
                <a:ext uri="{FF2B5EF4-FFF2-40B4-BE49-F238E27FC236}">
                  <a16:creationId xmlns:a16="http://schemas.microsoft.com/office/drawing/2014/main" xmlns="" id="{781558D5-ADE1-40EF-9E64-B241D317D58E}"/>
                </a:ext>
              </a:extLst>
            </p:cNvPr>
            <p:cNvSpPr/>
            <p:nvPr/>
          </p:nvSpPr>
          <p:spPr>
            <a:xfrm>
              <a:off x="6293491" y="2481197"/>
              <a:ext cx="89633" cy="37588"/>
            </a:xfrm>
            <a:custGeom>
              <a:avLst/>
              <a:gdLst/>
              <a:ahLst/>
              <a:cxnLst/>
              <a:rect l="l" t="t" r="r" b="b"/>
              <a:pathLst>
                <a:path w="899" h="377" extrusionOk="0">
                  <a:moveTo>
                    <a:pt x="98" y="0"/>
                  </a:moveTo>
                  <a:cubicBezTo>
                    <a:pt x="87" y="0"/>
                    <a:pt x="77" y="6"/>
                    <a:pt x="72" y="16"/>
                  </a:cubicBezTo>
                  <a:lnTo>
                    <a:pt x="8" y="144"/>
                  </a:lnTo>
                  <a:cubicBezTo>
                    <a:pt x="1" y="157"/>
                    <a:pt x="5" y="174"/>
                    <a:pt x="19" y="181"/>
                  </a:cubicBezTo>
                  <a:cubicBezTo>
                    <a:pt x="23" y="184"/>
                    <a:pt x="28" y="185"/>
                    <a:pt x="32" y="185"/>
                  </a:cubicBezTo>
                  <a:cubicBezTo>
                    <a:pt x="42" y="185"/>
                    <a:pt x="51" y="179"/>
                    <a:pt x="57" y="171"/>
                  </a:cubicBezTo>
                  <a:cubicBezTo>
                    <a:pt x="57" y="170"/>
                    <a:pt x="57" y="169"/>
                    <a:pt x="58" y="169"/>
                  </a:cubicBezTo>
                  <a:lnTo>
                    <a:pt x="110" y="63"/>
                  </a:lnTo>
                  <a:lnTo>
                    <a:pt x="857" y="374"/>
                  </a:lnTo>
                  <a:cubicBezTo>
                    <a:pt x="860" y="376"/>
                    <a:pt x="864" y="376"/>
                    <a:pt x="868" y="376"/>
                  </a:cubicBezTo>
                  <a:cubicBezTo>
                    <a:pt x="878" y="376"/>
                    <a:pt x="888" y="370"/>
                    <a:pt x="892" y="359"/>
                  </a:cubicBezTo>
                  <a:cubicBezTo>
                    <a:pt x="898" y="345"/>
                    <a:pt x="891" y="330"/>
                    <a:pt x="878" y="323"/>
                  </a:cubicBezTo>
                  <a:lnTo>
                    <a:pt x="107" y="2"/>
                  </a:lnTo>
                  <a:cubicBezTo>
                    <a:pt x="104" y="1"/>
                    <a:pt x="101" y="0"/>
                    <a:pt x="98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812;p22">
              <a:extLst>
                <a:ext uri="{FF2B5EF4-FFF2-40B4-BE49-F238E27FC236}">
                  <a16:creationId xmlns:a16="http://schemas.microsoft.com/office/drawing/2014/main" xmlns="" id="{D988ACB3-4BF4-4FFE-B981-2EA771F7175B}"/>
                </a:ext>
              </a:extLst>
            </p:cNvPr>
            <p:cNvSpPr/>
            <p:nvPr/>
          </p:nvSpPr>
          <p:spPr>
            <a:xfrm>
              <a:off x="6354708" y="2554875"/>
              <a:ext cx="31007" cy="5583"/>
            </a:xfrm>
            <a:custGeom>
              <a:avLst/>
              <a:gdLst/>
              <a:ahLst/>
              <a:cxnLst/>
              <a:rect l="l" t="t" r="r" b="b"/>
              <a:pathLst>
                <a:path w="311" h="56" extrusionOk="0">
                  <a:moveTo>
                    <a:pt x="29" y="0"/>
                  </a:moveTo>
                  <a:cubicBezTo>
                    <a:pt x="13" y="0"/>
                    <a:pt x="1" y="12"/>
                    <a:pt x="1" y="27"/>
                  </a:cubicBezTo>
                  <a:cubicBezTo>
                    <a:pt x="1" y="43"/>
                    <a:pt x="13" y="55"/>
                    <a:pt x="29" y="55"/>
                  </a:cubicBezTo>
                  <a:lnTo>
                    <a:pt x="284" y="55"/>
                  </a:lnTo>
                  <a:cubicBezTo>
                    <a:pt x="298" y="55"/>
                    <a:pt x="311" y="43"/>
                    <a:pt x="311" y="27"/>
                  </a:cubicBezTo>
                  <a:cubicBezTo>
                    <a:pt x="311" y="12"/>
                    <a:pt x="298" y="0"/>
                    <a:pt x="284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813;p22">
              <a:extLst>
                <a:ext uri="{FF2B5EF4-FFF2-40B4-BE49-F238E27FC236}">
                  <a16:creationId xmlns:a16="http://schemas.microsoft.com/office/drawing/2014/main" xmlns="" id="{8C6CBC6C-B073-4C61-BAF0-E96A69CF1D03}"/>
                </a:ext>
              </a:extLst>
            </p:cNvPr>
            <p:cNvSpPr/>
            <p:nvPr/>
          </p:nvSpPr>
          <p:spPr>
            <a:xfrm>
              <a:off x="6303761" y="2554975"/>
              <a:ext cx="56332" cy="56432"/>
            </a:xfrm>
            <a:custGeom>
              <a:avLst/>
              <a:gdLst/>
              <a:ahLst/>
              <a:cxnLst/>
              <a:rect l="l" t="t" r="r" b="b"/>
              <a:pathLst>
                <a:path w="565" h="566" extrusionOk="0">
                  <a:moveTo>
                    <a:pt x="283" y="52"/>
                  </a:moveTo>
                  <a:cubicBezTo>
                    <a:pt x="410" y="52"/>
                    <a:pt x="513" y="155"/>
                    <a:pt x="513" y="283"/>
                  </a:cubicBezTo>
                  <a:cubicBezTo>
                    <a:pt x="513" y="411"/>
                    <a:pt x="410" y="514"/>
                    <a:pt x="283" y="514"/>
                  </a:cubicBezTo>
                  <a:cubicBezTo>
                    <a:pt x="155" y="514"/>
                    <a:pt x="52" y="411"/>
                    <a:pt x="52" y="283"/>
                  </a:cubicBezTo>
                  <a:cubicBezTo>
                    <a:pt x="52" y="155"/>
                    <a:pt x="155" y="52"/>
                    <a:pt x="283" y="52"/>
                  </a:cubicBezTo>
                  <a:close/>
                  <a:moveTo>
                    <a:pt x="283" y="1"/>
                  </a:moveTo>
                  <a:cubicBezTo>
                    <a:pt x="127" y="1"/>
                    <a:pt x="0" y="127"/>
                    <a:pt x="0" y="283"/>
                  </a:cubicBezTo>
                  <a:cubicBezTo>
                    <a:pt x="0" y="439"/>
                    <a:pt x="127" y="566"/>
                    <a:pt x="283" y="566"/>
                  </a:cubicBezTo>
                  <a:cubicBezTo>
                    <a:pt x="438" y="566"/>
                    <a:pt x="565" y="439"/>
                    <a:pt x="565" y="283"/>
                  </a:cubicBezTo>
                  <a:cubicBezTo>
                    <a:pt x="565" y="127"/>
                    <a:pt x="438" y="1"/>
                    <a:pt x="283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814;p22">
              <a:extLst>
                <a:ext uri="{FF2B5EF4-FFF2-40B4-BE49-F238E27FC236}">
                  <a16:creationId xmlns:a16="http://schemas.microsoft.com/office/drawing/2014/main" xmlns="" id="{CDCD8C7F-88F6-4048-8C07-7B1FF74FA759}"/>
                </a:ext>
              </a:extLst>
            </p:cNvPr>
            <p:cNvSpPr/>
            <p:nvPr/>
          </p:nvSpPr>
          <p:spPr>
            <a:xfrm>
              <a:off x="6373552" y="2563948"/>
              <a:ext cx="70490" cy="102494"/>
            </a:xfrm>
            <a:custGeom>
              <a:avLst/>
              <a:gdLst/>
              <a:ahLst/>
              <a:cxnLst/>
              <a:rect l="l" t="t" r="r" b="b"/>
              <a:pathLst>
                <a:path w="707" h="1028" extrusionOk="0">
                  <a:moveTo>
                    <a:pt x="353" y="64"/>
                  </a:moveTo>
                  <a:cubicBezTo>
                    <a:pt x="539" y="64"/>
                    <a:pt x="636" y="111"/>
                    <a:pt x="642" y="129"/>
                  </a:cubicBezTo>
                  <a:cubicBezTo>
                    <a:pt x="636" y="147"/>
                    <a:pt x="539" y="193"/>
                    <a:pt x="353" y="193"/>
                  </a:cubicBezTo>
                  <a:cubicBezTo>
                    <a:pt x="165" y="193"/>
                    <a:pt x="69" y="146"/>
                    <a:pt x="64" y="130"/>
                  </a:cubicBezTo>
                  <a:lnTo>
                    <a:pt x="64" y="129"/>
                  </a:lnTo>
                  <a:cubicBezTo>
                    <a:pt x="69" y="112"/>
                    <a:pt x="165" y="64"/>
                    <a:pt x="353" y="64"/>
                  </a:cubicBezTo>
                  <a:close/>
                  <a:moveTo>
                    <a:pt x="642" y="207"/>
                  </a:moveTo>
                  <a:lnTo>
                    <a:pt x="642" y="257"/>
                  </a:lnTo>
                  <a:cubicBezTo>
                    <a:pt x="637" y="275"/>
                    <a:pt x="541" y="321"/>
                    <a:pt x="353" y="321"/>
                  </a:cubicBezTo>
                  <a:cubicBezTo>
                    <a:pt x="165" y="321"/>
                    <a:pt x="69" y="275"/>
                    <a:pt x="64" y="257"/>
                  </a:cubicBezTo>
                  <a:lnTo>
                    <a:pt x="64" y="207"/>
                  </a:lnTo>
                  <a:cubicBezTo>
                    <a:pt x="132" y="241"/>
                    <a:pt x="246" y="257"/>
                    <a:pt x="353" y="257"/>
                  </a:cubicBezTo>
                  <a:cubicBezTo>
                    <a:pt x="461" y="257"/>
                    <a:pt x="574" y="241"/>
                    <a:pt x="642" y="207"/>
                  </a:cubicBezTo>
                  <a:close/>
                  <a:moveTo>
                    <a:pt x="642" y="335"/>
                  </a:moveTo>
                  <a:lnTo>
                    <a:pt x="642" y="385"/>
                  </a:lnTo>
                  <a:cubicBezTo>
                    <a:pt x="637" y="403"/>
                    <a:pt x="541" y="450"/>
                    <a:pt x="353" y="450"/>
                  </a:cubicBezTo>
                  <a:cubicBezTo>
                    <a:pt x="165" y="450"/>
                    <a:pt x="69" y="403"/>
                    <a:pt x="64" y="386"/>
                  </a:cubicBezTo>
                  <a:lnTo>
                    <a:pt x="64" y="335"/>
                  </a:lnTo>
                  <a:cubicBezTo>
                    <a:pt x="132" y="369"/>
                    <a:pt x="246" y="386"/>
                    <a:pt x="353" y="386"/>
                  </a:cubicBezTo>
                  <a:cubicBezTo>
                    <a:pt x="461" y="386"/>
                    <a:pt x="574" y="369"/>
                    <a:pt x="642" y="335"/>
                  </a:cubicBezTo>
                  <a:close/>
                  <a:moveTo>
                    <a:pt x="642" y="463"/>
                  </a:moveTo>
                  <a:lnTo>
                    <a:pt x="642" y="514"/>
                  </a:lnTo>
                  <a:cubicBezTo>
                    <a:pt x="637" y="532"/>
                    <a:pt x="541" y="579"/>
                    <a:pt x="353" y="579"/>
                  </a:cubicBezTo>
                  <a:cubicBezTo>
                    <a:pt x="165" y="579"/>
                    <a:pt x="69" y="532"/>
                    <a:pt x="64" y="514"/>
                  </a:cubicBezTo>
                  <a:lnTo>
                    <a:pt x="64" y="463"/>
                  </a:lnTo>
                  <a:cubicBezTo>
                    <a:pt x="132" y="498"/>
                    <a:pt x="246" y="514"/>
                    <a:pt x="353" y="514"/>
                  </a:cubicBezTo>
                  <a:cubicBezTo>
                    <a:pt x="461" y="514"/>
                    <a:pt x="574" y="498"/>
                    <a:pt x="642" y="463"/>
                  </a:cubicBezTo>
                  <a:close/>
                  <a:moveTo>
                    <a:pt x="642" y="592"/>
                  </a:moveTo>
                  <a:lnTo>
                    <a:pt x="642" y="642"/>
                  </a:lnTo>
                  <a:cubicBezTo>
                    <a:pt x="637" y="660"/>
                    <a:pt x="541" y="707"/>
                    <a:pt x="353" y="707"/>
                  </a:cubicBezTo>
                  <a:cubicBezTo>
                    <a:pt x="165" y="707"/>
                    <a:pt x="69" y="660"/>
                    <a:pt x="64" y="642"/>
                  </a:cubicBezTo>
                  <a:lnTo>
                    <a:pt x="64" y="592"/>
                  </a:lnTo>
                  <a:cubicBezTo>
                    <a:pt x="132" y="627"/>
                    <a:pt x="246" y="642"/>
                    <a:pt x="353" y="642"/>
                  </a:cubicBezTo>
                  <a:cubicBezTo>
                    <a:pt x="461" y="642"/>
                    <a:pt x="574" y="627"/>
                    <a:pt x="642" y="592"/>
                  </a:cubicBezTo>
                  <a:close/>
                  <a:moveTo>
                    <a:pt x="642" y="720"/>
                  </a:moveTo>
                  <a:lnTo>
                    <a:pt x="642" y="771"/>
                  </a:lnTo>
                  <a:cubicBezTo>
                    <a:pt x="637" y="788"/>
                    <a:pt x="541" y="835"/>
                    <a:pt x="353" y="835"/>
                  </a:cubicBezTo>
                  <a:cubicBezTo>
                    <a:pt x="165" y="835"/>
                    <a:pt x="69" y="788"/>
                    <a:pt x="64" y="771"/>
                  </a:cubicBezTo>
                  <a:lnTo>
                    <a:pt x="64" y="720"/>
                  </a:lnTo>
                  <a:cubicBezTo>
                    <a:pt x="132" y="755"/>
                    <a:pt x="246" y="771"/>
                    <a:pt x="353" y="771"/>
                  </a:cubicBezTo>
                  <a:cubicBezTo>
                    <a:pt x="461" y="771"/>
                    <a:pt x="574" y="755"/>
                    <a:pt x="642" y="720"/>
                  </a:cubicBezTo>
                  <a:close/>
                  <a:moveTo>
                    <a:pt x="642" y="848"/>
                  </a:moveTo>
                  <a:lnTo>
                    <a:pt x="642" y="899"/>
                  </a:lnTo>
                  <a:cubicBezTo>
                    <a:pt x="637" y="917"/>
                    <a:pt x="541" y="964"/>
                    <a:pt x="353" y="964"/>
                  </a:cubicBezTo>
                  <a:cubicBezTo>
                    <a:pt x="165" y="964"/>
                    <a:pt x="69" y="917"/>
                    <a:pt x="64" y="899"/>
                  </a:cubicBezTo>
                  <a:lnTo>
                    <a:pt x="64" y="848"/>
                  </a:lnTo>
                  <a:cubicBezTo>
                    <a:pt x="132" y="883"/>
                    <a:pt x="246" y="899"/>
                    <a:pt x="353" y="899"/>
                  </a:cubicBezTo>
                  <a:cubicBezTo>
                    <a:pt x="461" y="899"/>
                    <a:pt x="574" y="883"/>
                    <a:pt x="642" y="848"/>
                  </a:cubicBezTo>
                  <a:close/>
                  <a:moveTo>
                    <a:pt x="353" y="1"/>
                  </a:moveTo>
                  <a:cubicBezTo>
                    <a:pt x="183" y="1"/>
                    <a:pt x="0" y="41"/>
                    <a:pt x="0" y="129"/>
                  </a:cubicBezTo>
                  <a:lnTo>
                    <a:pt x="0" y="899"/>
                  </a:lnTo>
                  <a:cubicBezTo>
                    <a:pt x="0" y="987"/>
                    <a:pt x="183" y="1027"/>
                    <a:pt x="353" y="1027"/>
                  </a:cubicBezTo>
                  <a:cubicBezTo>
                    <a:pt x="523" y="1027"/>
                    <a:pt x="707" y="987"/>
                    <a:pt x="707" y="899"/>
                  </a:cubicBezTo>
                  <a:lnTo>
                    <a:pt x="707" y="129"/>
                  </a:lnTo>
                  <a:cubicBezTo>
                    <a:pt x="707" y="41"/>
                    <a:pt x="523" y="1"/>
                    <a:pt x="353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815;p22">
              <a:extLst>
                <a:ext uri="{FF2B5EF4-FFF2-40B4-BE49-F238E27FC236}">
                  <a16:creationId xmlns:a16="http://schemas.microsoft.com/office/drawing/2014/main" xmlns="" id="{32E1512D-D1E6-43C1-B2AD-93C44E0EEAFF}"/>
                </a:ext>
              </a:extLst>
            </p:cNvPr>
            <p:cNvSpPr/>
            <p:nvPr/>
          </p:nvSpPr>
          <p:spPr>
            <a:xfrm>
              <a:off x="6265176" y="2554875"/>
              <a:ext cx="43969" cy="56731"/>
            </a:xfrm>
            <a:custGeom>
              <a:avLst/>
              <a:gdLst/>
              <a:ahLst/>
              <a:cxnLst/>
              <a:rect l="l" t="t" r="r" b="b"/>
              <a:pathLst>
                <a:path w="441" h="569" extrusionOk="0">
                  <a:moveTo>
                    <a:pt x="171" y="0"/>
                  </a:moveTo>
                  <a:cubicBezTo>
                    <a:pt x="164" y="0"/>
                    <a:pt x="157" y="3"/>
                    <a:pt x="152" y="8"/>
                  </a:cubicBezTo>
                  <a:lnTo>
                    <a:pt x="8" y="148"/>
                  </a:lnTo>
                  <a:cubicBezTo>
                    <a:pt x="3" y="154"/>
                    <a:pt x="0" y="162"/>
                    <a:pt x="0" y="170"/>
                  </a:cubicBezTo>
                  <a:lnTo>
                    <a:pt x="0" y="398"/>
                  </a:lnTo>
                  <a:cubicBezTo>
                    <a:pt x="0" y="405"/>
                    <a:pt x="3" y="412"/>
                    <a:pt x="7" y="416"/>
                  </a:cubicBezTo>
                  <a:lnTo>
                    <a:pt x="138" y="560"/>
                  </a:lnTo>
                  <a:cubicBezTo>
                    <a:pt x="143" y="565"/>
                    <a:pt x="150" y="568"/>
                    <a:pt x="158" y="568"/>
                  </a:cubicBezTo>
                  <a:lnTo>
                    <a:pt x="413" y="568"/>
                  </a:lnTo>
                  <a:cubicBezTo>
                    <a:pt x="428" y="568"/>
                    <a:pt x="440" y="556"/>
                    <a:pt x="440" y="541"/>
                  </a:cubicBezTo>
                  <a:cubicBezTo>
                    <a:pt x="440" y="526"/>
                    <a:pt x="428" y="513"/>
                    <a:pt x="413" y="513"/>
                  </a:cubicBezTo>
                  <a:lnTo>
                    <a:pt x="171" y="513"/>
                  </a:lnTo>
                  <a:lnTo>
                    <a:pt x="55" y="388"/>
                  </a:lnTo>
                  <a:lnTo>
                    <a:pt x="55" y="179"/>
                  </a:lnTo>
                  <a:lnTo>
                    <a:pt x="182" y="55"/>
                  </a:lnTo>
                  <a:lnTo>
                    <a:pt x="413" y="55"/>
                  </a:lnTo>
                  <a:cubicBezTo>
                    <a:pt x="428" y="55"/>
                    <a:pt x="440" y="43"/>
                    <a:pt x="440" y="27"/>
                  </a:cubicBezTo>
                  <a:cubicBezTo>
                    <a:pt x="440" y="12"/>
                    <a:pt x="428" y="0"/>
                    <a:pt x="413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816;p22">
              <a:extLst>
                <a:ext uri="{FF2B5EF4-FFF2-40B4-BE49-F238E27FC236}">
                  <a16:creationId xmlns:a16="http://schemas.microsoft.com/office/drawing/2014/main" xmlns="" id="{D42CF75C-529B-47E9-93A9-6815860B3852}"/>
                </a:ext>
              </a:extLst>
            </p:cNvPr>
            <p:cNvSpPr/>
            <p:nvPr/>
          </p:nvSpPr>
          <p:spPr>
            <a:xfrm>
              <a:off x="6322305" y="2568734"/>
              <a:ext cx="19243" cy="28914"/>
            </a:xfrm>
            <a:custGeom>
              <a:avLst/>
              <a:gdLst/>
              <a:ahLst/>
              <a:cxnLst/>
              <a:rect l="l" t="t" r="r" b="b"/>
              <a:pathLst>
                <a:path w="193" h="290" extrusionOk="0">
                  <a:moveTo>
                    <a:pt x="97" y="1"/>
                  </a:moveTo>
                  <a:cubicBezTo>
                    <a:pt x="79" y="1"/>
                    <a:pt x="65" y="15"/>
                    <a:pt x="65" y="33"/>
                  </a:cubicBezTo>
                  <a:lnTo>
                    <a:pt x="65" y="34"/>
                  </a:lnTo>
                  <a:cubicBezTo>
                    <a:pt x="29" y="39"/>
                    <a:pt x="2" y="69"/>
                    <a:pt x="0" y="105"/>
                  </a:cubicBezTo>
                  <a:cubicBezTo>
                    <a:pt x="3" y="146"/>
                    <a:pt x="36" y="177"/>
                    <a:pt x="76" y="177"/>
                  </a:cubicBezTo>
                  <a:cubicBezTo>
                    <a:pt x="77" y="177"/>
                    <a:pt x="79" y="177"/>
                    <a:pt x="80" y="177"/>
                  </a:cubicBezTo>
                  <a:lnTo>
                    <a:pt x="113" y="177"/>
                  </a:lnTo>
                  <a:cubicBezTo>
                    <a:pt x="123" y="177"/>
                    <a:pt x="129" y="183"/>
                    <a:pt x="129" y="185"/>
                  </a:cubicBezTo>
                  <a:cubicBezTo>
                    <a:pt x="129" y="188"/>
                    <a:pt x="123" y="194"/>
                    <a:pt x="113" y="194"/>
                  </a:cubicBezTo>
                  <a:lnTo>
                    <a:pt x="32" y="194"/>
                  </a:lnTo>
                  <a:cubicBezTo>
                    <a:pt x="15" y="194"/>
                    <a:pt x="0" y="208"/>
                    <a:pt x="0" y="225"/>
                  </a:cubicBezTo>
                  <a:cubicBezTo>
                    <a:pt x="0" y="243"/>
                    <a:pt x="15" y="257"/>
                    <a:pt x="32" y="257"/>
                  </a:cubicBezTo>
                  <a:lnTo>
                    <a:pt x="65" y="257"/>
                  </a:lnTo>
                  <a:cubicBezTo>
                    <a:pt x="65" y="275"/>
                    <a:pt x="79" y="290"/>
                    <a:pt x="97" y="290"/>
                  </a:cubicBezTo>
                  <a:cubicBezTo>
                    <a:pt x="114" y="290"/>
                    <a:pt x="129" y="275"/>
                    <a:pt x="129" y="257"/>
                  </a:cubicBezTo>
                  <a:lnTo>
                    <a:pt x="129" y="256"/>
                  </a:lnTo>
                  <a:cubicBezTo>
                    <a:pt x="164" y="251"/>
                    <a:pt x="191" y="222"/>
                    <a:pt x="193" y="186"/>
                  </a:cubicBezTo>
                  <a:cubicBezTo>
                    <a:pt x="190" y="145"/>
                    <a:pt x="157" y="113"/>
                    <a:pt x="117" y="113"/>
                  </a:cubicBezTo>
                  <a:cubicBezTo>
                    <a:pt x="116" y="113"/>
                    <a:pt x="114" y="113"/>
                    <a:pt x="113" y="113"/>
                  </a:cubicBezTo>
                  <a:lnTo>
                    <a:pt x="80" y="113"/>
                  </a:lnTo>
                  <a:cubicBezTo>
                    <a:pt x="71" y="113"/>
                    <a:pt x="65" y="107"/>
                    <a:pt x="65" y="105"/>
                  </a:cubicBezTo>
                  <a:cubicBezTo>
                    <a:pt x="65" y="103"/>
                    <a:pt x="71" y="97"/>
                    <a:pt x="80" y="97"/>
                  </a:cubicBezTo>
                  <a:lnTo>
                    <a:pt x="161" y="97"/>
                  </a:lnTo>
                  <a:cubicBezTo>
                    <a:pt x="179" y="97"/>
                    <a:pt x="193" y="83"/>
                    <a:pt x="193" y="65"/>
                  </a:cubicBezTo>
                  <a:cubicBezTo>
                    <a:pt x="193" y="47"/>
                    <a:pt x="179" y="33"/>
                    <a:pt x="161" y="33"/>
                  </a:cubicBezTo>
                  <a:lnTo>
                    <a:pt x="129" y="33"/>
                  </a:lnTo>
                  <a:cubicBezTo>
                    <a:pt x="129" y="15"/>
                    <a:pt x="114" y="1"/>
                    <a:pt x="97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737;p22">
            <a:extLst>
              <a:ext uri="{FF2B5EF4-FFF2-40B4-BE49-F238E27FC236}">
                <a16:creationId xmlns:a16="http://schemas.microsoft.com/office/drawing/2014/main" xmlns="" id="{D1E2F8BE-C477-481C-B5DD-F0078C60DC57}"/>
              </a:ext>
            </a:extLst>
          </p:cNvPr>
          <p:cNvSpPr txBox="1"/>
          <p:nvPr/>
        </p:nvSpPr>
        <p:spPr>
          <a:xfrm>
            <a:off x="13510609" y="3567995"/>
            <a:ext cx="1541475" cy="51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  <a:ea typeface="Roboto"/>
                <a:cs typeface="Roboto"/>
                <a:sym typeface="Roboto"/>
              </a:rPr>
              <a:t>“</a:t>
            </a: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</a:rPr>
              <a:t>'Development strategy cluster</a:t>
            </a: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  <a:ea typeface="Roboto"/>
                <a:cs typeface="Roboto"/>
                <a:sym typeface="Roboto"/>
              </a:rPr>
              <a:t>”</a:t>
            </a:r>
            <a:endParaRPr sz="1400" dirty="0">
              <a:solidFill>
                <a:schemeClr val="bg1"/>
              </a:solidFill>
              <a:latin typeface="DM Sans Bold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xmlns="" id="{FA2DC303-7DBD-4CF2-9277-5B208A6D4843}"/>
              </a:ext>
            </a:extLst>
          </p:cNvPr>
          <p:cNvSpPr txBox="1"/>
          <p:nvPr/>
        </p:nvSpPr>
        <p:spPr>
          <a:xfrm>
            <a:off x="13716000" y="1247781"/>
            <a:ext cx="37705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</a:rPr>
              <a:t>SPIRITUAL AND EDUCATIONAL AFFAIRS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xmlns="" id="{6D11FAFB-796A-4827-A2EA-9CEE058ADC3F}"/>
              </a:ext>
            </a:extLst>
          </p:cNvPr>
          <p:cNvSpPr txBox="1"/>
          <p:nvPr/>
        </p:nvSpPr>
        <p:spPr>
          <a:xfrm>
            <a:off x="13411200" y="1562100"/>
            <a:ext cx="39991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" pitchFamily="2" charset="0"/>
              </a:rPr>
              <a:t>CLUBS AND CIRCLES ORGANIZED WITHIN THE FRAMEWORK OF THE 'DEVELOPMENT STRATEGY CLUSTER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BA58D7F1-F557-4F8C-8824-9884664B34AF}"/>
              </a:ext>
            </a:extLst>
          </p:cNvPr>
          <p:cNvSpPr txBox="1"/>
          <p:nvPr/>
        </p:nvSpPr>
        <p:spPr>
          <a:xfrm>
            <a:off x="12680145" y="5773549"/>
            <a:ext cx="4847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</a:rPr>
              <a:t>ENHANCING THE ENGAGEMENT OF FEMALE STUDENTS</a:t>
            </a:r>
          </a:p>
        </p:txBody>
      </p:sp>
      <p:sp>
        <p:nvSpPr>
          <p:cNvPr id="273" name="Text 0">
            <a:extLst>
              <a:ext uri="{FF2B5EF4-FFF2-40B4-BE49-F238E27FC236}">
                <a16:creationId xmlns:a16="http://schemas.microsoft.com/office/drawing/2014/main" xmlns="" id="{E5644A16-40CC-4837-BA5C-2CFAC8F4C9E7}"/>
              </a:ext>
            </a:extLst>
          </p:cNvPr>
          <p:cNvSpPr/>
          <p:nvPr/>
        </p:nvSpPr>
        <p:spPr>
          <a:xfrm>
            <a:off x="12984300" y="6204703"/>
            <a:ext cx="2344597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 Bold" charset="0"/>
                <a:ea typeface="Crimson Pro Semi Bold" pitchFamily="34" charset="-122"/>
                <a:cs typeface="Crimson Pro Semi Bold" pitchFamily="34" charset="-120"/>
              </a:rPr>
              <a:t>“Student ensemble ”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274" name="Text 0">
            <a:extLst>
              <a:ext uri="{FF2B5EF4-FFF2-40B4-BE49-F238E27FC236}">
                <a16:creationId xmlns:a16="http://schemas.microsoft.com/office/drawing/2014/main" xmlns="" id="{C44EF4B2-9640-4F1A-995E-BB2D858B35D6}"/>
              </a:ext>
            </a:extLst>
          </p:cNvPr>
          <p:cNvSpPr/>
          <p:nvPr/>
        </p:nvSpPr>
        <p:spPr>
          <a:xfrm>
            <a:off x="12978552" y="6614940"/>
            <a:ext cx="4847369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“University honor” 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</a:rPr>
              <a:t>Introducing a special breast insignia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275" name="Text 0">
            <a:extLst>
              <a:ext uri="{FF2B5EF4-FFF2-40B4-BE49-F238E27FC236}">
                <a16:creationId xmlns:a16="http://schemas.microsoft.com/office/drawing/2014/main" xmlns="" id="{A61F62BC-05A0-43DB-885E-434B5504AD58}"/>
              </a:ext>
            </a:extLst>
          </p:cNvPr>
          <p:cNvSpPr/>
          <p:nvPr/>
        </p:nvSpPr>
        <p:spPr>
          <a:xfrm>
            <a:off x="13012128" y="7046320"/>
            <a:ext cx="4715530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“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</a:rPr>
              <a:t>"Embroidery and Design" club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276" name="Text 0">
            <a:extLst>
              <a:ext uri="{FF2B5EF4-FFF2-40B4-BE49-F238E27FC236}">
                <a16:creationId xmlns:a16="http://schemas.microsoft.com/office/drawing/2014/main" xmlns="" id="{8EB602EF-6824-4383-896B-D6B1A4C9E102}"/>
              </a:ext>
            </a:extLst>
          </p:cNvPr>
          <p:cNvSpPr/>
          <p:nvPr/>
        </p:nvSpPr>
        <p:spPr>
          <a:xfrm>
            <a:off x="12996806" y="7506285"/>
            <a:ext cx="4413581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</a:rPr>
              <a:t>“Establishing the activities of the '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</a:rPr>
              <a:t>Zulfiyaxonim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</a:rPr>
              <a:t> Followers’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</a:rPr>
              <a:t>club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xmlns="" id="{AF1D99FE-DBF1-4E4B-A3A7-CD139232A69D}"/>
              </a:ext>
            </a:extLst>
          </p:cNvPr>
          <p:cNvSpPr txBox="1"/>
          <p:nvPr/>
        </p:nvSpPr>
        <p:spPr>
          <a:xfrm>
            <a:off x="12861144" y="8066600"/>
            <a:ext cx="49764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DM Sans" pitchFamily="2" charset="0"/>
              </a:rPr>
              <a:t>Establishing the activities of the 'Student Media Center'</a:t>
            </a:r>
          </a:p>
        </p:txBody>
      </p:sp>
      <p:sp>
        <p:nvSpPr>
          <p:cNvPr id="278" name="Text 0">
            <a:extLst>
              <a:ext uri="{FF2B5EF4-FFF2-40B4-BE49-F238E27FC236}">
                <a16:creationId xmlns:a16="http://schemas.microsoft.com/office/drawing/2014/main" xmlns="" id="{164919CB-9669-4660-BD79-C7C7CAE531E7}"/>
              </a:ext>
            </a:extLst>
          </p:cNvPr>
          <p:cNvSpPr/>
          <p:nvPr/>
        </p:nvSpPr>
        <p:spPr>
          <a:xfrm>
            <a:off x="11864548" y="8827683"/>
            <a:ext cx="1409027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" charset="0"/>
                <a:ea typeface="Crimson Pro Semi Bold" pitchFamily="34" charset="-122"/>
                <a:cs typeface="Crimson Pro Semi Bold" pitchFamily="34" charset="-120"/>
              </a:rPr>
              <a:t>Student press club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279" name="Text 0">
            <a:extLst>
              <a:ext uri="{FF2B5EF4-FFF2-40B4-BE49-F238E27FC236}">
                <a16:creationId xmlns:a16="http://schemas.microsoft.com/office/drawing/2014/main" xmlns="" id="{6E8AF1FA-626E-4397-9CF1-A65E9ABF9C06}"/>
              </a:ext>
            </a:extLst>
          </p:cNvPr>
          <p:cNvSpPr/>
          <p:nvPr/>
        </p:nvSpPr>
        <p:spPr>
          <a:xfrm>
            <a:off x="12064403" y="9558406"/>
            <a:ext cx="1251183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" charset="0"/>
              </a:rPr>
              <a:t>Graphic design</a:t>
            </a:r>
          </a:p>
          <a:p>
            <a:pPr marL="0" indent="0">
              <a:buNone/>
            </a:pP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280" name="Text 0">
            <a:extLst>
              <a:ext uri="{FF2B5EF4-FFF2-40B4-BE49-F238E27FC236}">
                <a16:creationId xmlns:a16="http://schemas.microsoft.com/office/drawing/2014/main" xmlns="" id="{38DDE4ED-2D01-40D2-8BE7-335511007A03}"/>
              </a:ext>
            </a:extLst>
          </p:cNvPr>
          <p:cNvSpPr/>
          <p:nvPr/>
        </p:nvSpPr>
        <p:spPr>
          <a:xfrm>
            <a:off x="14643750" y="8834964"/>
            <a:ext cx="843837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bg1"/>
                </a:solidFill>
                <a:latin typeface="DM Sans" charset="0"/>
                <a:ea typeface="Crimson Pro Semi Bold" pitchFamily="34" charset="-122"/>
                <a:cs typeface="Crimson Pro Semi Bold" pitchFamily="34" charset="-120"/>
              </a:rPr>
              <a:t>Telestudio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281" name="Text 0">
            <a:extLst>
              <a:ext uri="{FF2B5EF4-FFF2-40B4-BE49-F238E27FC236}">
                <a16:creationId xmlns:a16="http://schemas.microsoft.com/office/drawing/2014/main" xmlns="" id="{697565B4-33EF-492D-B545-7EB21D9C72F7}"/>
              </a:ext>
            </a:extLst>
          </p:cNvPr>
          <p:cNvSpPr/>
          <p:nvPr/>
        </p:nvSpPr>
        <p:spPr>
          <a:xfrm>
            <a:off x="14630027" y="9558100"/>
            <a:ext cx="683337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bg1"/>
                </a:solidFill>
                <a:latin typeface="DM Sans" charset="0"/>
              </a:rPr>
              <a:t>Mediapult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282" name="Text 0">
            <a:extLst>
              <a:ext uri="{FF2B5EF4-FFF2-40B4-BE49-F238E27FC236}">
                <a16:creationId xmlns:a16="http://schemas.microsoft.com/office/drawing/2014/main" xmlns="" id="{C4A0D92C-E6FE-4405-82C5-6956C4EE5DAD}"/>
              </a:ext>
            </a:extLst>
          </p:cNvPr>
          <p:cNvSpPr/>
          <p:nvPr/>
        </p:nvSpPr>
        <p:spPr>
          <a:xfrm>
            <a:off x="16453563" y="8807768"/>
            <a:ext cx="843837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" charset="0"/>
              </a:rPr>
              <a:t>Mobile photography 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283" name="Text 0">
            <a:extLst>
              <a:ext uri="{FF2B5EF4-FFF2-40B4-BE49-F238E27FC236}">
                <a16:creationId xmlns:a16="http://schemas.microsoft.com/office/drawing/2014/main" xmlns="" id="{15290FD1-7916-4456-A9B2-EFF7DF2883D2}"/>
              </a:ext>
            </a:extLst>
          </p:cNvPr>
          <p:cNvSpPr/>
          <p:nvPr/>
        </p:nvSpPr>
        <p:spPr>
          <a:xfrm>
            <a:off x="16582046" y="9562794"/>
            <a:ext cx="683337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</a:rPr>
              <a:t>Social Media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</a:rPr>
              <a:t>Marketing Manager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pic>
        <p:nvPicPr>
          <p:cNvPr id="284" name="Рисунок 283" descr="Расширение бизнеса со сплошной заливкой">
            <a:extLst>
              <a:ext uri="{FF2B5EF4-FFF2-40B4-BE49-F238E27FC236}">
                <a16:creationId xmlns:a16="http://schemas.microsoft.com/office/drawing/2014/main" xmlns="" id="{BE008446-AF1B-478E-B658-F61071F5C8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571028" y="6568096"/>
            <a:ext cx="292783" cy="292783"/>
          </a:xfrm>
          <a:prstGeom prst="rect">
            <a:avLst/>
          </a:prstGeom>
        </p:spPr>
      </p:pic>
      <p:pic>
        <p:nvPicPr>
          <p:cNvPr id="285" name="Рисунок 284" descr="Группа женщин со сплошной заливкой">
            <a:extLst>
              <a:ext uri="{FF2B5EF4-FFF2-40B4-BE49-F238E27FC236}">
                <a16:creationId xmlns:a16="http://schemas.microsoft.com/office/drawing/2014/main" xmlns="" id="{18E6BC06-8397-4B9D-86DF-A03F57ADCD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2597897" y="7474552"/>
            <a:ext cx="292783" cy="292783"/>
          </a:xfrm>
          <a:prstGeom prst="rect">
            <a:avLst/>
          </a:prstGeom>
        </p:spPr>
      </p:pic>
      <p:pic>
        <p:nvPicPr>
          <p:cNvPr id="286" name="Рисунок 285" descr="Маркетинг со сплошной заливкой">
            <a:extLst>
              <a:ext uri="{FF2B5EF4-FFF2-40B4-BE49-F238E27FC236}">
                <a16:creationId xmlns:a16="http://schemas.microsoft.com/office/drawing/2014/main" xmlns="" id="{5158641C-20FA-435B-9F6A-E3D883EDBB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4101798" y="9454268"/>
            <a:ext cx="339776" cy="339776"/>
          </a:xfrm>
          <a:prstGeom prst="rect">
            <a:avLst/>
          </a:prstGeom>
        </p:spPr>
      </p:pic>
      <p:pic>
        <p:nvPicPr>
          <p:cNvPr id="287" name="Рисунок 286" descr="Собрание со сплошной заливкой">
            <a:extLst>
              <a:ext uri="{FF2B5EF4-FFF2-40B4-BE49-F238E27FC236}">
                <a16:creationId xmlns:a16="http://schemas.microsoft.com/office/drawing/2014/main" xmlns="" id="{76791C3B-649C-43E5-AB7C-DE28DA06B7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1430001" y="8717502"/>
            <a:ext cx="381868" cy="381868"/>
          </a:xfrm>
          <a:prstGeom prst="rect">
            <a:avLst/>
          </a:prstGeom>
        </p:spPr>
      </p:pic>
      <p:pic>
        <p:nvPicPr>
          <p:cNvPr id="288" name="Рисунок 287" descr="Музыкальные ноты со сплошной заливкой">
            <a:extLst>
              <a:ext uri="{FF2B5EF4-FFF2-40B4-BE49-F238E27FC236}">
                <a16:creationId xmlns:a16="http://schemas.microsoft.com/office/drawing/2014/main" xmlns="" id="{3EE27EBA-CDD1-4767-B06B-4B7B0EF9383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2568145" y="6094121"/>
            <a:ext cx="352288" cy="352288"/>
          </a:xfrm>
          <a:prstGeom prst="rect">
            <a:avLst/>
          </a:prstGeom>
        </p:spPr>
      </p:pic>
      <p:pic>
        <p:nvPicPr>
          <p:cNvPr id="289" name="Рисунок 288" descr="Пьедестал со сплошной заливкой">
            <a:extLst>
              <a:ext uri="{FF2B5EF4-FFF2-40B4-BE49-F238E27FC236}">
                <a16:creationId xmlns:a16="http://schemas.microsoft.com/office/drawing/2014/main" xmlns="" id="{CB927E11-CC4C-4991-9A4D-E74C6FF4129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2589327" y="7002100"/>
            <a:ext cx="329033" cy="329033"/>
          </a:xfrm>
          <a:prstGeom prst="rect">
            <a:avLst/>
          </a:prstGeom>
        </p:spPr>
      </p:pic>
      <p:pic>
        <p:nvPicPr>
          <p:cNvPr id="290" name="Рисунок 289" descr="Преподаватель со сплошной заливкой">
            <a:extLst>
              <a:ext uri="{FF2B5EF4-FFF2-40B4-BE49-F238E27FC236}">
                <a16:creationId xmlns:a16="http://schemas.microsoft.com/office/drawing/2014/main" xmlns="" id="{66BDE023-8CD1-44BB-A37F-00783F0D8E6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1450573" y="9486900"/>
            <a:ext cx="319205" cy="319205"/>
          </a:xfrm>
          <a:prstGeom prst="rect">
            <a:avLst/>
          </a:prstGeom>
        </p:spPr>
      </p:pic>
      <p:pic>
        <p:nvPicPr>
          <p:cNvPr id="291" name="Рисунок 290">
            <a:extLst>
              <a:ext uri="{FF2B5EF4-FFF2-40B4-BE49-F238E27FC236}">
                <a16:creationId xmlns:a16="http://schemas.microsoft.com/office/drawing/2014/main" xmlns="" id="{85C28AA8-6F68-4477-AB9B-FCA20F6CA00D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10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02967" y="8705931"/>
            <a:ext cx="339777" cy="339777"/>
          </a:xfrm>
          <a:prstGeom prst="rect">
            <a:avLst/>
          </a:prstGeom>
          <a:noFill/>
          <a:effectLst>
            <a:glow>
              <a:schemeClr val="bg1">
                <a:alpha val="40000"/>
              </a:schemeClr>
            </a:glow>
          </a:effectLst>
        </p:spPr>
      </p:pic>
      <p:pic>
        <p:nvPicPr>
          <p:cNvPr id="292" name="Picture 6" descr="Manager, person, profession, smm icon - Download on Iconfinder">
            <a:extLst>
              <a:ext uri="{FF2B5EF4-FFF2-40B4-BE49-F238E27FC236}">
                <a16:creationId xmlns:a16="http://schemas.microsoft.com/office/drawing/2014/main" xmlns="" id="{B0DBCD31-6B3A-4B21-B806-94F7D0673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8367" y="9504662"/>
            <a:ext cx="278435" cy="27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Рисунок 292" descr="Диаграмма с подъемом со сплошной заливкой">
            <a:extLst>
              <a:ext uri="{FF2B5EF4-FFF2-40B4-BE49-F238E27FC236}">
                <a16:creationId xmlns:a16="http://schemas.microsoft.com/office/drawing/2014/main" xmlns="" id="{DCFDAA9C-0E86-4261-BC06-9C73DC57703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23"/>
              </a:ext>
            </a:extLst>
          </a:blip>
          <a:stretch>
            <a:fillRect/>
          </a:stretch>
        </p:blipFill>
        <p:spPr>
          <a:xfrm>
            <a:off x="6909294" y="6568096"/>
            <a:ext cx="466060" cy="466060"/>
          </a:xfrm>
          <a:prstGeom prst="rect">
            <a:avLst/>
          </a:prstGeom>
        </p:spPr>
      </p:pic>
      <p:pic>
        <p:nvPicPr>
          <p:cNvPr id="294" name="Рисунок 293" descr="Расширение бизнеса со сплошной заливкой">
            <a:extLst>
              <a:ext uri="{FF2B5EF4-FFF2-40B4-BE49-F238E27FC236}">
                <a16:creationId xmlns:a16="http://schemas.microsoft.com/office/drawing/2014/main" xmlns="" id="{36556FDB-FB17-4455-9B32-A947739CB92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xmlns="" r:embed="rId25"/>
              </a:ext>
            </a:extLst>
          </a:blip>
          <a:stretch>
            <a:fillRect/>
          </a:stretch>
        </p:blipFill>
        <p:spPr>
          <a:xfrm>
            <a:off x="543006" y="7276341"/>
            <a:ext cx="677581" cy="677581"/>
          </a:xfrm>
          <a:prstGeom prst="rect">
            <a:avLst/>
          </a:prstGeom>
        </p:spPr>
      </p:pic>
      <p:pic>
        <p:nvPicPr>
          <p:cNvPr id="295" name="Рисунок 294" descr="Школьный класс со сплошной заливкой">
            <a:extLst>
              <a:ext uri="{FF2B5EF4-FFF2-40B4-BE49-F238E27FC236}">
                <a16:creationId xmlns:a16="http://schemas.microsoft.com/office/drawing/2014/main" xmlns="" id="{452E420C-9665-4143-AA5B-316227AA185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xmlns="" r:embed="rId27"/>
              </a:ext>
            </a:extLst>
          </a:blip>
          <a:stretch>
            <a:fillRect/>
          </a:stretch>
        </p:blipFill>
        <p:spPr>
          <a:xfrm>
            <a:off x="789382" y="1388288"/>
            <a:ext cx="519460" cy="519460"/>
          </a:xfrm>
          <a:prstGeom prst="rect">
            <a:avLst/>
          </a:prstGeom>
        </p:spPr>
      </p:pic>
      <p:pic>
        <p:nvPicPr>
          <p:cNvPr id="296" name="Рисунок 295" descr="Танец со сплошной заливкой">
            <a:extLst>
              <a:ext uri="{FF2B5EF4-FFF2-40B4-BE49-F238E27FC236}">
                <a16:creationId xmlns:a16="http://schemas.microsoft.com/office/drawing/2014/main" xmlns="" id="{5314822B-86A5-4A6B-8659-B592ECEBCF5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xmlns="" r:embed="rId29"/>
              </a:ext>
            </a:extLst>
          </a:blip>
          <a:stretch>
            <a:fillRect/>
          </a:stretch>
        </p:blipFill>
        <p:spPr>
          <a:xfrm flipH="1">
            <a:off x="652248" y="3358535"/>
            <a:ext cx="592035" cy="592035"/>
          </a:xfrm>
          <a:prstGeom prst="rect">
            <a:avLst/>
          </a:prstGeom>
        </p:spPr>
      </p:pic>
      <p:pic>
        <p:nvPicPr>
          <p:cNvPr id="297" name="Рисунок 296" descr="Группа женщин со сплошной заливкой">
            <a:extLst>
              <a:ext uri="{FF2B5EF4-FFF2-40B4-BE49-F238E27FC236}">
                <a16:creationId xmlns:a16="http://schemas.microsoft.com/office/drawing/2014/main" xmlns="" id="{E661C660-D8B6-4025-95AD-19357A36CAE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xmlns="" r:embed="rId31"/>
              </a:ext>
            </a:extLst>
          </a:blip>
          <a:stretch>
            <a:fillRect/>
          </a:stretch>
        </p:blipFill>
        <p:spPr>
          <a:xfrm>
            <a:off x="652248" y="5478754"/>
            <a:ext cx="527565" cy="519460"/>
          </a:xfrm>
          <a:prstGeom prst="rect">
            <a:avLst/>
          </a:prstGeom>
        </p:spPr>
      </p:pic>
      <p:pic>
        <p:nvPicPr>
          <p:cNvPr id="298" name="Рисунок 297" descr="Презентация с круговой диаграммой со сплошной заливкой">
            <a:extLst>
              <a:ext uri="{FF2B5EF4-FFF2-40B4-BE49-F238E27FC236}">
                <a16:creationId xmlns:a16="http://schemas.microsoft.com/office/drawing/2014/main" xmlns="" id="{7E773316-4967-4682-8CB0-AEA1C34D61C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xmlns="" r:embed="rId33"/>
              </a:ext>
            </a:extLst>
          </a:blip>
          <a:stretch>
            <a:fillRect/>
          </a:stretch>
        </p:blipFill>
        <p:spPr>
          <a:xfrm>
            <a:off x="12815541" y="1576041"/>
            <a:ext cx="519459" cy="519459"/>
          </a:xfrm>
          <a:prstGeom prst="rect">
            <a:avLst/>
          </a:prstGeom>
        </p:spPr>
      </p:pic>
      <p:pic>
        <p:nvPicPr>
          <p:cNvPr id="299" name="Рисунок 298" descr="Футбольный мяч со сплошной заливкой">
            <a:extLst>
              <a:ext uri="{FF2B5EF4-FFF2-40B4-BE49-F238E27FC236}">
                <a16:creationId xmlns:a16="http://schemas.microsoft.com/office/drawing/2014/main" xmlns="" id="{28FDB0A8-39B2-4FD6-BE63-21810200241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xmlns="" r:embed="rId35"/>
              </a:ext>
            </a:extLst>
          </a:blip>
          <a:stretch>
            <a:fillRect/>
          </a:stretch>
        </p:blipFill>
        <p:spPr>
          <a:xfrm>
            <a:off x="6630463" y="1423060"/>
            <a:ext cx="519460" cy="519460"/>
          </a:xfrm>
          <a:prstGeom prst="rect">
            <a:avLst/>
          </a:prstGeom>
        </p:spPr>
      </p:pic>
      <p:pic>
        <p:nvPicPr>
          <p:cNvPr id="300" name="Рисунок 299" descr="Смартфон со сплошной заливкой">
            <a:extLst>
              <a:ext uri="{FF2B5EF4-FFF2-40B4-BE49-F238E27FC236}">
                <a16:creationId xmlns:a16="http://schemas.microsoft.com/office/drawing/2014/main" xmlns="" id="{CB770388-6916-40CD-98A8-0C86DF94157F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96DAC541-7B7A-43D3-8B79-37D633B846F1}">
                <asvg:svgBlip xmlns:asvg="http://schemas.microsoft.com/office/drawing/2016/SVG/main" xmlns="" r:embed="rId37"/>
              </a:ext>
            </a:extLst>
          </a:blip>
          <a:srcRect l="19190" r="16313"/>
          <a:stretch/>
        </p:blipFill>
        <p:spPr>
          <a:xfrm>
            <a:off x="16148367" y="8759601"/>
            <a:ext cx="200435" cy="310770"/>
          </a:xfrm>
          <a:prstGeom prst="rect">
            <a:avLst/>
          </a:prstGeom>
        </p:spPr>
      </p:pic>
      <p:sp>
        <p:nvSpPr>
          <p:cNvPr id="301" name="AutoShape 2">
            <a:extLst>
              <a:ext uri="{FF2B5EF4-FFF2-40B4-BE49-F238E27FC236}">
                <a16:creationId xmlns:a16="http://schemas.microsoft.com/office/drawing/2014/main" xmlns="" id="{C68594A3-12CF-4BA1-AE79-619DBBEC567F}"/>
              </a:ext>
            </a:extLst>
          </p:cNvPr>
          <p:cNvSpPr/>
          <p:nvPr/>
        </p:nvSpPr>
        <p:spPr>
          <a:xfrm>
            <a:off x="6309965" y="2900811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2" name="AutoShape 2">
            <a:extLst>
              <a:ext uri="{FF2B5EF4-FFF2-40B4-BE49-F238E27FC236}">
                <a16:creationId xmlns:a16="http://schemas.microsoft.com/office/drawing/2014/main" xmlns="" id="{C029F373-A26F-4E23-83C6-21DE2EEDB5B6}"/>
              </a:ext>
            </a:extLst>
          </p:cNvPr>
          <p:cNvSpPr/>
          <p:nvPr/>
        </p:nvSpPr>
        <p:spPr>
          <a:xfrm>
            <a:off x="12344400" y="2919806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 27">
            <a:extLst>
              <a:ext uri="{FF2B5EF4-FFF2-40B4-BE49-F238E27FC236}">
                <a16:creationId xmlns:a16="http://schemas.microsoft.com/office/drawing/2014/main" xmlns="" id="{11BE5CC5-5684-4F7D-907C-AB3123F4D3C2}"/>
              </a:ext>
            </a:extLst>
          </p:cNvPr>
          <p:cNvSpPr/>
          <p:nvPr/>
        </p:nvSpPr>
        <p:spPr>
          <a:xfrm rot="5113615">
            <a:off x="-5166075" y="3157313"/>
            <a:ext cx="7086596" cy="7086596"/>
          </a:xfrm>
          <a:custGeom>
            <a:avLst/>
            <a:gdLst/>
            <a:ahLst/>
            <a:cxnLst/>
            <a:rect l="l" t="t" r="r" b="b"/>
            <a:pathLst>
              <a:path w="7086596" h="7086596">
                <a:moveTo>
                  <a:pt x="0" y="0"/>
                </a:moveTo>
                <a:lnTo>
                  <a:pt x="7086596" y="0"/>
                </a:lnTo>
                <a:lnTo>
                  <a:pt x="7086596" y="7086596"/>
                </a:lnTo>
                <a:lnTo>
                  <a:pt x="0" y="7086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2" name="Freeform 28">
            <a:extLst>
              <a:ext uri="{FF2B5EF4-FFF2-40B4-BE49-F238E27FC236}">
                <a16:creationId xmlns:a16="http://schemas.microsoft.com/office/drawing/2014/main" xmlns="" id="{BA1FA09D-EEE1-4D41-9AE6-A3F0C8764E30}"/>
              </a:ext>
            </a:extLst>
          </p:cNvPr>
          <p:cNvSpPr/>
          <p:nvPr/>
        </p:nvSpPr>
        <p:spPr>
          <a:xfrm rot="10436461">
            <a:off x="14152110" y="-4118246"/>
            <a:ext cx="6566182" cy="6566182"/>
          </a:xfrm>
          <a:custGeom>
            <a:avLst/>
            <a:gdLst/>
            <a:ahLst/>
            <a:cxnLst/>
            <a:rect l="l" t="t" r="r" b="b"/>
            <a:pathLst>
              <a:path w="6566182" h="6566182">
                <a:moveTo>
                  <a:pt x="0" y="0"/>
                </a:moveTo>
                <a:lnTo>
                  <a:pt x="6566182" y="0"/>
                </a:lnTo>
                <a:lnTo>
                  <a:pt x="6566182" y="6566183"/>
                </a:lnTo>
                <a:lnTo>
                  <a:pt x="0" y="6566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3" name="Freeform 7">
            <a:extLst>
              <a:ext uri="{FF2B5EF4-FFF2-40B4-BE49-F238E27FC236}">
                <a16:creationId xmlns:a16="http://schemas.microsoft.com/office/drawing/2014/main" xmlns="" id="{9FC60BEB-75C4-4F5C-B967-803194A4E21A}"/>
              </a:ext>
            </a:extLst>
          </p:cNvPr>
          <p:cNvSpPr/>
          <p:nvPr/>
        </p:nvSpPr>
        <p:spPr>
          <a:xfrm>
            <a:off x="6737291" y="2654564"/>
            <a:ext cx="1320170" cy="1223630"/>
          </a:xfrm>
          <a:custGeom>
            <a:avLst/>
            <a:gdLst/>
            <a:ahLst/>
            <a:cxnLst/>
            <a:rect l="l" t="t" r="r" b="b"/>
            <a:pathLst>
              <a:path w="933584" h="933584">
                <a:moveTo>
                  <a:pt x="0" y="0"/>
                </a:moveTo>
                <a:lnTo>
                  <a:pt x="933584" y="0"/>
                </a:lnTo>
                <a:lnTo>
                  <a:pt x="933584" y="933584"/>
                </a:lnTo>
                <a:lnTo>
                  <a:pt x="0" y="933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5" name="Freeform 8">
            <a:extLst>
              <a:ext uri="{FF2B5EF4-FFF2-40B4-BE49-F238E27FC236}">
                <a16:creationId xmlns:a16="http://schemas.microsoft.com/office/drawing/2014/main" xmlns="" id="{416EDF00-A0F8-44C5-BEDB-F34EAB97B32F}"/>
              </a:ext>
            </a:extLst>
          </p:cNvPr>
          <p:cNvSpPr/>
          <p:nvPr/>
        </p:nvSpPr>
        <p:spPr>
          <a:xfrm>
            <a:off x="7113344" y="2946520"/>
            <a:ext cx="613761" cy="656195"/>
          </a:xfrm>
          <a:custGeom>
            <a:avLst/>
            <a:gdLst/>
            <a:ahLst/>
            <a:cxnLst/>
            <a:rect l="l" t="t" r="r" b="b"/>
            <a:pathLst>
              <a:path w="434033" h="500652">
                <a:moveTo>
                  <a:pt x="0" y="0"/>
                </a:moveTo>
                <a:lnTo>
                  <a:pt x="434034" y="0"/>
                </a:lnTo>
                <a:lnTo>
                  <a:pt x="434034" y="500652"/>
                </a:lnTo>
                <a:lnTo>
                  <a:pt x="0" y="500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6" name="Freeform 34">
            <a:extLst>
              <a:ext uri="{FF2B5EF4-FFF2-40B4-BE49-F238E27FC236}">
                <a16:creationId xmlns:a16="http://schemas.microsoft.com/office/drawing/2014/main" xmlns="" id="{BCCD07D7-4811-4B75-A2D7-4F67FBEF0837}"/>
              </a:ext>
            </a:extLst>
          </p:cNvPr>
          <p:cNvSpPr/>
          <p:nvPr/>
        </p:nvSpPr>
        <p:spPr>
          <a:xfrm>
            <a:off x="10092470" y="2487052"/>
            <a:ext cx="1440000" cy="1440000"/>
          </a:xfrm>
          <a:custGeom>
            <a:avLst/>
            <a:gdLst/>
            <a:ahLst/>
            <a:cxnLst/>
            <a:rect l="l" t="t" r="r" b="b"/>
            <a:pathLst>
              <a:path w="729587" h="722954">
                <a:moveTo>
                  <a:pt x="0" y="0"/>
                </a:moveTo>
                <a:lnTo>
                  <a:pt x="729587" y="0"/>
                </a:lnTo>
                <a:lnTo>
                  <a:pt x="729587" y="722954"/>
                </a:lnTo>
                <a:lnTo>
                  <a:pt x="0" y="7229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7" name="Freeform 35">
            <a:extLst>
              <a:ext uri="{FF2B5EF4-FFF2-40B4-BE49-F238E27FC236}">
                <a16:creationId xmlns:a16="http://schemas.microsoft.com/office/drawing/2014/main" xmlns="" id="{BA53A87A-7924-44F9-A2D9-36100094E720}"/>
              </a:ext>
            </a:extLst>
          </p:cNvPr>
          <p:cNvSpPr/>
          <p:nvPr/>
        </p:nvSpPr>
        <p:spPr>
          <a:xfrm>
            <a:off x="15925800" y="4008763"/>
            <a:ext cx="250177" cy="518501"/>
          </a:xfrm>
          <a:custGeom>
            <a:avLst/>
            <a:gdLst/>
            <a:ahLst/>
            <a:cxnLst/>
            <a:rect l="l" t="t" r="r" b="b"/>
            <a:pathLst>
              <a:path w="170125" h="352590">
                <a:moveTo>
                  <a:pt x="0" y="0"/>
                </a:moveTo>
                <a:lnTo>
                  <a:pt x="170125" y="0"/>
                </a:lnTo>
                <a:lnTo>
                  <a:pt x="170125" y="352590"/>
                </a:lnTo>
                <a:lnTo>
                  <a:pt x="0" y="3525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3" name="Freeform 36">
            <a:extLst>
              <a:ext uri="{FF2B5EF4-FFF2-40B4-BE49-F238E27FC236}">
                <a16:creationId xmlns:a16="http://schemas.microsoft.com/office/drawing/2014/main" xmlns="" id="{0D0D6549-FF10-454C-A7CE-963297E13D25}"/>
              </a:ext>
            </a:extLst>
          </p:cNvPr>
          <p:cNvSpPr/>
          <p:nvPr/>
        </p:nvSpPr>
        <p:spPr>
          <a:xfrm>
            <a:off x="14508731" y="4000500"/>
            <a:ext cx="274069" cy="526763"/>
          </a:xfrm>
          <a:custGeom>
            <a:avLst/>
            <a:gdLst/>
            <a:ahLst/>
            <a:cxnLst/>
            <a:rect l="l" t="t" r="r" b="b"/>
            <a:pathLst>
              <a:path w="186372" h="343544">
                <a:moveTo>
                  <a:pt x="0" y="0"/>
                </a:moveTo>
                <a:lnTo>
                  <a:pt x="186373" y="0"/>
                </a:lnTo>
                <a:lnTo>
                  <a:pt x="186373" y="343543"/>
                </a:lnTo>
                <a:lnTo>
                  <a:pt x="0" y="3435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55" name="TextBox 41">
            <a:extLst>
              <a:ext uri="{FF2B5EF4-FFF2-40B4-BE49-F238E27FC236}">
                <a16:creationId xmlns:a16="http://schemas.microsoft.com/office/drawing/2014/main" xmlns="" id="{9C56B73B-2177-4688-B2A6-8D7B50BB1A0B}"/>
              </a:ext>
            </a:extLst>
          </p:cNvPr>
          <p:cNvSpPr txBox="1"/>
          <p:nvPr/>
        </p:nvSpPr>
        <p:spPr>
          <a:xfrm>
            <a:off x="5029200" y="676879"/>
            <a:ext cx="8388845" cy="386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3200" b="1" dirty="0">
                <a:solidFill>
                  <a:srgbClr val="FFFFFF"/>
                </a:solidFill>
                <a:latin typeface="DM Sans Bold" panose="020B0604020202020204" charset="0"/>
                <a:cs typeface="Times New Roman" panose="02020603050405020304" pitchFamily="18" charset="0"/>
                <a:sym typeface="Lora Bold"/>
              </a:rPr>
              <a:t>OVERALL INDICATORS</a:t>
            </a:r>
          </a:p>
        </p:txBody>
      </p:sp>
      <p:sp>
        <p:nvSpPr>
          <p:cNvPr id="156" name="TextBox 42">
            <a:extLst>
              <a:ext uri="{FF2B5EF4-FFF2-40B4-BE49-F238E27FC236}">
                <a16:creationId xmlns:a16="http://schemas.microsoft.com/office/drawing/2014/main" xmlns="" id="{219E48FF-AB7C-4FF8-9E10-5DED685EBD31}"/>
              </a:ext>
            </a:extLst>
          </p:cNvPr>
          <p:cNvSpPr txBox="1"/>
          <p:nvPr/>
        </p:nvSpPr>
        <p:spPr>
          <a:xfrm>
            <a:off x="1534835" y="2018341"/>
            <a:ext cx="2762033" cy="231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600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  <a:sym typeface="Lora Bold"/>
              </a:rPr>
              <a:t>BASIC INDICATORS</a:t>
            </a:r>
          </a:p>
        </p:txBody>
      </p:sp>
      <p:sp>
        <p:nvSpPr>
          <p:cNvPr id="157" name="TextBox 43">
            <a:extLst>
              <a:ext uri="{FF2B5EF4-FFF2-40B4-BE49-F238E27FC236}">
                <a16:creationId xmlns:a16="http://schemas.microsoft.com/office/drawing/2014/main" xmlns="" id="{7414648B-B147-4731-8E64-0A298DD8AFE5}"/>
              </a:ext>
            </a:extLst>
          </p:cNvPr>
          <p:cNvSpPr txBox="1"/>
          <p:nvPr/>
        </p:nvSpPr>
        <p:spPr>
          <a:xfrm>
            <a:off x="4876800" y="1588895"/>
            <a:ext cx="4996314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EDUCATIONAL-METHODOLOGICAL SUPPORT</a:t>
            </a:r>
          </a:p>
        </p:txBody>
      </p:sp>
      <p:sp>
        <p:nvSpPr>
          <p:cNvPr id="158" name="TextBox 44">
            <a:extLst>
              <a:ext uri="{FF2B5EF4-FFF2-40B4-BE49-F238E27FC236}">
                <a16:creationId xmlns:a16="http://schemas.microsoft.com/office/drawing/2014/main" xmlns="" id="{9B046AFB-B188-4731-B768-4A16D39FC2D7}"/>
              </a:ext>
            </a:extLst>
          </p:cNvPr>
          <p:cNvSpPr txBox="1"/>
          <p:nvPr/>
        </p:nvSpPr>
        <p:spPr>
          <a:xfrm>
            <a:off x="9906000" y="1877121"/>
            <a:ext cx="7459905" cy="231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  <a:sym typeface="Lora Bold"/>
              </a:rPr>
              <a:t>THE CONTENT AND SCIENTIFIC POTENTIAL OF PROFESSORS AND STUDENTS</a:t>
            </a:r>
          </a:p>
        </p:txBody>
      </p:sp>
      <p:sp>
        <p:nvSpPr>
          <p:cNvPr id="159" name="TextBox 45">
            <a:extLst>
              <a:ext uri="{FF2B5EF4-FFF2-40B4-BE49-F238E27FC236}">
                <a16:creationId xmlns:a16="http://schemas.microsoft.com/office/drawing/2014/main" xmlns="" id="{5ABF8DE6-67EB-4ED7-958D-2F1ECCAAA914}"/>
              </a:ext>
            </a:extLst>
          </p:cNvPr>
          <p:cNvSpPr txBox="1"/>
          <p:nvPr/>
        </p:nvSpPr>
        <p:spPr>
          <a:xfrm>
            <a:off x="609600" y="2488061"/>
            <a:ext cx="2800917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0829" lvl="1" indent="-105415" algn="l">
              <a:lnSpc>
                <a:spcPts val="1367"/>
              </a:lnSpc>
              <a:buFont typeface="Arial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The number of faculties</a:t>
            </a:r>
          </a:p>
        </p:txBody>
      </p:sp>
      <p:sp>
        <p:nvSpPr>
          <p:cNvPr id="160" name="TextBox 46">
            <a:extLst>
              <a:ext uri="{FF2B5EF4-FFF2-40B4-BE49-F238E27FC236}">
                <a16:creationId xmlns:a16="http://schemas.microsoft.com/office/drawing/2014/main" xmlns="" id="{F23F935D-68EC-4A4F-A228-E6A1996C14C5}"/>
              </a:ext>
            </a:extLst>
          </p:cNvPr>
          <p:cNvSpPr txBox="1"/>
          <p:nvPr/>
        </p:nvSpPr>
        <p:spPr>
          <a:xfrm>
            <a:off x="609600" y="2803577"/>
            <a:ext cx="3132576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0829" lvl="1" indent="-105415" algn="l">
              <a:lnSpc>
                <a:spcPts val="1367"/>
              </a:lnSpc>
              <a:buFont typeface="Arial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The number of departments</a:t>
            </a:r>
          </a:p>
        </p:txBody>
      </p:sp>
      <p:sp>
        <p:nvSpPr>
          <p:cNvPr id="161" name="TextBox 47">
            <a:extLst>
              <a:ext uri="{FF2B5EF4-FFF2-40B4-BE49-F238E27FC236}">
                <a16:creationId xmlns:a16="http://schemas.microsoft.com/office/drawing/2014/main" xmlns="" id="{B769B96A-EB05-4EAB-B627-149DF4BC6193}"/>
              </a:ext>
            </a:extLst>
          </p:cNvPr>
          <p:cNvSpPr txBox="1"/>
          <p:nvPr/>
        </p:nvSpPr>
        <p:spPr>
          <a:xfrm>
            <a:off x="609600" y="3119093"/>
            <a:ext cx="3352800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0829" lvl="1" indent="-105415" algn="l">
              <a:lnSpc>
                <a:spcPts val="1367"/>
              </a:lnSpc>
              <a:buFont typeface="Arial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Bachelor’s degree specialties</a:t>
            </a:r>
          </a:p>
        </p:txBody>
      </p:sp>
      <p:sp>
        <p:nvSpPr>
          <p:cNvPr id="162" name="TextBox 48">
            <a:extLst>
              <a:ext uri="{FF2B5EF4-FFF2-40B4-BE49-F238E27FC236}">
                <a16:creationId xmlns:a16="http://schemas.microsoft.com/office/drawing/2014/main" xmlns="" id="{19826CDD-3F58-4D6B-BA6C-C8F1A0EDD3FA}"/>
              </a:ext>
            </a:extLst>
          </p:cNvPr>
          <p:cNvSpPr txBox="1"/>
          <p:nvPr/>
        </p:nvSpPr>
        <p:spPr>
          <a:xfrm>
            <a:off x="609600" y="3614145"/>
            <a:ext cx="3215049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0829" lvl="1" indent="-105415" algn="l">
              <a:lnSpc>
                <a:spcPts val="1367"/>
              </a:lnSpc>
              <a:buFont typeface="Arial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Master’s degree specialties</a:t>
            </a:r>
          </a:p>
        </p:txBody>
      </p:sp>
      <p:sp>
        <p:nvSpPr>
          <p:cNvPr id="163" name="TextBox 49">
            <a:extLst>
              <a:ext uri="{FF2B5EF4-FFF2-40B4-BE49-F238E27FC236}">
                <a16:creationId xmlns:a16="http://schemas.microsoft.com/office/drawing/2014/main" xmlns="" id="{FFF3FD3A-3D37-4659-A19B-108F4ACEE533}"/>
              </a:ext>
            </a:extLst>
          </p:cNvPr>
          <p:cNvSpPr txBox="1"/>
          <p:nvPr/>
        </p:nvSpPr>
        <p:spPr>
          <a:xfrm>
            <a:off x="4146288" y="2511842"/>
            <a:ext cx="730512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Lora Bold"/>
                <a:sym typeface="Lora Bold"/>
              </a:rPr>
              <a:t>3 </a:t>
            </a:r>
          </a:p>
        </p:txBody>
      </p:sp>
      <p:sp>
        <p:nvSpPr>
          <p:cNvPr id="164" name="TextBox 50">
            <a:extLst>
              <a:ext uri="{FF2B5EF4-FFF2-40B4-BE49-F238E27FC236}">
                <a16:creationId xmlns:a16="http://schemas.microsoft.com/office/drawing/2014/main" xmlns="" id="{A6FFCDAF-6287-42C7-BC57-5FEA06E1C358}"/>
              </a:ext>
            </a:extLst>
          </p:cNvPr>
          <p:cNvSpPr txBox="1"/>
          <p:nvPr/>
        </p:nvSpPr>
        <p:spPr>
          <a:xfrm>
            <a:off x="4114800" y="2834622"/>
            <a:ext cx="1021381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Lora Bold"/>
                <a:sym typeface="Lora Bold"/>
              </a:rPr>
              <a:t>16 ta</a:t>
            </a:r>
          </a:p>
        </p:txBody>
      </p:sp>
      <p:sp>
        <p:nvSpPr>
          <p:cNvPr id="165" name="TextBox 51">
            <a:extLst>
              <a:ext uri="{FF2B5EF4-FFF2-40B4-BE49-F238E27FC236}">
                <a16:creationId xmlns:a16="http://schemas.microsoft.com/office/drawing/2014/main" xmlns="" id="{2284CC04-0AD7-4CE6-BDB5-28D302109F20}"/>
              </a:ext>
            </a:extLst>
          </p:cNvPr>
          <p:cNvSpPr txBox="1"/>
          <p:nvPr/>
        </p:nvSpPr>
        <p:spPr>
          <a:xfrm>
            <a:off x="4112591" y="3149210"/>
            <a:ext cx="916609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Lora Bold"/>
                <a:sym typeface="Lora Bold"/>
              </a:rPr>
              <a:t>28 ta</a:t>
            </a:r>
          </a:p>
        </p:txBody>
      </p:sp>
      <p:sp>
        <p:nvSpPr>
          <p:cNvPr id="166" name="TextBox 52">
            <a:extLst>
              <a:ext uri="{FF2B5EF4-FFF2-40B4-BE49-F238E27FC236}">
                <a16:creationId xmlns:a16="http://schemas.microsoft.com/office/drawing/2014/main" xmlns="" id="{027D03C9-A103-4D58-B259-1A19023F1264}"/>
              </a:ext>
            </a:extLst>
          </p:cNvPr>
          <p:cNvSpPr txBox="1"/>
          <p:nvPr/>
        </p:nvSpPr>
        <p:spPr>
          <a:xfrm>
            <a:off x="4162712" y="3619500"/>
            <a:ext cx="1095088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Lora Bold"/>
                <a:sym typeface="Lora Bold"/>
              </a:rPr>
              <a:t>13 ta</a:t>
            </a:r>
          </a:p>
        </p:txBody>
      </p:sp>
      <p:sp>
        <p:nvSpPr>
          <p:cNvPr id="167" name="TextBox 53">
            <a:extLst>
              <a:ext uri="{FF2B5EF4-FFF2-40B4-BE49-F238E27FC236}">
                <a16:creationId xmlns:a16="http://schemas.microsoft.com/office/drawing/2014/main" xmlns="" id="{6FD245E6-E814-4C0A-B730-E9FF511A471A}"/>
              </a:ext>
            </a:extLst>
          </p:cNvPr>
          <p:cNvSpPr txBox="1"/>
          <p:nvPr/>
        </p:nvSpPr>
        <p:spPr>
          <a:xfrm>
            <a:off x="5414100" y="3510785"/>
            <a:ext cx="1994136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Monography</a:t>
            </a:r>
          </a:p>
        </p:txBody>
      </p:sp>
      <p:sp>
        <p:nvSpPr>
          <p:cNvPr id="168" name="TextBox 54">
            <a:extLst>
              <a:ext uri="{FF2B5EF4-FFF2-40B4-BE49-F238E27FC236}">
                <a16:creationId xmlns:a16="http://schemas.microsoft.com/office/drawing/2014/main" xmlns="" id="{340E7A10-E1B3-4011-99D1-119D4D5B9750}"/>
              </a:ext>
            </a:extLst>
          </p:cNvPr>
          <p:cNvSpPr txBox="1"/>
          <p:nvPr/>
        </p:nvSpPr>
        <p:spPr>
          <a:xfrm>
            <a:off x="5528884" y="2533654"/>
            <a:ext cx="2524173" cy="372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Methodological </a:t>
            </a:r>
            <a:r>
              <a:rPr lang="ru-RU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/>
            </a:r>
            <a:br>
              <a:rPr lang="ru-RU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</a:b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manual</a:t>
            </a:r>
          </a:p>
        </p:txBody>
      </p:sp>
      <p:sp>
        <p:nvSpPr>
          <p:cNvPr id="169" name="TextBox 55">
            <a:extLst>
              <a:ext uri="{FF2B5EF4-FFF2-40B4-BE49-F238E27FC236}">
                <a16:creationId xmlns:a16="http://schemas.microsoft.com/office/drawing/2014/main" xmlns="" id="{4951C903-04A1-4C6A-B4A5-6776C9DA644E}"/>
              </a:ext>
            </a:extLst>
          </p:cNvPr>
          <p:cNvSpPr txBox="1"/>
          <p:nvPr/>
        </p:nvSpPr>
        <p:spPr>
          <a:xfrm>
            <a:off x="8108930" y="2710253"/>
            <a:ext cx="1590748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Textbook</a:t>
            </a:r>
          </a:p>
        </p:txBody>
      </p:sp>
      <p:sp>
        <p:nvSpPr>
          <p:cNvPr id="170" name="TextBox 56">
            <a:extLst>
              <a:ext uri="{FF2B5EF4-FFF2-40B4-BE49-F238E27FC236}">
                <a16:creationId xmlns:a16="http://schemas.microsoft.com/office/drawing/2014/main" xmlns="" id="{91D4A5C4-E108-41C5-8F0C-3A0FF63336DF}"/>
              </a:ext>
            </a:extLst>
          </p:cNvPr>
          <p:cNvSpPr txBox="1"/>
          <p:nvPr/>
        </p:nvSpPr>
        <p:spPr>
          <a:xfrm>
            <a:off x="7969460" y="3537705"/>
            <a:ext cx="1976432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Education guidance</a:t>
            </a:r>
          </a:p>
        </p:txBody>
      </p:sp>
      <p:grpSp>
        <p:nvGrpSpPr>
          <p:cNvPr id="171" name="Группа 170">
            <a:extLst>
              <a:ext uri="{FF2B5EF4-FFF2-40B4-BE49-F238E27FC236}">
                <a16:creationId xmlns:a16="http://schemas.microsoft.com/office/drawing/2014/main" xmlns="" id="{4B9EB741-62CE-40D3-B283-46E9B10304A0}"/>
              </a:ext>
            </a:extLst>
          </p:cNvPr>
          <p:cNvGrpSpPr/>
          <p:nvPr/>
        </p:nvGrpSpPr>
        <p:grpSpPr>
          <a:xfrm>
            <a:off x="9945892" y="6037198"/>
            <a:ext cx="7841696" cy="3520365"/>
            <a:chOff x="10340648" y="6211394"/>
            <a:chExt cx="7841696" cy="3520365"/>
          </a:xfrm>
        </p:grpSpPr>
        <p:sp>
          <p:nvSpPr>
            <p:cNvPr id="172" name="Freeform 14">
              <a:extLst>
                <a:ext uri="{FF2B5EF4-FFF2-40B4-BE49-F238E27FC236}">
                  <a16:creationId xmlns:a16="http://schemas.microsoft.com/office/drawing/2014/main" xmlns="" id="{0FAEB7F3-B77F-4B16-B51D-E9926070CCF6}"/>
                </a:ext>
              </a:extLst>
            </p:cNvPr>
            <p:cNvSpPr/>
            <p:nvPr/>
          </p:nvSpPr>
          <p:spPr>
            <a:xfrm>
              <a:off x="11052711" y="6587944"/>
              <a:ext cx="5181150" cy="2668292"/>
            </a:xfrm>
            <a:custGeom>
              <a:avLst/>
              <a:gdLst/>
              <a:ahLst/>
              <a:cxnLst/>
              <a:rect l="l" t="t" r="r" b="b"/>
              <a:pathLst>
                <a:path w="4000227" h="2060117">
                  <a:moveTo>
                    <a:pt x="0" y="0"/>
                  </a:moveTo>
                  <a:lnTo>
                    <a:pt x="4000227" y="0"/>
                  </a:lnTo>
                  <a:lnTo>
                    <a:pt x="4000227" y="2060117"/>
                  </a:lnTo>
                  <a:lnTo>
                    <a:pt x="0" y="2060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3" name="Group 15">
              <a:extLst>
                <a:ext uri="{FF2B5EF4-FFF2-40B4-BE49-F238E27FC236}">
                  <a16:creationId xmlns:a16="http://schemas.microsoft.com/office/drawing/2014/main" xmlns="" id="{0D83C7D0-55FB-4C1A-A7E1-4DD0DF0F2B95}"/>
                </a:ext>
              </a:extLst>
            </p:cNvPr>
            <p:cNvGrpSpPr/>
            <p:nvPr/>
          </p:nvGrpSpPr>
          <p:grpSpPr>
            <a:xfrm>
              <a:off x="11784854" y="8947217"/>
              <a:ext cx="526870" cy="526870"/>
              <a:chOff x="0" y="0"/>
              <a:chExt cx="812800" cy="812800"/>
            </a:xfrm>
          </p:grpSpPr>
          <p:sp>
            <p:nvSpPr>
              <p:cNvPr id="200" name="Freeform 16">
                <a:extLst>
                  <a:ext uri="{FF2B5EF4-FFF2-40B4-BE49-F238E27FC236}">
                    <a16:creationId xmlns:a16="http://schemas.microsoft.com/office/drawing/2014/main" xmlns="" id="{A71AAC60-697C-4C9B-B87D-EBA86CBCA7C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5"/>
                <a:stretch>
                  <a:fillRect l="-50502" r="-50502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174" name="Group 17">
              <a:extLst>
                <a:ext uri="{FF2B5EF4-FFF2-40B4-BE49-F238E27FC236}">
                  <a16:creationId xmlns:a16="http://schemas.microsoft.com/office/drawing/2014/main" xmlns="" id="{D3EC7AE8-A079-40BB-9D9A-900505B33674}"/>
                </a:ext>
              </a:extLst>
            </p:cNvPr>
            <p:cNvGrpSpPr/>
            <p:nvPr/>
          </p:nvGrpSpPr>
          <p:grpSpPr>
            <a:xfrm>
              <a:off x="13116254" y="8982153"/>
              <a:ext cx="526870" cy="526870"/>
              <a:chOff x="0" y="0"/>
              <a:chExt cx="812800" cy="812800"/>
            </a:xfrm>
          </p:grpSpPr>
          <p:sp>
            <p:nvSpPr>
              <p:cNvPr id="199" name="Freeform 18">
                <a:extLst>
                  <a:ext uri="{FF2B5EF4-FFF2-40B4-BE49-F238E27FC236}">
                    <a16:creationId xmlns:a16="http://schemas.microsoft.com/office/drawing/2014/main" xmlns="" id="{4B9E9E7C-C7F2-4098-8501-96E7336E3DC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175" name="Group 19">
              <a:extLst>
                <a:ext uri="{FF2B5EF4-FFF2-40B4-BE49-F238E27FC236}">
                  <a16:creationId xmlns:a16="http://schemas.microsoft.com/office/drawing/2014/main" xmlns="" id="{FAAAA3F0-4E09-4050-AA85-8C0E2F036A95}"/>
                </a:ext>
              </a:extLst>
            </p:cNvPr>
            <p:cNvGrpSpPr/>
            <p:nvPr/>
          </p:nvGrpSpPr>
          <p:grpSpPr>
            <a:xfrm>
              <a:off x="14299878" y="8760751"/>
              <a:ext cx="526870" cy="526870"/>
              <a:chOff x="0" y="0"/>
              <a:chExt cx="812800" cy="812800"/>
            </a:xfrm>
          </p:grpSpPr>
          <p:sp>
            <p:nvSpPr>
              <p:cNvPr id="198" name="Freeform 20">
                <a:extLst>
                  <a:ext uri="{FF2B5EF4-FFF2-40B4-BE49-F238E27FC236}">
                    <a16:creationId xmlns:a16="http://schemas.microsoft.com/office/drawing/2014/main" xmlns="" id="{16F3107B-ED86-488F-AB78-024D7B9CBD4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7"/>
                <a:stretch>
                  <a:fillRect r="-6666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176" name="Group 21">
              <a:extLst>
                <a:ext uri="{FF2B5EF4-FFF2-40B4-BE49-F238E27FC236}">
                  <a16:creationId xmlns:a16="http://schemas.microsoft.com/office/drawing/2014/main" xmlns="" id="{DB346F7A-9B6A-4469-B059-8229E77B690C}"/>
                </a:ext>
              </a:extLst>
            </p:cNvPr>
            <p:cNvGrpSpPr/>
            <p:nvPr/>
          </p:nvGrpSpPr>
          <p:grpSpPr>
            <a:xfrm>
              <a:off x="15219391" y="8947217"/>
              <a:ext cx="526870" cy="526870"/>
              <a:chOff x="0" y="0"/>
              <a:chExt cx="812800" cy="812800"/>
            </a:xfrm>
          </p:grpSpPr>
          <p:sp>
            <p:nvSpPr>
              <p:cNvPr id="197" name="Freeform 22">
                <a:extLst>
                  <a:ext uri="{FF2B5EF4-FFF2-40B4-BE49-F238E27FC236}">
                    <a16:creationId xmlns:a16="http://schemas.microsoft.com/office/drawing/2014/main" xmlns="" id="{2D5703E9-0339-43E7-B754-6A9847B0B6E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8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177" name="Group 23">
              <a:extLst>
                <a:ext uri="{FF2B5EF4-FFF2-40B4-BE49-F238E27FC236}">
                  <a16:creationId xmlns:a16="http://schemas.microsoft.com/office/drawing/2014/main" xmlns="" id="{4FBE1198-C0A8-45EC-8ECD-68368A1A74AE}"/>
                </a:ext>
              </a:extLst>
            </p:cNvPr>
            <p:cNvGrpSpPr/>
            <p:nvPr/>
          </p:nvGrpSpPr>
          <p:grpSpPr>
            <a:xfrm>
              <a:off x="16357462" y="8795965"/>
              <a:ext cx="526870" cy="526870"/>
              <a:chOff x="0" y="0"/>
              <a:chExt cx="812800" cy="812800"/>
            </a:xfrm>
          </p:grpSpPr>
          <p:sp>
            <p:nvSpPr>
              <p:cNvPr id="196" name="Freeform 24">
                <a:extLst>
                  <a:ext uri="{FF2B5EF4-FFF2-40B4-BE49-F238E27FC236}">
                    <a16:creationId xmlns:a16="http://schemas.microsoft.com/office/drawing/2014/main" xmlns="" id="{0ADEE7B8-4BA7-40A2-B16C-B43D38A30EA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9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178" name="Group 25">
              <a:extLst>
                <a:ext uri="{FF2B5EF4-FFF2-40B4-BE49-F238E27FC236}">
                  <a16:creationId xmlns:a16="http://schemas.microsoft.com/office/drawing/2014/main" xmlns="" id="{F3AEA4CC-5DF2-4F5D-AEA2-FFB736F6ECDE}"/>
                </a:ext>
              </a:extLst>
            </p:cNvPr>
            <p:cNvGrpSpPr/>
            <p:nvPr/>
          </p:nvGrpSpPr>
          <p:grpSpPr>
            <a:xfrm>
              <a:off x="16150073" y="7920880"/>
              <a:ext cx="526870" cy="526870"/>
              <a:chOff x="0" y="0"/>
              <a:chExt cx="812800" cy="812800"/>
            </a:xfrm>
          </p:grpSpPr>
          <p:sp>
            <p:nvSpPr>
              <p:cNvPr id="195" name="Freeform 26">
                <a:extLst>
                  <a:ext uri="{FF2B5EF4-FFF2-40B4-BE49-F238E27FC236}">
                    <a16:creationId xmlns:a16="http://schemas.microsoft.com/office/drawing/2014/main" xmlns="" id="{DF7722C0-0CC8-41DB-97EC-0D646086A92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0"/>
                <a:stretch>
                  <a:fillRect r="-100000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179" name="Group 27">
              <a:extLst>
                <a:ext uri="{FF2B5EF4-FFF2-40B4-BE49-F238E27FC236}">
                  <a16:creationId xmlns:a16="http://schemas.microsoft.com/office/drawing/2014/main" xmlns="" id="{184D4EE3-0C11-4B0A-B4F5-1711AAF82D86}"/>
                </a:ext>
              </a:extLst>
            </p:cNvPr>
            <p:cNvGrpSpPr/>
            <p:nvPr/>
          </p:nvGrpSpPr>
          <p:grpSpPr>
            <a:xfrm>
              <a:off x="10342168" y="7019580"/>
              <a:ext cx="526870" cy="526870"/>
              <a:chOff x="0" y="0"/>
              <a:chExt cx="812800" cy="812800"/>
            </a:xfrm>
          </p:grpSpPr>
          <p:sp>
            <p:nvSpPr>
              <p:cNvPr id="194" name="Freeform 28">
                <a:extLst>
                  <a:ext uri="{FF2B5EF4-FFF2-40B4-BE49-F238E27FC236}">
                    <a16:creationId xmlns:a16="http://schemas.microsoft.com/office/drawing/2014/main" xmlns="" id="{1D80A6B2-CC0B-47C1-B80E-A197F2D1A69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1"/>
                <a:stretch>
                  <a:fillRect l="-31799" r="-31799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180" name="Group 29">
              <a:extLst>
                <a:ext uri="{FF2B5EF4-FFF2-40B4-BE49-F238E27FC236}">
                  <a16:creationId xmlns:a16="http://schemas.microsoft.com/office/drawing/2014/main" xmlns="" id="{39735135-7B58-4F60-B38F-4972185D7FD3}"/>
                </a:ext>
              </a:extLst>
            </p:cNvPr>
            <p:cNvGrpSpPr/>
            <p:nvPr/>
          </p:nvGrpSpPr>
          <p:grpSpPr>
            <a:xfrm>
              <a:off x="11155269" y="7930043"/>
              <a:ext cx="609295" cy="526870"/>
              <a:chOff x="0" y="0"/>
              <a:chExt cx="812800" cy="812800"/>
            </a:xfrm>
          </p:grpSpPr>
          <p:sp>
            <p:nvSpPr>
              <p:cNvPr id="193" name="Freeform 30">
                <a:extLst>
                  <a:ext uri="{FF2B5EF4-FFF2-40B4-BE49-F238E27FC236}">
                    <a16:creationId xmlns:a16="http://schemas.microsoft.com/office/drawing/2014/main" xmlns="" id="{F68E9906-C9E2-4506-8846-E70314196CD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2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181" name="Group 31">
              <a:extLst>
                <a:ext uri="{FF2B5EF4-FFF2-40B4-BE49-F238E27FC236}">
                  <a16:creationId xmlns:a16="http://schemas.microsoft.com/office/drawing/2014/main" xmlns="" id="{86B6769B-A7C8-4A0E-91F4-50C3F2773F6A}"/>
                </a:ext>
              </a:extLst>
            </p:cNvPr>
            <p:cNvGrpSpPr/>
            <p:nvPr/>
          </p:nvGrpSpPr>
          <p:grpSpPr>
            <a:xfrm>
              <a:off x="16403973" y="7063502"/>
              <a:ext cx="526870" cy="526870"/>
              <a:chOff x="0" y="0"/>
              <a:chExt cx="812800" cy="812800"/>
            </a:xfrm>
          </p:grpSpPr>
          <p:sp>
            <p:nvSpPr>
              <p:cNvPr id="192" name="Freeform 32">
                <a:extLst>
                  <a:ext uri="{FF2B5EF4-FFF2-40B4-BE49-F238E27FC236}">
                    <a16:creationId xmlns:a16="http://schemas.microsoft.com/office/drawing/2014/main" xmlns="" id="{55539FD3-91CF-4920-AB11-7E4920FBB35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3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id="182" name="TextBox 58">
              <a:extLst>
                <a:ext uri="{FF2B5EF4-FFF2-40B4-BE49-F238E27FC236}">
                  <a16:creationId xmlns:a16="http://schemas.microsoft.com/office/drawing/2014/main" xmlns="" id="{34785044-9E09-4B96-A7AF-0D2984A45E44}"/>
                </a:ext>
              </a:extLst>
            </p:cNvPr>
            <p:cNvSpPr txBox="1"/>
            <p:nvPr/>
          </p:nvSpPr>
          <p:spPr>
            <a:xfrm>
              <a:off x="11526082" y="6211394"/>
              <a:ext cx="6392336" cy="2317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UNIVERSITY’S INTERNATIONAL PARTNERSHIP RELATIONS</a:t>
              </a:r>
            </a:p>
          </p:txBody>
        </p:sp>
        <p:sp>
          <p:nvSpPr>
            <p:cNvPr id="183" name="TextBox 82">
              <a:extLst>
                <a:ext uri="{FF2B5EF4-FFF2-40B4-BE49-F238E27FC236}">
                  <a16:creationId xmlns:a16="http://schemas.microsoft.com/office/drawing/2014/main" xmlns="" id="{71161081-8F37-42B6-9E11-524DA45639EE}"/>
                </a:ext>
              </a:extLst>
            </p:cNvPr>
            <p:cNvSpPr txBox="1"/>
            <p:nvPr/>
          </p:nvSpPr>
          <p:spPr>
            <a:xfrm>
              <a:off x="10340648" y="7640228"/>
              <a:ext cx="1567213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12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Kazakhstan</a:t>
              </a:r>
            </a:p>
          </p:txBody>
        </p:sp>
        <p:sp>
          <p:nvSpPr>
            <p:cNvPr id="184" name="TextBox 83">
              <a:extLst>
                <a:ext uri="{FF2B5EF4-FFF2-40B4-BE49-F238E27FC236}">
                  <a16:creationId xmlns:a16="http://schemas.microsoft.com/office/drawing/2014/main" xmlns="" id="{E3FC6FAA-E36F-473A-8E5D-134B0FC8370E}"/>
                </a:ext>
              </a:extLst>
            </p:cNvPr>
            <p:cNvSpPr txBox="1"/>
            <p:nvPr/>
          </p:nvSpPr>
          <p:spPr>
            <a:xfrm>
              <a:off x="11215156" y="8618757"/>
              <a:ext cx="1579272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Russia</a:t>
              </a:r>
            </a:p>
          </p:txBody>
        </p:sp>
        <p:sp>
          <p:nvSpPr>
            <p:cNvPr id="185" name="TextBox 84">
              <a:extLst>
                <a:ext uri="{FF2B5EF4-FFF2-40B4-BE49-F238E27FC236}">
                  <a16:creationId xmlns:a16="http://schemas.microsoft.com/office/drawing/2014/main" xmlns="" id="{D85BA8EC-3863-4CAF-9E42-15D640885F92}"/>
                </a:ext>
              </a:extLst>
            </p:cNvPr>
            <p:cNvSpPr txBox="1"/>
            <p:nvPr/>
          </p:nvSpPr>
          <p:spPr>
            <a:xfrm>
              <a:off x="11662657" y="9555846"/>
              <a:ext cx="1529772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12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Tajikistan</a:t>
              </a:r>
            </a:p>
          </p:txBody>
        </p:sp>
        <p:sp>
          <p:nvSpPr>
            <p:cNvPr id="186" name="TextBox 85">
              <a:extLst>
                <a:ext uri="{FF2B5EF4-FFF2-40B4-BE49-F238E27FC236}">
                  <a16:creationId xmlns:a16="http://schemas.microsoft.com/office/drawing/2014/main" xmlns="" id="{CDE16DB6-F9DC-40D3-99CF-D05E44AD9474}"/>
                </a:ext>
              </a:extLst>
            </p:cNvPr>
            <p:cNvSpPr txBox="1"/>
            <p:nvPr/>
          </p:nvSpPr>
          <p:spPr>
            <a:xfrm>
              <a:off x="13025268" y="9547916"/>
              <a:ext cx="1550683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 err="1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Japany</a:t>
              </a:r>
              <a:endParaRPr lang="en-US" sz="14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endParaRPr>
            </a:p>
          </p:txBody>
        </p:sp>
        <p:sp>
          <p:nvSpPr>
            <p:cNvPr id="187" name="TextBox 86">
              <a:extLst>
                <a:ext uri="{FF2B5EF4-FFF2-40B4-BE49-F238E27FC236}">
                  <a16:creationId xmlns:a16="http://schemas.microsoft.com/office/drawing/2014/main" xmlns="" id="{C64C8C5F-B04C-4229-B1DB-138AEDE66753}"/>
                </a:ext>
              </a:extLst>
            </p:cNvPr>
            <p:cNvSpPr txBox="1"/>
            <p:nvPr/>
          </p:nvSpPr>
          <p:spPr>
            <a:xfrm>
              <a:off x="14293452" y="9370056"/>
              <a:ext cx="1211968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Chine</a:t>
              </a:r>
            </a:p>
          </p:txBody>
        </p:sp>
        <p:sp>
          <p:nvSpPr>
            <p:cNvPr id="188" name="TextBox 87">
              <a:extLst>
                <a:ext uri="{FF2B5EF4-FFF2-40B4-BE49-F238E27FC236}">
                  <a16:creationId xmlns:a16="http://schemas.microsoft.com/office/drawing/2014/main" xmlns="" id="{9AC67805-E7F5-4E3D-9BF7-9B53D7433766}"/>
                </a:ext>
              </a:extLst>
            </p:cNvPr>
            <p:cNvSpPr txBox="1"/>
            <p:nvPr/>
          </p:nvSpPr>
          <p:spPr>
            <a:xfrm>
              <a:off x="15171644" y="9574665"/>
              <a:ext cx="1448231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India</a:t>
              </a:r>
            </a:p>
          </p:txBody>
        </p:sp>
        <p:sp>
          <p:nvSpPr>
            <p:cNvPr id="189" name="TextBox 88">
              <a:extLst>
                <a:ext uri="{FF2B5EF4-FFF2-40B4-BE49-F238E27FC236}">
                  <a16:creationId xmlns:a16="http://schemas.microsoft.com/office/drawing/2014/main" xmlns="" id="{2D834B54-DD15-4603-B2BB-930E8BEF8A62}"/>
                </a:ext>
              </a:extLst>
            </p:cNvPr>
            <p:cNvSpPr txBox="1"/>
            <p:nvPr/>
          </p:nvSpPr>
          <p:spPr>
            <a:xfrm>
              <a:off x="16238615" y="9431919"/>
              <a:ext cx="1943729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12"/>
                </a:lnSpc>
              </a:pPr>
              <a:r>
                <a:rPr lang="en-US" sz="1400" b="1" dirty="0" err="1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Czechia</a:t>
              </a:r>
              <a:endParaRPr lang="en-US" sz="14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endParaRPr>
            </a:p>
          </p:txBody>
        </p:sp>
        <p:sp>
          <p:nvSpPr>
            <p:cNvPr id="190" name="TextBox 89">
              <a:extLst>
                <a:ext uri="{FF2B5EF4-FFF2-40B4-BE49-F238E27FC236}">
                  <a16:creationId xmlns:a16="http://schemas.microsoft.com/office/drawing/2014/main" xmlns="" id="{E9565D1C-123E-46E7-B85F-6A24A7C79FC3}"/>
                </a:ext>
              </a:extLst>
            </p:cNvPr>
            <p:cNvSpPr txBox="1"/>
            <p:nvPr/>
          </p:nvSpPr>
          <p:spPr>
            <a:xfrm>
              <a:off x="15972403" y="8556200"/>
              <a:ext cx="1365728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12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Tajikistan</a:t>
              </a:r>
            </a:p>
          </p:txBody>
        </p:sp>
        <p:sp>
          <p:nvSpPr>
            <p:cNvPr id="191" name="TextBox 90">
              <a:extLst>
                <a:ext uri="{FF2B5EF4-FFF2-40B4-BE49-F238E27FC236}">
                  <a16:creationId xmlns:a16="http://schemas.microsoft.com/office/drawing/2014/main" xmlns="" id="{7ADB8352-A79A-45F0-91F2-FD776379D5BA}"/>
                </a:ext>
              </a:extLst>
            </p:cNvPr>
            <p:cNvSpPr txBox="1"/>
            <p:nvPr/>
          </p:nvSpPr>
          <p:spPr>
            <a:xfrm>
              <a:off x="16201034" y="7657665"/>
              <a:ext cx="1112079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Turkey</a:t>
              </a:r>
            </a:p>
          </p:txBody>
        </p:sp>
      </p:grpSp>
      <p:sp>
        <p:nvSpPr>
          <p:cNvPr id="201" name="TextBox 91">
            <a:extLst>
              <a:ext uri="{FF2B5EF4-FFF2-40B4-BE49-F238E27FC236}">
                <a16:creationId xmlns:a16="http://schemas.microsoft.com/office/drawing/2014/main" xmlns="" id="{A7D80157-E04B-4B56-A554-B491D5F20A8F}"/>
              </a:ext>
            </a:extLst>
          </p:cNvPr>
          <p:cNvSpPr txBox="1"/>
          <p:nvPr/>
        </p:nvSpPr>
        <p:spPr>
          <a:xfrm>
            <a:off x="13178118" y="2994536"/>
            <a:ext cx="2380720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9705" lvl="1" indent="-94853" algn="l">
              <a:lnSpc>
                <a:spcPts val="1230"/>
              </a:lnSpc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  <a:ea typeface="Lora"/>
                <a:cs typeface="Times New Roman" panose="02020603050405020304" pitchFamily="18" charset="0"/>
                <a:sym typeface="Lora"/>
              </a:rPr>
              <a:t>Doctors of science (DSc)</a:t>
            </a:r>
          </a:p>
        </p:txBody>
      </p:sp>
      <p:sp>
        <p:nvSpPr>
          <p:cNvPr id="202" name="TextBox 92">
            <a:extLst>
              <a:ext uri="{FF2B5EF4-FFF2-40B4-BE49-F238E27FC236}">
                <a16:creationId xmlns:a16="http://schemas.microsoft.com/office/drawing/2014/main" xmlns="" id="{6F05051F-7111-4DF3-9309-A8B7B583F1CB}"/>
              </a:ext>
            </a:extLst>
          </p:cNvPr>
          <p:cNvSpPr txBox="1"/>
          <p:nvPr/>
        </p:nvSpPr>
        <p:spPr>
          <a:xfrm>
            <a:off x="13170575" y="3321558"/>
            <a:ext cx="3307705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9705" lvl="1" indent="-94853" algn="l">
              <a:lnSpc>
                <a:spcPts val="1230"/>
              </a:lnSpc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  <a:ea typeface="Lora"/>
                <a:cs typeface="Times New Roman" panose="02020603050405020304" pitchFamily="18" charset="0"/>
                <a:sym typeface="Lora"/>
              </a:rPr>
              <a:t>Doctors of  philosophy  (PhD)</a:t>
            </a:r>
          </a:p>
        </p:txBody>
      </p:sp>
      <p:sp>
        <p:nvSpPr>
          <p:cNvPr id="203" name="TextBox 93">
            <a:extLst>
              <a:ext uri="{FF2B5EF4-FFF2-40B4-BE49-F238E27FC236}">
                <a16:creationId xmlns:a16="http://schemas.microsoft.com/office/drawing/2014/main" xmlns="" id="{3C2DE34C-0D6E-45B1-8F50-11CE4B15114F}"/>
              </a:ext>
            </a:extLst>
          </p:cNvPr>
          <p:cNvSpPr txBox="1"/>
          <p:nvPr/>
        </p:nvSpPr>
        <p:spPr>
          <a:xfrm>
            <a:off x="13173513" y="3644496"/>
            <a:ext cx="3057786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9705" lvl="1" indent="-94853" algn="l">
              <a:lnSpc>
                <a:spcPts val="1230"/>
              </a:lnSpc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  <a:ea typeface="Lora"/>
                <a:cs typeface="Lora"/>
                <a:sym typeface="Lora"/>
              </a:rPr>
              <a:t>Teachers without scientific degree</a:t>
            </a:r>
          </a:p>
        </p:txBody>
      </p:sp>
      <p:sp>
        <p:nvSpPr>
          <p:cNvPr id="204" name="TextBox 94">
            <a:extLst>
              <a:ext uri="{FF2B5EF4-FFF2-40B4-BE49-F238E27FC236}">
                <a16:creationId xmlns:a16="http://schemas.microsoft.com/office/drawing/2014/main" xmlns="" id="{6DD31797-DEE8-483A-A5C3-8A7BEDF548F8}"/>
              </a:ext>
            </a:extLst>
          </p:cNvPr>
          <p:cNvSpPr txBox="1"/>
          <p:nvPr/>
        </p:nvSpPr>
        <p:spPr>
          <a:xfrm>
            <a:off x="13223381" y="2765010"/>
            <a:ext cx="2679864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  <a:sym typeface="Lora Bold"/>
              </a:rPr>
              <a:t>The total number of teachers</a:t>
            </a:r>
          </a:p>
        </p:txBody>
      </p:sp>
      <p:sp>
        <p:nvSpPr>
          <p:cNvPr id="205" name="TextBox 95">
            <a:extLst>
              <a:ext uri="{FF2B5EF4-FFF2-40B4-BE49-F238E27FC236}">
                <a16:creationId xmlns:a16="http://schemas.microsoft.com/office/drawing/2014/main" xmlns="" id="{BE19AF9B-4ADA-4B03-BB8B-3FB64729E642}"/>
              </a:ext>
            </a:extLst>
          </p:cNvPr>
          <p:cNvSpPr txBox="1"/>
          <p:nvPr/>
        </p:nvSpPr>
        <p:spPr>
          <a:xfrm>
            <a:off x="16478281" y="2778831"/>
            <a:ext cx="957399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Lora Bold"/>
                <a:sym typeface="Lora Bold"/>
              </a:rPr>
              <a:t>281 </a:t>
            </a:r>
          </a:p>
        </p:txBody>
      </p:sp>
      <p:sp>
        <p:nvSpPr>
          <p:cNvPr id="206" name="TextBox 96">
            <a:extLst>
              <a:ext uri="{FF2B5EF4-FFF2-40B4-BE49-F238E27FC236}">
                <a16:creationId xmlns:a16="http://schemas.microsoft.com/office/drawing/2014/main" xmlns="" id="{56064CFF-4D19-4E15-93B9-3C850B3196A4}"/>
              </a:ext>
            </a:extLst>
          </p:cNvPr>
          <p:cNvSpPr txBox="1"/>
          <p:nvPr/>
        </p:nvSpPr>
        <p:spPr>
          <a:xfrm>
            <a:off x="16484149" y="3072668"/>
            <a:ext cx="1663082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ea typeface="Lora"/>
                <a:cs typeface="Lora"/>
                <a:sym typeface="Lora"/>
              </a:rPr>
              <a:t>10 </a:t>
            </a:r>
          </a:p>
        </p:txBody>
      </p:sp>
      <p:sp>
        <p:nvSpPr>
          <p:cNvPr id="207" name="TextBox 97">
            <a:extLst>
              <a:ext uri="{FF2B5EF4-FFF2-40B4-BE49-F238E27FC236}">
                <a16:creationId xmlns:a16="http://schemas.microsoft.com/office/drawing/2014/main" xmlns="" id="{F9D1778A-5306-4C20-B95D-F99CF255CC46}"/>
              </a:ext>
            </a:extLst>
          </p:cNvPr>
          <p:cNvSpPr txBox="1"/>
          <p:nvPr/>
        </p:nvSpPr>
        <p:spPr>
          <a:xfrm>
            <a:off x="16489576" y="3373139"/>
            <a:ext cx="1485613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ea typeface="Lora"/>
                <a:cs typeface="Lora"/>
                <a:sym typeface="Lora"/>
              </a:rPr>
              <a:t>111 </a:t>
            </a:r>
          </a:p>
        </p:txBody>
      </p:sp>
      <p:sp>
        <p:nvSpPr>
          <p:cNvPr id="208" name="TextBox 98">
            <a:extLst>
              <a:ext uri="{FF2B5EF4-FFF2-40B4-BE49-F238E27FC236}">
                <a16:creationId xmlns:a16="http://schemas.microsoft.com/office/drawing/2014/main" xmlns="" id="{599C658C-9271-4CF1-9DF0-78CFFD2912A9}"/>
              </a:ext>
            </a:extLst>
          </p:cNvPr>
          <p:cNvSpPr txBox="1"/>
          <p:nvPr/>
        </p:nvSpPr>
        <p:spPr>
          <a:xfrm>
            <a:off x="16478281" y="3660503"/>
            <a:ext cx="1770607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ea typeface="Lora"/>
                <a:cs typeface="Lora"/>
                <a:sym typeface="Lora"/>
              </a:rPr>
              <a:t>160 </a:t>
            </a:r>
          </a:p>
        </p:txBody>
      </p:sp>
      <p:sp>
        <p:nvSpPr>
          <p:cNvPr id="209" name="TextBox 99">
            <a:extLst>
              <a:ext uri="{FF2B5EF4-FFF2-40B4-BE49-F238E27FC236}">
                <a16:creationId xmlns:a16="http://schemas.microsoft.com/office/drawing/2014/main" xmlns="" id="{8623A7F5-15DC-4AE2-8B3B-662772422620}"/>
              </a:ext>
            </a:extLst>
          </p:cNvPr>
          <p:cNvSpPr txBox="1"/>
          <p:nvPr/>
        </p:nvSpPr>
        <p:spPr>
          <a:xfrm>
            <a:off x="9993902" y="2845042"/>
            <a:ext cx="1663945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42,6%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Scientific </a:t>
            </a:r>
            <a:r>
              <a:rPr 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Lora Bold"/>
                <a:cs typeface="Times New Roman" panose="02020603050405020304" pitchFamily="18" charset="0"/>
                <a:sym typeface="Lora Bold"/>
              </a:rPr>
              <a:t/>
            </a:r>
            <a:br>
              <a:rPr 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Lora Bold"/>
                <a:cs typeface="Times New Roman" panose="02020603050405020304" pitchFamily="18" charset="0"/>
                <a:sym typeface="Lora Bold"/>
              </a:rPr>
            </a:b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Times New Roman" panose="02020603050405020304" pitchFamily="18" charset="0"/>
                <a:sym typeface="Lora Bold"/>
              </a:rPr>
              <a:t>potential</a:t>
            </a:r>
          </a:p>
        </p:txBody>
      </p:sp>
      <p:sp>
        <p:nvSpPr>
          <p:cNvPr id="210" name="TextBox 100">
            <a:extLst>
              <a:ext uri="{FF2B5EF4-FFF2-40B4-BE49-F238E27FC236}">
                <a16:creationId xmlns:a16="http://schemas.microsoft.com/office/drawing/2014/main" xmlns="" id="{4B3BFCDF-D362-4BDE-9560-E2405415B25C}"/>
              </a:ext>
            </a:extLst>
          </p:cNvPr>
          <p:cNvSpPr txBox="1"/>
          <p:nvPr/>
        </p:nvSpPr>
        <p:spPr>
          <a:xfrm>
            <a:off x="16221964" y="4183097"/>
            <a:ext cx="1336243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Lora Bold"/>
                <a:sym typeface="Lora Bold"/>
              </a:rPr>
              <a:t>133 </a:t>
            </a:r>
          </a:p>
        </p:txBody>
      </p:sp>
      <p:sp>
        <p:nvSpPr>
          <p:cNvPr id="211" name="TextBox 101">
            <a:extLst>
              <a:ext uri="{FF2B5EF4-FFF2-40B4-BE49-F238E27FC236}">
                <a16:creationId xmlns:a16="http://schemas.microsoft.com/office/drawing/2014/main" xmlns="" id="{A6253B1C-A445-4EC4-BFE0-661D07F39077}"/>
              </a:ext>
            </a:extLst>
          </p:cNvPr>
          <p:cNvSpPr txBox="1"/>
          <p:nvPr/>
        </p:nvSpPr>
        <p:spPr>
          <a:xfrm>
            <a:off x="14812432" y="4178743"/>
            <a:ext cx="1113368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Lora Bold"/>
                <a:sym typeface="Lora Bold"/>
              </a:rPr>
              <a:t>148 </a:t>
            </a:r>
          </a:p>
        </p:txBody>
      </p:sp>
      <p:sp>
        <p:nvSpPr>
          <p:cNvPr id="212" name="TextBox 102">
            <a:extLst>
              <a:ext uri="{FF2B5EF4-FFF2-40B4-BE49-F238E27FC236}">
                <a16:creationId xmlns:a16="http://schemas.microsoft.com/office/drawing/2014/main" xmlns="" id="{786CA80B-535F-42CA-BF34-4C7EBEDEB119}"/>
              </a:ext>
            </a:extLst>
          </p:cNvPr>
          <p:cNvSpPr txBox="1"/>
          <p:nvPr/>
        </p:nvSpPr>
        <p:spPr>
          <a:xfrm>
            <a:off x="16287481" y="4398174"/>
            <a:ext cx="1236181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Lora Bold"/>
                <a:sym typeface="Lora Bold"/>
              </a:rPr>
              <a:t>47,33%</a:t>
            </a:r>
          </a:p>
        </p:txBody>
      </p:sp>
      <p:sp>
        <p:nvSpPr>
          <p:cNvPr id="213" name="TextBox 103">
            <a:extLst>
              <a:ext uri="{FF2B5EF4-FFF2-40B4-BE49-F238E27FC236}">
                <a16:creationId xmlns:a16="http://schemas.microsoft.com/office/drawing/2014/main" xmlns="" id="{D2F581DB-DC04-46F9-9873-A5BBFFE95C1F}"/>
              </a:ext>
            </a:extLst>
          </p:cNvPr>
          <p:cNvSpPr txBox="1"/>
          <p:nvPr/>
        </p:nvSpPr>
        <p:spPr>
          <a:xfrm>
            <a:off x="14859000" y="4409782"/>
            <a:ext cx="1169164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anose="020B0604020202020204" charset="0"/>
                <a:ea typeface="Lora Bold"/>
                <a:cs typeface="Lora Bold"/>
                <a:sym typeface="Lora Bold"/>
              </a:rPr>
              <a:t>52,67%</a:t>
            </a:r>
          </a:p>
        </p:txBody>
      </p:sp>
      <p:sp>
        <p:nvSpPr>
          <p:cNvPr id="214" name="TextBox 105">
            <a:extLst>
              <a:ext uri="{FF2B5EF4-FFF2-40B4-BE49-F238E27FC236}">
                <a16:creationId xmlns:a16="http://schemas.microsoft.com/office/drawing/2014/main" xmlns="" id="{C6316ACE-D97A-4FD7-88AC-38486109D3F7}"/>
              </a:ext>
            </a:extLst>
          </p:cNvPr>
          <p:cNvSpPr txBox="1"/>
          <p:nvPr/>
        </p:nvSpPr>
        <p:spPr>
          <a:xfrm>
            <a:off x="10815595" y="4188545"/>
            <a:ext cx="340492" cy="123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45"/>
              </a:lnSpc>
            </a:pPr>
            <a:r>
              <a:rPr lang="en-US" sz="747" b="1" i="1" dirty="0">
                <a:latin typeface="DM Sans Bold" panose="020B0604020202020204" charset="0"/>
                <a:ea typeface="Lora Bold Italics"/>
                <a:cs typeface="Lora Bold Italics"/>
                <a:sym typeface="Lora Bold Italics"/>
              </a:rPr>
              <a:t>3,55%</a:t>
            </a:r>
          </a:p>
        </p:txBody>
      </p:sp>
      <p:sp>
        <p:nvSpPr>
          <p:cNvPr id="215" name="TextBox 108">
            <a:extLst>
              <a:ext uri="{FF2B5EF4-FFF2-40B4-BE49-F238E27FC236}">
                <a16:creationId xmlns:a16="http://schemas.microsoft.com/office/drawing/2014/main" xmlns="" id="{D3D75E61-21ED-4BBD-9E0D-D8AA28F12692}"/>
              </a:ext>
            </a:extLst>
          </p:cNvPr>
          <p:cNvSpPr txBox="1"/>
          <p:nvPr/>
        </p:nvSpPr>
        <p:spPr>
          <a:xfrm>
            <a:off x="10818273" y="4610062"/>
            <a:ext cx="331681" cy="123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45"/>
              </a:lnSpc>
            </a:pPr>
            <a:r>
              <a:rPr lang="en-US" sz="747" b="1" i="1" dirty="0">
                <a:latin typeface="DM Sans Bold" panose="020B0604020202020204" charset="0"/>
                <a:ea typeface="Lora Bold Italics"/>
                <a:cs typeface="Lora Bold Italics"/>
                <a:sym typeface="Lora Bold Italics"/>
              </a:rPr>
              <a:t>39,5%</a:t>
            </a:r>
          </a:p>
        </p:txBody>
      </p:sp>
      <p:sp>
        <p:nvSpPr>
          <p:cNvPr id="216" name="TextBox 112">
            <a:extLst>
              <a:ext uri="{FF2B5EF4-FFF2-40B4-BE49-F238E27FC236}">
                <a16:creationId xmlns:a16="http://schemas.microsoft.com/office/drawing/2014/main" xmlns="" id="{91E10A00-2638-4890-9B6D-D2AF02721BD0}"/>
              </a:ext>
            </a:extLst>
          </p:cNvPr>
          <p:cNvSpPr txBox="1"/>
          <p:nvPr/>
        </p:nvSpPr>
        <p:spPr>
          <a:xfrm>
            <a:off x="7931353" y="2449779"/>
            <a:ext cx="545371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600" b="1" i="1" dirty="0">
                <a:solidFill>
                  <a:schemeClr val="bg1"/>
                </a:solidFill>
                <a:latin typeface="DM Sans Bold" panose="020B0604020202020204" charset="0"/>
                <a:ea typeface="Lora Bold Italics"/>
                <a:cs typeface="Lora Bold Italics"/>
                <a:sym typeface="Lora Bold Italics"/>
              </a:rPr>
              <a:t>14</a:t>
            </a:r>
          </a:p>
        </p:txBody>
      </p:sp>
      <p:sp>
        <p:nvSpPr>
          <p:cNvPr id="217" name="TextBox 113">
            <a:extLst>
              <a:ext uri="{FF2B5EF4-FFF2-40B4-BE49-F238E27FC236}">
                <a16:creationId xmlns:a16="http://schemas.microsoft.com/office/drawing/2014/main" xmlns="" id="{2525CB8F-5578-482D-A0FF-F76D6A8C3A1C}"/>
              </a:ext>
            </a:extLst>
          </p:cNvPr>
          <p:cNvSpPr txBox="1"/>
          <p:nvPr/>
        </p:nvSpPr>
        <p:spPr>
          <a:xfrm>
            <a:off x="6506391" y="3819717"/>
            <a:ext cx="561664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600" b="1" i="1" dirty="0">
                <a:solidFill>
                  <a:schemeClr val="bg1"/>
                </a:solidFill>
                <a:latin typeface="DM Sans Bold" panose="020B0604020202020204" charset="0"/>
                <a:ea typeface="Lora Bold Italics"/>
                <a:cs typeface="Lora Bold Italics"/>
                <a:sym typeface="Lora Bold Italics"/>
              </a:rPr>
              <a:t>62</a:t>
            </a:r>
          </a:p>
        </p:txBody>
      </p:sp>
      <p:sp>
        <p:nvSpPr>
          <p:cNvPr id="218" name="TextBox 114">
            <a:extLst>
              <a:ext uri="{FF2B5EF4-FFF2-40B4-BE49-F238E27FC236}">
                <a16:creationId xmlns:a16="http://schemas.microsoft.com/office/drawing/2014/main" xmlns="" id="{C9282FBE-B0DB-4C87-BD16-618DAAB9A07A}"/>
              </a:ext>
            </a:extLst>
          </p:cNvPr>
          <p:cNvSpPr txBox="1"/>
          <p:nvPr/>
        </p:nvSpPr>
        <p:spPr>
          <a:xfrm>
            <a:off x="8037838" y="3793092"/>
            <a:ext cx="255566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600" b="1" i="1" dirty="0">
                <a:solidFill>
                  <a:schemeClr val="bg1"/>
                </a:solidFill>
                <a:latin typeface="DM Sans Bold" panose="020B0604020202020204" charset="0"/>
                <a:ea typeface="Lora Bold Italics"/>
                <a:cs typeface="Lora Bold Italics"/>
                <a:sym typeface="Lora Bold Italics"/>
              </a:rPr>
              <a:t>55</a:t>
            </a:r>
          </a:p>
        </p:txBody>
      </p:sp>
      <p:sp>
        <p:nvSpPr>
          <p:cNvPr id="219" name="TextBox 115">
            <a:extLst>
              <a:ext uri="{FF2B5EF4-FFF2-40B4-BE49-F238E27FC236}">
                <a16:creationId xmlns:a16="http://schemas.microsoft.com/office/drawing/2014/main" xmlns="" id="{E87EBFEC-191B-413C-B52B-3BF53E1B1BE4}"/>
              </a:ext>
            </a:extLst>
          </p:cNvPr>
          <p:cNvSpPr txBox="1"/>
          <p:nvPr/>
        </p:nvSpPr>
        <p:spPr>
          <a:xfrm>
            <a:off x="6250615" y="2366457"/>
            <a:ext cx="741147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600" b="1" i="1" dirty="0">
                <a:solidFill>
                  <a:schemeClr val="bg1"/>
                </a:solidFill>
                <a:latin typeface="DM Sans Bold" panose="020B0604020202020204" charset="0"/>
                <a:ea typeface="Lora Bold Italics"/>
                <a:cs typeface="Lora Bold Italics"/>
                <a:sym typeface="Lora Bold Italics"/>
              </a:rPr>
              <a:t>26</a:t>
            </a:r>
          </a:p>
        </p:txBody>
      </p:sp>
      <p:grpSp>
        <p:nvGrpSpPr>
          <p:cNvPr id="220" name="Группа 219">
            <a:extLst>
              <a:ext uri="{FF2B5EF4-FFF2-40B4-BE49-F238E27FC236}">
                <a16:creationId xmlns:a16="http://schemas.microsoft.com/office/drawing/2014/main" xmlns="" id="{B142F7D9-9AA9-47D6-B6D9-99DA90E14182}"/>
              </a:ext>
            </a:extLst>
          </p:cNvPr>
          <p:cNvGrpSpPr/>
          <p:nvPr/>
        </p:nvGrpSpPr>
        <p:grpSpPr>
          <a:xfrm>
            <a:off x="1566317" y="4176049"/>
            <a:ext cx="9131357" cy="5232406"/>
            <a:chOff x="54977" y="4652138"/>
            <a:chExt cx="9131357" cy="5232406"/>
          </a:xfrm>
        </p:grpSpPr>
        <p:pic>
          <p:nvPicPr>
            <p:cNvPr id="221" name="Рисунок 220">
              <a:extLst>
                <a:ext uri="{FF2B5EF4-FFF2-40B4-BE49-F238E27FC236}">
                  <a16:creationId xmlns:a16="http://schemas.microsoft.com/office/drawing/2014/main" xmlns="" id="{DB4776C6-C904-4530-B447-B041F82FE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7" y="4652138"/>
              <a:ext cx="8661278" cy="5232406"/>
            </a:xfrm>
            <a:prstGeom prst="rect">
              <a:avLst/>
            </a:prstGeom>
          </p:spPr>
        </p:pic>
        <p:sp>
          <p:nvSpPr>
            <p:cNvPr id="222" name="TextBox 57">
              <a:extLst>
                <a:ext uri="{FF2B5EF4-FFF2-40B4-BE49-F238E27FC236}">
                  <a16:creationId xmlns:a16="http://schemas.microsoft.com/office/drawing/2014/main" xmlns="" id="{43BE3117-20CF-4224-A0A8-7EEB3E2D1A8E}"/>
                </a:ext>
              </a:extLst>
            </p:cNvPr>
            <p:cNvSpPr txBox="1"/>
            <p:nvPr/>
          </p:nvSpPr>
          <p:spPr>
            <a:xfrm>
              <a:off x="3035926" y="5086604"/>
              <a:ext cx="6150408" cy="2317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822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STUDENTS’ CONTINGENCY ACCORDING TO REGIONS</a:t>
              </a:r>
            </a:p>
          </p:txBody>
        </p:sp>
        <p:sp>
          <p:nvSpPr>
            <p:cNvPr id="223" name="TextBox 69">
              <a:extLst>
                <a:ext uri="{FF2B5EF4-FFF2-40B4-BE49-F238E27FC236}">
                  <a16:creationId xmlns:a16="http://schemas.microsoft.com/office/drawing/2014/main" xmlns="" id="{F91DD1AA-75F9-4213-9E6D-92439527A308}"/>
                </a:ext>
              </a:extLst>
            </p:cNvPr>
            <p:cNvSpPr txBox="1"/>
            <p:nvPr/>
          </p:nvSpPr>
          <p:spPr>
            <a:xfrm>
              <a:off x="1219200" y="6275121"/>
              <a:ext cx="131577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7 </a:t>
              </a:r>
            </a:p>
          </p:txBody>
        </p:sp>
        <p:sp>
          <p:nvSpPr>
            <p:cNvPr id="224" name="TextBox 70">
              <a:extLst>
                <a:ext uri="{FF2B5EF4-FFF2-40B4-BE49-F238E27FC236}">
                  <a16:creationId xmlns:a16="http://schemas.microsoft.com/office/drawing/2014/main" xmlns="" id="{FFACA5CA-2C20-408E-ABB4-5DBE7DF1FC5A}"/>
                </a:ext>
              </a:extLst>
            </p:cNvPr>
            <p:cNvSpPr txBox="1"/>
            <p:nvPr/>
          </p:nvSpPr>
          <p:spPr>
            <a:xfrm>
              <a:off x="2421978" y="7176699"/>
              <a:ext cx="173334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13</a:t>
              </a:r>
            </a:p>
          </p:txBody>
        </p:sp>
        <p:sp>
          <p:nvSpPr>
            <p:cNvPr id="225" name="TextBox 71">
              <a:extLst>
                <a:ext uri="{FF2B5EF4-FFF2-40B4-BE49-F238E27FC236}">
                  <a16:creationId xmlns:a16="http://schemas.microsoft.com/office/drawing/2014/main" xmlns="" id="{08D0CE65-EB78-42F2-B9D5-AF9DF7560FE3}"/>
                </a:ext>
              </a:extLst>
            </p:cNvPr>
            <p:cNvSpPr txBox="1"/>
            <p:nvPr/>
          </p:nvSpPr>
          <p:spPr>
            <a:xfrm>
              <a:off x="3917288" y="7270521"/>
              <a:ext cx="103339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9</a:t>
              </a:r>
            </a:p>
          </p:txBody>
        </p:sp>
        <p:sp>
          <p:nvSpPr>
            <p:cNvPr id="226" name="TextBox 72">
              <a:extLst>
                <a:ext uri="{FF2B5EF4-FFF2-40B4-BE49-F238E27FC236}">
                  <a16:creationId xmlns:a16="http://schemas.microsoft.com/office/drawing/2014/main" xmlns="" id="{84756398-808F-4ABB-BEAF-22177CFF8D6F}"/>
                </a:ext>
              </a:extLst>
            </p:cNvPr>
            <p:cNvSpPr txBox="1"/>
            <p:nvPr/>
          </p:nvSpPr>
          <p:spPr>
            <a:xfrm>
              <a:off x="3836178" y="8217211"/>
              <a:ext cx="209833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20</a:t>
              </a:r>
            </a:p>
          </p:txBody>
        </p:sp>
        <p:sp>
          <p:nvSpPr>
            <p:cNvPr id="227" name="TextBox 73">
              <a:extLst>
                <a:ext uri="{FF2B5EF4-FFF2-40B4-BE49-F238E27FC236}">
                  <a16:creationId xmlns:a16="http://schemas.microsoft.com/office/drawing/2014/main" xmlns="" id="{D8AB5E3A-8EE3-4733-A2D5-7005BF180B04}"/>
                </a:ext>
              </a:extLst>
            </p:cNvPr>
            <p:cNvSpPr txBox="1"/>
            <p:nvPr/>
          </p:nvSpPr>
          <p:spPr>
            <a:xfrm>
              <a:off x="5030406" y="8911280"/>
              <a:ext cx="173795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66</a:t>
              </a:r>
            </a:p>
          </p:txBody>
        </p:sp>
        <p:sp>
          <p:nvSpPr>
            <p:cNvPr id="228" name="TextBox 74">
              <a:extLst>
                <a:ext uri="{FF2B5EF4-FFF2-40B4-BE49-F238E27FC236}">
                  <a16:creationId xmlns:a16="http://schemas.microsoft.com/office/drawing/2014/main" xmlns="" id="{9A9B33A7-0E07-4F50-8CFE-E767A07399BC}"/>
                </a:ext>
              </a:extLst>
            </p:cNvPr>
            <p:cNvSpPr txBox="1"/>
            <p:nvPr/>
          </p:nvSpPr>
          <p:spPr>
            <a:xfrm>
              <a:off x="5011785" y="8342547"/>
              <a:ext cx="211035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50</a:t>
              </a:r>
            </a:p>
          </p:txBody>
        </p:sp>
        <p:sp>
          <p:nvSpPr>
            <p:cNvPr id="229" name="TextBox 75">
              <a:extLst>
                <a:ext uri="{FF2B5EF4-FFF2-40B4-BE49-F238E27FC236}">
                  <a16:creationId xmlns:a16="http://schemas.microsoft.com/office/drawing/2014/main" xmlns="" id="{E3C4EE02-3E06-4936-9E79-A97647DEAFD3}"/>
                </a:ext>
              </a:extLst>
            </p:cNvPr>
            <p:cNvSpPr txBox="1"/>
            <p:nvPr/>
          </p:nvSpPr>
          <p:spPr>
            <a:xfrm>
              <a:off x="5517473" y="8075467"/>
              <a:ext cx="199019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29</a:t>
              </a:r>
            </a:p>
          </p:txBody>
        </p:sp>
        <p:sp>
          <p:nvSpPr>
            <p:cNvPr id="230" name="TextBox 76">
              <a:extLst>
                <a:ext uri="{FF2B5EF4-FFF2-40B4-BE49-F238E27FC236}">
                  <a16:creationId xmlns:a16="http://schemas.microsoft.com/office/drawing/2014/main" xmlns="" id="{DE11D541-1144-492C-B96A-42D1891C8E39}"/>
                </a:ext>
              </a:extLst>
            </p:cNvPr>
            <p:cNvSpPr txBox="1"/>
            <p:nvPr/>
          </p:nvSpPr>
          <p:spPr>
            <a:xfrm>
              <a:off x="5900811" y="7890115"/>
              <a:ext cx="176386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15</a:t>
              </a:r>
            </a:p>
          </p:txBody>
        </p:sp>
        <p:sp>
          <p:nvSpPr>
            <p:cNvPr id="231" name="TextBox 77">
              <a:extLst>
                <a:ext uri="{FF2B5EF4-FFF2-40B4-BE49-F238E27FC236}">
                  <a16:creationId xmlns:a16="http://schemas.microsoft.com/office/drawing/2014/main" xmlns="" id="{002AF62E-5E1D-4280-8D21-51C30CBF1690}"/>
                </a:ext>
              </a:extLst>
            </p:cNvPr>
            <p:cNvSpPr txBox="1"/>
            <p:nvPr/>
          </p:nvSpPr>
          <p:spPr>
            <a:xfrm>
              <a:off x="6506390" y="7235383"/>
              <a:ext cx="271717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126</a:t>
              </a:r>
            </a:p>
          </p:txBody>
        </p:sp>
        <p:sp>
          <p:nvSpPr>
            <p:cNvPr id="232" name="TextBox 78">
              <a:extLst>
                <a:ext uri="{FF2B5EF4-FFF2-40B4-BE49-F238E27FC236}">
                  <a16:creationId xmlns:a16="http://schemas.microsoft.com/office/drawing/2014/main" xmlns="" id="{CAAE2D33-3C70-4792-B2B9-EDC50E42F46D}"/>
                </a:ext>
              </a:extLst>
            </p:cNvPr>
            <p:cNvSpPr txBox="1"/>
            <p:nvPr/>
          </p:nvSpPr>
          <p:spPr>
            <a:xfrm>
              <a:off x="6459902" y="7600030"/>
              <a:ext cx="182347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47</a:t>
              </a:r>
            </a:p>
          </p:txBody>
        </p:sp>
        <p:sp>
          <p:nvSpPr>
            <p:cNvPr id="233" name="TextBox 79">
              <a:extLst>
                <a:ext uri="{FF2B5EF4-FFF2-40B4-BE49-F238E27FC236}">
                  <a16:creationId xmlns:a16="http://schemas.microsoft.com/office/drawing/2014/main" xmlns="" id="{3716673C-A6D7-46F3-AA71-39A07CF6A47B}"/>
                </a:ext>
              </a:extLst>
            </p:cNvPr>
            <p:cNvSpPr txBox="1"/>
            <p:nvPr/>
          </p:nvSpPr>
          <p:spPr>
            <a:xfrm>
              <a:off x="7179678" y="7491776"/>
              <a:ext cx="203074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38</a:t>
              </a:r>
            </a:p>
          </p:txBody>
        </p:sp>
        <p:sp>
          <p:nvSpPr>
            <p:cNvPr id="234" name="TextBox 80">
              <a:extLst>
                <a:ext uri="{FF2B5EF4-FFF2-40B4-BE49-F238E27FC236}">
                  <a16:creationId xmlns:a16="http://schemas.microsoft.com/office/drawing/2014/main" xmlns="" id="{53B8C8DF-34D0-409C-B3DC-07C9DC8C70FE}"/>
                </a:ext>
              </a:extLst>
            </p:cNvPr>
            <p:cNvSpPr txBox="1"/>
            <p:nvPr/>
          </p:nvSpPr>
          <p:spPr>
            <a:xfrm>
              <a:off x="7678286" y="7497975"/>
              <a:ext cx="203676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63</a:t>
              </a:r>
            </a:p>
          </p:txBody>
        </p:sp>
        <p:sp>
          <p:nvSpPr>
            <p:cNvPr id="235" name="TextBox 81">
              <a:extLst>
                <a:ext uri="{FF2B5EF4-FFF2-40B4-BE49-F238E27FC236}">
                  <a16:creationId xmlns:a16="http://schemas.microsoft.com/office/drawing/2014/main" xmlns="" id="{984FCEFC-176A-48A3-8FA5-927AC6A5D974}"/>
                </a:ext>
              </a:extLst>
            </p:cNvPr>
            <p:cNvSpPr txBox="1"/>
            <p:nvPr/>
          </p:nvSpPr>
          <p:spPr>
            <a:xfrm>
              <a:off x="7288583" y="7722203"/>
              <a:ext cx="196165" cy="1667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32</a:t>
              </a:r>
            </a:p>
          </p:txBody>
        </p:sp>
        <p:sp>
          <p:nvSpPr>
            <p:cNvPr id="236" name="TextBox 116">
              <a:extLst>
                <a:ext uri="{FF2B5EF4-FFF2-40B4-BE49-F238E27FC236}">
                  <a16:creationId xmlns:a16="http://schemas.microsoft.com/office/drawing/2014/main" xmlns="" id="{B2A35227-63AC-4507-AEF7-DCBE7E7C8577}"/>
                </a:ext>
              </a:extLst>
            </p:cNvPr>
            <p:cNvSpPr txBox="1"/>
            <p:nvPr/>
          </p:nvSpPr>
          <p:spPr>
            <a:xfrm>
              <a:off x="5399372" y="9419623"/>
              <a:ext cx="485156" cy="15844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11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22702</a:t>
              </a:r>
            </a:p>
          </p:txBody>
        </p:sp>
      </p:grpSp>
      <p:sp>
        <p:nvSpPr>
          <p:cNvPr id="237" name="Прямоугольник: скругленные углы 236">
            <a:extLst>
              <a:ext uri="{FF2B5EF4-FFF2-40B4-BE49-F238E27FC236}">
                <a16:creationId xmlns:a16="http://schemas.microsoft.com/office/drawing/2014/main" xmlns="" id="{0B789030-6B40-400A-B76B-C5220F9D934E}"/>
              </a:ext>
            </a:extLst>
          </p:cNvPr>
          <p:cNvSpPr/>
          <p:nvPr/>
        </p:nvSpPr>
        <p:spPr>
          <a:xfrm>
            <a:off x="10194727" y="4361321"/>
            <a:ext cx="1853562" cy="404077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DM Sans Bold" panose="020B0604020202020204" charset="0"/>
                <a:ea typeface="Lora Bold"/>
                <a:cs typeface="Lora Bold"/>
                <a:sym typeface="Lora Bold"/>
              </a:rPr>
              <a:t>Doctors of</a:t>
            </a:r>
            <a:r>
              <a:rPr lang="ru-RU" sz="1400" b="1" dirty="0"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>
                <a:latin typeface="DM Sans Bold" panose="020B0604020202020204" charset="0"/>
                <a:ea typeface="Lora Bold"/>
                <a:cs typeface="Lora Bold"/>
                <a:sym typeface="Lora Bold"/>
              </a:rPr>
              <a:t>science, DSc</a:t>
            </a:r>
          </a:p>
        </p:txBody>
      </p:sp>
      <p:sp>
        <p:nvSpPr>
          <p:cNvPr id="238" name="Прямоугольник: скругленные углы 237">
            <a:extLst>
              <a:ext uri="{FF2B5EF4-FFF2-40B4-BE49-F238E27FC236}">
                <a16:creationId xmlns:a16="http://schemas.microsoft.com/office/drawing/2014/main" xmlns="" id="{4F4A755C-3436-4D29-A9B9-0630BB505D26}"/>
              </a:ext>
            </a:extLst>
          </p:cNvPr>
          <p:cNvSpPr/>
          <p:nvPr/>
        </p:nvSpPr>
        <p:spPr>
          <a:xfrm>
            <a:off x="10631257" y="4083220"/>
            <a:ext cx="1022276" cy="270869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dirty="0">
                <a:latin typeface="DM Sans Bold" panose="020B0604020202020204" charset="0"/>
                <a:ea typeface="Lora Bold Italics"/>
                <a:cs typeface="Lora Bold Italics"/>
                <a:sym typeface="Lora Bold Italics"/>
              </a:rPr>
              <a:t>3,55%</a:t>
            </a:r>
          </a:p>
        </p:txBody>
      </p:sp>
      <p:sp>
        <p:nvSpPr>
          <p:cNvPr id="239" name="Прямоугольник: скругленные углы 238">
            <a:extLst>
              <a:ext uri="{FF2B5EF4-FFF2-40B4-BE49-F238E27FC236}">
                <a16:creationId xmlns:a16="http://schemas.microsoft.com/office/drawing/2014/main" xmlns="" id="{76D47F1C-215E-4D8B-8C53-BCBD5ECB6F30}"/>
              </a:ext>
            </a:extLst>
          </p:cNvPr>
          <p:cNvSpPr/>
          <p:nvPr/>
        </p:nvSpPr>
        <p:spPr>
          <a:xfrm rot="10800000" flipH="1" flipV="1">
            <a:off x="10227594" y="4922540"/>
            <a:ext cx="1831055" cy="403307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DM Sans Bold" panose="020B0604020202020204" charset="0"/>
                <a:ea typeface="Lora Bold"/>
                <a:cs typeface="Lora Bold"/>
                <a:sym typeface="Lora Bold"/>
              </a:rPr>
              <a:t>Doctors of philosophy PhD</a:t>
            </a:r>
          </a:p>
        </p:txBody>
      </p:sp>
      <p:sp>
        <p:nvSpPr>
          <p:cNvPr id="240" name="Прямоугольник: скругленные углы 239">
            <a:extLst>
              <a:ext uri="{FF2B5EF4-FFF2-40B4-BE49-F238E27FC236}">
                <a16:creationId xmlns:a16="http://schemas.microsoft.com/office/drawing/2014/main" xmlns="" id="{1791B5B7-D9B9-4DD9-995D-EDF944F0B2D4}"/>
              </a:ext>
            </a:extLst>
          </p:cNvPr>
          <p:cNvSpPr/>
          <p:nvPr/>
        </p:nvSpPr>
        <p:spPr>
          <a:xfrm rot="10800000" flipH="1" flipV="1">
            <a:off x="10642208" y="5330974"/>
            <a:ext cx="1022276" cy="252214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DM Sans Bold" panose="020B0604020202020204" charset="0"/>
              </a:rPr>
              <a:t>39,5%</a:t>
            </a:r>
            <a:endParaRPr lang="ru-RU" sz="1400" b="1" dirty="0"/>
          </a:p>
        </p:txBody>
      </p:sp>
      <p:sp>
        <p:nvSpPr>
          <p:cNvPr id="241" name="Прямоугольник: скругленные углы 240">
            <a:extLst>
              <a:ext uri="{FF2B5EF4-FFF2-40B4-BE49-F238E27FC236}">
                <a16:creationId xmlns:a16="http://schemas.microsoft.com/office/drawing/2014/main" xmlns="" id="{3AE90C28-7769-4C32-837D-8B88B4C35257}"/>
              </a:ext>
            </a:extLst>
          </p:cNvPr>
          <p:cNvSpPr/>
          <p:nvPr/>
        </p:nvSpPr>
        <p:spPr>
          <a:xfrm>
            <a:off x="12309277" y="4342272"/>
            <a:ext cx="1853562" cy="349460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DM Sans Bold" panose="020B0604020202020204" charset="0"/>
                <a:ea typeface="Lora Bold"/>
                <a:cs typeface="Lora Bold"/>
                <a:sym typeface="Lora Bold"/>
              </a:rPr>
              <a:t>Average age</a:t>
            </a:r>
          </a:p>
        </p:txBody>
      </p:sp>
      <p:sp>
        <p:nvSpPr>
          <p:cNvPr id="242" name="Прямоугольник: скругленные углы 241">
            <a:extLst>
              <a:ext uri="{FF2B5EF4-FFF2-40B4-BE49-F238E27FC236}">
                <a16:creationId xmlns:a16="http://schemas.microsoft.com/office/drawing/2014/main" xmlns="" id="{689B17B7-DD88-4904-9224-A49BE95C9DC7}"/>
              </a:ext>
            </a:extLst>
          </p:cNvPr>
          <p:cNvSpPr/>
          <p:nvPr/>
        </p:nvSpPr>
        <p:spPr>
          <a:xfrm>
            <a:off x="12706350" y="4102888"/>
            <a:ext cx="1022276" cy="270869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dirty="0">
                <a:latin typeface="DM Sans Bold" panose="020B0604020202020204" charset="0"/>
                <a:ea typeface="Lora Bold Italics"/>
                <a:cs typeface="Lora Bold Italics"/>
                <a:sym typeface="Lora Bold Italics"/>
              </a:rPr>
              <a:t>37</a:t>
            </a:r>
          </a:p>
        </p:txBody>
      </p:sp>
      <p:sp>
        <p:nvSpPr>
          <p:cNvPr id="243" name="Прямоугольник: скругленные углы 242">
            <a:extLst>
              <a:ext uri="{FF2B5EF4-FFF2-40B4-BE49-F238E27FC236}">
                <a16:creationId xmlns:a16="http://schemas.microsoft.com/office/drawing/2014/main" xmlns="" id="{7AA335D5-9B34-47D7-AEC5-D2DEC5DB5B2C}"/>
              </a:ext>
            </a:extLst>
          </p:cNvPr>
          <p:cNvSpPr/>
          <p:nvPr/>
        </p:nvSpPr>
        <p:spPr>
          <a:xfrm rot="10800000" flipH="1" flipV="1">
            <a:off x="12319638" y="4903491"/>
            <a:ext cx="1853562" cy="349460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DM Sans Bold" panose="020B0604020202020204" charset="0"/>
                <a:ea typeface="Lora Bold"/>
                <a:cs typeface="Lora Bold"/>
                <a:sym typeface="Lora Bold"/>
              </a:rPr>
              <a:t>Scientific potential</a:t>
            </a:r>
          </a:p>
        </p:txBody>
      </p:sp>
      <p:sp>
        <p:nvSpPr>
          <p:cNvPr id="244" name="Прямоугольник: скругленные углы 243">
            <a:extLst>
              <a:ext uri="{FF2B5EF4-FFF2-40B4-BE49-F238E27FC236}">
                <a16:creationId xmlns:a16="http://schemas.microsoft.com/office/drawing/2014/main" xmlns="" id="{92E6758A-612C-492A-AE50-76CA4C7D2CBD}"/>
              </a:ext>
            </a:extLst>
          </p:cNvPr>
          <p:cNvSpPr/>
          <p:nvPr/>
        </p:nvSpPr>
        <p:spPr>
          <a:xfrm rot="10800000" flipH="1" flipV="1">
            <a:off x="12735281" y="5267321"/>
            <a:ext cx="1022276" cy="270869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dirty="0">
                <a:latin typeface="DM Sans Bold" panose="020B0604020202020204" charset="0"/>
                <a:ea typeface="Lora Bold Italics"/>
                <a:cs typeface="Lora Bold Italics"/>
                <a:sym typeface="Lora Bold Italics"/>
              </a:rPr>
              <a:t>42,6%</a:t>
            </a:r>
          </a:p>
        </p:txBody>
      </p:sp>
      <p:pic>
        <p:nvPicPr>
          <p:cNvPr id="245" name="Рисунок 244">
            <a:extLst>
              <a:ext uri="{FF2B5EF4-FFF2-40B4-BE49-F238E27FC236}">
                <a16:creationId xmlns:a16="http://schemas.microsoft.com/office/drawing/2014/main" xmlns="" id="{D8569681-C2A2-4947-B498-7E1EAFB09D8E}"/>
              </a:ext>
            </a:extLst>
          </p:cNvPr>
          <p:cNvPicPr>
            <a:picLocks noChangeAspect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3" t="2147" r="17477" b="1675"/>
          <a:stretch/>
        </p:blipFill>
        <p:spPr>
          <a:xfrm>
            <a:off x="11657847" y="2505372"/>
            <a:ext cx="1512729" cy="1372822"/>
          </a:xfrm>
          <a:prstGeom prst="rect">
            <a:avLst/>
          </a:prstGeom>
        </p:spPr>
      </p:pic>
      <p:sp>
        <p:nvSpPr>
          <p:cNvPr id="246" name="TextBox 92">
            <a:extLst>
              <a:ext uri="{FF2B5EF4-FFF2-40B4-BE49-F238E27FC236}">
                <a16:creationId xmlns:a16="http://schemas.microsoft.com/office/drawing/2014/main" xmlns="" id="{D8D1DC92-7C77-43B3-A40F-1584834D6BD3}"/>
              </a:ext>
            </a:extLst>
          </p:cNvPr>
          <p:cNvSpPr txBox="1"/>
          <p:nvPr/>
        </p:nvSpPr>
        <p:spPr>
          <a:xfrm>
            <a:off x="12125857" y="2369088"/>
            <a:ext cx="359385" cy="144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852" lvl="1" algn="l">
              <a:lnSpc>
                <a:spcPts val="1230"/>
              </a:lnSpc>
            </a:pPr>
            <a:r>
              <a:rPr lang="en-US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 Bold" panose="020B0604020202020204" charset="0"/>
                <a:ea typeface="Lora"/>
                <a:cs typeface="Lora"/>
                <a:sym typeface="Lora"/>
              </a:rPr>
              <a:t>3,6%</a:t>
            </a:r>
          </a:p>
        </p:txBody>
      </p:sp>
      <p:sp>
        <p:nvSpPr>
          <p:cNvPr id="247" name="TextBox 92">
            <a:extLst>
              <a:ext uri="{FF2B5EF4-FFF2-40B4-BE49-F238E27FC236}">
                <a16:creationId xmlns:a16="http://schemas.microsoft.com/office/drawing/2014/main" xmlns="" id="{FB429F2C-4D84-4855-A2FE-0FA7B15CD8F6}"/>
              </a:ext>
            </a:extLst>
          </p:cNvPr>
          <p:cNvSpPr txBox="1"/>
          <p:nvPr/>
        </p:nvSpPr>
        <p:spPr>
          <a:xfrm>
            <a:off x="12516382" y="3054888"/>
            <a:ext cx="513818" cy="144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852" lvl="1" algn="l">
              <a:lnSpc>
                <a:spcPts val="1230"/>
              </a:lnSpc>
            </a:pPr>
            <a:r>
              <a:rPr lang="en-US" sz="800" b="1" dirty="0">
                <a:solidFill>
                  <a:srgbClr val="092D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 Bold" panose="020B0604020202020204" charset="0"/>
                <a:ea typeface="Lora"/>
                <a:cs typeface="Lora"/>
                <a:sym typeface="Lora"/>
              </a:rPr>
              <a:t>39,5%</a:t>
            </a:r>
          </a:p>
        </p:txBody>
      </p:sp>
      <p:sp>
        <p:nvSpPr>
          <p:cNvPr id="248" name="TextBox 92">
            <a:extLst>
              <a:ext uri="{FF2B5EF4-FFF2-40B4-BE49-F238E27FC236}">
                <a16:creationId xmlns:a16="http://schemas.microsoft.com/office/drawing/2014/main" xmlns="" id="{49538827-C608-42CE-8726-3C2F8641CFEF}"/>
              </a:ext>
            </a:extLst>
          </p:cNvPr>
          <p:cNvSpPr txBox="1"/>
          <p:nvPr/>
        </p:nvSpPr>
        <p:spPr>
          <a:xfrm>
            <a:off x="11954407" y="3359688"/>
            <a:ext cx="475828" cy="144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852" lvl="1" algn="l">
              <a:lnSpc>
                <a:spcPts val="1230"/>
              </a:lnSpc>
            </a:pPr>
            <a:r>
              <a:rPr lang="en-US" sz="800" b="1" dirty="0">
                <a:solidFill>
                  <a:srgbClr val="092D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 Bold" panose="020B0604020202020204" charset="0"/>
                <a:ea typeface="Lora"/>
                <a:cs typeface="Lora"/>
                <a:sym typeface="Lora"/>
              </a:rPr>
              <a:t>56,9%</a:t>
            </a:r>
          </a:p>
        </p:txBody>
      </p:sp>
      <p:grpSp>
        <p:nvGrpSpPr>
          <p:cNvPr id="249" name="Группа 248">
            <a:extLst>
              <a:ext uri="{FF2B5EF4-FFF2-40B4-BE49-F238E27FC236}">
                <a16:creationId xmlns:a16="http://schemas.microsoft.com/office/drawing/2014/main" xmlns="" id="{936D6CCB-6F20-4C6F-8CC9-AA67E5C1C65D}"/>
              </a:ext>
            </a:extLst>
          </p:cNvPr>
          <p:cNvGrpSpPr/>
          <p:nvPr/>
        </p:nvGrpSpPr>
        <p:grpSpPr>
          <a:xfrm>
            <a:off x="1095196" y="7743533"/>
            <a:ext cx="3559697" cy="1705070"/>
            <a:chOff x="6653078" y="8316244"/>
            <a:chExt cx="3559697" cy="1705070"/>
          </a:xfrm>
        </p:grpSpPr>
        <p:sp>
          <p:nvSpPr>
            <p:cNvPr id="250" name="Freeform 10">
              <a:extLst>
                <a:ext uri="{FF2B5EF4-FFF2-40B4-BE49-F238E27FC236}">
                  <a16:creationId xmlns:a16="http://schemas.microsoft.com/office/drawing/2014/main" xmlns="" id="{EE43531E-8B69-4728-AB1B-A7E3053CBE0A}"/>
                </a:ext>
              </a:extLst>
            </p:cNvPr>
            <p:cNvSpPr/>
            <p:nvPr/>
          </p:nvSpPr>
          <p:spPr>
            <a:xfrm>
              <a:off x="6653078" y="8999791"/>
              <a:ext cx="389736" cy="301478"/>
            </a:xfrm>
            <a:custGeom>
              <a:avLst/>
              <a:gdLst/>
              <a:ahLst/>
              <a:cxnLst/>
              <a:rect l="l" t="t" r="r" b="b"/>
              <a:pathLst>
                <a:path w="209789" h="132954">
                  <a:moveTo>
                    <a:pt x="0" y="0"/>
                  </a:moveTo>
                  <a:lnTo>
                    <a:pt x="209789" y="0"/>
                  </a:lnTo>
                  <a:lnTo>
                    <a:pt x="209789" y="132954"/>
                  </a:lnTo>
                  <a:lnTo>
                    <a:pt x="0" y="132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xmlns="" r:embed="rId2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1" name="Freeform 11">
              <a:extLst>
                <a:ext uri="{FF2B5EF4-FFF2-40B4-BE49-F238E27FC236}">
                  <a16:creationId xmlns:a16="http://schemas.microsoft.com/office/drawing/2014/main" xmlns="" id="{E82FEDD3-F333-4F8F-BCE4-411CE1588E07}"/>
                </a:ext>
              </a:extLst>
            </p:cNvPr>
            <p:cNvSpPr/>
            <p:nvPr/>
          </p:nvSpPr>
          <p:spPr>
            <a:xfrm>
              <a:off x="6653078" y="8672827"/>
              <a:ext cx="368856" cy="246312"/>
            </a:xfrm>
            <a:custGeom>
              <a:avLst/>
              <a:gdLst/>
              <a:ahLst/>
              <a:cxnLst/>
              <a:rect l="l" t="t" r="r" b="b"/>
              <a:pathLst>
                <a:path w="201473" h="134987">
                  <a:moveTo>
                    <a:pt x="0" y="0"/>
                  </a:moveTo>
                  <a:lnTo>
                    <a:pt x="201473" y="0"/>
                  </a:lnTo>
                  <a:lnTo>
                    <a:pt x="201473" y="134987"/>
                  </a:lnTo>
                  <a:lnTo>
                    <a:pt x="0" y="134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xmlns="" r:embed="rId2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2" name="Freeform 12">
              <a:extLst>
                <a:ext uri="{FF2B5EF4-FFF2-40B4-BE49-F238E27FC236}">
                  <a16:creationId xmlns:a16="http://schemas.microsoft.com/office/drawing/2014/main" xmlns="" id="{462DB5A9-2C45-4E44-98EA-EEECE94E13AD}"/>
                </a:ext>
              </a:extLst>
            </p:cNvPr>
            <p:cNvSpPr/>
            <p:nvPr/>
          </p:nvSpPr>
          <p:spPr>
            <a:xfrm>
              <a:off x="6653078" y="9381921"/>
              <a:ext cx="271871" cy="279370"/>
            </a:xfrm>
            <a:custGeom>
              <a:avLst/>
              <a:gdLst/>
              <a:ahLst/>
              <a:cxnLst/>
              <a:rect l="l" t="t" r="r" b="b"/>
              <a:pathLst>
                <a:path w="141589" h="155379">
                  <a:moveTo>
                    <a:pt x="0" y="0"/>
                  </a:moveTo>
                  <a:lnTo>
                    <a:pt x="141589" y="0"/>
                  </a:lnTo>
                  <a:lnTo>
                    <a:pt x="141589" y="155379"/>
                  </a:lnTo>
                  <a:lnTo>
                    <a:pt x="0" y="155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xmlns="" r:embed="rId3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3" name="Freeform 13">
              <a:extLst>
                <a:ext uri="{FF2B5EF4-FFF2-40B4-BE49-F238E27FC236}">
                  <a16:creationId xmlns:a16="http://schemas.microsoft.com/office/drawing/2014/main" xmlns="" id="{E72DD6BF-427B-45E3-AF67-875498E244D0}"/>
                </a:ext>
              </a:extLst>
            </p:cNvPr>
            <p:cNvSpPr/>
            <p:nvPr/>
          </p:nvSpPr>
          <p:spPr>
            <a:xfrm>
              <a:off x="6653078" y="9741944"/>
              <a:ext cx="257680" cy="279370"/>
            </a:xfrm>
            <a:custGeom>
              <a:avLst/>
              <a:gdLst/>
              <a:ahLst/>
              <a:cxnLst/>
              <a:rect l="l" t="t" r="r" b="b"/>
              <a:pathLst>
                <a:path w="124631" h="164530">
                  <a:moveTo>
                    <a:pt x="0" y="0"/>
                  </a:moveTo>
                  <a:lnTo>
                    <a:pt x="124631" y="0"/>
                  </a:lnTo>
                  <a:lnTo>
                    <a:pt x="124631" y="164529"/>
                  </a:lnTo>
                  <a:lnTo>
                    <a:pt x="0" y="164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>
                <a:extLst>
                  <a:ext uri="{96DAC541-7B7A-43D3-8B79-37D633B846F1}">
                    <asvg:svgBlip xmlns:asvg="http://schemas.microsoft.com/office/drawing/2016/SVG/main" xmlns="" r:embed="rId3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4" name="TextBox 59">
              <a:extLst>
                <a:ext uri="{FF2B5EF4-FFF2-40B4-BE49-F238E27FC236}">
                  <a16:creationId xmlns:a16="http://schemas.microsoft.com/office/drawing/2014/main" xmlns="" id="{AF12456E-C9E9-47E6-8E0B-AF7F7E81B701}"/>
                </a:ext>
              </a:extLst>
            </p:cNvPr>
            <p:cNvSpPr txBox="1"/>
            <p:nvPr/>
          </p:nvSpPr>
          <p:spPr>
            <a:xfrm>
              <a:off x="7235627" y="8338801"/>
              <a:ext cx="2671619" cy="3430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THE TOTAL NUMBER OF</a:t>
              </a:r>
              <a:r>
                <a:rPr lang="ru-RU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/>
              </a:r>
              <a:br>
                <a:rPr lang="ru-RU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</a:b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 STUDENTS</a:t>
              </a:r>
            </a:p>
          </p:txBody>
        </p:sp>
        <p:sp>
          <p:nvSpPr>
            <p:cNvPr id="255" name="TextBox 60">
              <a:extLst>
                <a:ext uri="{FF2B5EF4-FFF2-40B4-BE49-F238E27FC236}">
                  <a16:creationId xmlns:a16="http://schemas.microsoft.com/office/drawing/2014/main" xmlns="" id="{80AB91BA-9703-42A7-8FE8-FC323C53EFD1}"/>
                </a:ext>
              </a:extLst>
            </p:cNvPr>
            <p:cNvSpPr txBox="1"/>
            <p:nvPr/>
          </p:nvSpPr>
          <p:spPr>
            <a:xfrm>
              <a:off x="7239531" y="8828100"/>
              <a:ext cx="1036245" cy="1859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367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cs typeface="Times New Roman" panose="02020603050405020304" pitchFamily="18" charset="0"/>
                  <a:sym typeface="Lora Bold"/>
                </a:rPr>
                <a:t>MASTERS</a:t>
              </a:r>
            </a:p>
          </p:txBody>
        </p:sp>
        <p:sp>
          <p:nvSpPr>
            <p:cNvPr id="256" name="TextBox 61">
              <a:extLst>
                <a:ext uri="{FF2B5EF4-FFF2-40B4-BE49-F238E27FC236}">
                  <a16:creationId xmlns:a16="http://schemas.microsoft.com/office/drawing/2014/main" xmlns="" id="{0223B727-263E-4365-AE38-A3D77C2ACD43}"/>
                </a:ext>
              </a:extLst>
            </p:cNvPr>
            <p:cNvSpPr txBox="1"/>
            <p:nvPr/>
          </p:nvSpPr>
          <p:spPr>
            <a:xfrm>
              <a:off x="7259881" y="9160304"/>
              <a:ext cx="959187" cy="1795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367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cs typeface="Times New Roman" panose="02020603050405020304" pitchFamily="18" charset="0"/>
                  <a:sym typeface="Lora Bold"/>
                </a:rPr>
                <a:t>BACHELORS</a:t>
              </a:r>
            </a:p>
          </p:txBody>
        </p:sp>
        <p:sp>
          <p:nvSpPr>
            <p:cNvPr id="257" name="TextBox 62">
              <a:extLst>
                <a:ext uri="{FF2B5EF4-FFF2-40B4-BE49-F238E27FC236}">
                  <a16:creationId xmlns:a16="http://schemas.microsoft.com/office/drawing/2014/main" xmlns="" id="{B6437724-0329-42C5-899B-2881BE1B7A24}"/>
                </a:ext>
              </a:extLst>
            </p:cNvPr>
            <p:cNvSpPr txBox="1"/>
            <p:nvPr/>
          </p:nvSpPr>
          <p:spPr>
            <a:xfrm>
              <a:off x="7259881" y="9486096"/>
              <a:ext cx="1198319" cy="1859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367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cs typeface="Times New Roman" panose="02020603050405020304" pitchFamily="18" charset="0"/>
                  <a:sym typeface="Lora Bold"/>
                </a:rPr>
                <a:t>BOYS</a:t>
              </a:r>
            </a:p>
          </p:txBody>
        </p:sp>
        <p:sp>
          <p:nvSpPr>
            <p:cNvPr id="258" name="TextBox 63">
              <a:extLst>
                <a:ext uri="{FF2B5EF4-FFF2-40B4-BE49-F238E27FC236}">
                  <a16:creationId xmlns:a16="http://schemas.microsoft.com/office/drawing/2014/main" xmlns="" id="{D780CC74-69D0-43E2-A308-F3EE2C448EDE}"/>
                </a:ext>
              </a:extLst>
            </p:cNvPr>
            <p:cNvSpPr txBox="1"/>
            <p:nvPr/>
          </p:nvSpPr>
          <p:spPr>
            <a:xfrm>
              <a:off x="7259881" y="9818299"/>
              <a:ext cx="582937" cy="1859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367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cs typeface="Times New Roman" panose="02020603050405020304" pitchFamily="18" charset="0"/>
                  <a:sym typeface="Lora Bold"/>
                </a:rPr>
                <a:t>GIRLS</a:t>
              </a:r>
            </a:p>
          </p:txBody>
        </p:sp>
        <p:sp>
          <p:nvSpPr>
            <p:cNvPr id="259" name="TextBox 64">
              <a:extLst>
                <a:ext uri="{FF2B5EF4-FFF2-40B4-BE49-F238E27FC236}">
                  <a16:creationId xmlns:a16="http://schemas.microsoft.com/office/drawing/2014/main" xmlns="" id="{11328B31-A1C6-4F83-8C88-6CB39C5024A2}"/>
                </a:ext>
              </a:extLst>
            </p:cNvPr>
            <p:cNvSpPr txBox="1"/>
            <p:nvPr/>
          </p:nvSpPr>
          <p:spPr>
            <a:xfrm>
              <a:off x="9525000" y="8374260"/>
              <a:ext cx="559699" cy="176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23684</a:t>
              </a:r>
            </a:p>
          </p:txBody>
        </p:sp>
        <p:sp>
          <p:nvSpPr>
            <p:cNvPr id="260" name="TextBox 65">
              <a:extLst>
                <a:ext uri="{FF2B5EF4-FFF2-40B4-BE49-F238E27FC236}">
                  <a16:creationId xmlns:a16="http://schemas.microsoft.com/office/drawing/2014/main" xmlns="" id="{E229FBD4-F1BD-4981-B48D-2EA4275FC00F}"/>
                </a:ext>
              </a:extLst>
            </p:cNvPr>
            <p:cNvSpPr txBox="1"/>
            <p:nvPr/>
          </p:nvSpPr>
          <p:spPr>
            <a:xfrm>
              <a:off x="9612450" y="8753274"/>
              <a:ext cx="600325" cy="176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ea typeface="Lora Bold"/>
                  <a:cs typeface="Times New Roman" panose="02020603050405020304" pitchFamily="18" charset="0"/>
                  <a:sym typeface="Lora Bold"/>
                </a:rPr>
                <a:t>467</a:t>
              </a:r>
            </a:p>
          </p:txBody>
        </p:sp>
        <p:sp>
          <p:nvSpPr>
            <p:cNvPr id="261" name="TextBox 66">
              <a:extLst>
                <a:ext uri="{FF2B5EF4-FFF2-40B4-BE49-F238E27FC236}">
                  <a16:creationId xmlns:a16="http://schemas.microsoft.com/office/drawing/2014/main" xmlns="" id="{7EA561FB-07DC-477B-8954-F5253AF7103F}"/>
                </a:ext>
              </a:extLst>
            </p:cNvPr>
            <p:cNvSpPr txBox="1"/>
            <p:nvPr/>
          </p:nvSpPr>
          <p:spPr>
            <a:xfrm>
              <a:off x="9525000" y="9105900"/>
              <a:ext cx="559699" cy="176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cs typeface="Times New Roman" panose="02020603050405020304" pitchFamily="18" charset="0"/>
                  <a:sym typeface="Lora Bold"/>
                </a:rPr>
                <a:t>23217</a:t>
              </a:r>
            </a:p>
          </p:txBody>
        </p:sp>
        <p:sp>
          <p:nvSpPr>
            <p:cNvPr id="262" name="TextBox 67">
              <a:extLst>
                <a:ext uri="{FF2B5EF4-FFF2-40B4-BE49-F238E27FC236}">
                  <a16:creationId xmlns:a16="http://schemas.microsoft.com/office/drawing/2014/main" xmlns="" id="{44AC752B-83C9-431A-800D-FDEDF12EBB6D}"/>
                </a:ext>
              </a:extLst>
            </p:cNvPr>
            <p:cNvSpPr txBox="1"/>
            <p:nvPr/>
          </p:nvSpPr>
          <p:spPr>
            <a:xfrm>
              <a:off x="9574901" y="9489096"/>
              <a:ext cx="559699" cy="176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cs typeface="Times New Roman" panose="02020603050405020304" pitchFamily="18" charset="0"/>
                  <a:sym typeface="Lora Bold"/>
                </a:rPr>
                <a:t>7475</a:t>
              </a:r>
            </a:p>
          </p:txBody>
        </p:sp>
        <p:sp>
          <p:nvSpPr>
            <p:cNvPr id="263" name="TextBox 68">
              <a:extLst>
                <a:ext uri="{FF2B5EF4-FFF2-40B4-BE49-F238E27FC236}">
                  <a16:creationId xmlns:a16="http://schemas.microsoft.com/office/drawing/2014/main" xmlns="" id="{C1D88476-4C64-42EC-8171-6C0C7A05AB51}"/>
                </a:ext>
              </a:extLst>
            </p:cNvPr>
            <p:cNvSpPr txBox="1"/>
            <p:nvPr/>
          </p:nvSpPr>
          <p:spPr>
            <a:xfrm>
              <a:off x="9525000" y="9841689"/>
              <a:ext cx="559699" cy="176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anose="020B0604020202020204" charset="0"/>
                  <a:cs typeface="Times New Roman" panose="02020603050405020304" pitchFamily="18" charset="0"/>
                  <a:sym typeface="Lora Bold"/>
                </a:rPr>
                <a:t>16209</a:t>
              </a:r>
            </a:p>
          </p:txBody>
        </p:sp>
        <p:sp>
          <p:nvSpPr>
            <p:cNvPr id="264" name="Freeform 9">
              <a:extLst>
                <a:ext uri="{FF2B5EF4-FFF2-40B4-BE49-F238E27FC236}">
                  <a16:creationId xmlns:a16="http://schemas.microsoft.com/office/drawing/2014/main" xmlns="" id="{C0E9CF8A-A6C1-4B8C-954C-82670DA93786}"/>
                </a:ext>
              </a:extLst>
            </p:cNvPr>
            <p:cNvSpPr/>
            <p:nvPr/>
          </p:nvSpPr>
          <p:spPr>
            <a:xfrm>
              <a:off x="6653078" y="8316244"/>
              <a:ext cx="369140" cy="275931"/>
            </a:xfrm>
            <a:custGeom>
              <a:avLst/>
              <a:gdLst/>
              <a:ahLst/>
              <a:cxnLst/>
              <a:rect l="l" t="t" r="r" b="b"/>
              <a:pathLst>
                <a:path w="160350" h="119861">
                  <a:moveTo>
                    <a:pt x="0" y="0"/>
                  </a:moveTo>
                  <a:lnTo>
                    <a:pt x="160349" y="0"/>
                  </a:lnTo>
                  <a:lnTo>
                    <a:pt x="160349" y="119861"/>
                  </a:lnTo>
                  <a:lnTo>
                    <a:pt x="0" y="119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xmlns="" r:embed="rId35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23">
            <a:extLst>
              <a:ext uri="{FF2B5EF4-FFF2-40B4-BE49-F238E27FC236}">
                <a16:creationId xmlns:a16="http://schemas.microsoft.com/office/drawing/2014/main" xmlns="" id="{3026D9F7-28DE-4CD9-8E15-A4BE5457C741}"/>
              </a:ext>
            </a:extLst>
          </p:cNvPr>
          <p:cNvGrpSpPr/>
          <p:nvPr/>
        </p:nvGrpSpPr>
        <p:grpSpPr>
          <a:xfrm>
            <a:off x="-228600" y="-29449"/>
            <a:ext cx="19210521" cy="1325742"/>
            <a:chOff x="0" y="0"/>
            <a:chExt cx="5059561" cy="1172906"/>
          </a:xfrm>
        </p:grpSpPr>
        <p:sp>
          <p:nvSpPr>
            <p:cNvPr id="79" name="Freeform 24">
              <a:extLst>
                <a:ext uri="{FF2B5EF4-FFF2-40B4-BE49-F238E27FC236}">
                  <a16:creationId xmlns:a16="http://schemas.microsoft.com/office/drawing/2014/main" xmlns="" id="{4EE3CBA5-535F-4DF8-8E0A-EF54B6542F4E}"/>
                </a:ext>
              </a:extLst>
            </p:cNvPr>
            <p:cNvSpPr/>
            <p:nvPr/>
          </p:nvSpPr>
          <p:spPr>
            <a:xfrm>
              <a:off x="0" y="0"/>
              <a:ext cx="5059561" cy="1172906"/>
            </a:xfrm>
            <a:custGeom>
              <a:avLst/>
              <a:gdLst/>
              <a:ahLst/>
              <a:cxnLst/>
              <a:rect l="l" t="t" r="r" b="b"/>
              <a:pathLst>
                <a:path w="5059561" h="1172906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  <a:ln w="38100" cap="sq">
              <a:solidFill>
                <a:srgbClr val="56AEFF"/>
              </a:solidFill>
              <a:prstDash val="solid"/>
              <a:miter/>
            </a:ln>
          </p:spPr>
        </p:sp>
        <p:sp>
          <p:nvSpPr>
            <p:cNvPr id="80" name="TextBox 25">
              <a:extLst>
                <a:ext uri="{FF2B5EF4-FFF2-40B4-BE49-F238E27FC236}">
                  <a16:creationId xmlns:a16="http://schemas.microsoft.com/office/drawing/2014/main" xmlns="" id="{5761C1AE-B46F-4CE8-BC2D-BAB3AB4E4E66}"/>
                </a:ext>
              </a:extLst>
            </p:cNvPr>
            <p:cNvSpPr txBox="1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81" name="Freeform 33">
            <a:extLst>
              <a:ext uri="{FF2B5EF4-FFF2-40B4-BE49-F238E27FC236}">
                <a16:creationId xmlns:a16="http://schemas.microsoft.com/office/drawing/2014/main" xmlns="" id="{A9C3C29F-43E9-4876-8F27-47BB54342843}"/>
              </a:ext>
            </a:extLst>
          </p:cNvPr>
          <p:cNvSpPr/>
          <p:nvPr/>
        </p:nvSpPr>
        <p:spPr>
          <a:xfrm>
            <a:off x="16695052" y="9129133"/>
            <a:ext cx="1715127" cy="1715127"/>
          </a:xfrm>
          <a:custGeom>
            <a:avLst/>
            <a:gdLst/>
            <a:ahLst/>
            <a:cxnLst/>
            <a:rect l="l" t="t" r="r" b="b"/>
            <a:pathLst>
              <a:path w="1715127" h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3" name="Freeform 34">
            <a:extLst>
              <a:ext uri="{FF2B5EF4-FFF2-40B4-BE49-F238E27FC236}">
                <a16:creationId xmlns:a16="http://schemas.microsoft.com/office/drawing/2014/main" xmlns="" id="{189039AD-ED38-4D43-9585-701E2C131EB9}"/>
              </a:ext>
            </a:extLst>
          </p:cNvPr>
          <p:cNvSpPr/>
          <p:nvPr/>
        </p:nvSpPr>
        <p:spPr>
          <a:xfrm>
            <a:off x="-363441" y="-390286"/>
            <a:ext cx="1715127" cy="1715127"/>
          </a:xfrm>
          <a:custGeom>
            <a:avLst/>
            <a:gdLst/>
            <a:ahLst/>
            <a:cxnLst/>
            <a:rect l="l" t="t" r="r" b="b"/>
            <a:pathLst>
              <a:path w="1715127" h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4" name="Freeform 35">
            <a:extLst>
              <a:ext uri="{FF2B5EF4-FFF2-40B4-BE49-F238E27FC236}">
                <a16:creationId xmlns:a16="http://schemas.microsoft.com/office/drawing/2014/main" xmlns="" id="{E6167B3E-F2B8-477B-A14D-6D055626D6C7}"/>
              </a:ext>
            </a:extLst>
          </p:cNvPr>
          <p:cNvSpPr/>
          <p:nvPr/>
        </p:nvSpPr>
        <p:spPr>
          <a:xfrm>
            <a:off x="14398071" y="-136788"/>
            <a:ext cx="2988937" cy="570615"/>
          </a:xfrm>
          <a:custGeom>
            <a:avLst/>
            <a:gdLst/>
            <a:ahLst/>
            <a:cxnLst/>
            <a:rect l="l" t="t" r="r" b="b"/>
            <a:pathLst>
              <a:path w="2988937" h="570615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5" name="Freeform 36">
            <a:extLst>
              <a:ext uri="{FF2B5EF4-FFF2-40B4-BE49-F238E27FC236}">
                <a16:creationId xmlns:a16="http://schemas.microsoft.com/office/drawing/2014/main" xmlns="" id="{19812927-5C57-45AB-80D0-98E0FBC7A6CA}"/>
              </a:ext>
            </a:extLst>
          </p:cNvPr>
          <p:cNvSpPr/>
          <p:nvPr/>
        </p:nvSpPr>
        <p:spPr>
          <a:xfrm>
            <a:off x="900991" y="9922935"/>
            <a:ext cx="2988937" cy="570615"/>
          </a:xfrm>
          <a:custGeom>
            <a:avLst/>
            <a:gdLst/>
            <a:ahLst/>
            <a:cxnLst/>
            <a:rect l="l" t="t" r="r" b="b"/>
            <a:pathLst>
              <a:path w="2988937" h="570615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6" name="TextBox 41">
            <a:extLst>
              <a:ext uri="{FF2B5EF4-FFF2-40B4-BE49-F238E27FC236}">
                <a16:creationId xmlns:a16="http://schemas.microsoft.com/office/drawing/2014/main" xmlns="" id="{0801BA40-053F-4224-8FAF-883A35F18A6F}"/>
              </a:ext>
            </a:extLst>
          </p:cNvPr>
          <p:cNvSpPr txBox="1"/>
          <p:nvPr/>
        </p:nvSpPr>
        <p:spPr>
          <a:xfrm>
            <a:off x="-1" y="188327"/>
            <a:ext cx="18981921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Now Bold"/>
                <a:sym typeface="Lora Bold"/>
              </a:rPr>
              <a:t>STRATEGY FOR DEVELOPMENT OF EDUCATIONAL AND </a:t>
            </a:r>
            <a:r>
              <a:rPr lang="ru-RU" sz="3200" b="1" dirty="0">
                <a:solidFill>
                  <a:srgbClr val="FFFFFF"/>
                </a:solidFill>
                <a:latin typeface="Now Bold"/>
                <a:sym typeface="Lora Bold"/>
              </a:rPr>
              <a:t/>
            </a:r>
            <a:br>
              <a:rPr lang="ru-RU" sz="3200" b="1" dirty="0">
                <a:solidFill>
                  <a:srgbClr val="FFFFFF"/>
                </a:solidFill>
                <a:latin typeface="Now Bold"/>
                <a:sym typeface="Lora Bold"/>
              </a:rPr>
            </a:br>
            <a:r>
              <a:rPr lang="en-US" sz="3200" b="1" dirty="0">
                <a:solidFill>
                  <a:srgbClr val="FFFFFF"/>
                </a:solidFill>
                <a:latin typeface="Now Bold"/>
                <a:sym typeface="Lora Bold"/>
              </a:rPr>
              <a:t>METHODOLOGICAL SUPPORT</a:t>
            </a:r>
          </a:p>
        </p:txBody>
      </p:sp>
      <p:graphicFrame>
        <p:nvGraphicFramePr>
          <p:cNvPr id="107" name="Table 5">
            <a:extLst>
              <a:ext uri="{FF2B5EF4-FFF2-40B4-BE49-F238E27FC236}">
                <a16:creationId xmlns:a16="http://schemas.microsoft.com/office/drawing/2014/main" xmlns="" id="{EF8F5270-F00B-4C9F-B93E-9208B723C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981238"/>
              </p:ext>
            </p:extLst>
          </p:nvPr>
        </p:nvGraphicFramePr>
        <p:xfrm>
          <a:off x="9431370" y="5169436"/>
          <a:ext cx="7392191" cy="27837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176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582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162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74066">
                <a:tc rowSpan="2">
                  <a:txBody>
                    <a:bodyPr/>
                    <a:lstStyle/>
                    <a:p>
                      <a:pPr algn="ctr">
                        <a:lnSpc>
                          <a:spcPts val="527"/>
                        </a:lnSpc>
                        <a:defRPr/>
                      </a:pPr>
                      <a:endParaRPr lang="en-US" sz="1100" dirty="0">
                        <a:latin typeface="DM Sans Bold" panose="020B0604020202020204" charset="0"/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387"/>
                        </a:lnSpc>
                        <a:defRPr/>
                      </a:pPr>
                      <a:endParaRPr lang="en-US" sz="1100" dirty="0">
                        <a:latin typeface="DM Sans Bold" panose="020B0604020202020204" charset="0"/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87"/>
                        </a:lnSpc>
                        <a:defRPr/>
                      </a:pPr>
                      <a:endParaRPr lang="en-US" sz="1100"/>
                    </a:p>
                  </a:txBody>
                  <a:tcPr marL="161925" marR="161925" marT="161925" marB="161925" anchor="ctr">
                    <a:lnL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ts val="527"/>
                        </a:lnSpc>
                        <a:defRPr/>
                      </a:pPr>
                      <a:endParaRPr lang="en-US" sz="1100"/>
                    </a:p>
                  </a:txBody>
                  <a:tcPr marL="161925" marR="161925" marT="161925" marB="161925" anchor="ctr">
                    <a:lnL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DM Sans Bold" panose="020B0604020202020204" charset="0"/>
                          <a:sym typeface="Lora Bold"/>
                        </a:rPr>
                        <a:t>Year</a:t>
                      </a:r>
                      <a:endParaRPr lang="en-US" sz="1400" dirty="0">
                        <a:solidFill>
                          <a:schemeClr val="bg1"/>
                        </a:solidFill>
                        <a:latin typeface="DM Sans Bold" panose="020B0604020202020204" charset="0"/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DM Sans Bold" panose="020B0604020202020204" charset="0"/>
                        </a:rPr>
                        <a:t>Amount (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DM Sans Bold" panose="020B0604020202020204" charset="0"/>
                        </a:rPr>
                        <a:t>mln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DM Sans Bold" panose="020B0604020202020204" charset="0"/>
                        </a:rPr>
                        <a:t>.,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DM Sans Bold" panose="020B0604020202020204" charset="0"/>
                        </a:rPr>
                        <a:t>soums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DM Sans Bold" panose="020B0604020202020204" charset="0"/>
                        </a:rPr>
                        <a:t>)</a:t>
                      </a: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50536"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endParaRPr lang="en-US" sz="1100" dirty="0">
                        <a:latin typeface="DM Sans Bold" panose="020B0604020202020204" charset="0"/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DM Sans Bold" panose="020B0604020202020204" charset="0"/>
                          <a:sym typeface="Lora Bold"/>
                        </a:rPr>
                        <a:t>2022</a:t>
                      </a:r>
                      <a:endParaRPr lang="en-US" sz="1400" dirty="0">
                        <a:solidFill>
                          <a:schemeClr val="bg1"/>
                        </a:solidFill>
                        <a:latin typeface="DM Sans Bold" panose="020B0604020202020204" charset="0"/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7"/>
                        </a:lnSpc>
                        <a:defRPr/>
                      </a:pPr>
                      <a:endParaRPr lang="en-US" sz="1400" dirty="0">
                        <a:latin typeface="DM Sans Bold" panose="020B0604020202020204" charset="0"/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3324">
                <a:tc>
                  <a:txBody>
                    <a:bodyPr/>
                    <a:lstStyle/>
                    <a:p>
                      <a:pPr algn="ctr">
                        <a:lnSpc>
                          <a:spcPts val="387"/>
                        </a:lnSpc>
                        <a:defRPr/>
                      </a:pPr>
                      <a:endParaRPr lang="en-US" sz="1100" dirty="0">
                        <a:latin typeface="DM Sans Bold" panose="020B0604020202020204" charset="0"/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DM Sans Bold" panose="020B0604020202020204" charset="0"/>
                          <a:sym typeface="Lora Bold"/>
                        </a:rPr>
                        <a:t>2026</a:t>
                      </a:r>
                      <a:endParaRPr lang="en-US" sz="1400" dirty="0">
                        <a:solidFill>
                          <a:schemeClr val="bg1"/>
                        </a:solidFill>
                        <a:latin typeface="DM Sans Bold" panose="020B0604020202020204" charset="0"/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7"/>
                        </a:lnSpc>
                        <a:defRPr/>
                      </a:pPr>
                      <a:endParaRPr lang="en-US" sz="1400" dirty="0">
                        <a:latin typeface="DM Sans Bold" panose="020B0604020202020204" charset="0"/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8" name="Freeform 21">
            <a:extLst>
              <a:ext uri="{FF2B5EF4-FFF2-40B4-BE49-F238E27FC236}">
                <a16:creationId xmlns:a16="http://schemas.microsoft.com/office/drawing/2014/main" xmlns="" id="{1FFC932E-FE52-42A0-9C95-15796C77CB55}"/>
              </a:ext>
            </a:extLst>
          </p:cNvPr>
          <p:cNvSpPr/>
          <p:nvPr/>
        </p:nvSpPr>
        <p:spPr>
          <a:xfrm>
            <a:off x="1905000" y="6057900"/>
            <a:ext cx="4650122" cy="3341680"/>
          </a:xfrm>
          <a:custGeom>
            <a:avLst/>
            <a:gdLst/>
            <a:ahLst/>
            <a:cxnLst/>
            <a:rect l="l" t="t" r="r" b="b"/>
            <a:pathLst>
              <a:path w="2898120" h="2212232">
                <a:moveTo>
                  <a:pt x="0" y="0"/>
                </a:moveTo>
                <a:lnTo>
                  <a:pt x="2898120" y="0"/>
                </a:lnTo>
                <a:lnTo>
                  <a:pt x="2898120" y="2212232"/>
                </a:lnTo>
                <a:lnTo>
                  <a:pt x="0" y="2212232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9" name="TextBox 23">
            <a:extLst>
              <a:ext uri="{FF2B5EF4-FFF2-40B4-BE49-F238E27FC236}">
                <a16:creationId xmlns:a16="http://schemas.microsoft.com/office/drawing/2014/main" xmlns="" id="{53F062BB-CC57-4C72-B768-4EF511B681AA}"/>
              </a:ext>
            </a:extLst>
          </p:cNvPr>
          <p:cNvSpPr txBox="1"/>
          <p:nvPr/>
        </p:nvSpPr>
        <p:spPr>
          <a:xfrm>
            <a:off x="1076547" y="1621740"/>
            <a:ext cx="7404809" cy="222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ORGANIZATION OF CONTINUOUS PROFESSIONAL DEVELOPMENT OF STAFF</a:t>
            </a:r>
          </a:p>
        </p:txBody>
      </p:sp>
      <p:sp>
        <p:nvSpPr>
          <p:cNvPr id="110" name="TextBox 25">
            <a:extLst>
              <a:ext uri="{FF2B5EF4-FFF2-40B4-BE49-F238E27FC236}">
                <a16:creationId xmlns:a16="http://schemas.microsoft.com/office/drawing/2014/main" xmlns="" id="{A593D0B0-8AB8-4A5E-ADA0-90DF3334433A}"/>
              </a:ext>
            </a:extLst>
          </p:cNvPr>
          <p:cNvSpPr txBox="1"/>
          <p:nvPr/>
        </p:nvSpPr>
        <p:spPr>
          <a:xfrm>
            <a:off x="10831676" y="4844071"/>
            <a:ext cx="4807852" cy="224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METHODOLOGICAL AND TECHNICAL SUPPORT</a:t>
            </a:r>
          </a:p>
        </p:txBody>
      </p:sp>
      <p:sp>
        <p:nvSpPr>
          <p:cNvPr id="111" name="TextBox 31">
            <a:extLst>
              <a:ext uri="{FF2B5EF4-FFF2-40B4-BE49-F238E27FC236}">
                <a16:creationId xmlns:a16="http://schemas.microsoft.com/office/drawing/2014/main" xmlns="" id="{F7CD70AF-FAF5-4162-B7AF-0744DB62F892}"/>
              </a:ext>
            </a:extLst>
          </p:cNvPr>
          <p:cNvSpPr txBox="1"/>
          <p:nvPr/>
        </p:nvSpPr>
        <p:spPr>
          <a:xfrm>
            <a:off x="1020055" y="3507442"/>
            <a:ext cx="7012741" cy="395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39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DEVELOPMENT OF THE ACTIVITIES OF THE "LANGUAGE CENTER" AT THE UNIVERSITY</a:t>
            </a:r>
          </a:p>
        </p:txBody>
      </p:sp>
      <p:sp>
        <p:nvSpPr>
          <p:cNvPr id="112" name="TextBox 32">
            <a:extLst>
              <a:ext uri="{FF2B5EF4-FFF2-40B4-BE49-F238E27FC236}">
                <a16:creationId xmlns:a16="http://schemas.microsoft.com/office/drawing/2014/main" xmlns="" id="{171D9AAB-1642-4384-9ACB-8567F3E5CD87}"/>
              </a:ext>
            </a:extLst>
          </p:cNvPr>
          <p:cNvSpPr txBox="1"/>
          <p:nvPr/>
        </p:nvSpPr>
        <p:spPr>
          <a:xfrm>
            <a:off x="403600" y="5692322"/>
            <a:ext cx="7588482" cy="195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39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CONTINUOUS ATTRACTION OF PROFESSORS AND STUDENTS TO THE LANGUAGE CENTER</a:t>
            </a:r>
          </a:p>
        </p:txBody>
      </p:sp>
      <p:sp>
        <p:nvSpPr>
          <p:cNvPr id="113" name="TextBox 33">
            <a:extLst>
              <a:ext uri="{FF2B5EF4-FFF2-40B4-BE49-F238E27FC236}">
                <a16:creationId xmlns:a16="http://schemas.microsoft.com/office/drawing/2014/main" xmlns="" id="{38D18275-FDE7-43C3-B8AE-FE50C77184CF}"/>
              </a:ext>
            </a:extLst>
          </p:cNvPr>
          <p:cNvSpPr txBox="1"/>
          <p:nvPr/>
        </p:nvSpPr>
        <p:spPr>
          <a:xfrm>
            <a:off x="1937837" y="6469805"/>
            <a:ext cx="1987141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"Professor Teacher Rating" at the end of the academic year</a:t>
            </a:r>
          </a:p>
        </p:txBody>
      </p:sp>
      <p:sp>
        <p:nvSpPr>
          <p:cNvPr id="114" name="TextBox 34">
            <a:extLst>
              <a:ext uri="{FF2B5EF4-FFF2-40B4-BE49-F238E27FC236}">
                <a16:creationId xmlns:a16="http://schemas.microsoft.com/office/drawing/2014/main" xmlns="" id="{F9D29A49-4BEC-401A-9A81-E357069D1D86}"/>
              </a:ext>
            </a:extLst>
          </p:cNvPr>
          <p:cNvSpPr txBox="1"/>
          <p:nvPr/>
        </p:nvSpPr>
        <p:spPr>
          <a:xfrm>
            <a:off x="753998" y="2095500"/>
            <a:ext cx="6351418" cy="36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1" lvl="1" indent="-107951" algn="just">
              <a:lnSpc>
                <a:spcPts val="1400"/>
              </a:lnSpc>
              <a:buFont typeface="Arial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Advanced training courses abroad for basic professional competencies of teaching staff</a:t>
            </a:r>
          </a:p>
        </p:txBody>
      </p:sp>
      <p:sp>
        <p:nvSpPr>
          <p:cNvPr id="115" name="TextBox 35">
            <a:extLst>
              <a:ext uri="{FF2B5EF4-FFF2-40B4-BE49-F238E27FC236}">
                <a16:creationId xmlns:a16="http://schemas.microsoft.com/office/drawing/2014/main" xmlns="" id="{C079A7D6-190E-4816-9D39-468066606756}"/>
              </a:ext>
            </a:extLst>
          </p:cNvPr>
          <p:cNvSpPr txBox="1"/>
          <p:nvPr/>
        </p:nvSpPr>
        <p:spPr>
          <a:xfrm>
            <a:off x="753998" y="2694562"/>
            <a:ext cx="6351418" cy="545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1" lvl="1" indent="-107951" algn="just">
              <a:lnSpc>
                <a:spcPts val="1400"/>
              </a:lnSpc>
              <a:buFont typeface="Arial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Develop and launch a "Young Personnel Reserve" program (competitive grants, projects, retraining, internships, research assistance packages, etc.)</a:t>
            </a:r>
          </a:p>
        </p:txBody>
      </p:sp>
      <p:grpSp>
        <p:nvGrpSpPr>
          <p:cNvPr id="116" name="Группа 115">
            <a:extLst>
              <a:ext uri="{FF2B5EF4-FFF2-40B4-BE49-F238E27FC236}">
                <a16:creationId xmlns:a16="http://schemas.microsoft.com/office/drawing/2014/main" xmlns="" id="{9D3FD8F2-EBC5-48DC-8828-D4494D0C9214}"/>
              </a:ext>
            </a:extLst>
          </p:cNvPr>
          <p:cNvGrpSpPr/>
          <p:nvPr/>
        </p:nvGrpSpPr>
        <p:grpSpPr>
          <a:xfrm>
            <a:off x="2209800" y="4000500"/>
            <a:ext cx="4680274" cy="1424153"/>
            <a:chOff x="3557745" y="5450431"/>
            <a:chExt cx="2285308" cy="1039689"/>
          </a:xfrm>
        </p:grpSpPr>
        <p:sp>
          <p:nvSpPr>
            <p:cNvPr id="117" name="Freeform 3">
              <a:extLst>
                <a:ext uri="{FF2B5EF4-FFF2-40B4-BE49-F238E27FC236}">
                  <a16:creationId xmlns:a16="http://schemas.microsoft.com/office/drawing/2014/main" xmlns="" id="{178EA5B3-5EDB-47E3-ADCC-C4826509E811}"/>
                </a:ext>
              </a:extLst>
            </p:cNvPr>
            <p:cNvSpPr/>
            <p:nvPr/>
          </p:nvSpPr>
          <p:spPr>
            <a:xfrm>
              <a:off x="3699734" y="5669744"/>
              <a:ext cx="1909359" cy="582354"/>
            </a:xfrm>
            <a:custGeom>
              <a:avLst/>
              <a:gdLst/>
              <a:ahLst/>
              <a:cxnLst/>
              <a:rect l="l" t="t" r="r" b="b"/>
              <a:pathLst>
                <a:path w="1909359" h="582354">
                  <a:moveTo>
                    <a:pt x="0" y="0"/>
                  </a:moveTo>
                  <a:lnTo>
                    <a:pt x="1909359" y="0"/>
                  </a:lnTo>
                  <a:lnTo>
                    <a:pt x="1909359" y="582355"/>
                  </a:lnTo>
                  <a:lnTo>
                    <a:pt x="0" y="582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print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8" name="TextBox 36">
              <a:extLst>
                <a:ext uri="{FF2B5EF4-FFF2-40B4-BE49-F238E27FC236}">
                  <a16:creationId xmlns:a16="http://schemas.microsoft.com/office/drawing/2014/main" xmlns="" id="{3ADE0F28-5E1F-4925-8AA0-2FB65189AB68}"/>
                </a:ext>
              </a:extLst>
            </p:cNvPr>
            <p:cNvSpPr txBox="1"/>
            <p:nvPr/>
          </p:nvSpPr>
          <p:spPr>
            <a:xfrm>
              <a:off x="3557745" y="5450431"/>
              <a:ext cx="739022" cy="142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400" b="1" dirty="0" err="1">
                  <a:solidFill>
                    <a:srgbClr val="F4B6C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Engish</a:t>
              </a:r>
              <a:endParaRPr lang="en-US" sz="1400" b="1" dirty="0">
                <a:solidFill>
                  <a:srgbClr val="F4B6C0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19" name="TextBox 37">
              <a:extLst>
                <a:ext uri="{FF2B5EF4-FFF2-40B4-BE49-F238E27FC236}">
                  <a16:creationId xmlns:a16="http://schemas.microsoft.com/office/drawing/2014/main" xmlns="" id="{7D045648-B2E6-42BD-A9DD-FAD96301D919}"/>
                </a:ext>
              </a:extLst>
            </p:cNvPr>
            <p:cNvSpPr txBox="1"/>
            <p:nvPr/>
          </p:nvSpPr>
          <p:spPr>
            <a:xfrm>
              <a:off x="4641064" y="5450431"/>
              <a:ext cx="739022" cy="142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400" b="1" dirty="0" err="1">
                  <a:solidFill>
                    <a:srgbClr val="EC695B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Russan</a:t>
              </a:r>
              <a:endParaRPr lang="en-US" sz="1400" b="1" dirty="0">
                <a:solidFill>
                  <a:srgbClr val="EC695B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20" name="TextBox 38">
              <a:extLst>
                <a:ext uri="{FF2B5EF4-FFF2-40B4-BE49-F238E27FC236}">
                  <a16:creationId xmlns:a16="http://schemas.microsoft.com/office/drawing/2014/main" xmlns="" id="{5B498AB9-88AF-4B36-B096-E02C82E824F9}"/>
                </a:ext>
              </a:extLst>
            </p:cNvPr>
            <p:cNvSpPr txBox="1"/>
            <p:nvPr/>
          </p:nvSpPr>
          <p:spPr>
            <a:xfrm>
              <a:off x="4046430" y="6347349"/>
              <a:ext cx="739022" cy="142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400" b="1" dirty="0">
                  <a:solidFill>
                    <a:srgbClr val="5BC5B8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German</a:t>
              </a:r>
            </a:p>
          </p:txBody>
        </p:sp>
        <p:sp>
          <p:nvSpPr>
            <p:cNvPr id="121" name="TextBox 39">
              <a:extLst>
                <a:ext uri="{FF2B5EF4-FFF2-40B4-BE49-F238E27FC236}">
                  <a16:creationId xmlns:a16="http://schemas.microsoft.com/office/drawing/2014/main" xmlns="" id="{EED61326-90E4-4C1C-8899-14520B4D8FA9}"/>
                </a:ext>
              </a:extLst>
            </p:cNvPr>
            <p:cNvSpPr txBox="1"/>
            <p:nvPr/>
          </p:nvSpPr>
          <p:spPr>
            <a:xfrm>
              <a:off x="5104031" y="6347349"/>
              <a:ext cx="739022" cy="142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400" b="1" dirty="0">
                  <a:solidFill>
                    <a:srgbClr val="F4C142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Turkish</a:t>
              </a:r>
            </a:p>
          </p:txBody>
        </p:sp>
      </p:grpSp>
      <p:sp>
        <p:nvSpPr>
          <p:cNvPr id="122" name="TextBox 40">
            <a:extLst>
              <a:ext uri="{FF2B5EF4-FFF2-40B4-BE49-F238E27FC236}">
                <a16:creationId xmlns:a16="http://schemas.microsoft.com/office/drawing/2014/main" xmlns="" id="{733C55FB-A167-4879-9B1C-7799473BEFD2}"/>
              </a:ext>
            </a:extLst>
          </p:cNvPr>
          <p:cNvSpPr txBox="1"/>
          <p:nvPr/>
        </p:nvSpPr>
        <p:spPr>
          <a:xfrm>
            <a:off x="4404388" y="6397579"/>
            <a:ext cx="2066768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Encouragement of students with certificates (Foreign internship)</a:t>
            </a:r>
          </a:p>
        </p:txBody>
      </p:sp>
      <p:sp>
        <p:nvSpPr>
          <p:cNvPr id="123" name="TextBox 41">
            <a:extLst>
              <a:ext uri="{FF2B5EF4-FFF2-40B4-BE49-F238E27FC236}">
                <a16:creationId xmlns:a16="http://schemas.microsoft.com/office/drawing/2014/main" xmlns="" id="{31207BD4-35C7-4543-A8BF-06CF47CBD11D}"/>
              </a:ext>
            </a:extLst>
          </p:cNvPr>
          <p:cNvSpPr txBox="1"/>
          <p:nvPr/>
        </p:nvSpPr>
        <p:spPr>
          <a:xfrm>
            <a:off x="1804541" y="8106332"/>
            <a:ext cx="2037576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Expanding other foreign language courses (Chinese, Japanese, Korean, Spanish, French)</a:t>
            </a:r>
          </a:p>
        </p:txBody>
      </p:sp>
      <p:sp>
        <p:nvSpPr>
          <p:cNvPr id="124" name="TextBox 42">
            <a:extLst>
              <a:ext uri="{FF2B5EF4-FFF2-40B4-BE49-F238E27FC236}">
                <a16:creationId xmlns:a16="http://schemas.microsoft.com/office/drawing/2014/main" xmlns="" id="{D9A62DE7-B2A5-4A4D-BE8F-EEA34DB985EA}"/>
              </a:ext>
            </a:extLst>
          </p:cNvPr>
          <p:cNvSpPr txBox="1"/>
          <p:nvPr/>
        </p:nvSpPr>
        <p:spPr>
          <a:xfrm>
            <a:off x="4572519" y="8191500"/>
            <a:ext cx="1944506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Establishing a language proficiency level and issuing a certificate</a:t>
            </a:r>
          </a:p>
        </p:txBody>
      </p:sp>
      <p:sp>
        <p:nvSpPr>
          <p:cNvPr id="125" name="TextBox 50">
            <a:extLst>
              <a:ext uri="{FF2B5EF4-FFF2-40B4-BE49-F238E27FC236}">
                <a16:creationId xmlns:a16="http://schemas.microsoft.com/office/drawing/2014/main" xmlns="" id="{2054A610-EAF5-45F0-A3DD-E649F4FED910}"/>
              </a:ext>
            </a:extLst>
          </p:cNvPr>
          <p:cNvSpPr txBox="1"/>
          <p:nvPr/>
        </p:nvSpPr>
        <p:spPr>
          <a:xfrm>
            <a:off x="9664743" y="6415272"/>
            <a:ext cx="3195250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Providing the information resource center with a modern bibliographic information system</a:t>
            </a:r>
          </a:p>
        </p:txBody>
      </p:sp>
      <p:sp>
        <p:nvSpPr>
          <p:cNvPr id="126" name="TextBox 51">
            <a:extLst>
              <a:ext uri="{FF2B5EF4-FFF2-40B4-BE49-F238E27FC236}">
                <a16:creationId xmlns:a16="http://schemas.microsoft.com/office/drawing/2014/main" xmlns="" id="{4234F9CE-3AC6-4153-977E-5B5F5330A639}"/>
              </a:ext>
            </a:extLst>
          </p:cNvPr>
          <p:cNvSpPr txBox="1"/>
          <p:nvPr/>
        </p:nvSpPr>
        <p:spPr>
          <a:xfrm>
            <a:off x="9844662" y="7292161"/>
            <a:ext cx="287274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Establishment of a university printing house</a:t>
            </a:r>
          </a:p>
        </p:txBody>
      </p:sp>
      <p:sp>
        <p:nvSpPr>
          <p:cNvPr id="127" name="TextBox 52">
            <a:extLst>
              <a:ext uri="{FF2B5EF4-FFF2-40B4-BE49-F238E27FC236}">
                <a16:creationId xmlns:a16="http://schemas.microsoft.com/office/drawing/2014/main" xmlns="" id="{7D801F63-0EAD-4F3B-A341-53A28A29D2F2}"/>
              </a:ext>
            </a:extLst>
          </p:cNvPr>
          <p:cNvSpPr txBox="1"/>
          <p:nvPr/>
        </p:nvSpPr>
        <p:spPr>
          <a:xfrm>
            <a:off x="10274647" y="5643469"/>
            <a:ext cx="2217305" cy="185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Measures</a:t>
            </a:r>
          </a:p>
        </p:txBody>
      </p:sp>
      <p:sp>
        <p:nvSpPr>
          <p:cNvPr id="128" name="TextBox 53">
            <a:extLst>
              <a:ext uri="{FF2B5EF4-FFF2-40B4-BE49-F238E27FC236}">
                <a16:creationId xmlns:a16="http://schemas.microsoft.com/office/drawing/2014/main" xmlns="" id="{634F4CE8-3815-4225-9DFA-48A30AD0C41A}"/>
              </a:ext>
            </a:extLst>
          </p:cNvPr>
          <p:cNvSpPr txBox="1"/>
          <p:nvPr/>
        </p:nvSpPr>
        <p:spPr>
          <a:xfrm>
            <a:off x="14002272" y="5332939"/>
            <a:ext cx="2217305" cy="185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Financing</a:t>
            </a:r>
          </a:p>
        </p:txBody>
      </p:sp>
      <p:grpSp>
        <p:nvGrpSpPr>
          <p:cNvPr id="129" name="Группа 128">
            <a:extLst>
              <a:ext uri="{FF2B5EF4-FFF2-40B4-BE49-F238E27FC236}">
                <a16:creationId xmlns:a16="http://schemas.microsoft.com/office/drawing/2014/main" xmlns="" id="{79BE8CA7-1995-446E-AB17-74E0B9BAC36F}"/>
              </a:ext>
            </a:extLst>
          </p:cNvPr>
          <p:cNvGrpSpPr/>
          <p:nvPr/>
        </p:nvGrpSpPr>
        <p:grpSpPr>
          <a:xfrm>
            <a:off x="8763000" y="1636574"/>
            <a:ext cx="9014368" cy="3043386"/>
            <a:chOff x="6596565" y="1842746"/>
            <a:chExt cx="4961774" cy="1713526"/>
          </a:xfrm>
        </p:grpSpPr>
        <p:sp>
          <p:nvSpPr>
            <p:cNvPr id="130" name="Freeform 4">
              <a:extLst>
                <a:ext uri="{FF2B5EF4-FFF2-40B4-BE49-F238E27FC236}">
                  <a16:creationId xmlns:a16="http://schemas.microsoft.com/office/drawing/2014/main" xmlns="" id="{D97F4FA1-D7A5-45FA-A02B-22C0609232E5}"/>
                </a:ext>
              </a:extLst>
            </p:cNvPr>
            <p:cNvSpPr/>
            <p:nvPr/>
          </p:nvSpPr>
          <p:spPr>
            <a:xfrm>
              <a:off x="6687662" y="2109215"/>
              <a:ext cx="4870677" cy="1447057"/>
            </a:xfrm>
            <a:custGeom>
              <a:avLst/>
              <a:gdLst/>
              <a:ahLst/>
              <a:cxnLst/>
              <a:rect l="l" t="t" r="r" b="b"/>
              <a:pathLst>
                <a:path w="4870677" h="1447057">
                  <a:moveTo>
                    <a:pt x="0" y="0"/>
                  </a:moveTo>
                  <a:lnTo>
                    <a:pt x="4870677" y="0"/>
                  </a:lnTo>
                  <a:lnTo>
                    <a:pt x="4870677" y="1447057"/>
                  </a:lnTo>
                  <a:lnTo>
                    <a:pt x="0" y="144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 cstate="print"/>
              <a:stretch>
                <a:fillRect l="-166" r="-166" b="-8912"/>
              </a:stretch>
            </a:blipFill>
          </p:spPr>
        </p:sp>
        <p:sp>
          <p:nvSpPr>
            <p:cNvPr id="131" name="TextBox 24">
              <a:extLst>
                <a:ext uri="{FF2B5EF4-FFF2-40B4-BE49-F238E27FC236}">
                  <a16:creationId xmlns:a16="http://schemas.microsoft.com/office/drawing/2014/main" xmlns="" id="{C0E72321-44AD-4005-B01F-AED78D4CEBCF}"/>
                </a:ext>
              </a:extLst>
            </p:cNvPr>
            <p:cNvSpPr txBox="1"/>
            <p:nvPr/>
          </p:nvSpPr>
          <p:spPr>
            <a:xfrm>
              <a:off x="6596565" y="1842746"/>
              <a:ext cx="4929731" cy="1088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"/>
                </a:lnSpc>
              </a:pPr>
              <a:endParaRPr lang="en-US" sz="16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32" name="TextBox 62">
              <a:extLst>
                <a:ext uri="{FF2B5EF4-FFF2-40B4-BE49-F238E27FC236}">
                  <a16:creationId xmlns:a16="http://schemas.microsoft.com/office/drawing/2014/main" xmlns="" id="{ABD0533D-9AD1-46F1-B1E4-A67F94366A4F}"/>
                </a:ext>
              </a:extLst>
            </p:cNvPr>
            <p:cNvSpPr txBox="1"/>
            <p:nvPr/>
          </p:nvSpPr>
          <p:spPr>
            <a:xfrm>
              <a:off x="6753710" y="2771838"/>
              <a:ext cx="764205" cy="7278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200" b="1" dirty="0">
                  <a:solidFill>
                    <a:srgbClr val="000000"/>
                  </a:solidFill>
                  <a:latin typeface="DM Sans" panose="020B0604020202020204" charset="0"/>
                  <a:ea typeface="Lora Bold"/>
                  <a:cs typeface="Lora Bold"/>
                  <a:sym typeface="Lora Bold"/>
                </a:rPr>
                <a:t>To teach students to independently acquire knowledge and propose innovations in the classroom</a:t>
              </a:r>
            </a:p>
          </p:txBody>
        </p:sp>
        <p:sp>
          <p:nvSpPr>
            <p:cNvPr id="133" name="TextBox 63">
              <a:extLst>
                <a:ext uri="{FF2B5EF4-FFF2-40B4-BE49-F238E27FC236}">
                  <a16:creationId xmlns:a16="http://schemas.microsoft.com/office/drawing/2014/main" xmlns="" id="{F374339A-E3D5-4C84-8256-F34220804DEC}"/>
                </a:ext>
              </a:extLst>
            </p:cNvPr>
            <p:cNvSpPr txBox="1"/>
            <p:nvPr/>
          </p:nvSpPr>
          <p:spPr>
            <a:xfrm>
              <a:off x="7751259" y="2928314"/>
              <a:ext cx="764205" cy="485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Advance delivery of learning materials</a:t>
              </a:r>
            </a:p>
          </p:txBody>
        </p:sp>
        <p:sp>
          <p:nvSpPr>
            <p:cNvPr id="134" name="TextBox 64">
              <a:extLst>
                <a:ext uri="{FF2B5EF4-FFF2-40B4-BE49-F238E27FC236}">
                  <a16:creationId xmlns:a16="http://schemas.microsoft.com/office/drawing/2014/main" xmlns="" id="{5D3E7E38-F763-4D88-A474-DAC0EA83FC6F}"/>
                </a:ext>
              </a:extLst>
            </p:cNvPr>
            <p:cNvSpPr txBox="1"/>
            <p:nvPr/>
          </p:nvSpPr>
          <p:spPr>
            <a:xfrm>
              <a:off x="8740007" y="2684933"/>
              <a:ext cx="750284" cy="1213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endParaRPr lang="en-US" sz="1400" b="1" dirty="0">
                <a:solidFill>
                  <a:srgbClr val="000000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35" name="TextBox 65">
              <a:extLst>
                <a:ext uri="{FF2B5EF4-FFF2-40B4-BE49-F238E27FC236}">
                  <a16:creationId xmlns:a16="http://schemas.microsoft.com/office/drawing/2014/main" xmlns="" id="{63B158D1-97D3-48D7-AE29-C1CD73479B54}"/>
                </a:ext>
              </a:extLst>
            </p:cNvPr>
            <p:cNvSpPr txBox="1"/>
            <p:nvPr/>
          </p:nvSpPr>
          <p:spPr>
            <a:xfrm>
              <a:off x="9678851" y="2783570"/>
              <a:ext cx="851898" cy="12130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endParaRPr lang="en-US" sz="1400" b="1" dirty="0">
                <a:solidFill>
                  <a:srgbClr val="000000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36" name="TextBox 66">
              <a:extLst>
                <a:ext uri="{FF2B5EF4-FFF2-40B4-BE49-F238E27FC236}">
                  <a16:creationId xmlns:a16="http://schemas.microsoft.com/office/drawing/2014/main" xmlns="" id="{FF2B67F6-B7C0-46EC-B5CB-D559D102B017}"/>
                </a:ext>
              </a:extLst>
            </p:cNvPr>
            <p:cNvSpPr txBox="1"/>
            <p:nvPr/>
          </p:nvSpPr>
          <p:spPr>
            <a:xfrm>
              <a:off x="10686080" y="2679758"/>
              <a:ext cx="750284" cy="109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indent="-324000" algn="ctr">
                <a:lnSpc>
                  <a:spcPct val="90000"/>
                </a:lnSpc>
                <a:spcBef>
                  <a:spcPct val="0"/>
                </a:spcBef>
              </a:pPr>
              <a:endParaRPr lang="en-US" sz="1400" b="1" dirty="0">
                <a:solidFill>
                  <a:srgbClr val="000000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</p:grpSp>
      <p:grpSp>
        <p:nvGrpSpPr>
          <p:cNvPr id="137" name="Группа 136">
            <a:extLst>
              <a:ext uri="{FF2B5EF4-FFF2-40B4-BE49-F238E27FC236}">
                <a16:creationId xmlns:a16="http://schemas.microsoft.com/office/drawing/2014/main" xmlns="" id="{C7C7C26C-8D5B-49EE-9DE7-B13CC100A25E}"/>
              </a:ext>
            </a:extLst>
          </p:cNvPr>
          <p:cNvGrpSpPr/>
          <p:nvPr/>
        </p:nvGrpSpPr>
        <p:grpSpPr>
          <a:xfrm>
            <a:off x="7315199" y="8037563"/>
            <a:ext cx="10751834" cy="1988765"/>
            <a:chOff x="10079888" y="7396105"/>
            <a:chExt cx="6588588" cy="1988765"/>
          </a:xfrm>
        </p:grpSpPr>
        <p:grpSp>
          <p:nvGrpSpPr>
            <p:cNvPr id="138" name="Group 6">
              <a:extLst>
                <a:ext uri="{FF2B5EF4-FFF2-40B4-BE49-F238E27FC236}">
                  <a16:creationId xmlns:a16="http://schemas.microsoft.com/office/drawing/2014/main" xmlns="" id="{BEE969FC-7B84-4298-9853-F909D0FDC317}"/>
                </a:ext>
              </a:extLst>
            </p:cNvPr>
            <p:cNvGrpSpPr/>
            <p:nvPr/>
          </p:nvGrpSpPr>
          <p:grpSpPr>
            <a:xfrm>
              <a:off x="11486513" y="8076386"/>
              <a:ext cx="985487" cy="285750"/>
              <a:chOff x="0" y="0"/>
              <a:chExt cx="353176" cy="102406"/>
            </a:xfrm>
          </p:grpSpPr>
          <p:sp>
            <p:nvSpPr>
              <p:cNvPr id="165" name="Freeform 7">
                <a:extLst>
                  <a:ext uri="{FF2B5EF4-FFF2-40B4-BE49-F238E27FC236}">
                    <a16:creationId xmlns:a16="http://schemas.microsoft.com/office/drawing/2014/main" xmlns="" id="{B699619E-78A4-4AB8-9B6C-C22BC2B55E4D}"/>
                  </a:ext>
                </a:extLst>
              </p:cNvPr>
              <p:cNvSpPr/>
              <p:nvPr/>
            </p:nvSpPr>
            <p:spPr>
              <a:xfrm>
                <a:off x="0" y="0"/>
                <a:ext cx="353176" cy="102406"/>
              </a:xfrm>
              <a:custGeom>
                <a:avLst/>
                <a:gdLst/>
                <a:ahLst/>
                <a:cxnLst/>
                <a:rect l="l" t="t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lnTo>
                      <a:pt x="353176" y="51203"/>
                    </a:ln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lnTo>
                      <a:pt x="0" y="51203"/>
                    </a:ln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166" name="TextBox 8">
                <a:extLst>
                  <a:ext uri="{FF2B5EF4-FFF2-40B4-BE49-F238E27FC236}">
                    <a16:creationId xmlns:a16="http://schemas.microsoft.com/office/drawing/2014/main" xmlns="" id="{5BCBBFFD-E1FE-4E66-BABD-2F8943035054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353176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r>
                  <a:rPr lang="en-US" sz="1400" dirty="0">
                    <a:latin typeface="DM Sans" panose="020B0604020202020204" charset="0"/>
                    <a:sym typeface="Lora Bold"/>
                  </a:rPr>
                  <a:t>Mathematics</a:t>
                </a:r>
              </a:p>
            </p:txBody>
          </p:sp>
        </p:grpSp>
        <p:grpSp>
          <p:nvGrpSpPr>
            <p:cNvPr id="139" name="Group 9">
              <a:extLst>
                <a:ext uri="{FF2B5EF4-FFF2-40B4-BE49-F238E27FC236}">
                  <a16:creationId xmlns:a16="http://schemas.microsoft.com/office/drawing/2014/main" xmlns="" id="{EC277349-6796-4F77-8DDB-BE3CF1E9BDED}"/>
                </a:ext>
              </a:extLst>
            </p:cNvPr>
            <p:cNvGrpSpPr/>
            <p:nvPr/>
          </p:nvGrpSpPr>
          <p:grpSpPr>
            <a:xfrm>
              <a:off x="12416888" y="8057278"/>
              <a:ext cx="985487" cy="312328"/>
              <a:chOff x="-33405" y="-6848"/>
              <a:chExt cx="353176" cy="111931"/>
            </a:xfrm>
          </p:grpSpPr>
          <p:sp>
            <p:nvSpPr>
              <p:cNvPr id="163" name="Freeform 10">
                <a:extLst>
                  <a:ext uri="{FF2B5EF4-FFF2-40B4-BE49-F238E27FC236}">
                    <a16:creationId xmlns:a16="http://schemas.microsoft.com/office/drawing/2014/main" xmlns="" id="{9B784237-682C-47D9-9F08-C814357DC253}"/>
                  </a:ext>
                </a:extLst>
              </p:cNvPr>
              <p:cNvSpPr/>
              <p:nvPr/>
            </p:nvSpPr>
            <p:spPr>
              <a:xfrm>
                <a:off x="0" y="0"/>
                <a:ext cx="302202" cy="102406"/>
              </a:xfrm>
              <a:custGeom>
                <a:avLst/>
                <a:gdLst/>
                <a:ahLst/>
                <a:cxnLst/>
                <a:rect l="l" t="t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lnTo>
                      <a:pt x="353176" y="51203"/>
                    </a:ln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lnTo>
                      <a:pt x="0" y="51203"/>
                    </a:ln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164" name="TextBox 11">
                <a:extLst>
                  <a:ext uri="{FF2B5EF4-FFF2-40B4-BE49-F238E27FC236}">
                    <a16:creationId xmlns:a16="http://schemas.microsoft.com/office/drawing/2014/main" xmlns="" id="{A305A8A5-CF00-4ED6-AA4D-83760EB37AB6}"/>
                  </a:ext>
                </a:extLst>
              </p:cNvPr>
              <p:cNvSpPr txBox="1"/>
              <p:nvPr/>
            </p:nvSpPr>
            <p:spPr>
              <a:xfrm>
                <a:off x="-33405" y="-6848"/>
                <a:ext cx="353176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r>
                  <a:rPr lang="en-US" sz="1400" dirty="0">
                    <a:latin typeface="DM Sans" panose="020B0604020202020204" charset="0"/>
                    <a:sym typeface="Lora Bold"/>
                  </a:rPr>
                  <a:t>Physics</a:t>
                </a:r>
              </a:p>
            </p:txBody>
          </p:sp>
        </p:grpSp>
        <p:grpSp>
          <p:nvGrpSpPr>
            <p:cNvPr id="140" name="Group 12">
              <a:extLst>
                <a:ext uri="{FF2B5EF4-FFF2-40B4-BE49-F238E27FC236}">
                  <a16:creationId xmlns:a16="http://schemas.microsoft.com/office/drawing/2014/main" xmlns="" id="{EE614B16-3B53-473D-A239-0B2DEB8114AB}"/>
                </a:ext>
              </a:extLst>
            </p:cNvPr>
            <p:cNvGrpSpPr/>
            <p:nvPr/>
          </p:nvGrpSpPr>
          <p:grpSpPr>
            <a:xfrm>
              <a:off x="13423181" y="8063027"/>
              <a:ext cx="1100941" cy="314064"/>
              <a:chOff x="-38464" y="-10147"/>
              <a:chExt cx="394552" cy="112553"/>
            </a:xfrm>
          </p:grpSpPr>
          <p:sp>
            <p:nvSpPr>
              <p:cNvPr id="161" name="Freeform 13">
                <a:extLst>
                  <a:ext uri="{FF2B5EF4-FFF2-40B4-BE49-F238E27FC236}">
                    <a16:creationId xmlns:a16="http://schemas.microsoft.com/office/drawing/2014/main" xmlns="" id="{0D50FF07-E6D4-469F-B64F-BC07524F2428}"/>
                  </a:ext>
                </a:extLst>
              </p:cNvPr>
              <p:cNvSpPr/>
              <p:nvPr/>
            </p:nvSpPr>
            <p:spPr>
              <a:xfrm>
                <a:off x="-38464" y="-10147"/>
                <a:ext cx="394552" cy="102406"/>
              </a:xfrm>
              <a:custGeom>
                <a:avLst/>
                <a:gdLst/>
                <a:ahLst/>
                <a:cxnLst/>
                <a:rect l="l" t="t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lnTo>
                      <a:pt x="353176" y="51203"/>
                    </a:ln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lnTo>
                      <a:pt x="0" y="51203"/>
                    </a:ln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  <p:txBody>
              <a:bodyPr/>
              <a:lstStyle/>
              <a:p>
                <a:r>
                  <a:rPr lang="en-US" sz="1400" dirty="0">
                    <a:latin typeface="DM Sans" panose="020B0604020202020204" charset="0"/>
                  </a:rPr>
                  <a:t>Computer science</a:t>
                </a:r>
                <a:endParaRPr lang="ru-RU" sz="1400" dirty="0"/>
              </a:p>
            </p:txBody>
          </p:sp>
          <p:sp>
            <p:nvSpPr>
              <p:cNvPr id="162" name="TextBox 14">
                <a:extLst>
                  <a:ext uri="{FF2B5EF4-FFF2-40B4-BE49-F238E27FC236}">
                    <a16:creationId xmlns:a16="http://schemas.microsoft.com/office/drawing/2014/main" xmlns="" id="{58416773-4207-405E-8DD9-5101999A93A0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353176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399"/>
                  </a:lnSpc>
                </a:pPr>
                <a:endParaRPr lang="en-US" sz="1300" dirty="0">
                  <a:solidFill>
                    <a:srgbClr val="051D40"/>
                  </a:solidFill>
                  <a:latin typeface="DM Sans" panose="020B0604020202020204" charset="0"/>
                  <a:ea typeface="Lora Bold"/>
                  <a:cs typeface="Lora Bold"/>
                  <a:sym typeface="Lora Bold"/>
                </a:endParaRPr>
              </a:p>
            </p:txBody>
          </p:sp>
        </p:grpSp>
        <p:grpSp>
          <p:nvGrpSpPr>
            <p:cNvPr id="141" name="Group 15">
              <a:extLst>
                <a:ext uri="{FF2B5EF4-FFF2-40B4-BE49-F238E27FC236}">
                  <a16:creationId xmlns:a16="http://schemas.microsoft.com/office/drawing/2014/main" xmlns="" id="{3EF77D20-E0FA-455F-84BB-89A5DA42DF6D}"/>
                </a:ext>
              </a:extLst>
            </p:cNvPr>
            <p:cNvGrpSpPr/>
            <p:nvPr/>
          </p:nvGrpSpPr>
          <p:grpSpPr>
            <a:xfrm>
              <a:off x="14573147" y="8076386"/>
              <a:ext cx="995817" cy="323769"/>
              <a:chOff x="0" y="0"/>
              <a:chExt cx="356878" cy="116031"/>
            </a:xfrm>
          </p:grpSpPr>
          <p:sp>
            <p:nvSpPr>
              <p:cNvPr id="159" name="Freeform 16">
                <a:extLst>
                  <a:ext uri="{FF2B5EF4-FFF2-40B4-BE49-F238E27FC236}">
                    <a16:creationId xmlns:a16="http://schemas.microsoft.com/office/drawing/2014/main" xmlns="" id="{77B9CBC7-F2FC-40A0-B4DF-25955CCC5DA9}"/>
                  </a:ext>
                </a:extLst>
              </p:cNvPr>
              <p:cNvSpPr/>
              <p:nvPr/>
            </p:nvSpPr>
            <p:spPr>
              <a:xfrm>
                <a:off x="0" y="0"/>
                <a:ext cx="353176" cy="102406"/>
              </a:xfrm>
              <a:custGeom>
                <a:avLst/>
                <a:gdLst/>
                <a:ahLst/>
                <a:cxnLst/>
                <a:rect l="l" t="t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lnTo>
                      <a:pt x="353176" y="51203"/>
                    </a:ln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lnTo>
                      <a:pt x="0" y="51203"/>
                    </a:ln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160" name="TextBox 17">
                <a:extLst>
                  <a:ext uri="{FF2B5EF4-FFF2-40B4-BE49-F238E27FC236}">
                    <a16:creationId xmlns:a16="http://schemas.microsoft.com/office/drawing/2014/main" xmlns="" id="{D675F5D8-D2DF-4488-A216-BD7DFA304AF4}"/>
                  </a:ext>
                </a:extLst>
              </p:cNvPr>
              <p:cNvSpPr txBox="1"/>
              <p:nvPr/>
            </p:nvSpPr>
            <p:spPr>
              <a:xfrm>
                <a:off x="3702" y="4100"/>
                <a:ext cx="353176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r>
                  <a:rPr lang="en-US" sz="1400" dirty="0">
                    <a:latin typeface="DM Sans" panose="020B0604020202020204" charset="0"/>
                    <a:sym typeface="Lora Bold"/>
                  </a:rPr>
                  <a:t>English</a:t>
                </a:r>
              </a:p>
            </p:txBody>
          </p:sp>
        </p:grpSp>
        <p:grpSp>
          <p:nvGrpSpPr>
            <p:cNvPr id="142" name="Group 18">
              <a:extLst>
                <a:ext uri="{FF2B5EF4-FFF2-40B4-BE49-F238E27FC236}">
                  <a16:creationId xmlns:a16="http://schemas.microsoft.com/office/drawing/2014/main" xmlns="" id="{6CC442B2-6E76-4898-B683-C32C66F8E763}"/>
                </a:ext>
              </a:extLst>
            </p:cNvPr>
            <p:cNvGrpSpPr/>
            <p:nvPr/>
          </p:nvGrpSpPr>
          <p:grpSpPr>
            <a:xfrm>
              <a:off x="15620194" y="8072990"/>
              <a:ext cx="1028492" cy="312328"/>
              <a:chOff x="0" y="-1217"/>
              <a:chExt cx="368588" cy="111931"/>
            </a:xfrm>
          </p:grpSpPr>
          <p:sp>
            <p:nvSpPr>
              <p:cNvPr id="157" name="Freeform 19">
                <a:extLst>
                  <a:ext uri="{FF2B5EF4-FFF2-40B4-BE49-F238E27FC236}">
                    <a16:creationId xmlns:a16="http://schemas.microsoft.com/office/drawing/2014/main" xmlns="" id="{839FE6C5-4AE2-45F5-8957-10E66F50E3BC}"/>
                  </a:ext>
                </a:extLst>
              </p:cNvPr>
              <p:cNvSpPr/>
              <p:nvPr/>
            </p:nvSpPr>
            <p:spPr>
              <a:xfrm>
                <a:off x="0" y="0"/>
                <a:ext cx="353176" cy="102406"/>
              </a:xfrm>
              <a:custGeom>
                <a:avLst/>
                <a:gdLst/>
                <a:ahLst/>
                <a:cxnLst/>
                <a:rect l="l" t="t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lnTo>
                      <a:pt x="353176" y="51203"/>
                    </a:ln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lnTo>
                      <a:pt x="0" y="51203"/>
                    </a:ln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158" name="TextBox 20">
                <a:extLst>
                  <a:ext uri="{FF2B5EF4-FFF2-40B4-BE49-F238E27FC236}">
                    <a16:creationId xmlns:a16="http://schemas.microsoft.com/office/drawing/2014/main" xmlns="" id="{A9836F87-1242-4F41-A281-91CE51270EB3}"/>
                  </a:ext>
                </a:extLst>
              </p:cNvPr>
              <p:cNvSpPr txBox="1"/>
              <p:nvPr/>
            </p:nvSpPr>
            <p:spPr>
              <a:xfrm>
                <a:off x="15412" y="-1217"/>
                <a:ext cx="353176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algn="ctr">
                  <a:lnSpc>
                    <a:spcPts val="1260"/>
                  </a:lnSpc>
                  <a:defRPr sz="1400">
                    <a:latin typeface="DM Sans" panose="020B0604020202020204" charset="0"/>
                  </a:defRPr>
                </a:lvl1pPr>
              </a:lstStyle>
              <a:p>
                <a:r>
                  <a:rPr lang="en-US" dirty="0">
                    <a:sym typeface="Lora Bold"/>
                  </a:rPr>
                  <a:t>Russian</a:t>
                </a:r>
              </a:p>
            </p:txBody>
          </p:sp>
        </p:grpSp>
        <p:sp>
          <p:nvSpPr>
            <p:cNvPr id="143" name="TextBox 26">
              <a:extLst>
                <a:ext uri="{FF2B5EF4-FFF2-40B4-BE49-F238E27FC236}">
                  <a16:creationId xmlns:a16="http://schemas.microsoft.com/office/drawing/2014/main" xmlns="" id="{39976297-5031-4A77-BF64-3392E3C4C52E}"/>
                </a:ext>
              </a:extLst>
            </p:cNvPr>
            <p:cNvSpPr txBox="1"/>
            <p:nvPr/>
          </p:nvSpPr>
          <p:spPr>
            <a:xfrm>
              <a:off x="11628408" y="7396105"/>
              <a:ext cx="3860343" cy="2244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44" name="TextBox 27">
              <a:extLst>
                <a:ext uri="{FF2B5EF4-FFF2-40B4-BE49-F238E27FC236}">
                  <a16:creationId xmlns:a16="http://schemas.microsoft.com/office/drawing/2014/main" xmlns="" id="{9742DDBA-9D47-4E1D-89A4-E6FB5138176C}"/>
                </a:ext>
              </a:extLst>
            </p:cNvPr>
            <p:cNvSpPr txBox="1"/>
            <p:nvPr/>
          </p:nvSpPr>
          <p:spPr>
            <a:xfrm>
              <a:off x="12837109" y="7669144"/>
              <a:ext cx="1483384" cy="2244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</a:t>
              </a:r>
              <a:r>
                <a:rPr lang="uz-Cyrl-UZ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UES 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Olympiad</a:t>
              </a:r>
            </a:p>
          </p:txBody>
        </p:sp>
        <p:sp>
          <p:nvSpPr>
            <p:cNvPr id="145" name="TextBox 28">
              <a:extLst>
                <a:ext uri="{FF2B5EF4-FFF2-40B4-BE49-F238E27FC236}">
                  <a16:creationId xmlns:a16="http://schemas.microsoft.com/office/drawing/2014/main" xmlns="" id="{C599E371-5744-4139-AF95-5D2EF576A841}"/>
                </a:ext>
              </a:extLst>
            </p:cNvPr>
            <p:cNvSpPr txBox="1"/>
            <p:nvPr/>
          </p:nvSpPr>
          <p:spPr>
            <a:xfrm>
              <a:off x="11628408" y="8468262"/>
              <a:ext cx="3362921" cy="2244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Starting from the 2023-2024 academic year</a:t>
              </a:r>
            </a:p>
          </p:txBody>
        </p:sp>
        <p:sp>
          <p:nvSpPr>
            <p:cNvPr id="146" name="TextBox 29">
              <a:extLst>
                <a:ext uri="{FF2B5EF4-FFF2-40B4-BE49-F238E27FC236}">
                  <a16:creationId xmlns:a16="http://schemas.microsoft.com/office/drawing/2014/main" xmlns="" id="{5626FBC8-F30E-4459-AAF4-F5999B222A9F}"/>
                </a:ext>
              </a:extLst>
            </p:cNvPr>
            <p:cNvSpPr txBox="1"/>
            <p:nvPr/>
          </p:nvSpPr>
          <p:spPr>
            <a:xfrm>
              <a:off x="13245157" y="8738539"/>
              <a:ext cx="3360524" cy="646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Educational-methodological, pedagogical support.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Implementation of training seminars for students of regional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schools</a:t>
              </a:r>
            </a:p>
          </p:txBody>
        </p:sp>
        <p:sp>
          <p:nvSpPr>
            <p:cNvPr id="147" name="TextBox 30">
              <a:extLst>
                <a:ext uri="{FF2B5EF4-FFF2-40B4-BE49-F238E27FC236}">
                  <a16:creationId xmlns:a16="http://schemas.microsoft.com/office/drawing/2014/main" xmlns="" id="{D5A5AD9A-4BA0-4815-921C-CF6F707321AF}"/>
                </a:ext>
              </a:extLst>
            </p:cNvPr>
            <p:cNvSpPr txBox="1"/>
            <p:nvPr/>
          </p:nvSpPr>
          <p:spPr>
            <a:xfrm>
              <a:off x="10079888" y="8769242"/>
              <a:ext cx="3497456" cy="4308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The Olympiad will cover all schools in </a:t>
              </a:r>
              <a:r>
                <a:rPr lang="ru-RU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/>
              </a:r>
              <a:br>
                <a:rPr lang="ru-RU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</a:b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Surkhandarya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region</a:t>
              </a:r>
            </a:p>
          </p:txBody>
        </p:sp>
        <p:grpSp>
          <p:nvGrpSpPr>
            <p:cNvPr id="148" name="Group 47">
              <a:extLst>
                <a:ext uri="{FF2B5EF4-FFF2-40B4-BE49-F238E27FC236}">
                  <a16:creationId xmlns:a16="http://schemas.microsoft.com/office/drawing/2014/main" xmlns="" id="{92DF1715-AC76-4BC6-8D27-98A60A45A73F}"/>
                </a:ext>
              </a:extLst>
            </p:cNvPr>
            <p:cNvGrpSpPr/>
            <p:nvPr/>
          </p:nvGrpSpPr>
          <p:grpSpPr>
            <a:xfrm>
              <a:off x="10464831" y="7716002"/>
              <a:ext cx="1280751" cy="312329"/>
              <a:chOff x="0" y="-17718"/>
              <a:chExt cx="458992" cy="111932"/>
            </a:xfrm>
          </p:grpSpPr>
          <p:sp>
            <p:nvSpPr>
              <p:cNvPr id="155" name="Freeform 48">
                <a:extLst>
                  <a:ext uri="{FF2B5EF4-FFF2-40B4-BE49-F238E27FC236}">
                    <a16:creationId xmlns:a16="http://schemas.microsoft.com/office/drawing/2014/main" xmlns="" id="{8C97CB6A-047F-48FF-ABD8-8B1712B30307}"/>
                  </a:ext>
                </a:extLst>
              </p:cNvPr>
              <p:cNvSpPr/>
              <p:nvPr/>
            </p:nvSpPr>
            <p:spPr>
              <a:xfrm>
                <a:off x="0" y="-17718"/>
                <a:ext cx="458992" cy="111932"/>
              </a:xfrm>
              <a:custGeom>
                <a:avLst/>
                <a:gdLst/>
                <a:ahLst/>
                <a:cxnLst/>
                <a:rect l="l" t="t" r="r" b="b"/>
                <a:pathLst>
                  <a:path w="458992" h="94214">
                    <a:moveTo>
                      <a:pt x="47107" y="0"/>
                    </a:moveTo>
                    <a:lnTo>
                      <a:pt x="411885" y="0"/>
                    </a:lnTo>
                    <a:cubicBezTo>
                      <a:pt x="424379" y="0"/>
                      <a:pt x="436361" y="4963"/>
                      <a:pt x="445195" y="13797"/>
                    </a:cubicBezTo>
                    <a:cubicBezTo>
                      <a:pt x="454029" y="22632"/>
                      <a:pt x="458992" y="34613"/>
                      <a:pt x="458992" y="47107"/>
                    </a:cubicBezTo>
                    <a:lnTo>
                      <a:pt x="458992" y="47107"/>
                    </a:lnTo>
                    <a:cubicBezTo>
                      <a:pt x="458992" y="59600"/>
                      <a:pt x="454029" y="71582"/>
                      <a:pt x="445195" y="80417"/>
                    </a:cubicBezTo>
                    <a:cubicBezTo>
                      <a:pt x="436361" y="89251"/>
                      <a:pt x="424379" y="94214"/>
                      <a:pt x="411885" y="94214"/>
                    </a:cubicBezTo>
                    <a:lnTo>
                      <a:pt x="47107" y="94214"/>
                    </a:lnTo>
                    <a:cubicBezTo>
                      <a:pt x="34613" y="94214"/>
                      <a:pt x="22632" y="89251"/>
                      <a:pt x="13797" y="80417"/>
                    </a:cubicBezTo>
                    <a:cubicBezTo>
                      <a:pt x="4963" y="71582"/>
                      <a:pt x="0" y="59600"/>
                      <a:pt x="0" y="47107"/>
                    </a:cubicBezTo>
                    <a:lnTo>
                      <a:pt x="0" y="47107"/>
                    </a:lnTo>
                    <a:cubicBezTo>
                      <a:pt x="0" y="34613"/>
                      <a:pt x="4963" y="22632"/>
                      <a:pt x="13797" y="13797"/>
                    </a:cubicBezTo>
                    <a:cubicBezTo>
                      <a:pt x="22632" y="4963"/>
                      <a:pt x="34613" y="0"/>
                      <a:pt x="47107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156" name="TextBox 49">
                <a:extLst>
                  <a:ext uri="{FF2B5EF4-FFF2-40B4-BE49-F238E27FC236}">
                    <a16:creationId xmlns:a16="http://schemas.microsoft.com/office/drawing/2014/main" xmlns="" id="{90A768EB-5ACF-4643-AF66-5F0A0693F9B1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458992" cy="1037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r>
                  <a:rPr lang="en-US" sz="1400" dirty="0">
                    <a:latin typeface="DM Sans" panose="020B0604020202020204" charset="0"/>
                    <a:sym typeface="Lora Bold"/>
                  </a:rPr>
                  <a:t>Literature and Mother tongue</a:t>
                </a:r>
              </a:p>
            </p:txBody>
          </p:sp>
        </p:grpSp>
        <p:grpSp>
          <p:nvGrpSpPr>
            <p:cNvPr id="149" name="Group 54">
              <a:extLst>
                <a:ext uri="{FF2B5EF4-FFF2-40B4-BE49-F238E27FC236}">
                  <a16:creationId xmlns:a16="http://schemas.microsoft.com/office/drawing/2014/main" xmlns="" id="{7D4D42AB-00F7-4C38-860A-981C67D3FAF7}"/>
                </a:ext>
              </a:extLst>
            </p:cNvPr>
            <p:cNvGrpSpPr/>
            <p:nvPr/>
          </p:nvGrpSpPr>
          <p:grpSpPr>
            <a:xfrm>
              <a:off x="15352006" y="7748776"/>
              <a:ext cx="1316470" cy="309355"/>
              <a:chOff x="0" y="0"/>
              <a:chExt cx="471793" cy="110866"/>
            </a:xfrm>
          </p:grpSpPr>
          <p:sp>
            <p:nvSpPr>
              <p:cNvPr id="153" name="Freeform 55">
                <a:extLst>
                  <a:ext uri="{FF2B5EF4-FFF2-40B4-BE49-F238E27FC236}">
                    <a16:creationId xmlns:a16="http://schemas.microsoft.com/office/drawing/2014/main" xmlns="" id="{271BDB72-D3DF-4520-8754-099B4EF94DC6}"/>
                  </a:ext>
                </a:extLst>
              </p:cNvPr>
              <p:cNvSpPr/>
              <p:nvPr/>
            </p:nvSpPr>
            <p:spPr>
              <a:xfrm>
                <a:off x="0" y="0"/>
                <a:ext cx="458992" cy="94214"/>
              </a:xfrm>
              <a:custGeom>
                <a:avLst/>
                <a:gdLst/>
                <a:ahLst/>
                <a:cxnLst/>
                <a:rect l="l" t="t" r="r" b="b"/>
                <a:pathLst>
                  <a:path w="458992" h="94214">
                    <a:moveTo>
                      <a:pt x="47107" y="0"/>
                    </a:moveTo>
                    <a:lnTo>
                      <a:pt x="411885" y="0"/>
                    </a:lnTo>
                    <a:cubicBezTo>
                      <a:pt x="424379" y="0"/>
                      <a:pt x="436361" y="4963"/>
                      <a:pt x="445195" y="13797"/>
                    </a:cubicBezTo>
                    <a:cubicBezTo>
                      <a:pt x="454029" y="22632"/>
                      <a:pt x="458992" y="34613"/>
                      <a:pt x="458992" y="47107"/>
                    </a:cubicBezTo>
                    <a:lnTo>
                      <a:pt x="458992" y="47107"/>
                    </a:lnTo>
                    <a:cubicBezTo>
                      <a:pt x="458992" y="59600"/>
                      <a:pt x="454029" y="71582"/>
                      <a:pt x="445195" y="80417"/>
                    </a:cubicBezTo>
                    <a:cubicBezTo>
                      <a:pt x="436361" y="89251"/>
                      <a:pt x="424379" y="94214"/>
                      <a:pt x="411885" y="94214"/>
                    </a:cubicBezTo>
                    <a:lnTo>
                      <a:pt x="47107" y="94214"/>
                    </a:lnTo>
                    <a:cubicBezTo>
                      <a:pt x="34613" y="94214"/>
                      <a:pt x="22632" y="89251"/>
                      <a:pt x="13797" y="80417"/>
                    </a:cubicBezTo>
                    <a:cubicBezTo>
                      <a:pt x="4963" y="71582"/>
                      <a:pt x="0" y="59600"/>
                      <a:pt x="0" y="47107"/>
                    </a:cubicBezTo>
                    <a:lnTo>
                      <a:pt x="0" y="47107"/>
                    </a:lnTo>
                    <a:cubicBezTo>
                      <a:pt x="0" y="34613"/>
                      <a:pt x="4963" y="22632"/>
                      <a:pt x="13797" y="13797"/>
                    </a:cubicBezTo>
                    <a:cubicBezTo>
                      <a:pt x="22632" y="4963"/>
                      <a:pt x="34613" y="0"/>
                      <a:pt x="47107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154" name="TextBox 56">
                <a:extLst>
                  <a:ext uri="{FF2B5EF4-FFF2-40B4-BE49-F238E27FC236}">
                    <a16:creationId xmlns:a16="http://schemas.microsoft.com/office/drawing/2014/main" xmlns="" id="{44143E2B-C0F5-4760-B382-3C5B7C05B411}"/>
                  </a:ext>
                </a:extLst>
              </p:cNvPr>
              <p:cNvSpPr txBox="1"/>
              <p:nvPr/>
            </p:nvSpPr>
            <p:spPr>
              <a:xfrm>
                <a:off x="12801" y="7127"/>
                <a:ext cx="458992" cy="1037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r>
                  <a:rPr lang="en-US" sz="1400" dirty="0">
                    <a:latin typeface="DM Sans" panose="020B0604020202020204" charset="0"/>
                    <a:sym typeface="Lora Bold"/>
                  </a:rPr>
                  <a:t>Biology</a:t>
                </a:r>
              </a:p>
            </p:txBody>
          </p:sp>
        </p:grpSp>
        <p:grpSp>
          <p:nvGrpSpPr>
            <p:cNvPr id="150" name="Group 67">
              <a:extLst>
                <a:ext uri="{FF2B5EF4-FFF2-40B4-BE49-F238E27FC236}">
                  <a16:creationId xmlns:a16="http://schemas.microsoft.com/office/drawing/2014/main" xmlns="" id="{EA4EBB12-5104-4744-BD31-6AC054DF99FE}"/>
                </a:ext>
              </a:extLst>
            </p:cNvPr>
            <p:cNvGrpSpPr/>
            <p:nvPr/>
          </p:nvGrpSpPr>
          <p:grpSpPr>
            <a:xfrm>
              <a:off x="10462925" y="8076386"/>
              <a:ext cx="985487" cy="285750"/>
              <a:chOff x="0" y="0"/>
              <a:chExt cx="353176" cy="102406"/>
            </a:xfrm>
          </p:grpSpPr>
          <p:sp>
            <p:nvSpPr>
              <p:cNvPr id="151" name="Freeform 68">
                <a:extLst>
                  <a:ext uri="{FF2B5EF4-FFF2-40B4-BE49-F238E27FC236}">
                    <a16:creationId xmlns:a16="http://schemas.microsoft.com/office/drawing/2014/main" xmlns="" id="{A5277B0E-9340-434D-8C64-4CF730255365}"/>
                  </a:ext>
                </a:extLst>
              </p:cNvPr>
              <p:cNvSpPr/>
              <p:nvPr/>
            </p:nvSpPr>
            <p:spPr>
              <a:xfrm>
                <a:off x="0" y="0"/>
                <a:ext cx="353176" cy="102406"/>
              </a:xfrm>
              <a:custGeom>
                <a:avLst/>
                <a:gdLst/>
                <a:ahLst/>
                <a:cxnLst/>
                <a:rect l="l" t="t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lnTo>
                      <a:pt x="353176" y="51203"/>
                    </a:ln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lnTo>
                      <a:pt x="0" y="51203"/>
                    </a:ln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152" name="TextBox 69">
                <a:extLst>
                  <a:ext uri="{FF2B5EF4-FFF2-40B4-BE49-F238E27FC236}">
                    <a16:creationId xmlns:a16="http://schemas.microsoft.com/office/drawing/2014/main" xmlns="" id="{B600F93A-016A-4485-9611-2CC9658AD5E7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353176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r>
                  <a:rPr lang="en-US" sz="1400" dirty="0">
                    <a:latin typeface="DM Sans" panose="020B0604020202020204" charset="0"/>
                    <a:sym typeface="Lora Bold"/>
                  </a:rPr>
                  <a:t>Chemistry</a:t>
                </a:r>
              </a:p>
            </p:txBody>
          </p:sp>
        </p:grpSp>
      </p:grp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xmlns="" id="{3FFE2FF4-719E-4CC5-9693-71667D99F28B}"/>
              </a:ext>
            </a:extLst>
          </p:cNvPr>
          <p:cNvSpPr/>
          <p:nvPr/>
        </p:nvSpPr>
        <p:spPr>
          <a:xfrm>
            <a:off x="8915400" y="1525369"/>
            <a:ext cx="868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DM Sans Bold" pitchFamily="2" charset="0"/>
              </a:rPr>
              <a:t>IMPLEMENTATION OF A NEW MODEL OF PEDAGOGICAL EDUCATION AND </a:t>
            </a:r>
            <a:r>
              <a:rPr lang="ru-RU" sz="1600" b="1" dirty="0">
                <a:solidFill>
                  <a:schemeClr val="bg1"/>
                </a:solidFill>
                <a:latin typeface="DM Sans Bold" pitchFamily="2" charset="0"/>
              </a:rPr>
              <a:t/>
            </a:r>
            <a:br>
              <a:rPr lang="ru-RU" sz="1600" b="1" dirty="0">
                <a:solidFill>
                  <a:schemeClr val="bg1"/>
                </a:solidFill>
                <a:latin typeface="DM Sans Bold" pitchFamily="2" charset="0"/>
              </a:rPr>
            </a:br>
            <a:r>
              <a:rPr lang="en-US" sz="1600" b="1" dirty="0">
                <a:solidFill>
                  <a:schemeClr val="bg1"/>
                </a:solidFill>
                <a:latin typeface="DM Sans Bold" pitchFamily="2" charset="0"/>
              </a:rPr>
              <a:t>SCIENTIFIC DIRECTIONS</a:t>
            </a:r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xmlns="" id="{5EF351DC-6DF1-4A7B-AD15-01FC2EE239C3}"/>
              </a:ext>
            </a:extLst>
          </p:cNvPr>
          <p:cNvSpPr/>
          <p:nvPr/>
        </p:nvSpPr>
        <p:spPr>
          <a:xfrm>
            <a:off x="10744200" y="7962900"/>
            <a:ext cx="5689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M Sans Bold" panose="020B0604020202020204" charset="0"/>
              </a:rPr>
              <a:t>SELECTION OF TALENTS. WORKING WITH SCHOOL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xmlns="" id="{0168F754-B2C2-4EF3-917B-AC6B37F73BB9}"/>
              </a:ext>
            </a:extLst>
          </p:cNvPr>
          <p:cNvSpPr/>
          <p:nvPr/>
        </p:nvSpPr>
        <p:spPr>
          <a:xfrm>
            <a:off x="12687237" y="3286731"/>
            <a:ext cx="1168910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latin typeface="DM Sans" panose="020B0604020202020204" charset="0"/>
              </a:rPr>
              <a:t>Working on</a:t>
            </a:r>
          </a:p>
          <a:p>
            <a:pPr algn="ctr"/>
            <a:r>
              <a:rPr lang="en-US" sz="1400" b="1" dirty="0">
                <a:latin typeface="DM Sans" panose="020B0604020202020204" charset="0"/>
              </a:rPr>
              <a:t> real-world</a:t>
            </a:r>
          </a:p>
          <a:p>
            <a:pPr algn="ctr"/>
            <a:r>
              <a:rPr lang="en-US" sz="1400" b="1" dirty="0">
                <a:latin typeface="DM Sans" panose="020B0604020202020204" charset="0"/>
              </a:rPr>
              <a:t> issues in</a:t>
            </a:r>
          </a:p>
          <a:p>
            <a:pPr algn="ctr"/>
            <a:r>
              <a:rPr lang="en-US" sz="1400" b="1" dirty="0">
                <a:latin typeface="DM Sans" panose="020B0604020202020204" charset="0"/>
              </a:rPr>
              <a:t> training </a:t>
            </a:r>
          </a:p>
          <a:p>
            <a:pPr algn="ctr"/>
            <a:r>
              <a:rPr lang="en-US" sz="1400" b="1" dirty="0">
                <a:latin typeface="DM Sans" panose="020B0604020202020204" charset="0"/>
              </a:rPr>
              <a:t>sessions</a:t>
            </a:r>
            <a:endParaRPr lang="ru-RU" sz="1400" b="1" dirty="0"/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xmlns="" id="{7E5DB3FE-A334-46D9-8FED-4306BDE482A6}"/>
              </a:ext>
            </a:extLst>
          </p:cNvPr>
          <p:cNvSpPr/>
          <p:nvPr/>
        </p:nvSpPr>
        <p:spPr>
          <a:xfrm>
            <a:off x="14520946" y="3278547"/>
            <a:ext cx="1168910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latin typeface="DM Sans" panose="020B0604020202020204" charset="0"/>
              </a:rPr>
              <a:t>Working on</a:t>
            </a:r>
          </a:p>
          <a:p>
            <a:pPr algn="ctr"/>
            <a:r>
              <a:rPr lang="en-US" sz="1400" b="1" dirty="0">
                <a:latin typeface="DM Sans" panose="020B0604020202020204" charset="0"/>
              </a:rPr>
              <a:t> real-world</a:t>
            </a:r>
          </a:p>
          <a:p>
            <a:pPr algn="ctr"/>
            <a:r>
              <a:rPr lang="en-US" sz="1400" b="1" dirty="0">
                <a:latin typeface="DM Sans" panose="020B0604020202020204" charset="0"/>
              </a:rPr>
              <a:t> issues in</a:t>
            </a:r>
          </a:p>
          <a:p>
            <a:pPr algn="ctr"/>
            <a:r>
              <a:rPr lang="en-US" sz="1400" b="1" dirty="0">
                <a:latin typeface="DM Sans" panose="020B0604020202020204" charset="0"/>
              </a:rPr>
              <a:t> training</a:t>
            </a:r>
          </a:p>
          <a:p>
            <a:pPr algn="ctr"/>
            <a:r>
              <a:rPr lang="en-US" sz="1400" b="1" dirty="0">
                <a:latin typeface="DM Sans" panose="020B0604020202020204" charset="0"/>
              </a:rPr>
              <a:t> sessions</a:t>
            </a:r>
            <a:endParaRPr lang="ru-RU" sz="1400" b="1" dirty="0"/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xmlns="" id="{0769C342-876D-4D8D-B199-18AC3A7D36E8}"/>
              </a:ext>
            </a:extLst>
          </p:cNvPr>
          <p:cNvSpPr/>
          <p:nvPr/>
        </p:nvSpPr>
        <p:spPr>
          <a:xfrm>
            <a:off x="16230600" y="3008174"/>
            <a:ext cx="1371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DM Sans" panose="020B0604020202020204" charset="0"/>
              </a:rPr>
              <a:t>Assessing the</a:t>
            </a:r>
          </a:p>
          <a:p>
            <a:pPr algn="ctr"/>
            <a:r>
              <a:rPr lang="en-US" sz="1200" b="1" dirty="0">
                <a:latin typeface="DM Sans" panose="020B0604020202020204" charset="0"/>
              </a:rPr>
              <a:t> outcome of the </a:t>
            </a:r>
          </a:p>
          <a:p>
            <a:pPr algn="ctr"/>
            <a:r>
              <a:rPr lang="en-US" sz="1200" b="1" dirty="0">
                <a:latin typeface="DM Sans" panose="020B0604020202020204" charset="0"/>
              </a:rPr>
              <a:t>educational </a:t>
            </a:r>
          </a:p>
          <a:p>
            <a:pPr algn="ctr"/>
            <a:r>
              <a:rPr lang="en-US" sz="1200" b="1" dirty="0">
                <a:latin typeface="DM Sans" panose="020B0604020202020204" charset="0"/>
              </a:rPr>
              <a:t>process based </a:t>
            </a:r>
          </a:p>
          <a:p>
            <a:pPr algn="ctr"/>
            <a:r>
              <a:rPr lang="en-US" sz="1200" b="1" dirty="0">
                <a:latin typeface="DM Sans" panose="020B0604020202020204" charset="0"/>
              </a:rPr>
              <a:t>on the level of</a:t>
            </a:r>
          </a:p>
          <a:p>
            <a:pPr algn="ctr"/>
            <a:r>
              <a:rPr lang="en-US" sz="1200" b="1" dirty="0">
                <a:latin typeface="DM Sans" panose="020B0604020202020204" charset="0"/>
              </a:rPr>
              <a:t> practical </a:t>
            </a:r>
          </a:p>
          <a:p>
            <a:pPr algn="ctr"/>
            <a:r>
              <a:rPr lang="en-US" sz="1200" b="1" dirty="0">
                <a:latin typeface="DM Sans" panose="020B0604020202020204" charset="0"/>
              </a:rPr>
              <a:t>skills and</a:t>
            </a:r>
          </a:p>
          <a:p>
            <a:pPr algn="ctr"/>
            <a:r>
              <a:rPr lang="en-US" sz="1200" b="1" dirty="0">
                <a:latin typeface="DM Sans" panose="020B0604020202020204" charset="0"/>
              </a:rPr>
              <a:t> professional competence</a:t>
            </a:r>
            <a:endParaRPr lang="ru-RU" sz="1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9">
            <a:extLst>
              <a:ext uri="{FF2B5EF4-FFF2-40B4-BE49-F238E27FC236}">
                <a16:creationId xmlns:a16="http://schemas.microsoft.com/office/drawing/2014/main" xmlns="" id="{6C0587A8-8613-422B-A38D-EA94CD5D12D3}"/>
              </a:ext>
            </a:extLst>
          </p:cNvPr>
          <p:cNvSpPr/>
          <p:nvPr/>
        </p:nvSpPr>
        <p:spPr>
          <a:xfrm rot="5913394">
            <a:off x="17459947" y="3476890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xmlns="" id="{E3FE34DD-5EC4-4D4A-AE8E-3A8C33E2A509}"/>
              </a:ext>
            </a:extLst>
          </p:cNvPr>
          <p:cNvSpPr/>
          <p:nvPr/>
        </p:nvSpPr>
        <p:spPr>
          <a:xfrm>
            <a:off x="6975317" y="-2198044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xmlns="" id="{14274C05-5F87-4CDE-A10D-2BF79384A028}"/>
              </a:ext>
            </a:extLst>
          </p:cNvPr>
          <p:cNvSpPr/>
          <p:nvPr/>
        </p:nvSpPr>
        <p:spPr>
          <a:xfrm>
            <a:off x="-892467" y="8377832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Заголовок 13">
            <a:extLst>
              <a:ext uri="{FF2B5EF4-FFF2-40B4-BE49-F238E27FC236}">
                <a16:creationId xmlns:a16="http://schemas.microsoft.com/office/drawing/2014/main" xmlns="" id="{13FF2720-A594-4168-8230-4A799EA1C83F}"/>
              </a:ext>
            </a:extLst>
          </p:cNvPr>
          <p:cNvSpPr txBox="1">
            <a:spLocks/>
          </p:cNvSpPr>
          <p:nvPr/>
        </p:nvSpPr>
        <p:spPr>
          <a:xfrm>
            <a:off x="1923759" y="3665442"/>
            <a:ext cx="3257851" cy="59645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25" name="Текст 15">
            <a:extLst>
              <a:ext uri="{FF2B5EF4-FFF2-40B4-BE49-F238E27FC236}">
                <a16:creationId xmlns:a16="http://schemas.microsoft.com/office/drawing/2014/main" xmlns="" id="{0BE2CCCB-B655-41CD-9418-7F8D0F1E3373}"/>
              </a:ext>
            </a:extLst>
          </p:cNvPr>
          <p:cNvSpPr txBox="1">
            <a:spLocks/>
          </p:cNvSpPr>
          <p:nvPr/>
        </p:nvSpPr>
        <p:spPr>
          <a:xfrm>
            <a:off x="5715000" y="4079331"/>
            <a:ext cx="3453274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graphicFrame>
        <p:nvGraphicFramePr>
          <p:cNvPr id="26" name="Схема 25">
            <a:extLst>
              <a:ext uri="{FF2B5EF4-FFF2-40B4-BE49-F238E27FC236}">
                <a16:creationId xmlns:a16="http://schemas.microsoft.com/office/drawing/2014/main" xmlns="" id="{DE7B064D-7700-421B-B178-992E960028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6926873"/>
              </p:ext>
            </p:extLst>
          </p:nvPr>
        </p:nvGraphicFramePr>
        <p:xfrm>
          <a:off x="-3082857" y="1352877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Заголовок 13">
            <a:extLst>
              <a:ext uri="{FF2B5EF4-FFF2-40B4-BE49-F238E27FC236}">
                <a16:creationId xmlns:a16="http://schemas.microsoft.com/office/drawing/2014/main" xmlns="" id="{089A3101-73B6-495E-96CA-225921CBF5B3}"/>
              </a:ext>
            </a:extLst>
          </p:cNvPr>
          <p:cNvSpPr txBox="1">
            <a:spLocks/>
          </p:cNvSpPr>
          <p:nvPr/>
        </p:nvSpPr>
        <p:spPr>
          <a:xfrm>
            <a:off x="3319690" y="-1809947"/>
            <a:ext cx="5133540" cy="5679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xmlns="" id="{0F74E34A-F71C-42AA-8438-853778C6E485}"/>
              </a:ext>
            </a:extLst>
          </p:cNvPr>
          <p:cNvSpPr txBox="1"/>
          <p:nvPr/>
        </p:nvSpPr>
        <p:spPr>
          <a:xfrm>
            <a:off x="1640164" y="591659"/>
            <a:ext cx="14937958" cy="39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3200" b="1" dirty="0">
                <a:solidFill>
                  <a:srgbClr val="FFFFFF"/>
                </a:solidFill>
                <a:latin typeface="Now Bold"/>
                <a:sym typeface="Lora Bold"/>
              </a:rPr>
              <a:t>COMPETITIVENESS IN THE INTERNATIONAL EDUCATION MARKET</a:t>
            </a:r>
          </a:p>
        </p:txBody>
      </p:sp>
      <p:sp>
        <p:nvSpPr>
          <p:cNvPr id="30" name="AutoShape 2">
            <a:extLst>
              <a:ext uri="{FF2B5EF4-FFF2-40B4-BE49-F238E27FC236}">
                <a16:creationId xmlns:a16="http://schemas.microsoft.com/office/drawing/2014/main" xmlns="" id="{3C291462-FA59-4030-A6B4-A748112EB8CF}"/>
              </a:ext>
            </a:extLst>
          </p:cNvPr>
          <p:cNvSpPr/>
          <p:nvPr/>
        </p:nvSpPr>
        <p:spPr>
          <a:xfrm>
            <a:off x="5715000" y="3078729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xmlns="" id="{CCB4FBDF-14AC-44E7-B5B1-258263D2D2E8}"/>
              </a:ext>
            </a:extLst>
          </p:cNvPr>
          <p:cNvSpPr txBox="1"/>
          <p:nvPr/>
        </p:nvSpPr>
        <p:spPr>
          <a:xfrm>
            <a:off x="6017382" y="1528555"/>
            <a:ext cx="5876947" cy="447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INCREASING INTERNATIONAL SCIENTIFIC PUBLICATIONS</a:t>
            </a:r>
          </a:p>
        </p:txBody>
      </p:sp>
      <p:sp>
        <p:nvSpPr>
          <p:cNvPr id="35" name="AutoShape 2">
            <a:extLst>
              <a:ext uri="{FF2B5EF4-FFF2-40B4-BE49-F238E27FC236}">
                <a16:creationId xmlns:a16="http://schemas.microsoft.com/office/drawing/2014/main" xmlns="" id="{5CC98F32-105A-4ABB-9B06-872B07C286AB}"/>
              </a:ext>
            </a:extLst>
          </p:cNvPr>
          <p:cNvSpPr/>
          <p:nvPr/>
        </p:nvSpPr>
        <p:spPr>
          <a:xfrm>
            <a:off x="12172940" y="2919806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36" name="Диаграмма 35">
            <a:extLst>
              <a:ext uri="{FF2B5EF4-FFF2-40B4-BE49-F238E27FC236}">
                <a16:creationId xmlns:a16="http://schemas.microsoft.com/office/drawing/2014/main" xmlns="" id="{B94C6C31-1F02-4DF2-A365-B285D6A269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3274735"/>
              </p:ext>
            </p:extLst>
          </p:nvPr>
        </p:nvGraphicFramePr>
        <p:xfrm>
          <a:off x="6142411" y="1631183"/>
          <a:ext cx="5876946" cy="3331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7" name="Диаграмма 36">
            <a:extLst>
              <a:ext uri="{FF2B5EF4-FFF2-40B4-BE49-F238E27FC236}">
                <a16:creationId xmlns:a16="http://schemas.microsoft.com/office/drawing/2014/main" xmlns="" id="{60FB6252-1E80-4043-9748-7E7BBA0175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6636971"/>
              </p:ext>
            </p:extLst>
          </p:nvPr>
        </p:nvGraphicFramePr>
        <p:xfrm>
          <a:off x="5886098" y="4775969"/>
          <a:ext cx="6197481" cy="31107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9" name="TextBox 23">
            <a:extLst>
              <a:ext uri="{FF2B5EF4-FFF2-40B4-BE49-F238E27FC236}">
                <a16:creationId xmlns:a16="http://schemas.microsoft.com/office/drawing/2014/main" xmlns="" id="{404209A9-AC0B-4BC2-9378-C2F18086EDF5}"/>
              </a:ext>
            </a:extLst>
          </p:cNvPr>
          <p:cNvSpPr txBox="1"/>
          <p:nvPr/>
        </p:nvSpPr>
        <p:spPr>
          <a:xfrm>
            <a:off x="5999239" y="8089703"/>
            <a:ext cx="6020118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Indexing of University Journals in International Scientific Databases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Establishment of a University  Scientific  Proofreading Center</a:t>
            </a:r>
          </a:p>
        </p:txBody>
      </p:sp>
      <p:sp>
        <p:nvSpPr>
          <p:cNvPr id="49" name="TextBox 23">
            <a:extLst>
              <a:ext uri="{FF2B5EF4-FFF2-40B4-BE49-F238E27FC236}">
                <a16:creationId xmlns:a16="http://schemas.microsoft.com/office/drawing/2014/main" xmlns="" id="{2FAD3647-2758-4811-B7AE-9AC2CEC48BAF}"/>
              </a:ext>
            </a:extLst>
          </p:cNvPr>
          <p:cNvSpPr txBox="1"/>
          <p:nvPr/>
        </p:nvSpPr>
        <p:spPr>
          <a:xfrm>
            <a:off x="12168999" y="1528555"/>
            <a:ext cx="5755832" cy="229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EXTERNAL AND INTERNAL INTERNATIONALIZATION</a:t>
            </a:r>
          </a:p>
        </p:txBody>
      </p:sp>
      <p:graphicFrame>
        <p:nvGraphicFramePr>
          <p:cNvPr id="50" name="Диаграмма 49">
            <a:extLst>
              <a:ext uri="{FF2B5EF4-FFF2-40B4-BE49-F238E27FC236}">
                <a16:creationId xmlns:a16="http://schemas.microsoft.com/office/drawing/2014/main" xmlns="" id="{A9E68DB7-0BAF-4521-BC44-3EEC589C80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6195372"/>
              </p:ext>
            </p:extLst>
          </p:nvPr>
        </p:nvGraphicFramePr>
        <p:xfrm>
          <a:off x="12322583" y="1598946"/>
          <a:ext cx="5755831" cy="2580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51" name="Диаграмма 50">
            <a:extLst>
              <a:ext uri="{FF2B5EF4-FFF2-40B4-BE49-F238E27FC236}">
                <a16:creationId xmlns:a16="http://schemas.microsoft.com/office/drawing/2014/main" xmlns="" id="{347CFF04-C8DC-4E3B-A0F7-57631F5856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6478355"/>
              </p:ext>
            </p:extLst>
          </p:nvPr>
        </p:nvGraphicFramePr>
        <p:xfrm>
          <a:off x="12272581" y="7270221"/>
          <a:ext cx="5743131" cy="2580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52" name="TextBox 23">
            <a:extLst>
              <a:ext uri="{FF2B5EF4-FFF2-40B4-BE49-F238E27FC236}">
                <a16:creationId xmlns:a16="http://schemas.microsoft.com/office/drawing/2014/main" xmlns="" id="{6615E4B3-7BA7-4856-B643-0DE7AA473DB4}"/>
              </a:ext>
            </a:extLst>
          </p:cNvPr>
          <p:cNvSpPr txBox="1"/>
          <p:nvPr/>
        </p:nvSpPr>
        <p:spPr>
          <a:xfrm>
            <a:off x="12205672" y="4326483"/>
            <a:ext cx="5876947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600" b="1" dirty="0">
                <a:solidFill>
                  <a:srgbClr val="4DD5FF"/>
                </a:solidFill>
                <a:latin typeface="DM Sans Bold" panose="020B0604020202020204" charset="0"/>
                <a:sym typeface="Lora Bold"/>
              </a:rPr>
              <a:t>Overseas and Fields to undergo International Accreditation( Total)</a:t>
            </a:r>
          </a:p>
        </p:txBody>
      </p:sp>
      <p:graphicFrame>
        <p:nvGraphicFramePr>
          <p:cNvPr id="53" name="Таблица 52">
            <a:extLst>
              <a:ext uri="{FF2B5EF4-FFF2-40B4-BE49-F238E27FC236}">
                <a16:creationId xmlns:a16="http://schemas.microsoft.com/office/drawing/2014/main" xmlns="" id="{AF3AC6D0-CF75-436C-9C2E-B33FEE687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78574"/>
              </p:ext>
            </p:extLst>
          </p:nvPr>
        </p:nvGraphicFramePr>
        <p:xfrm>
          <a:off x="12294421" y="4804634"/>
          <a:ext cx="5699450" cy="236098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72493">
                  <a:extLst>
                    <a:ext uri="{9D8B030D-6E8A-4147-A177-3AD203B41FA5}">
                      <a16:colId xmlns:a16="http://schemas.microsoft.com/office/drawing/2014/main" xmlns="" val="603002634"/>
                    </a:ext>
                  </a:extLst>
                </a:gridCol>
                <a:gridCol w="2391999">
                  <a:extLst>
                    <a:ext uri="{9D8B030D-6E8A-4147-A177-3AD203B41FA5}">
                      <a16:colId xmlns:a16="http://schemas.microsoft.com/office/drawing/2014/main" xmlns="" val="315413570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2466014470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3516704929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1782771449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3791947363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22032249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2266644268"/>
                    </a:ext>
                  </a:extLst>
                </a:gridCol>
              </a:tblGrid>
              <a:tr h="29933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№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37236643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DM Sans" panose="020B0604020202020204" charset="0"/>
                        </a:rPr>
                        <a:t>Professional</a:t>
                      </a:r>
                      <a:r>
                        <a:rPr lang="en-US" sz="14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DM Sans" panose="020B0604020202020204" charset="0"/>
                        </a:rPr>
                        <a:t> Development abroad(teachers/staff)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DM Sans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45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60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70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80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60264181"/>
                  </a:ext>
                </a:extLst>
              </a:tr>
              <a:tr h="29933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DM Sans" panose="020B0604020202020204" charset="0"/>
                        </a:rPr>
                        <a:t>Professional</a:t>
                      </a:r>
                      <a:r>
                        <a:rPr lang="en-US" sz="14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DM Sans" panose="020B0604020202020204" charset="0"/>
                        </a:rPr>
                        <a:t> development abroad (students)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DM Sans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50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100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300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400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10431826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DM Sans" panose="020B0604020202020204" charset="0"/>
                        </a:rPr>
                        <a:t>Seminar-</a:t>
                      </a:r>
                      <a:r>
                        <a:rPr lang="en-US" sz="14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DM Sans" panose="020B0604020202020204" charset="0"/>
                        </a:rPr>
                        <a:t> training courses (for teachers)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DM Sans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4927951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DM Sans" panose="020B0604020202020204" charset="0"/>
                        </a:rPr>
                        <a:t>Seminar-</a:t>
                      </a:r>
                      <a:r>
                        <a:rPr lang="en-US" sz="14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DM Sans" panose="020B0604020202020204" charset="0"/>
                        </a:rPr>
                        <a:t> training courses (for  students)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DM Sans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35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35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35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589267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">
            <a:extLst>
              <a:ext uri="{FF2B5EF4-FFF2-40B4-BE49-F238E27FC236}">
                <a16:creationId xmlns:a16="http://schemas.microsoft.com/office/drawing/2014/main" xmlns="" id="{9AE9ACB1-2C60-4373-B9FB-537F8EA0CCAA}"/>
              </a:ext>
            </a:extLst>
          </p:cNvPr>
          <p:cNvSpPr/>
          <p:nvPr/>
        </p:nvSpPr>
        <p:spPr>
          <a:xfrm rot="1313163">
            <a:off x="-4261137" y="6573910"/>
            <a:ext cx="9085628" cy="5368780"/>
          </a:xfrm>
          <a:custGeom>
            <a:avLst/>
            <a:gdLst/>
            <a:ahLst/>
            <a:cxnLst/>
            <a:rect l="l" t="t" r="r" b="b"/>
            <a:pathLst>
              <a:path w="9085628" h="5368780">
                <a:moveTo>
                  <a:pt x="0" y="0"/>
                </a:moveTo>
                <a:lnTo>
                  <a:pt x="9085628" y="0"/>
                </a:lnTo>
                <a:lnTo>
                  <a:pt x="9085628" y="5368780"/>
                </a:lnTo>
                <a:lnTo>
                  <a:pt x="0" y="536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15">
            <a:extLst>
              <a:ext uri="{FF2B5EF4-FFF2-40B4-BE49-F238E27FC236}">
                <a16:creationId xmlns:a16="http://schemas.microsoft.com/office/drawing/2014/main" xmlns="" id="{F3A23122-978F-4813-9B4F-A345CB3ABDC2}"/>
              </a:ext>
            </a:extLst>
          </p:cNvPr>
          <p:cNvSpPr/>
          <p:nvPr/>
        </p:nvSpPr>
        <p:spPr>
          <a:xfrm rot="8396559">
            <a:off x="14389224" y="-1706146"/>
            <a:ext cx="9085628" cy="5368780"/>
          </a:xfrm>
          <a:custGeom>
            <a:avLst/>
            <a:gdLst/>
            <a:ahLst/>
            <a:cxnLst/>
            <a:rect l="l" t="t" r="r" b="b"/>
            <a:pathLst>
              <a:path w="9085628" h="5368780">
                <a:moveTo>
                  <a:pt x="0" y="0"/>
                </a:moveTo>
                <a:lnTo>
                  <a:pt x="9085629" y="0"/>
                </a:lnTo>
                <a:lnTo>
                  <a:pt x="9085629" y="5368780"/>
                </a:lnTo>
                <a:lnTo>
                  <a:pt x="0" y="536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Текст 5">
            <a:extLst>
              <a:ext uri="{FF2B5EF4-FFF2-40B4-BE49-F238E27FC236}">
                <a16:creationId xmlns:a16="http://schemas.microsoft.com/office/drawing/2014/main" xmlns="" id="{137DBF4C-910B-4DFC-B450-F869952C15E1}"/>
              </a:ext>
            </a:extLst>
          </p:cNvPr>
          <p:cNvSpPr txBox="1">
            <a:spLocks/>
          </p:cNvSpPr>
          <p:nvPr/>
        </p:nvSpPr>
        <p:spPr>
          <a:xfrm>
            <a:off x="-4924553" y="-1088856"/>
            <a:ext cx="3383868" cy="310605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Диаграмма 22">
            <a:extLst>
              <a:ext uri="{FF2B5EF4-FFF2-40B4-BE49-F238E27FC236}">
                <a16:creationId xmlns:a16="http://schemas.microsoft.com/office/drawing/2014/main" xmlns="" id="{CDF6EA53-2D19-421B-AC91-240428453E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0834281"/>
              </p:ext>
            </p:extLst>
          </p:nvPr>
        </p:nvGraphicFramePr>
        <p:xfrm>
          <a:off x="181048" y="4964352"/>
          <a:ext cx="4558460" cy="2936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Диаграмма 23">
            <a:extLst>
              <a:ext uri="{FF2B5EF4-FFF2-40B4-BE49-F238E27FC236}">
                <a16:creationId xmlns:a16="http://schemas.microsoft.com/office/drawing/2014/main" xmlns="" id="{6A8ACCA3-8841-419A-8751-37E206272D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1273611"/>
              </p:ext>
            </p:extLst>
          </p:nvPr>
        </p:nvGraphicFramePr>
        <p:xfrm>
          <a:off x="250404" y="7932458"/>
          <a:ext cx="4558460" cy="194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Текст 5">
            <a:extLst>
              <a:ext uri="{FF2B5EF4-FFF2-40B4-BE49-F238E27FC236}">
                <a16:creationId xmlns:a16="http://schemas.microsoft.com/office/drawing/2014/main" xmlns="" id="{EBB0E7A4-57D2-4904-B452-1E01AC13D937}"/>
              </a:ext>
            </a:extLst>
          </p:cNvPr>
          <p:cNvSpPr txBox="1">
            <a:spLocks/>
          </p:cNvSpPr>
          <p:nvPr/>
        </p:nvSpPr>
        <p:spPr>
          <a:xfrm>
            <a:off x="6705600" y="11544300"/>
            <a:ext cx="3015003" cy="6774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800"/>
              </a:spcAft>
            </a:pPr>
            <a:endParaRPr lang="ru-RU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Текст 5">
            <a:extLst>
              <a:ext uri="{FF2B5EF4-FFF2-40B4-BE49-F238E27FC236}">
                <a16:creationId xmlns:a16="http://schemas.microsoft.com/office/drawing/2014/main" xmlns="" id="{9EABFF25-D6C7-4DFD-B1F6-3D82CEA627C7}"/>
              </a:ext>
            </a:extLst>
          </p:cNvPr>
          <p:cNvSpPr txBox="1">
            <a:spLocks/>
          </p:cNvSpPr>
          <p:nvPr/>
        </p:nvSpPr>
        <p:spPr>
          <a:xfrm>
            <a:off x="19557754" y="5676900"/>
            <a:ext cx="5457462" cy="9867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28" name="Текст 5">
            <a:extLst>
              <a:ext uri="{FF2B5EF4-FFF2-40B4-BE49-F238E27FC236}">
                <a16:creationId xmlns:a16="http://schemas.microsoft.com/office/drawing/2014/main" xmlns="" id="{21609E75-17F8-4F9A-A459-9214C3A05F49}"/>
              </a:ext>
            </a:extLst>
          </p:cNvPr>
          <p:cNvSpPr txBox="1">
            <a:spLocks/>
          </p:cNvSpPr>
          <p:nvPr/>
        </p:nvSpPr>
        <p:spPr>
          <a:xfrm>
            <a:off x="13742655" y="436576"/>
            <a:ext cx="3920400" cy="9615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anose="020B0604020202020204" charset="0"/>
              </a:rPr>
              <a:t>DEVELOPING THE MATERIAL-TECHNICAL BASE Current Educational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anose="020B0604020202020204" charset="0"/>
              </a:rPr>
              <a:t>Area of the University 3 educational buildings148 classrooms with a total capacity of 24,000 seats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anose="020B0604020202020204" charset="0"/>
              </a:rPr>
              <a:t>NEWLY BUILT EDUCATIONAL BUILDINGS Construction of a modern 5,000-seat educational building (2028)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anose="020B0604020202020204" charset="0"/>
              </a:rPr>
              <a:t>IN EXISTING EDUCATIONAL BUILDINGS: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anose="020B0604020202020204" charset="0"/>
              </a:rPr>
              <a:t>"Smart Campus" project (Equipping all buildings with a digital management system) 2027-2030Green Campus project (Expanding solar panel energy production)</a:t>
            </a:r>
            <a:r>
              <a:rPr lang="en-US" sz="1500" b="1" dirty="0">
                <a:effectLst/>
                <a:latin typeface="DM Sans Bold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sz="1500" dirty="0">
                <a:solidFill>
                  <a:schemeClr val="bg1"/>
                </a:solidFill>
                <a:latin typeface="DM Sans Bold" panose="020B0604020202020204" charset="0"/>
              </a:rPr>
              <a:t>CONSTRUCTION OF A 2,000-SEAT STUDENT DORMITORY (2025-2026)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endParaRPr lang="en-US" sz="1500" dirty="0">
              <a:solidFill>
                <a:schemeClr val="bg1"/>
              </a:solidFill>
              <a:latin typeface="DM Sans Bold" panose="020B0604020202020204" charset="0"/>
            </a:endParaRP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sz="1500" dirty="0">
                <a:solidFill>
                  <a:schemeClr val="bg1"/>
                </a:solidFill>
                <a:latin typeface="DM Sans Bold" panose="020B0604020202020204" charset="0"/>
              </a:rPr>
              <a:t>CONSTRUCTION OF 68 APARTMENTS FOR UNIVERSITY PROFESSORS AND TEACHERS (2026-2027)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endParaRPr lang="en-US" sz="1500" dirty="0">
              <a:solidFill>
                <a:schemeClr val="bg1"/>
              </a:solidFill>
              <a:latin typeface="DM Sans Bold" panose="020B0604020202020204" charset="0"/>
            </a:endParaRP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sz="1500" dirty="0">
                <a:solidFill>
                  <a:schemeClr val="bg1"/>
                </a:solidFill>
                <a:latin typeface="DM Sans Bold" panose="020B0604020202020204" charset="0"/>
              </a:rPr>
              <a:t>CREATING TREES, FLOWER GARDENS, AND REST AREAS ON CAMPUS.ENSURING AN ECOLOGICALLY CLEAN ENVIRONMENT (2025-2030)</a:t>
            </a:r>
            <a:endParaRPr lang="ru-RU" sz="1500" dirty="0">
              <a:solidFill>
                <a:schemeClr val="bg1"/>
              </a:solidFill>
            </a:endParaRPr>
          </a:p>
        </p:txBody>
      </p:sp>
      <p:sp>
        <p:nvSpPr>
          <p:cNvPr id="29" name="Текст 5">
            <a:extLst>
              <a:ext uri="{FF2B5EF4-FFF2-40B4-BE49-F238E27FC236}">
                <a16:creationId xmlns:a16="http://schemas.microsoft.com/office/drawing/2014/main" xmlns="" id="{0AB6BA99-F884-4D29-B0AE-C5E069562853}"/>
              </a:ext>
            </a:extLst>
          </p:cNvPr>
          <p:cNvSpPr txBox="1">
            <a:spLocks/>
          </p:cNvSpPr>
          <p:nvPr/>
        </p:nvSpPr>
        <p:spPr>
          <a:xfrm>
            <a:off x="9475508" y="156552"/>
            <a:ext cx="3920400" cy="9615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DM Sans Bold" pitchFamily="2" charset="0"/>
              </a:rPr>
              <a:t>**ENSURING THE INTEGRATION OF EDUCATION, SCIENCE, INNOVATION, AND SCIENTIFIC RESEARCH &amp; SUPPORTING YOUTH SCIENTIFIC ACTIVITIES*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DM Sans Bold" pitchFamily="2" charset="0"/>
              </a:rPr>
              <a:t>Here is the translation of your text into English: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400" dirty="0">
              <a:solidFill>
                <a:schemeClr val="bg1"/>
              </a:solidFill>
              <a:latin typeface="DM Sans Bold" pitchFamily="2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DM Sans Bold" pitchFamily="2" charset="0"/>
              </a:rPr>
              <a:t>**ESTABLISHING JOINT SCIENTIFIC LABORATORIES IN PRODUCTION** 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DM Sans Bold" pitchFamily="2" charset="0"/>
              </a:rPr>
              <a:t>- Regional Medicinal Plants Research Laboratory (2027) 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DM Sans Bold" pitchFamily="2" charset="0"/>
              </a:rPr>
              <a:t>- Establishment of Sultan Hospital Modern Diagnostic Center (2026)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400" dirty="0">
              <a:solidFill>
                <a:schemeClr val="bg1"/>
              </a:solidFill>
              <a:latin typeface="DM Sans Bold" pitchFamily="2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DM Sans Bold" pitchFamily="2" charset="0"/>
              </a:rPr>
              <a:t>**INTERFEDERAL SCIENTIFIC LABORATORIES OPENING** 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DM Sans Bold" pitchFamily="2" charset="0"/>
              </a:rPr>
              <a:t>- Pharmacology Research Laboratory (2026-2030) 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DM Sans Bold" pitchFamily="2" charset="0"/>
              </a:rPr>
              <a:t>- Natural Sciences Research Laboratory (2026-2030) 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DM Sans Bold" pitchFamily="2" charset="0"/>
              </a:rPr>
              <a:t>- Software and Artificial Intelligence Laboratory (2027-2030) 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DM Sans Bold" pitchFamily="2" charset="0"/>
              </a:rPr>
              <a:t>- Regional Research Center (2026-2030)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DM Sans Bold" pitchFamily="2" charset="0"/>
              </a:rPr>
              <a:t>**ESTABLISHING AN INNOVATIVE STARTUP AND TECHNOLOGY TRANSFER CENTER FOR TALENTED STUDENTS AND YOUNG SCIENTISTS** (2027)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DM Sans Bold" pitchFamily="2" charset="0"/>
              </a:rPr>
              <a:t>**INCREASE THE UNIVERSITY'S SCIENTIFIC CAPACITY TO 75%**</a:t>
            </a:r>
          </a:p>
        </p:txBody>
      </p:sp>
      <p:sp>
        <p:nvSpPr>
          <p:cNvPr id="35" name="Текст 5">
            <a:extLst>
              <a:ext uri="{FF2B5EF4-FFF2-40B4-BE49-F238E27FC236}">
                <a16:creationId xmlns:a16="http://schemas.microsoft.com/office/drawing/2014/main" xmlns="" id="{A6E98E80-3FCE-4747-9805-A07E3733C0BF}"/>
              </a:ext>
            </a:extLst>
          </p:cNvPr>
          <p:cNvSpPr txBox="1">
            <a:spLocks/>
          </p:cNvSpPr>
          <p:nvPr/>
        </p:nvSpPr>
        <p:spPr>
          <a:xfrm>
            <a:off x="5223055" y="326005"/>
            <a:ext cx="3920946" cy="96171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IMPLEMENTATION OF MODERN EDUCATIONAL TECHNOLOGIES AND DIRECTIONS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"MODERN TEACHER" QUALIFICATION IMPROVEMENT PROGRAMS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Expanding the use of AI and digital pedagogy tools in education.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spc="100" dirty="0">
                <a:solidFill>
                  <a:schemeClr val="bg1"/>
                </a:solidFill>
                <a:latin typeface="DM Sans Bold" pitchFamily="2" charset="0"/>
              </a:rPr>
              <a:t>**EXPANDING DIGITAL EDUCATION PLATFORMS**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Placing all lesson materials on an online platform through the "Smart Campus" system.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Developing adaptive learning materials for virtual reality based on AR/VR technologies.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 **TRANSITION TO INTERNATIONAL EDUCATION STANDARDS**  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- Implementing "Double Degree" joint programs with prestigious universities worldwide.  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- Expanding student exchange programs within the framework of academic mobility and sending them to prestigious universities for qualification improvement.  </a:t>
            </a:r>
          </a:p>
          <a:p>
            <a:pPr marL="285750" indent="-285750" algn="ctr">
              <a:lnSpc>
                <a:spcPct val="100000"/>
              </a:lnSpc>
              <a:spcAft>
                <a:spcPts val="800"/>
              </a:spcAft>
              <a:buFontTx/>
              <a:buChar char="-"/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Organizing training courses to help students obtain international certifications.</a:t>
            </a:r>
          </a:p>
          <a:p>
            <a:pPr marL="285750" indent="-285750" algn="ctr">
              <a:lnSpc>
                <a:spcPct val="100000"/>
              </a:lnSpc>
              <a:spcAft>
                <a:spcPts val="800"/>
              </a:spcAft>
              <a:buFontTx/>
              <a:buChar char="-"/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**PROMOTING INNOVATIVE PEDAGOGICAL METHODS AND ESTABLISHING A "EDUCATIONAL INNOVATIONS" CENTER AT THE UNIVERSITY**</a:t>
            </a:r>
          </a:p>
        </p:txBody>
      </p:sp>
      <p:sp>
        <p:nvSpPr>
          <p:cNvPr id="36" name="Текст 5">
            <a:extLst>
              <a:ext uri="{FF2B5EF4-FFF2-40B4-BE49-F238E27FC236}">
                <a16:creationId xmlns:a16="http://schemas.microsoft.com/office/drawing/2014/main" xmlns="" id="{17A2365B-2416-4A24-BC15-F332F35ECD54}"/>
              </a:ext>
            </a:extLst>
          </p:cNvPr>
          <p:cNvSpPr txBox="1">
            <a:spLocks/>
          </p:cNvSpPr>
          <p:nvPr/>
        </p:nvSpPr>
        <p:spPr>
          <a:xfrm>
            <a:off x="424433" y="106311"/>
            <a:ext cx="4791002" cy="96171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chemeClr val="bg1"/>
                </a:solidFill>
                <a:latin typeface="DM Sans Bold" pitchFamily="2" charset="0"/>
              </a:rPr>
              <a:t>**COMPETITIVENESS IN THE INTERNATIONAL EDUCATION MARKET**</a:t>
            </a:r>
          </a:p>
        </p:txBody>
      </p:sp>
      <p:graphicFrame>
        <p:nvGraphicFramePr>
          <p:cNvPr id="37" name="Таблица 36">
            <a:extLst>
              <a:ext uri="{FF2B5EF4-FFF2-40B4-BE49-F238E27FC236}">
                <a16:creationId xmlns:a16="http://schemas.microsoft.com/office/drawing/2014/main" xmlns="" id="{08DDC384-8925-4934-B2F9-B528521D6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762621"/>
              </p:ext>
            </p:extLst>
          </p:nvPr>
        </p:nvGraphicFramePr>
        <p:xfrm>
          <a:off x="254312" y="940660"/>
          <a:ext cx="4489104" cy="11548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22276">
                  <a:extLst>
                    <a:ext uri="{9D8B030D-6E8A-4147-A177-3AD203B41FA5}">
                      <a16:colId xmlns:a16="http://schemas.microsoft.com/office/drawing/2014/main" xmlns="" val="4116928451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2097187428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1740053066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20436717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Information Technology 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Economic 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Biology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41060902"/>
                  </a:ext>
                </a:extLst>
              </a:tr>
              <a:tr h="2726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Medicine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History 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Education 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Psychology 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4674839"/>
                  </a:ext>
                </a:extLst>
              </a:tr>
              <a:tr h="2726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88682607"/>
                  </a:ext>
                </a:extLst>
              </a:tr>
            </a:tbl>
          </a:graphicData>
        </a:graphic>
      </p:graphicFrame>
      <p:graphicFrame>
        <p:nvGraphicFramePr>
          <p:cNvPr id="38" name="Таблица 37">
            <a:extLst>
              <a:ext uri="{FF2B5EF4-FFF2-40B4-BE49-F238E27FC236}">
                <a16:creationId xmlns:a16="http://schemas.microsoft.com/office/drawing/2014/main" xmlns="" id="{EF68FBA2-8432-4D5C-ADD3-99FF66218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668703"/>
              </p:ext>
            </p:extLst>
          </p:nvPr>
        </p:nvGraphicFramePr>
        <p:xfrm>
          <a:off x="250404" y="2198855"/>
          <a:ext cx="4489104" cy="27160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2276">
                  <a:extLst>
                    <a:ext uri="{9D8B030D-6E8A-4147-A177-3AD203B41FA5}">
                      <a16:colId xmlns:a16="http://schemas.microsoft.com/office/drawing/2014/main" xmlns="" val="1525879707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374863646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2867213207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2935674247"/>
                    </a:ext>
                  </a:extLst>
                </a:gridCol>
              </a:tblGrid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1000+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800+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600+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59993542"/>
                  </a:ext>
                </a:extLst>
              </a:tr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1200+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1000+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800+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50273293"/>
                  </a:ext>
                </a:extLst>
              </a:tr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1000+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800+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600+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13752090"/>
                  </a:ext>
                </a:extLst>
              </a:tr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1000+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800+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600+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36249119"/>
                  </a:ext>
                </a:extLst>
              </a:tr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Rating categories 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2026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2028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2023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55014354"/>
                  </a:ext>
                </a:extLst>
              </a:tr>
            </a:tbl>
          </a:graphicData>
        </a:graphic>
      </p:graphicFrame>
      <p:pic>
        <p:nvPicPr>
          <p:cNvPr id="39" name="Рисунок 38">
            <a:extLst>
              <a:ext uri="{FF2B5EF4-FFF2-40B4-BE49-F238E27FC236}">
                <a16:creationId xmlns:a16="http://schemas.microsoft.com/office/drawing/2014/main" xmlns="" id="{0EC8409D-DEE3-4685-B71E-A6A803BDDA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04" y="942143"/>
            <a:ext cx="1121196" cy="608117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1FD0F0F3-3C69-45F8-84D9-0C1F6BA9522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04" y="2190896"/>
            <a:ext cx="1121196" cy="551862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xmlns="" id="{AF9778C5-2DCA-4EDD-A55D-96F0BE9CEFBB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9" t="33567" r="5377" b="33362"/>
          <a:stretch/>
        </p:blipFill>
        <p:spPr>
          <a:xfrm>
            <a:off x="253579" y="2814073"/>
            <a:ext cx="1108496" cy="411583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xmlns="" id="{0A6A690E-956C-42C5-8338-C3E23D3D965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" t="18000" r="5978" b="21555"/>
          <a:stretch/>
        </p:blipFill>
        <p:spPr>
          <a:xfrm>
            <a:off x="259929" y="3291880"/>
            <a:ext cx="1102146" cy="534432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xmlns="" id="{F6441F9A-B755-4BF5-8758-540A372A2C0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8" t="22387" r="6680" b="14354"/>
          <a:stretch/>
        </p:blipFill>
        <p:spPr>
          <a:xfrm>
            <a:off x="259929" y="3869396"/>
            <a:ext cx="1108496" cy="468351"/>
          </a:xfrm>
          <a:prstGeom prst="rect">
            <a:avLst/>
          </a:prstGeom>
        </p:spPr>
      </p:pic>
      <p:sp>
        <p:nvSpPr>
          <p:cNvPr id="44" name="Freeform 15">
            <a:extLst>
              <a:ext uri="{FF2B5EF4-FFF2-40B4-BE49-F238E27FC236}">
                <a16:creationId xmlns:a16="http://schemas.microsoft.com/office/drawing/2014/main" xmlns="" id="{2A0968A4-1F2B-494F-BBCF-8C60405C85A9}"/>
              </a:ext>
            </a:extLst>
          </p:cNvPr>
          <p:cNvSpPr/>
          <p:nvPr/>
        </p:nvSpPr>
        <p:spPr>
          <a:xfrm rot="17722001">
            <a:off x="10423467" y="8525642"/>
            <a:ext cx="9085628" cy="5368780"/>
          </a:xfrm>
          <a:custGeom>
            <a:avLst/>
            <a:gdLst/>
            <a:ahLst/>
            <a:cxnLst/>
            <a:rect l="l" t="t" r="r" b="b"/>
            <a:pathLst>
              <a:path w="9085628" h="5368780">
                <a:moveTo>
                  <a:pt x="0" y="0"/>
                </a:moveTo>
                <a:lnTo>
                  <a:pt x="9085629" y="0"/>
                </a:lnTo>
                <a:lnTo>
                  <a:pt x="9085629" y="5368780"/>
                </a:lnTo>
                <a:lnTo>
                  <a:pt x="0" y="536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1882</TotalTime>
  <Words>2194</Words>
  <Application>Microsoft Office PowerPoint</Application>
  <PresentationFormat>Произвольный</PresentationFormat>
  <Paragraphs>653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22" baseType="lpstr">
      <vt:lpstr>DM Sans Bold</vt:lpstr>
      <vt:lpstr>Calibri</vt:lpstr>
      <vt:lpstr>Times New Roman</vt:lpstr>
      <vt:lpstr>Lora</vt:lpstr>
      <vt:lpstr>Arial</vt:lpstr>
      <vt:lpstr>Tahoma</vt:lpstr>
      <vt:lpstr>Lora Bold Italics</vt:lpstr>
      <vt:lpstr>DM Sans</vt:lpstr>
      <vt:lpstr>Crimson Pro Semi Bold</vt:lpstr>
      <vt:lpstr>Lora Bold</vt:lpstr>
      <vt:lpstr>Now Bold</vt:lpstr>
      <vt:lpstr>Roboto</vt:lpstr>
      <vt:lpstr>Franklin Gothic Heavy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Dark Professional Geometric Business Project Presentation</dc:title>
  <dc:creator>Shaxboz Meyliqulov</dc:creator>
  <cp:lastModifiedBy>USER</cp:lastModifiedBy>
  <cp:revision>409</cp:revision>
  <dcterms:created xsi:type="dcterms:W3CDTF">2006-08-16T00:00:00Z</dcterms:created>
  <dcterms:modified xsi:type="dcterms:W3CDTF">2026-03-26T07:00:41Z</dcterms:modified>
  <dc:identifier>DAGg7BXMAmA</dc:identifier>
</cp:coreProperties>
</file>