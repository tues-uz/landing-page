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6" r:id="rId3"/>
    <p:sldId id="258" r:id="rId4"/>
    <p:sldId id="257" r:id="rId5"/>
    <p:sldId id="264" r:id="rId6"/>
    <p:sldId id="262" r:id="rId7"/>
    <p:sldId id="267" r:id="rId8"/>
    <p:sldId id="265" r:id="rId9"/>
    <p:sldId id="266" r:id="rId10"/>
  </p:sldIdLst>
  <p:sldSz cx="18288000" cy="10287000"/>
  <p:notesSz cx="6858000" cy="9144000"/>
  <p:embeddedFontLst>
    <p:embeddedFont>
      <p:font typeface="DM Sans Bold" panose="020B0604020202020204" charset="0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Tahoma" panose="020B0604030504040204" pitchFamily="34" charset="0"/>
      <p:regular r:id="rId21"/>
      <p:bold r:id="rId22"/>
    </p:embeddedFont>
    <p:embeddedFont>
      <p:font typeface="Lora Bold Italics" panose="020B0604020202020204" charset="0"/>
      <p:regular r:id="rId23"/>
    </p:embeddedFont>
    <p:embeddedFont>
      <p:font typeface="DM Sans" panose="020B0604020202020204" charset="0"/>
      <p:regular r:id="rId24"/>
      <p:bold r:id="rId25"/>
      <p:italic r:id="rId26"/>
      <p:boldItalic r:id="rId27"/>
    </p:embeddedFont>
    <p:embeddedFont>
      <p:font typeface="Lora Bold" panose="020B0604020202020204" charset="-52"/>
      <p:regular r:id="rId28"/>
    </p:embeddedFont>
    <p:embeddedFont>
      <p:font typeface="Now Bold" panose="020B0604020202020204" charset="0"/>
      <p:regular r:id="rId29"/>
    </p:embeddedFont>
    <p:embeddedFont>
      <p:font typeface="Roboto" panose="020B0604020202020204" charset="0"/>
      <p:regular r:id="rId30"/>
      <p:bold r:id="rId31"/>
      <p:italic r:id="rId32"/>
      <p:boldItalic r:id="rId33"/>
    </p:embeddedFont>
    <p:embeddedFont>
      <p:font typeface="Franklin Gothic Heavy" panose="020B0903020102020204" pitchFamily="34" charset="0"/>
      <p:regular r:id="rId34"/>
      <p: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1D40"/>
    <a:srgbClr val="F4C142"/>
    <a:srgbClr val="5BC5B8"/>
    <a:srgbClr val="F4B6C0"/>
    <a:srgbClr val="EC695B"/>
    <a:srgbClr val="4DD5FF"/>
    <a:srgbClr val="17375E"/>
    <a:srgbClr val="1A5276"/>
    <a:srgbClr val="4BACC6"/>
    <a:srgbClr val="9537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77" autoAdjust="0"/>
    <p:restoredTop sz="96340" autoAdjust="0"/>
  </p:normalViewPr>
  <p:slideViewPr>
    <p:cSldViewPr>
      <p:cViewPr varScale="1">
        <p:scale>
          <a:sx n="77" d="100"/>
          <a:sy n="77" d="100"/>
        </p:scale>
        <p:origin x="1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34" Type="http://schemas.openxmlformats.org/officeDocument/2006/relationships/font" Target="fonts/font24.fnt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font" Target="fonts/font23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font" Target="fonts/font2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2176915900330993E-2"/>
          <c:y val="0.18933178896654149"/>
          <c:w val="0.49118244121805738"/>
          <c:h val="0.71385853055394688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explosion val="1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A6D-4B96-92A4-01438E8CF33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A6D-4B96-92A4-01438E8CF33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A6D-4B96-92A4-01438E8CF33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DA6D-4B96-92A4-01438E8CF33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051D40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4"/>
                <c:pt idx="0">
                  <c:v>Территория учебных корпусов</c:v>
                </c:pt>
                <c:pt idx="1">
                  <c:v>Зелёная зона</c:v>
                </c:pt>
                <c:pt idx="2">
                  <c:v>Медицинский корпус</c:v>
                </c:pt>
                <c:pt idx="3">
                  <c:v>Спортивный комплекс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42</c:v>
                </c:pt>
                <c:pt idx="1">
                  <c:v>27</c:v>
                </c:pt>
                <c:pt idx="2">
                  <c:v>18.399999999999999</c:v>
                </c:pt>
                <c:pt idx="3">
                  <c:v>17.600000000000001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DA6D-4B96-92A4-01438E8CF33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6238059250678929"/>
          <c:y val="0.1346494088639674"/>
          <c:w val="0.43353654781479173"/>
          <c:h val="0.853983044401875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lang="en-US" sz="1600" b="1" i="0" u="none" strike="noStrike" kern="1200" spc="0" baseline="0">
              <a:solidFill>
                <a:schemeClr val="bg1"/>
              </a:solidFill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 anchor="ctr" anchorCtr="0"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209345504124261E-2"/>
          <c:y val="4.9060239375250975E-2"/>
          <c:w val="0.93168983759842516"/>
          <c:h val="0.767486726901653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talabalar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4DD5FF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6</c:v>
                </c:pt>
                <c:pt idx="1">
                  <c:v>12</c:v>
                </c:pt>
                <c:pt idx="2">
                  <c:v>19</c:v>
                </c:pt>
                <c:pt idx="3">
                  <c:v>26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C92-4C7D-9F93-2FB9D4A4732E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doktarantlar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CC92-4C7D-9F93-2FB9D4A473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07704808"/>
        <c:axId val="307695400"/>
      </c:barChart>
      <c:catAx>
        <c:axId val="3077048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endParaRPr lang="ru-RU"/>
          </a:p>
        </c:txPr>
        <c:crossAx val="307695400"/>
        <c:crosses val="autoZero"/>
        <c:auto val="1"/>
        <c:lblAlgn val="ctr"/>
        <c:lblOffset val="100"/>
        <c:noMultiLvlLbl val="0"/>
      </c:catAx>
      <c:valAx>
        <c:axId val="30769540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07704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2.8915092084322785E-2"/>
          <c:y val="0"/>
          <c:w val="0.71284740800105639"/>
          <c:h val="0.375626959692811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spc="300" baseline="0">
              <a:solidFill>
                <a:srgbClr val="4DD5FF"/>
              </a:solidFill>
              <a:latin typeface="DM Sans Bold" panose="020B0604020202020204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92D58"/>
    </a:soli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СТАТЬИ В БАЗАХ ДАННЫХ SCOPUS И WEB OF SCIENCE</a:t>
            </a:r>
            <a:endParaRPr lang="ru-RU" sz="1400" b="1" dirty="0">
              <a:solidFill>
                <a:srgbClr val="4DD5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4869627864540527"/>
          <c:y val="0.11371998052677358"/>
        </c:manualLayout>
      </c:layout>
      <c:overlay val="0"/>
      <c:spPr>
        <a:noFill/>
        <a:ln w="12700" cap="flat" cmpd="sng" algn="ctr">
          <a:noFill/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2.115044106241575E-3"/>
          <c:y val="0.15341888987002042"/>
          <c:w val="0.95770068941214948"/>
          <c:h val="0.72600798258214727"/>
        </c:manualLayout>
      </c:layout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274E-475A-915D-1F15510E79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74E-475A-915D-1F15510E796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74E-475A-915D-1F15510E796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274E-475A-915D-1F15510E796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274E-475A-915D-1F15510E796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274E-475A-915D-1F15510E796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Лист2!$B$7:$B$12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Лист2!$C$7:$C$12</c:f>
              <c:numCache>
                <c:formatCode>General</c:formatCode>
                <c:ptCount val="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500</c:v>
                </c:pt>
                <c:pt idx="4">
                  <c:v>750</c:v>
                </c:pt>
                <c:pt idx="5">
                  <c:v>1000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274E-475A-915D-1F15510E79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overlap val="-27"/>
        <c:axId val="463341408"/>
        <c:axId val="463341800"/>
      </c:barChart>
      <c:catAx>
        <c:axId val="463341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cap="all" spc="120" normalizeH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endParaRPr lang="ru-RU"/>
          </a:p>
        </c:txPr>
        <c:crossAx val="463341800"/>
        <c:crosses val="autoZero"/>
        <c:auto val="1"/>
        <c:lblAlgn val="ctr"/>
        <c:lblOffset val="100"/>
        <c:noMultiLvlLbl val="0"/>
      </c:catAx>
      <c:valAx>
        <c:axId val="4633418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334140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spc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r>
              <a:rPr lang="ru-RU" sz="1600" b="1" i="0" u="none" strike="noStrike" kern="1200" spc="0" baseline="0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Цитирования</a:t>
            </a:r>
            <a:r>
              <a:rPr lang="en-US" sz="1600" b="1" i="0" u="none" strike="noStrike" kern="1200" spc="0" baseline="0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 (</a:t>
            </a:r>
            <a:r>
              <a:rPr lang="ru-RU" sz="1600" b="1" i="0" u="none" strike="noStrike" kern="1200" spc="0" baseline="0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в тысячах</a:t>
            </a:r>
            <a:r>
              <a:rPr lang="en-US" sz="1600" b="1" i="0" u="none" strike="noStrike" kern="1200" spc="0" baseline="0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)</a:t>
            </a:r>
          </a:p>
        </c:rich>
      </c:tx>
      <c:layout>
        <c:manualLayout>
          <c:xMode val="edge"/>
          <c:yMode val="edge"/>
          <c:x val="0.29217322328216899"/>
          <c:y val="0.171470950075721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spc="0" baseline="0">
              <a:solidFill>
                <a:srgbClr val="4DD5FF"/>
              </a:solidFill>
              <a:latin typeface="DM Sans Bold" panose="020B0604020202020204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24FE-4420-9B73-BE751FB5785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4FE-4420-9B73-BE751FB5785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4FE-4420-9B73-BE751FB5785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24FE-4420-9B73-BE751FB5785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24FE-4420-9B73-BE751FB5785A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24FE-4420-9B73-BE751FB578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Лист2!$B$26:$B$31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Лист2!$C$26:$C$31</c:f>
              <c:numCache>
                <c:formatCode>General</c:formatCode>
                <c:ptCount val="6"/>
                <c:pt idx="0">
                  <c:v>50</c:v>
                </c:pt>
                <c:pt idx="1">
                  <c:v>75</c:v>
                </c:pt>
                <c:pt idx="2">
                  <c:v>100</c:v>
                </c:pt>
                <c:pt idx="3">
                  <c:v>125</c:v>
                </c:pt>
                <c:pt idx="4">
                  <c:v>150</c:v>
                </c:pt>
                <c:pt idx="5">
                  <c:v>250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24FE-4420-9B73-BE751FB578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overlap val="-27"/>
        <c:axId val="463361400"/>
        <c:axId val="463355520"/>
      </c:barChart>
      <c:catAx>
        <c:axId val="463361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cap="all" spc="120" normalizeH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endParaRPr lang="ru-RU"/>
          </a:p>
        </c:txPr>
        <c:crossAx val="463355520"/>
        <c:crosses val="autoZero"/>
        <c:auto val="1"/>
        <c:lblAlgn val="ctr"/>
        <c:lblOffset val="100"/>
        <c:noMultiLvlLbl val="0"/>
      </c:catAx>
      <c:valAx>
        <c:axId val="4633555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3361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spc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r>
              <a:rPr lang="ru-RU" sz="1600" b="1" i="0" u="none" strike="noStrike" kern="1200" spc="0" baseline="0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ПРОХОЖДЕНИЕ МЕЖДУНАРОДНОЙ АККРЕДИТАЦИИ ПРОГРАММ И НАПРАВЛЕНИЙ (ВСЕГО)</a:t>
            </a:r>
            <a:endParaRPr lang="en-US" sz="1600" b="1" i="0" u="none" strike="noStrike" kern="1200" spc="0" baseline="0" dirty="0">
              <a:solidFill>
                <a:srgbClr val="4DD5FF"/>
              </a:solidFill>
              <a:latin typeface="DM Sans Bold" panose="020B0604020202020204" charset="0"/>
              <a:ea typeface="+mn-ea"/>
              <a:cs typeface="+mn-cs"/>
            </a:endParaRPr>
          </a:p>
        </c:rich>
      </c:tx>
      <c:layout>
        <c:manualLayout>
          <c:xMode val="edge"/>
          <c:yMode val="edge"/>
          <c:x val="0.12843236710737341"/>
          <c:y val="0.1181027765389299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spc="0" baseline="0">
              <a:solidFill>
                <a:srgbClr val="4DD5FF"/>
              </a:solidFill>
              <a:latin typeface="DM Sans Bold" panose="020B0604020202020204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2F3-4394-B79C-44D5CA08CE5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2F3-4394-B79C-44D5CA08CE5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32F3-4394-B79C-44D5CA08CE5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32F3-4394-B79C-44D5CA08CE5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32F3-4394-B79C-44D5CA08CE5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32F3-4394-B79C-44D5CA08CE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Лист2!$G$32:$G$37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Лист2!$H$32:$H$37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32F3-4394-B79C-44D5CA08CE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overlap val="-27"/>
        <c:axId val="463359048"/>
        <c:axId val="463351600"/>
      </c:barChart>
      <c:catAx>
        <c:axId val="463359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cap="all" spc="120" normalizeH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endParaRPr lang="ru-RU"/>
          </a:p>
        </c:txPr>
        <c:crossAx val="463351600"/>
        <c:crosses val="autoZero"/>
        <c:auto val="1"/>
        <c:lblAlgn val="ctr"/>
        <c:lblOffset val="100"/>
        <c:noMultiLvlLbl val="0"/>
      </c:catAx>
      <c:valAx>
        <c:axId val="4633516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3359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r>
              <a:rPr lang="ru-RU" sz="1600" b="1" i="0" u="none" strike="noStrike" kern="1200" spc="0" baseline="0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УВЕЛИЧЕНИЕ ДОЛИ ИНОСТРАННЫХ СТУДЕНТОВ</a:t>
            </a:r>
            <a:endParaRPr lang="en-US" sz="1600" b="1" i="0" u="none" strike="noStrike" kern="1200" spc="0" baseline="0" dirty="0">
              <a:solidFill>
                <a:srgbClr val="4DD5FF"/>
              </a:solidFill>
              <a:latin typeface="DM Sans Bold" panose="020B0604020202020204" charset="0"/>
              <a:ea typeface="+mn-ea"/>
              <a:cs typeface="+mn-cs"/>
            </a:endParaRPr>
          </a:p>
        </c:rich>
      </c:tx>
      <c:layout>
        <c:manualLayout>
          <c:xMode val="edge"/>
          <c:yMode val="edge"/>
          <c:x val="0.14847476054437903"/>
          <c:y val="0.127944674583840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>
              <a:solidFill>
                <a:srgbClr val="4DD5FF"/>
              </a:solidFill>
              <a:latin typeface="DM Sans Bold" panose="020B0604020202020204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6655-442B-880A-D079406A940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655-442B-880A-D079406A940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655-442B-880A-D079406A940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6655-442B-880A-D079406A940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6655-442B-880A-D079406A940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6655-442B-880A-D079406A94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Лист2!$D$41:$D$46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Лист2!$E$41:$E$46</c:f>
              <c:numCache>
                <c:formatCode>General</c:formatCode>
                <c:ptCount val="6"/>
                <c:pt idx="0">
                  <c:v>10</c:v>
                </c:pt>
                <c:pt idx="1">
                  <c:v>25</c:v>
                </c:pt>
                <c:pt idx="2">
                  <c:v>35</c:v>
                </c:pt>
                <c:pt idx="3">
                  <c:v>50</c:v>
                </c:pt>
                <c:pt idx="4">
                  <c:v>65</c:v>
                </c:pt>
                <c:pt idx="5">
                  <c:v>75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6655-442B-880A-D079406A94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overlap val="-27"/>
        <c:axId val="463355912"/>
        <c:axId val="463355128"/>
      </c:barChart>
      <c:catAx>
        <c:axId val="463355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cap="all" spc="120" normalizeH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endParaRPr lang="ru-RU"/>
          </a:p>
        </c:txPr>
        <c:crossAx val="463355128"/>
        <c:crosses val="autoZero"/>
        <c:auto val="1"/>
        <c:lblAlgn val="ctr"/>
        <c:lblOffset val="100"/>
        <c:noMultiLvlLbl val="0"/>
      </c:catAx>
      <c:valAx>
        <c:axId val="46335512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3355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 dirty="0" err="1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defRPr>
            </a:pPr>
            <a:r>
              <a:rPr lang="ru-RU" sz="1600" b="1" kern="1200" dirty="0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rPr>
              <a:t>УВЕЛИЧЕНИЕ УЧАСТИЯ ИНОСТРАННЫХ ПРЕПОДАВАТЕЛЕЙ</a:t>
            </a:r>
            <a:endParaRPr lang="en-US" sz="1600" b="1" kern="1200" dirty="0">
              <a:solidFill>
                <a:schemeClr val="bg1"/>
              </a:solidFill>
              <a:latin typeface="DM Sans Bold" pitchFamily="2" charset="0"/>
              <a:ea typeface="+mn-ea"/>
              <a:cs typeface="+mn-cs"/>
            </a:endParaRPr>
          </a:p>
        </c:rich>
      </c:tx>
      <c:layout>
        <c:manualLayout>
          <c:xMode val="edge"/>
          <c:yMode val="edge"/>
          <c:x val="0.10452126376012953"/>
          <c:y val="6.49613861480554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 dirty="0" err="1">
              <a:solidFill>
                <a:schemeClr val="bg1"/>
              </a:solidFill>
              <a:latin typeface="DM Sans Bold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43A-4852-9A44-39FF091787B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43A-4852-9A44-39FF091787B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43A-4852-9A44-39FF091787B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D43A-4852-9A44-39FF091787B1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D43A-4852-9A44-39FF091787B1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D43A-4852-9A44-39FF091787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600" b="1" i="0" u="none" strike="noStrike" kern="1200" baseline="0">
                    <a:solidFill>
                      <a:schemeClr val="bg1"/>
                    </a:solidFill>
                    <a:latin typeface="DM Sans Bold" pitchFamily="2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Лист1!$B$8:$B$13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Лист1!$C$8:$C$13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75</c:v>
                </c:pt>
                <c:pt idx="3">
                  <c:v>85</c:v>
                </c:pt>
                <c:pt idx="4">
                  <c:v>100</c:v>
                </c:pt>
                <c:pt idx="5">
                  <c:v>125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D43A-4852-9A44-39FF091787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63368064"/>
        <c:axId val="307705200"/>
      </c:barChart>
      <c:catAx>
        <c:axId val="463368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defRPr>
            </a:pPr>
            <a:endParaRPr lang="ru-RU"/>
          </a:p>
        </c:txPr>
        <c:crossAx val="307705200"/>
        <c:crosses val="autoZero"/>
        <c:auto val="1"/>
        <c:lblAlgn val="ctr"/>
        <c:lblOffset val="100"/>
        <c:noMultiLvlLbl val="0"/>
      </c:catAx>
      <c:valAx>
        <c:axId val="307705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3368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 dirty="0" err="1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defRPr>
            </a:pPr>
            <a:r>
              <a:rPr lang="ru-RU" sz="1600" b="1" kern="1200" dirty="0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rPr>
              <a:t>СОВМЕСТНЫЕ ОБРАЗОВАТЕЛЬНЫЕ ПРОГРАММЫ С ПРЕСТИЖНЫМИ ЗАРУБЕЖНЫМИ УНИВЕРСИТЕТАМИ.</a:t>
            </a:r>
            <a:endParaRPr lang="en-US" sz="1600" b="1" kern="1200" dirty="0">
              <a:solidFill>
                <a:schemeClr val="bg1"/>
              </a:solidFill>
              <a:latin typeface="DM Sans Bold" pitchFamily="2" charset="0"/>
              <a:ea typeface="+mn-ea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 dirty="0" err="1">
              <a:solidFill>
                <a:schemeClr val="bg1"/>
              </a:solidFill>
              <a:latin typeface="DM Sans Bold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C32A-48EE-A9E8-230C104B301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32A-48EE-A9E8-230C104B301F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C32A-48EE-A9E8-230C104B301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C32A-48EE-A9E8-230C104B301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C32A-48EE-A9E8-230C104B301F}"/>
              </c:ext>
            </c:extLst>
          </c:dPt>
          <c:dPt>
            <c:idx val="5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C32A-48EE-A9E8-230C104B301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600" b="1" i="0" u="none" strike="noStrike" kern="1200" baseline="0">
                    <a:solidFill>
                      <a:schemeClr val="bg1"/>
                    </a:solidFill>
                    <a:latin typeface="DM Sans Bold" pitchFamily="2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Лист1!$B$26:$B$31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Лист1!$C$26:$C$31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C32A-48EE-A9E8-230C104B30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7696184"/>
        <c:axId val="307703240"/>
      </c:barChart>
      <c:catAx>
        <c:axId val="307696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defRPr>
            </a:pPr>
            <a:endParaRPr lang="ru-RU"/>
          </a:p>
        </c:txPr>
        <c:crossAx val="307703240"/>
        <c:crosses val="autoZero"/>
        <c:auto val="1"/>
        <c:lblAlgn val="ctr"/>
        <c:lblOffset val="100"/>
        <c:noMultiLvlLbl val="0"/>
      </c:catAx>
      <c:valAx>
        <c:axId val="3077032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07696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BBE936-5807-4294-9AC5-950CB5C59735}" type="doc">
      <dgm:prSet loTypeId="urn:microsoft.com/office/officeart/2008/layout/HorizontalMultiLevelHierarchy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9775F32-B202-464E-9640-1E6606F5941B}">
      <dgm:prSet phldrT="[Текст]"/>
      <dgm:spPr/>
      <dgm:t>
        <a:bodyPr/>
        <a:lstStyle/>
        <a:p>
          <a:r>
            <a:rPr lang="ru-RU" b="1" dirty="0">
              <a:latin typeface="DM Sans Bold" panose="020B0604020202020204" charset="0"/>
              <a:ea typeface="Lora Bold"/>
              <a:cs typeface="Lora Bold"/>
              <a:sym typeface="Lora Bold"/>
            </a:rPr>
            <a:t>Университетская интернационализация и трансформация</a:t>
          </a:r>
          <a:endParaRPr lang="ru-RU" dirty="0"/>
        </a:p>
      </dgm:t>
    </dgm:pt>
    <dgm:pt modelId="{7287996F-F258-41E6-B37F-0FF50C61D6B4}" type="parTrans" cxnId="{B6292CE6-AB4F-4FFE-BEA5-A0887B517FB8}">
      <dgm:prSet/>
      <dgm:spPr/>
      <dgm:t>
        <a:bodyPr/>
        <a:lstStyle/>
        <a:p>
          <a:endParaRPr lang="ru-RU"/>
        </a:p>
      </dgm:t>
    </dgm:pt>
    <dgm:pt modelId="{6AF841A7-0EDD-45AD-B972-2FFD7D8E1281}" type="sibTrans" cxnId="{B6292CE6-AB4F-4FFE-BEA5-A0887B517FB8}">
      <dgm:prSet/>
      <dgm:spPr/>
      <dgm:t>
        <a:bodyPr/>
        <a:lstStyle/>
        <a:p>
          <a:endParaRPr lang="ru-RU"/>
        </a:p>
      </dgm:t>
    </dgm:pt>
    <dgm:pt modelId="{6F68EDD6-95C9-4D8A-A289-072504FD9E0E}">
      <dgm:prSet phldrT="[Текст]"/>
      <dgm:spPr/>
      <dgm:t>
        <a:bodyPr/>
        <a:lstStyle/>
        <a:p>
          <a:r>
            <a:rPr lang="ru-RU" dirty="0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Центр Международных Связей и Академической мобильности</a:t>
          </a:r>
          <a:endParaRPr lang="en-US" dirty="0">
            <a:effectLst/>
            <a:latin typeface="DM Sans Bold" panose="020B0604020202020204" charset="0"/>
            <a:ea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E78399-E86D-46A1-9B83-5B83C44153A3}" type="parTrans" cxnId="{B75AE869-CFF9-441C-9EDB-C1CA67D90355}">
      <dgm:prSet/>
      <dgm:spPr>
        <a:solidFill>
          <a:schemeClr val="accent2"/>
        </a:solidFill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E67584EF-81E3-4142-9596-FED347509B6E}" type="sibTrans" cxnId="{B75AE869-CFF9-441C-9EDB-C1CA67D90355}">
      <dgm:prSet/>
      <dgm:spPr/>
      <dgm:t>
        <a:bodyPr/>
        <a:lstStyle/>
        <a:p>
          <a:endParaRPr lang="ru-RU"/>
        </a:p>
      </dgm:t>
    </dgm:pt>
    <dgm:pt modelId="{99BF4384-EC2E-4A71-96A3-7B686936BFC4}">
      <dgm:prSet phldrT="[Текст]"/>
      <dgm:spPr/>
      <dgm:t>
        <a:bodyPr/>
        <a:lstStyle/>
        <a:p>
          <a:r>
            <a:rPr lang="ru-RU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Центр инновационного образования и цифровой трансформации</a:t>
          </a:r>
          <a:endParaRPr lang="en-US" b="0" dirty="0">
            <a:effectLst/>
            <a:latin typeface="DM Sans Bold" panose="020B0604020202020204" charset="0"/>
            <a:ea typeface="Times New Roman" panose="02020603050405020304" pitchFamily="18" charset="0"/>
          </a:endParaRPr>
        </a:p>
      </dgm:t>
    </dgm:pt>
    <dgm:pt modelId="{C929D1B3-70C1-402B-BB3B-5B0E6F78CDD9}" type="parTrans" cxnId="{9C5A7D1F-E2BA-4235-BEBD-03F3E4957E44}">
      <dgm:prSet/>
      <dgm:spPr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9A653AFB-3DCE-44EA-A049-0A1CBE40E700}" type="sibTrans" cxnId="{9C5A7D1F-E2BA-4235-BEBD-03F3E4957E44}">
      <dgm:prSet/>
      <dgm:spPr/>
      <dgm:t>
        <a:bodyPr/>
        <a:lstStyle/>
        <a:p>
          <a:endParaRPr lang="ru-RU"/>
        </a:p>
      </dgm:t>
    </dgm:pt>
    <dgm:pt modelId="{ECBA59C1-8F3E-4236-BD22-0661847F1484}">
      <dgm:prSet phldrT="[Текст]"/>
      <dgm:spPr/>
      <dgm:t>
        <a:bodyPr/>
        <a:lstStyle/>
        <a:p>
          <a:r>
            <a:rPr lang="ru-RU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Центр международной сертификации и повышения квалификации</a:t>
          </a:r>
        </a:p>
      </dgm:t>
    </dgm:pt>
    <dgm:pt modelId="{73F57B77-87F2-4222-8EB3-94089DAF9C49}" type="parTrans" cxnId="{6DB7F1DA-65B1-4E82-822E-A06928C6E0D2}">
      <dgm:prSet/>
      <dgm:spPr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123BB044-3D5D-4BF5-B862-EDDC20C7EE46}" type="sibTrans" cxnId="{6DB7F1DA-65B1-4E82-822E-A06928C6E0D2}">
      <dgm:prSet/>
      <dgm:spPr/>
      <dgm:t>
        <a:bodyPr/>
        <a:lstStyle/>
        <a:p>
          <a:endParaRPr lang="ru-RU"/>
        </a:p>
      </dgm:t>
    </dgm:pt>
    <dgm:pt modelId="{4C5F668F-0712-4AE3-81B1-A6B25DEB8A4F}">
      <dgm:prSet/>
      <dgm:spPr/>
      <dgm:t>
        <a:bodyPr/>
        <a:lstStyle/>
        <a:p>
          <a:r>
            <a:rPr lang="ru-RU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Центр культуры и языка</a:t>
          </a:r>
          <a:endParaRPr lang="en-US" b="0" dirty="0">
            <a:effectLst/>
            <a:latin typeface="DM Sans Bold" panose="020B0604020202020204" charset="0"/>
            <a:ea typeface="Times New Roman" panose="02020603050405020304" pitchFamily="18" charset="0"/>
          </a:endParaRPr>
        </a:p>
      </dgm:t>
    </dgm:pt>
    <dgm:pt modelId="{FAD3BDDA-22C3-4D00-BABC-7575325A1FC5}" type="parTrans" cxnId="{5F01122E-9908-4870-B801-C5EF95F8C7E6}">
      <dgm:prSet/>
      <dgm:spPr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6264AE26-1365-4D1B-9A0D-7EDA0C145ADC}" type="sibTrans" cxnId="{5F01122E-9908-4870-B801-C5EF95F8C7E6}">
      <dgm:prSet/>
      <dgm:spPr/>
      <dgm:t>
        <a:bodyPr/>
        <a:lstStyle/>
        <a:p>
          <a:endParaRPr lang="ru-RU"/>
        </a:p>
      </dgm:t>
    </dgm:pt>
    <dgm:pt modelId="{A0419A98-1D15-46E2-A030-DC0326FC1221}">
      <dgm:prSet/>
      <dgm:spPr/>
      <dgm:t>
        <a:bodyPr/>
        <a:lstStyle/>
        <a:p>
          <a:r>
            <a:rPr lang="ru-RU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Отдел мониторинга и стратегического развития</a:t>
          </a:r>
          <a:endParaRPr lang="ru-RU" dirty="0"/>
        </a:p>
      </dgm:t>
    </dgm:pt>
    <dgm:pt modelId="{CC659645-9FBC-4288-B7A3-9F542DBF8790}" type="parTrans" cxnId="{B9A71D54-D757-41A2-9040-2BC8B754A043}">
      <dgm:prSet/>
      <dgm:spPr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8F6A227D-3D2C-40CC-A721-B919FAD87D8C}" type="sibTrans" cxnId="{B9A71D54-D757-41A2-9040-2BC8B754A043}">
      <dgm:prSet/>
      <dgm:spPr/>
      <dgm:t>
        <a:bodyPr/>
        <a:lstStyle/>
        <a:p>
          <a:endParaRPr lang="ru-RU"/>
        </a:p>
      </dgm:t>
    </dgm:pt>
    <dgm:pt modelId="{BA288C98-8E0F-4C84-8B4A-04E460EA9A48}">
      <dgm:prSet/>
      <dgm:spPr/>
      <dgm:t>
        <a:bodyPr/>
        <a:lstStyle/>
        <a:p>
          <a:r>
            <a:rPr lang="ru-RU" dirty="0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Офис рейтинга и бренд-менеджмента</a:t>
          </a:r>
          <a:endParaRPr lang="en-US" dirty="0">
            <a:effectLst/>
            <a:latin typeface="DM Sans Bold" panose="020B0604020202020204" charset="0"/>
            <a:ea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5DACD6-38B0-468C-A839-0F0D52E21088}" type="parTrans" cxnId="{FAF0407C-2899-45AC-BFD4-EC94F1F78116}">
      <dgm:prSet/>
      <dgm:spPr>
        <a:solidFill>
          <a:schemeClr val="accent2"/>
        </a:solidFill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C7A8D099-F91C-4A72-9B60-50FABFF457C0}" type="sibTrans" cxnId="{FAF0407C-2899-45AC-BFD4-EC94F1F78116}">
      <dgm:prSet/>
      <dgm:spPr/>
      <dgm:t>
        <a:bodyPr/>
        <a:lstStyle/>
        <a:p>
          <a:endParaRPr lang="ru-RU"/>
        </a:p>
      </dgm:t>
    </dgm:pt>
    <dgm:pt modelId="{D2425160-8322-4B93-9609-2E5721C3B599}">
      <dgm:prSet/>
      <dgm:spPr/>
      <dgm:t>
        <a:bodyPr/>
        <a:lstStyle/>
        <a:p>
          <a:r>
            <a:rPr lang="ru-RU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Отдел мониторинга и стратегического развития</a:t>
          </a:r>
          <a:endParaRPr lang="en-US" b="0" dirty="0">
            <a:effectLst/>
            <a:latin typeface="DM Sans Bold" panose="020B0604020202020204" charset="0"/>
            <a:ea typeface="Times New Roman" panose="02020603050405020304" pitchFamily="18" charset="0"/>
          </a:endParaRPr>
        </a:p>
      </dgm:t>
    </dgm:pt>
    <dgm:pt modelId="{3908D7C8-718E-40D6-BC4B-0E1C296C2E2D}" type="parTrans" cxnId="{35F7E5FA-1F09-4C8A-8C8A-7F2E12EF0BD7}">
      <dgm:prSet/>
      <dgm:spPr>
        <a:solidFill>
          <a:schemeClr val="accent2"/>
        </a:solidFill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0433B77A-FB2C-4593-9EAD-A5D88A23DFD7}" type="sibTrans" cxnId="{35F7E5FA-1F09-4C8A-8C8A-7F2E12EF0BD7}">
      <dgm:prSet/>
      <dgm:spPr/>
      <dgm:t>
        <a:bodyPr/>
        <a:lstStyle/>
        <a:p>
          <a:endParaRPr lang="ru-RU"/>
        </a:p>
      </dgm:t>
    </dgm:pt>
    <dgm:pt modelId="{BA3261C8-A5A4-471F-BA12-31BDC2FA9D2C}">
      <dgm:prSet/>
      <dgm:spPr/>
      <dgm:t>
        <a:bodyPr/>
        <a:lstStyle/>
        <a:p>
          <a:r>
            <a:rPr lang="ru-RU" dirty="0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Международные летние школы</a:t>
          </a:r>
          <a:endParaRPr lang="en-US" dirty="0">
            <a:effectLst/>
            <a:latin typeface="DM Sans Bold" panose="020B0604020202020204" charset="0"/>
            <a:ea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C49B12-7F76-45A1-9223-A1B8F4942878}" type="parTrans" cxnId="{9FF26FB4-E3A8-448B-954E-0F3173F26A61}">
      <dgm:prSet/>
      <dgm:spPr>
        <a:solidFill>
          <a:schemeClr val="accent2"/>
        </a:solidFill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0C9E197E-2C10-4895-9A43-61EF0A570B1B}" type="sibTrans" cxnId="{9FF26FB4-E3A8-448B-954E-0F3173F26A61}">
      <dgm:prSet/>
      <dgm:spPr/>
      <dgm:t>
        <a:bodyPr/>
        <a:lstStyle/>
        <a:p>
          <a:endParaRPr lang="ru-RU"/>
        </a:p>
      </dgm:t>
    </dgm:pt>
    <dgm:pt modelId="{90936A2C-474A-40A0-8FB4-D09A9FD11BF3}" type="pres">
      <dgm:prSet presAssocID="{78BBE936-5807-4294-9AC5-950CB5C59735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5A99A2E-09BC-4106-9D5D-F4645423404B}" type="pres">
      <dgm:prSet presAssocID="{79775F32-B202-464E-9640-1E6606F5941B}" presName="root1" presStyleCnt="0"/>
      <dgm:spPr/>
    </dgm:pt>
    <dgm:pt modelId="{CCF6EFD0-12E8-4C3E-9D70-2524CE83D9E9}" type="pres">
      <dgm:prSet presAssocID="{79775F32-B202-464E-9640-1E6606F5941B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A7679E5-E590-4C82-B793-08FD95695284}" type="pres">
      <dgm:prSet presAssocID="{79775F32-B202-464E-9640-1E6606F5941B}" presName="level2hierChild" presStyleCnt="0"/>
      <dgm:spPr/>
    </dgm:pt>
    <dgm:pt modelId="{C9D4894C-6FB3-4114-8AC5-F1FF01B28D84}" type="pres">
      <dgm:prSet presAssocID="{C0E78399-E86D-46A1-9B83-5B83C44153A3}" presName="conn2-1" presStyleLbl="parChTrans1D2" presStyleIdx="0" presStyleCnt="8"/>
      <dgm:spPr/>
      <dgm:t>
        <a:bodyPr/>
        <a:lstStyle/>
        <a:p>
          <a:endParaRPr lang="ru-RU"/>
        </a:p>
      </dgm:t>
    </dgm:pt>
    <dgm:pt modelId="{C389982F-225F-4D10-89E4-6B39B566CB74}" type="pres">
      <dgm:prSet presAssocID="{C0E78399-E86D-46A1-9B83-5B83C44153A3}" presName="connTx" presStyleLbl="parChTrans1D2" presStyleIdx="0" presStyleCnt="8"/>
      <dgm:spPr/>
      <dgm:t>
        <a:bodyPr/>
        <a:lstStyle/>
        <a:p>
          <a:endParaRPr lang="ru-RU"/>
        </a:p>
      </dgm:t>
    </dgm:pt>
    <dgm:pt modelId="{A8C18908-09D4-46B9-A95F-100CFBB337E1}" type="pres">
      <dgm:prSet presAssocID="{6F68EDD6-95C9-4D8A-A289-072504FD9E0E}" presName="root2" presStyleCnt="0"/>
      <dgm:spPr/>
    </dgm:pt>
    <dgm:pt modelId="{DAA58094-F7EC-499E-AC30-754574D8DBB3}" type="pres">
      <dgm:prSet presAssocID="{6F68EDD6-95C9-4D8A-A289-072504FD9E0E}" presName="LevelTwoTextNode" presStyleLbl="node2" presStyleIdx="0" presStyleCnt="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357D9EC-CDE8-4CA5-A06B-3A08F6B52F76}" type="pres">
      <dgm:prSet presAssocID="{6F68EDD6-95C9-4D8A-A289-072504FD9E0E}" presName="level3hierChild" presStyleCnt="0"/>
      <dgm:spPr/>
    </dgm:pt>
    <dgm:pt modelId="{14398D2B-1493-405E-8E1F-B4B0B5DAFFF5}" type="pres">
      <dgm:prSet presAssocID="{C929D1B3-70C1-402B-BB3B-5B0E6F78CDD9}" presName="conn2-1" presStyleLbl="parChTrans1D2" presStyleIdx="1" presStyleCnt="8"/>
      <dgm:spPr/>
      <dgm:t>
        <a:bodyPr/>
        <a:lstStyle/>
        <a:p>
          <a:endParaRPr lang="ru-RU"/>
        </a:p>
      </dgm:t>
    </dgm:pt>
    <dgm:pt modelId="{2505148E-9352-4460-A0FB-A7DD97473071}" type="pres">
      <dgm:prSet presAssocID="{C929D1B3-70C1-402B-BB3B-5B0E6F78CDD9}" presName="connTx" presStyleLbl="parChTrans1D2" presStyleIdx="1" presStyleCnt="8"/>
      <dgm:spPr/>
      <dgm:t>
        <a:bodyPr/>
        <a:lstStyle/>
        <a:p>
          <a:endParaRPr lang="ru-RU"/>
        </a:p>
      </dgm:t>
    </dgm:pt>
    <dgm:pt modelId="{5C5653AA-D232-4861-862F-4CAE8E6F3052}" type="pres">
      <dgm:prSet presAssocID="{99BF4384-EC2E-4A71-96A3-7B686936BFC4}" presName="root2" presStyleCnt="0"/>
      <dgm:spPr/>
    </dgm:pt>
    <dgm:pt modelId="{63DB5AD8-3674-470E-A66F-5DF5FE252062}" type="pres">
      <dgm:prSet presAssocID="{99BF4384-EC2E-4A71-96A3-7B686936BFC4}" presName="LevelTwoTextNode" presStyleLbl="node2" presStyleIdx="1" presStyleCnt="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6EEA845-C9D6-4E01-A81E-7D07CA664CE7}" type="pres">
      <dgm:prSet presAssocID="{99BF4384-EC2E-4A71-96A3-7B686936BFC4}" presName="level3hierChild" presStyleCnt="0"/>
      <dgm:spPr/>
    </dgm:pt>
    <dgm:pt modelId="{C2CDF49A-C693-4935-94EA-F2F8DC2F966B}" type="pres">
      <dgm:prSet presAssocID="{73F57B77-87F2-4222-8EB3-94089DAF9C49}" presName="conn2-1" presStyleLbl="parChTrans1D2" presStyleIdx="2" presStyleCnt="8"/>
      <dgm:spPr/>
      <dgm:t>
        <a:bodyPr/>
        <a:lstStyle/>
        <a:p>
          <a:endParaRPr lang="ru-RU"/>
        </a:p>
      </dgm:t>
    </dgm:pt>
    <dgm:pt modelId="{66831C1B-714D-414E-A9A7-2ACD49BCEDBB}" type="pres">
      <dgm:prSet presAssocID="{73F57B77-87F2-4222-8EB3-94089DAF9C49}" presName="connTx" presStyleLbl="parChTrans1D2" presStyleIdx="2" presStyleCnt="8"/>
      <dgm:spPr/>
      <dgm:t>
        <a:bodyPr/>
        <a:lstStyle/>
        <a:p>
          <a:endParaRPr lang="ru-RU"/>
        </a:p>
      </dgm:t>
    </dgm:pt>
    <dgm:pt modelId="{CFAA4EE3-92CB-4CD4-91DA-A14C80E4FD09}" type="pres">
      <dgm:prSet presAssocID="{ECBA59C1-8F3E-4236-BD22-0661847F1484}" presName="root2" presStyleCnt="0"/>
      <dgm:spPr/>
    </dgm:pt>
    <dgm:pt modelId="{7087F877-25CD-4532-ADF7-A24278532BCF}" type="pres">
      <dgm:prSet presAssocID="{ECBA59C1-8F3E-4236-BD22-0661847F1484}" presName="LevelTwoTextNode" presStyleLbl="node2" presStyleIdx="2" presStyleCnt="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7BD228B-10F7-45F8-B3B1-4846343D6F86}" type="pres">
      <dgm:prSet presAssocID="{ECBA59C1-8F3E-4236-BD22-0661847F1484}" presName="level3hierChild" presStyleCnt="0"/>
      <dgm:spPr/>
    </dgm:pt>
    <dgm:pt modelId="{A713E7C2-C9CA-4DDD-B8F7-F55DE8704EC4}" type="pres">
      <dgm:prSet presAssocID="{FAD3BDDA-22C3-4D00-BABC-7575325A1FC5}" presName="conn2-1" presStyleLbl="parChTrans1D2" presStyleIdx="3" presStyleCnt="8"/>
      <dgm:spPr/>
      <dgm:t>
        <a:bodyPr/>
        <a:lstStyle/>
        <a:p>
          <a:endParaRPr lang="ru-RU"/>
        </a:p>
      </dgm:t>
    </dgm:pt>
    <dgm:pt modelId="{1039FBBF-A808-4CEB-B5F2-1D43164DAF8B}" type="pres">
      <dgm:prSet presAssocID="{FAD3BDDA-22C3-4D00-BABC-7575325A1FC5}" presName="connTx" presStyleLbl="parChTrans1D2" presStyleIdx="3" presStyleCnt="8"/>
      <dgm:spPr/>
      <dgm:t>
        <a:bodyPr/>
        <a:lstStyle/>
        <a:p>
          <a:endParaRPr lang="ru-RU"/>
        </a:p>
      </dgm:t>
    </dgm:pt>
    <dgm:pt modelId="{E4344451-C1CD-4629-A422-8D71D9F8EDFE}" type="pres">
      <dgm:prSet presAssocID="{4C5F668F-0712-4AE3-81B1-A6B25DEB8A4F}" presName="root2" presStyleCnt="0"/>
      <dgm:spPr/>
    </dgm:pt>
    <dgm:pt modelId="{043370E8-1008-45C6-8CF8-7AC761D849D5}" type="pres">
      <dgm:prSet presAssocID="{4C5F668F-0712-4AE3-81B1-A6B25DEB8A4F}" presName="LevelTwoTextNode" presStyleLbl="node2" presStyleIdx="3" presStyleCnt="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FEC7747-7F04-4AA3-9E4C-D14942559E36}" type="pres">
      <dgm:prSet presAssocID="{4C5F668F-0712-4AE3-81B1-A6B25DEB8A4F}" presName="level3hierChild" presStyleCnt="0"/>
      <dgm:spPr/>
    </dgm:pt>
    <dgm:pt modelId="{85F4DAF2-27B8-4573-A1FC-76DC7C166C1F}" type="pres">
      <dgm:prSet presAssocID="{CC659645-9FBC-4288-B7A3-9F542DBF8790}" presName="conn2-1" presStyleLbl="parChTrans1D2" presStyleIdx="4" presStyleCnt="8"/>
      <dgm:spPr/>
      <dgm:t>
        <a:bodyPr/>
        <a:lstStyle/>
        <a:p>
          <a:endParaRPr lang="ru-RU"/>
        </a:p>
      </dgm:t>
    </dgm:pt>
    <dgm:pt modelId="{CD54C6C9-A6AE-49B3-B38E-6AED4D77D3A5}" type="pres">
      <dgm:prSet presAssocID="{CC659645-9FBC-4288-B7A3-9F542DBF8790}" presName="connTx" presStyleLbl="parChTrans1D2" presStyleIdx="4" presStyleCnt="8"/>
      <dgm:spPr/>
      <dgm:t>
        <a:bodyPr/>
        <a:lstStyle/>
        <a:p>
          <a:endParaRPr lang="ru-RU"/>
        </a:p>
      </dgm:t>
    </dgm:pt>
    <dgm:pt modelId="{4031F36D-3CAF-4906-9693-3887766F6CD4}" type="pres">
      <dgm:prSet presAssocID="{A0419A98-1D15-46E2-A030-DC0326FC1221}" presName="root2" presStyleCnt="0"/>
      <dgm:spPr/>
    </dgm:pt>
    <dgm:pt modelId="{15E5783A-5C58-4D42-BB9C-C017F0043C0D}" type="pres">
      <dgm:prSet presAssocID="{A0419A98-1D15-46E2-A030-DC0326FC1221}" presName="LevelTwoTextNode" presStyleLbl="node2" presStyleIdx="4" presStyleCnt="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CA13CA6-32A5-4204-80D2-3276FD491003}" type="pres">
      <dgm:prSet presAssocID="{A0419A98-1D15-46E2-A030-DC0326FC1221}" presName="level3hierChild" presStyleCnt="0"/>
      <dgm:spPr/>
    </dgm:pt>
    <dgm:pt modelId="{1595C97C-C25D-4DB8-9029-709CFB79380F}" type="pres">
      <dgm:prSet presAssocID="{E95DACD6-38B0-468C-A839-0F0D52E21088}" presName="conn2-1" presStyleLbl="parChTrans1D2" presStyleIdx="5" presStyleCnt="8"/>
      <dgm:spPr/>
      <dgm:t>
        <a:bodyPr/>
        <a:lstStyle/>
        <a:p>
          <a:endParaRPr lang="ru-RU"/>
        </a:p>
      </dgm:t>
    </dgm:pt>
    <dgm:pt modelId="{85B2F3F6-3471-4271-87CB-36FB88A7CAD0}" type="pres">
      <dgm:prSet presAssocID="{E95DACD6-38B0-468C-A839-0F0D52E21088}" presName="connTx" presStyleLbl="parChTrans1D2" presStyleIdx="5" presStyleCnt="8"/>
      <dgm:spPr/>
      <dgm:t>
        <a:bodyPr/>
        <a:lstStyle/>
        <a:p>
          <a:endParaRPr lang="ru-RU"/>
        </a:p>
      </dgm:t>
    </dgm:pt>
    <dgm:pt modelId="{11191168-847B-4C5B-832C-1EA6951076AF}" type="pres">
      <dgm:prSet presAssocID="{BA288C98-8E0F-4C84-8B4A-04E460EA9A48}" presName="root2" presStyleCnt="0"/>
      <dgm:spPr/>
    </dgm:pt>
    <dgm:pt modelId="{3E3DD988-B523-4634-959D-0983C035A5AC}" type="pres">
      <dgm:prSet presAssocID="{BA288C98-8E0F-4C84-8B4A-04E460EA9A48}" presName="LevelTwoTextNode" presStyleLbl="node2" presStyleIdx="5" presStyleCnt="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DB0D4BC-2293-42D6-9200-DF17DC71290D}" type="pres">
      <dgm:prSet presAssocID="{BA288C98-8E0F-4C84-8B4A-04E460EA9A48}" presName="level3hierChild" presStyleCnt="0"/>
      <dgm:spPr/>
    </dgm:pt>
    <dgm:pt modelId="{DD23785D-DE7C-46D0-88F1-5EACD1DFCA8B}" type="pres">
      <dgm:prSet presAssocID="{3908D7C8-718E-40D6-BC4B-0E1C296C2E2D}" presName="conn2-1" presStyleLbl="parChTrans1D2" presStyleIdx="6" presStyleCnt="8"/>
      <dgm:spPr/>
      <dgm:t>
        <a:bodyPr/>
        <a:lstStyle/>
        <a:p>
          <a:endParaRPr lang="ru-RU"/>
        </a:p>
      </dgm:t>
    </dgm:pt>
    <dgm:pt modelId="{5634AB60-9AEF-4F5C-8F78-565A8074B622}" type="pres">
      <dgm:prSet presAssocID="{3908D7C8-718E-40D6-BC4B-0E1C296C2E2D}" presName="connTx" presStyleLbl="parChTrans1D2" presStyleIdx="6" presStyleCnt="8"/>
      <dgm:spPr/>
      <dgm:t>
        <a:bodyPr/>
        <a:lstStyle/>
        <a:p>
          <a:endParaRPr lang="ru-RU"/>
        </a:p>
      </dgm:t>
    </dgm:pt>
    <dgm:pt modelId="{4897FA94-C377-40B3-AE4C-1E73F3342B8E}" type="pres">
      <dgm:prSet presAssocID="{D2425160-8322-4B93-9609-2E5721C3B599}" presName="root2" presStyleCnt="0"/>
      <dgm:spPr/>
    </dgm:pt>
    <dgm:pt modelId="{6438C074-20E0-462D-8D4F-B3D20DA44EBA}" type="pres">
      <dgm:prSet presAssocID="{D2425160-8322-4B93-9609-2E5721C3B599}" presName="LevelTwoTextNode" presStyleLbl="node2" presStyleIdx="6" presStyleCnt="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2A75498A-D657-49B8-B915-1D2737D2FDC0}" type="pres">
      <dgm:prSet presAssocID="{D2425160-8322-4B93-9609-2E5721C3B599}" presName="level3hierChild" presStyleCnt="0"/>
      <dgm:spPr/>
    </dgm:pt>
    <dgm:pt modelId="{B5576AC9-90AC-4E5C-855F-699914CCA372}" type="pres">
      <dgm:prSet presAssocID="{4FC49B12-7F76-45A1-9223-A1B8F4942878}" presName="conn2-1" presStyleLbl="parChTrans1D2" presStyleIdx="7" presStyleCnt="8"/>
      <dgm:spPr/>
      <dgm:t>
        <a:bodyPr/>
        <a:lstStyle/>
        <a:p>
          <a:endParaRPr lang="ru-RU"/>
        </a:p>
      </dgm:t>
    </dgm:pt>
    <dgm:pt modelId="{8BC5460D-823E-4A06-9852-BE88350F6228}" type="pres">
      <dgm:prSet presAssocID="{4FC49B12-7F76-45A1-9223-A1B8F4942878}" presName="connTx" presStyleLbl="parChTrans1D2" presStyleIdx="7" presStyleCnt="8"/>
      <dgm:spPr/>
      <dgm:t>
        <a:bodyPr/>
        <a:lstStyle/>
        <a:p>
          <a:endParaRPr lang="ru-RU"/>
        </a:p>
      </dgm:t>
    </dgm:pt>
    <dgm:pt modelId="{D144576D-9688-4A42-9665-23C58DFC27E3}" type="pres">
      <dgm:prSet presAssocID="{BA3261C8-A5A4-471F-BA12-31BDC2FA9D2C}" presName="root2" presStyleCnt="0"/>
      <dgm:spPr/>
    </dgm:pt>
    <dgm:pt modelId="{1AC45F6D-380F-474A-B9F7-F69153D51D59}" type="pres">
      <dgm:prSet presAssocID="{BA3261C8-A5A4-471F-BA12-31BDC2FA9D2C}" presName="LevelTwoTextNode" presStyleLbl="node2" presStyleIdx="7" presStyleCnt="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23C4B0D-2253-4DE1-BA55-004DC804A59C}" type="pres">
      <dgm:prSet presAssocID="{BA3261C8-A5A4-471F-BA12-31BDC2FA9D2C}" presName="level3hierChild" presStyleCnt="0"/>
      <dgm:spPr/>
    </dgm:pt>
  </dgm:ptLst>
  <dgm:cxnLst>
    <dgm:cxn modelId="{2A680D77-1611-4432-AAE9-FA5705EB72F4}" type="presOf" srcId="{4FC49B12-7F76-45A1-9223-A1B8F4942878}" destId="{8BC5460D-823E-4A06-9852-BE88350F6228}" srcOrd="1" destOrd="0" presId="urn:microsoft.com/office/officeart/2008/layout/HorizontalMultiLevelHierarchy"/>
    <dgm:cxn modelId="{E6C0E082-4FFE-45D6-9EFB-4D9F427E8C1B}" type="presOf" srcId="{4FC49B12-7F76-45A1-9223-A1B8F4942878}" destId="{B5576AC9-90AC-4E5C-855F-699914CCA372}" srcOrd="0" destOrd="0" presId="urn:microsoft.com/office/officeart/2008/layout/HorizontalMultiLevelHierarchy"/>
    <dgm:cxn modelId="{34FB1A9D-E9E3-4A9B-9000-F47E7C22671A}" type="presOf" srcId="{BA3261C8-A5A4-471F-BA12-31BDC2FA9D2C}" destId="{1AC45F6D-380F-474A-B9F7-F69153D51D59}" srcOrd="0" destOrd="0" presId="urn:microsoft.com/office/officeart/2008/layout/HorizontalMultiLevelHierarchy"/>
    <dgm:cxn modelId="{63296123-D5D5-40D5-AEEF-C96DAC0F807E}" type="presOf" srcId="{C0E78399-E86D-46A1-9B83-5B83C44153A3}" destId="{C9D4894C-6FB3-4114-8AC5-F1FF01B28D84}" srcOrd="0" destOrd="0" presId="urn:microsoft.com/office/officeart/2008/layout/HorizontalMultiLevelHierarchy"/>
    <dgm:cxn modelId="{B75AE869-CFF9-441C-9EDB-C1CA67D90355}" srcId="{79775F32-B202-464E-9640-1E6606F5941B}" destId="{6F68EDD6-95C9-4D8A-A289-072504FD9E0E}" srcOrd="0" destOrd="0" parTransId="{C0E78399-E86D-46A1-9B83-5B83C44153A3}" sibTransId="{E67584EF-81E3-4142-9596-FED347509B6E}"/>
    <dgm:cxn modelId="{5F01122E-9908-4870-B801-C5EF95F8C7E6}" srcId="{79775F32-B202-464E-9640-1E6606F5941B}" destId="{4C5F668F-0712-4AE3-81B1-A6B25DEB8A4F}" srcOrd="3" destOrd="0" parTransId="{FAD3BDDA-22C3-4D00-BABC-7575325A1FC5}" sibTransId="{6264AE26-1365-4D1B-9A0D-7EDA0C145ADC}"/>
    <dgm:cxn modelId="{57B8E3BB-F903-47C7-8154-AE9DE170E772}" type="presOf" srcId="{6F68EDD6-95C9-4D8A-A289-072504FD9E0E}" destId="{DAA58094-F7EC-499E-AC30-754574D8DBB3}" srcOrd="0" destOrd="0" presId="urn:microsoft.com/office/officeart/2008/layout/HorizontalMultiLevelHierarchy"/>
    <dgm:cxn modelId="{35F7E5FA-1F09-4C8A-8C8A-7F2E12EF0BD7}" srcId="{79775F32-B202-464E-9640-1E6606F5941B}" destId="{D2425160-8322-4B93-9609-2E5721C3B599}" srcOrd="6" destOrd="0" parTransId="{3908D7C8-718E-40D6-BC4B-0E1C296C2E2D}" sibTransId="{0433B77A-FB2C-4593-9EAD-A5D88A23DFD7}"/>
    <dgm:cxn modelId="{E05834CA-543E-41F3-B47B-F3F8C8A2C226}" type="presOf" srcId="{C929D1B3-70C1-402B-BB3B-5B0E6F78CDD9}" destId="{14398D2B-1493-405E-8E1F-B4B0B5DAFFF5}" srcOrd="0" destOrd="0" presId="urn:microsoft.com/office/officeart/2008/layout/HorizontalMultiLevelHierarchy"/>
    <dgm:cxn modelId="{88F1C0BE-F38C-4AED-B120-9669CF526C3E}" type="presOf" srcId="{3908D7C8-718E-40D6-BC4B-0E1C296C2E2D}" destId="{DD23785D-DE7C-46D0-88F1-5EACD1DFCA8B}" srcOrd="0" destOrd="0" presId="urn:microsoft.com/office/officeart/2008/layout/HorizontalMultiLevelHierarchy"/>
    <dgm:cxn modelId="{B6292CE6-AB4F-4FFE-BEA5-A0887B517FB8}" srcId="{78BBE936-5807-4294-9AC5-950CB5C59735}" destId="{79775F32-B202-464E-9640-1E6606F5941B}" srcOrd="0" destOrd="0" parTransId="{7287996F-F258-41E6-B37F-0FF50C61D6B4}" sibTransId="{6AF841A7-0EDD-45AD-B972-2FFD7D8E1281}"/>
    <dgm:cxn modelId="{9C5A7D1F-E2BA-4235-BEBD-03F3E4957E44}" srcId="{79775F32-B202-464E-9640-1E6606F5941B}" destId="{99BF4384-EC2E-4A71-96A3-7B686936BFC4}" srcOrd="1" destOrd="0" parTransId="{C929D1B3-70C1-402B-BB3B-5B0E6F78CDD9}" sibTransId="{9A653AFB-3DCE-44EA-A049-0A1CBE40E700}"/>
    <dgm:cxn modelId="{9FF26FB4-E3A8-448B-954E-0F3173F26A61}" srcId="{79775F32-B202-464E-9640-1E6606F5941B}" destId="{BA3261C8-A5A4-471F-BA12-31BDC2FA9D2C}" srcOrd="7" destOrd="0" parTransId="{4FC49B12-7F76-45A1-9223-A1B8F4942878}" sibTransId="{0C9E197E-2C10-4895-9A43-61EF0A570B1B}"/>
    <dgm:cxn modelId="{7DEBA19A-80BC-4805-A60E-997417B05299}" type="presOf" srcId="{BA288C98-8E0F-4C84-8B4A-04E460EA9A48}" destId="{3E3DD988-B523-4634-959D-0983C035A5AC}" srcOrd="0" destOrd="0" presId="urn:microsoft.com/office/officeart/2008/layout/HorizontalMultiLevelHierarchy"/>
    <dgm:cxn modelId="{3C6FAE23-B4C6-4820-95EE-6C4333E884CE}" type="presOf" srcId="{ECBA59C1-8F3E-4236-BD22-0661847F1484}" destId="{7087F877-25CD-4532-ADF7-A24278532BCF}" srcOrd="0" destOrd="0" presId="urn:microsoft.com/office/officeart/2008/layout/HorizontalMultiLevelHierarchy"/>
    <dgm:cxn modelId="{5661F469-B0F9-4F86-B1E3-F856C6B16C4C}" type="presOf" srcId="{4C5F668F-0712-4AE3-81B1-A6B25DEB8A4F}" destId="{043370E8-1008-45C6-8CF8-7AC761D849D5}" srcOrd="0" destOrd="0" presId="urn:microsoft.com/office/officeart/2008/layout/HorizontalMultiLevelHierarchy"/>
    <dgm:cxn modelId="{24BE48C7-216E-4C92-9585-0BCEA78549F5}" type="presOf" srcId="{FAD3BDDA-22C3-4D00-BABC-7575325A1FC5}" destId="{A713E7C2-C9CA-4DDD-B8F7-F55DE8704EC4}" srcOrd="0" destOrd="0" presId="urn:microsoft.com/office/officeart/2008/layout/HorizontalMultiLevelHierarchy"/>
    <dgm:cxn modelId="{F4F608F1-1F33-4199-A4AA-A38713E075ED}" type="presOf" srcId="{A0419A98-1D15-46E2-A030-DC0326FC1221}" destId="{15E5783A-5C58-4D42-BB9C-C017F0043C0D}" srcOrd="0" destOrd="0" presId="urn:microsoft.com/office/officeart/2008/layout/HorizontalMultiLevelHierarchy"/>
    <dgm:cxn modelId="{BD8A87A2-9920-4E1D-82F4-321E06CE5501}" type="presOf" srcId="{3908D7C8-718E-40D6-BC4B-0E1C296C2E2D}" destId="{5634AB60-9AEF-4F5C-8F78-565A8074B622}" srcOrd="1" destOrd="0" presId="urn:microsoft.com/office/officeart/2008/layout/HorizontalMultiLevelHierarchy"/>
    <dgm:cxn modelId="{567CC242-4838-42B3-8FAA-28ADD64DC2FE}" type="presOf" srcId="{D2425160-8322-4B93-9609-2E5721C3B599}" destId="{6438C074-20E0-462D-8D4F-B3D20DA44EBA}" srcOrd="0" destOrd="0" presId="urn:microsoft.com/office/officeart/2008/layout/HorizontalMultiLevelHierarchy"/>
    <dgm:cxn modelId="{6DB7F1DA-65B1-4E82-822E-A06928C6E0D2}" srcId="{79775F32-B202-464E-9640-1E6606F5941B}" destId="{ECBA59C1-8F3E-4236-BD22-0661847F1484}" srcOrd="2" destOrd="0" parTransId="{73F57B77-87F2-4222-8EB3-94089DAF9C49}" sibTransId="{123BB044-3D5D-4BF5-B862-EDDC20C7EE46}"/>
    <dgm:cxn modelId="{B9A71D54-D757-41A2-9040-2BC8B754A043}" srcId="{79775F32-B202-464E-9640-1E6606F5941B}" destId="{A0419A98-1D15-46E2-A030-DC0326FC1221}" srcOrd="4" destOrd="0" parTransId="{CC659645-9FBC-4288-B7A3-9F542DBF8790}" sibTransId="{8F6A227D-3D2C-40CC-A721-B919FAD87D8C}"/>
    <dgm:cxn modelId="{2171ABCF-692E-402C-90A9-26AAFB78432C}" type="presOf" srcId="{C0E78399-E86D-46A1-9B83-5B83C44153A3}" destId="{C389982F-225F-4D10-89E4-6B39B566CB74}" srcOrd="1" destOrd="0" presId="urn:microsoft.com/office/officeart/2008/layout/HorizontalMultiLevelHierarchy"/>
    <dgm:cxn modelId="{CD5F1773-8575-4872-B288-6A361730A03F}" type="presOf" srcId="{78BBE936-5807-4294-9AC5-950CB5C59735}" destId="{90936A2C-474A-40A0-8FB4-D09A9FD11BF3}" srcOrd="0" destOrd="0" presId="urn:microsoft.com/office/officeart/2008/layout/HorizontalMultiLevelHierarchy"/>
    <dgm:cxn modelId="{66AB6F6C-6662-46E0-9034-D71FE9EB2BD5}" type="presOf" srcId="{99BF4384-EC2E-4A71-96A3-7B686936BFC4}" destId="{63DB5AD8-3674-470E-A66F-5DF5FE252062}" srcOrd="0" destOrd="0" presId="urn:microsoft.com/office/officeart/2008/layout/HorizontalMultiLevelHierarchy"/>
    <dgm:cxn modelId="{C2136F0C-27C9-479A-9CE8-B0E1FA66E1FC}" type="presOf" srcId="{CC659645-9FBC-4288-B7A3-9F542DBF8790}" destId="{85F4DAF2-27B8-4573-A1FC-76DC7C166C1F}" srcOrd="0" destOrd="0" presId="urn:microsoft.com/office/officeart/2008/layout/HorizontalMultiLevelHierarchy"/>
    <dgm:cxn modelId="{E0C69348-7A55-4DD2-AAC4-8DFF68B0A9CC}" type="presOf" srcId="{E95DACD6-38B0-468C-A839-0F0D52E21088}" destId="{1595C97C-C25D-4DB8-9029-709CFB79380F}" srcOrd="0" destOrd="0" presId="urn:microsoft.com/office/officeart/2008/layout/HorizontalMultiLevelHierarchy"/>
    <dgm:cxn modelId="{F27E5541-CF15-4CE1-8EEF-959AED37F902}" type="presOf" srcId="{FAD3BDDA-22C3-4D00-BABC-7575325A1FC5}" destId="{1039FBBF-A808-4CEB-B5F2-1D43164DAF8B}" srcOrd="1" destOrd="0" presId="urn:microsoft.com/office/officeart/2008/layout/HorizontalMultiLevelHierarchy"/>
    <dgm:cxn modelId="{FAF0407C-2899-45AC-BFD4-EC94F1F78116}" srcId="{79775F32-B202-464E-9640-1E6606F5941B}" destId="{BA288C98-8E0F-4C84-8B4A-04E460EA9A48}" srcOrd="5" destOrd="0" parTransId="{E95DACD6-38B0-468C-A839-0F0D52E21088}" sibTransId="{C7A8D099-F91C-4A72-9B60-50FABFF457C0}"/>
    <dgm:cxn modelId="{9114BD88-898E-4E95-816F-8D67D12A098D}" type="presOf" srcId="{73F57B77-87F2-4222-8EB3-94089DAF9C49}" destId="{66831C1B-714D-414E-A9A7-2ACD49BCEDBB}" srcOrd="1" destOrd="0" presId="urn:microsoft.com/office/officeart/2008/layout/HorizontalMultiLevelHierarchy"/>
    <dgm:cxn modelId="{64EF0B88-CC15-4ECB-ABA1-AC707F689C2C}" type="presOf" srcId="{73F57B77-87F2-4222-8EB3-94089DAF9C49}" destId="{C2CDF49A-C693-4935-94EA-F2F8DC2F966B}" srcOrd="0" destOrd="0" presId="urn:microsoft.com/office/officeart/2008/layout/HorizontalMultiLevelHierarchy"/>
    <dgm:cxn modelId="{A7C48842-DF52-405E-A290-5CDF9613F9BD}" type="presOf" srcId="{CC659645-9FBC-4288-B7A3-9F542DBF8790}" destId="{CD54C6C9-A6AE-49B3-B38E-6AED4D77D3A5}" srcOrd="1" destOrd="0" presId="urn:microsoft.com/office/officeart/2008/layout/HorizontalMultiLevelHierarchy"/>
    <dgm:cxn modelId="{BF5A090C-EB3E-469A-B3E7-F605FB746E88}" type="presOf" srcId="{E95DACD6-38B0-468C-A839-0F0D52E21088}" destId="{85B2F3F6-3471-4271-87CB-36FB88A7CAD0}" srcOrd="1" destOrd="0" presId="urn:microsoft.com/office/officeart/2008/layout/HorizontalMultiLevelHierarchy"/>
    <dgm:cxn modelId="{48BD1E4D-6386-41A6-8B63-36CD062DBD0D}" type="presOf" srcId="{79775F32-B202-464E-9640-1E6606F5941B}" destId="{CCF6EFD0-12E8-4C3E-9D70-2524CE83D9E9}" srcOrd="0" destOrd="0" presId="urn:microsoft.com/office/officeart/2008/layout/HorizontalMultiLevelHierarchy"/>
    <dgm:cxn modelId="{36421B75-DD36-467A-9B88-B3569ECC126A}" type="presOf" srcId="{C929D1B3-70C1-402B-BB3B-5B0E6F78CDD9}" destId="{2505148E-9352-4460-A0FB-A7DD97473071}" srcOrd="1" destOrd="0" presId="urn:microsoft.com/office/officeart/2008/layout/HorizontalMultiLevelHierarchy"/>
    <dgm:cxn modelId="{3E5EEB8B-B03A-40EA-97F2-35F83237EEB5}" type="presParOf" srcId="{90936A2C-474A-40A0-8FB4-D09A9FD11BF3}" destId="{C5A99A2E-09BC-4106-9D5D-F4645423404B}" srcOrd="0" destOrd="0" presId="urn:microsoft.com/office/officeart/2008/layout/HorizontalMultiLevelHierarchy"/>
    <dgm:cxn modelId="{E0526C6F-A95A-460F-88A6-A128BC787E66}" type="presParOf" srcId="{C5A99A2E-09BC-4106-9D5D-F4645423404B}" destId="{CCF6EFD0-12E8-4C3E-9D70-2524CE83D9E9}" srcOrd="0" destOrd="0" presId="urn:microsoft.com/office/officeart/2008/layout/HorizontalMultiLevelHierarchy"/>
    <dgm:cxn modelId="{43E4CD28-41BD-41DE-8642-6643E4D3C3E3}" type="presParOf" srcId="{C5A99A2E-09BC-4106-9D5D-F4645423404B}" destId="{5A7679E5-E590-4C82-B793-08FD95695284}" srcOrd="1" destOrd="0" presId="urn:microsoft.com/office/officeart/2008/layout/HorizontalMultiLevelHierarchy"/>
    <dgm:cxn modelId="{357E07EB-8EBA-4932-A501-039DFA3AA68B}" type="presParOf" srcId="{5A7679E5-E590-4C82-B793-08FD95695284}" destId="{C9D4894C-6FB3-4114-8AC5-F1FF01B28D84}" srcOrd="0" destOrd="0" presId="urn:microsoft.com/office/officeart/2008/layout/HorizontalMultiLevelHierarchy"/>
    <dgm:cxn modelId="{7BEC8E1B-D05C-4AA4-A4CC-1B91A9327AD1}" type="presParOf" srcId="{C9D4894C-6FB3-4114-8AC5-F1FF01B28D84}" destId="{C389982F-225F-4D10-89E4-6B39B566CB74}" srcOrd="0" destOrd="0" presId="urn:microsoft.com/office/officeart/2008/layout/HorizontalMultiLevelHierarchy"/>
    <dgm:cxn modelId="{E44A5323-786D-4C7B-8E4A-2357D6CB73C7}" type="presParOf" srcId="{5A7679E5-E590-4C82-B793-08FD95695284}" destId="{A8C18908-09D4-46B9-A95F-100CFBB337E1}" srcOrd="1" destOrd="0" presId="urn:microsoft.com/office/officeart/2008/layout/HorizontalMultiLevelHierarchy"/>
    <dgm:cxn modelId="{C9FFE9DA-23C8-49EA-A923-8ECC47A32AE8}" type="presParOf" srcId="{A8C18908-09D4-46B9-A95F-100CFBB337E1}" destId="{DAA58094-F7EC-499E-AC30-754574D8DBB3}" srcOrd="0" destOrd="0" presId="urn:microsoft.com/office/officeart/2008/layout/HorizontalMultiLevelHierarchy"/>
    <dgm:cxn modelId="{7144C9C3-E488-45E7-AACF-B49E7624F121}" type="presParOf" srcId="{A8C18908-09D4-46B9-A95F-100CFBB337E1}" destId="{5357D9EC-CDE8-4CA5-A06B-3A08F6B52F76}" srcOrd="1" destOrd="0" presId="urn:microsoft.com/office/officeart/2008/layout/HorizontalMultiLevelHierarchy"/>
    <dgm:cxn modelId="{732630F6-4AE9-44C0-8A28-2F3281D6B361}" type="presParOf" srcId="{5A7679E5-E590-4C82-B793-08FD95695284}" destId="{14398D2B-1493-405E-8E1F-B4B0B5DAFFF5}" srcOrd="2" destOrd="0" presId="urn:microsoft.com/office/officeart/2008/layout/HorizontalMultiLevelHierarchy"/>
    <dgm:cxn modelId="{D98F1325-F854-4AEC-9624-45562218C34E}" type="presParOf" srcId="{14398D2B-1493-405E-8E1F-B4B0B5DAFFF5}" destId="{2505148E-9352-4460-A0FB-A7DD97473071}" srcOrd="0" destOrd="0" presId="urn:microsoft.com/office/officeart/2008/layout/HorizontalMultiLevelHierarchy"/>
    <dgm:cxn modelId="{8CBE809B-3DF5-49AE-9A6F-808BB29CF8A1}" type="presParOf" srcId="{5A7679E5-E590-4C82-B793-08FD95695284}" destId="{5C5653AA-D232-4861-862F-4CAE8E6F3052}" srcOrd="3" destOrd="0" presId="urn:microsoft.com/office/officeart/2008/layout/HorizontalMultiLevelHierarchy"/>
    <dgm:cxn modelId="{3DBF673F-2A4F-4959-A8DD-A58CE474F21E}" type="presParOf" srcId="{5C5653AA-D232-4861-862F-4CAE8E6F3052}" destId="{63DB5AD8-3674-470E-A66F-5DF5FE252062}" srcOrd="0" destOrd="0" presId="urn:microsoft.com/office/officeart/2008/layout/HorizontalMultiLevelHierarchy"/>
    <dgm:cxn modelId="{5324577C-9CEF-4BE3-86A1-2D1D551BC701}" type="presParOf" srcId="{5C5653AA-D232-4861-862F-4CAE8E6F3052}" destId="{B6EEA845-C9D6-4E01-A81E-7D07CA664CE7}" srcOrd="1" destOrd="0" presId="urn:microsoft.com/office/officeart/2008/layout/HorizontalMultiLevelHierarchy"/>
    <dgm:cxn modelId="{AB89ECFF-0E14-4497-8375-85282D65996F}" type="presParOf" srcId="{5A7679E5-E590-4C82-B793-08FD95695284}" destId="{C2CDF49A-C693-4935-94EA-F2F8DC2F966B}" srcOrd="4" destOrd="0" presId="urn:microsoft.com/office/officeart/2008/layout/HorizontalMultiLevelHierarchy"/>
    <dgm:cxn modelId="{00518298-37C0-4DEE-93DF-EE9A7A49759F}" type="presParOf" srcId="{C2CDF49A-C693-4935-94EA-F2F8DC2F966B}" destId="{66831C1B-714D-414E-A9A7-2ACD49BCEDBB}" srcOrd="0" destOrd="0" presId="urn:microsoft.com/office/officeart/2008/layout/HorizontalMultiLevelHierarchy"/>
    <dgm:cxn modelId="{2EAD3C1E-2EDB-41C2-9EA2-AC2A2568EBA6}" type="presParOf" srcId="{5A7679E5-E590-4C82-B793-08FD95695284}" destId="{CFAA4EE3-92CB-4CD4-91DA-A14C80E4FD09}" srcOrd="5" destOrd="0" presId="urn:microsoft.com/office/officeart/2008/layout/HorizontalMultiLevelHierarchy"/>
    <dgm:cxn modelId="{012856B3-96D2-4393-9BDB-C7EDCE10C470}" type="presParOf" srcId="{CFAA4EE3-92CB-4CD4-91DA-A14C80E4FD09}" destId="{7087F877-25CD-4532-ADF7-A24278532BCF}" srcOrd="0" destOrd="0" presId="urn:microsoft.com/office/officeart/2008/layout/HorizontalMultiLevelHierarchy"/>
    <dgm:cxn modelId="{5A7DAB45-7183-4971-B743-9ED2419E668B}" type="presParOf" srcId="{CFAA4EE3-92CB-4CD4-91DA-A14C80E4FD09}" destId="{37BD228B-10F7-45F8-B3B1-4846343D6F86}" srcOrd="1" destOrd="0" presId="urn:microsoft.com/office/officeart/2008/layout/HorizontalMultiLevelHierarchy"/>
    <dgm:cxn modelId="{754D55C5-BBBD-4F28-A871-B1F8E4ED6513}" type="presParOf" srcId="{5A7679E5-E590-4C82-B793-08FD95695284}" destId="{A713E7C2-C9CA-4DDD-B8F7-F55DE8704EC4}" srcOrd="6" destOrd="0" presId="urn:microsoft.com/office/officeart/2008/layout/HorizontalMultiLevelHierarchy"/>
    <dgm:cxn modelId="{9C23911F-4699-4CFC-903A-0B3631AE9A6C}" type="presParOf" srcId="{A713E7C2-C9CA-4DDD-B8F7-F55DE8704EC4}" destId="{1039FBBF-A808-4CEB-B5F2-1D43164DAF8B}" srcOrd="0" destOrd="0" presId="urn:microsoft.com/office/officeart/2008/layout/HorizontalMultiLevelHierarchy"/>
    <dgm:cxn modelId="{2AAF4134-689E-4835-BCC2-69C3328D283E}" type="presParOf" srcId="{5A7679E5-E590-4C82-B793-08FD95695284}" destId="{E4344451-C1CD-4629-A422-8D71D9F8EDFE}" srcOrd="7" destOrd="0" presId="urn:microsoft.com/office/officeart/2008/layout/HorizontalMultiLevelHierarchy"/>
    <dgm:cxn modelId="{6A10C629-1932-4471-8E48-ADD41BB3630C}" type="presParOf" srcId="{E4344451-C1CD-4629-A422-8D71D9F8EDFE}" destId="{043370E8-1008-45C6-8CF8-7AC761D849D5}" srcOrd="0" destOrd="0" presId="urn:microsoft.com/office/officeart/2008/layout/HorizontalMultiLevelHierarchy"/>
    <dgm:cxn modelId="{F8E65C0F-7920-4EDC-8628-3575FE7C4FE2}" type="presParOf" srcId="{E4344451-C1CD-4629-A422-8D71D9F8EDFE}" destId="{8FEC7747-7F04-4AA3-9E4C-D14942559E36}" srcOrd="1" destOrd="0" presId="urn:microsoft.com/office/officeart/2008/layout/HorizontalMultiLevelHierarchy"/>
    <dgm:cxn modelId="{0000C4EA-FFCC-4345-90F7-EB2C16ACC8F7}" type="presParOf" srcId="{5A7679E5-E590-4C82-B793-08FD95695284}" destId="{85F4DAF2-27B8-4573-A1FC-76DC7C166C1F}" srcOrd="8" destOrd="0" presId="urn:microsoft.com/office/officeart/2008/layout/HorizontalMultiLevelHierarchy"/>
    <dgm:cxn modelId="{CE4050AA-0BC1-4A6C-B205-83D09CBF7B22}" type="presParOf" srcId="{85F4DAF2-27B8-4573-A1FC-76DC7C166C1F}" destId="{CD54C6C9-A6AE-49B3-B38E-6AED4D77D3A5}" srcOrd="0" destOrd="0" presId="urn:microsoft.com/office/officeart/2008/layout/HorizontalMultiLevelHierarchy"/>
    <dgm:cxn modelId="{CF12AE05-F46B-47D4-B18C-9B3D84FC7371}" type="presParOf" srcId="{5A7679E5-E590-4C82-B793-08FD95695284}" destId="{4031F36D-3CAF-4906-9693-3887766F6CD4}" srcOrd="9" destOrd="0" presId="urn:microsoft.com/office/officeart/2008/layout/HorizontalMultiLevelHierarchy"/>
    <dgm:cxn modelId="{363741FE-E1BB-405F-BC64-2CD3863B885C}" type="presParOf" srcId="{4031F36D-3CAF-4906-9693-3887766F6CD4}" destId="{15E5783A-5C58-4D42-BB9C-C017F0043C0D}" srcOrd="0" destOrd="0" presId="urn:microsoft.com/office/officeart/2008/layout/HorizontalMultiLevelHierarchy"/>
    <dgm:cxn modelId="{54D0D9EB-920B-4FC6-8D30-B6A76CA2BD31}" type="presParOf" srcId="{4031F36D-3CAF-4906-9693-3887766F6CD4}" destId="{CCA13CA6-32A5-4204-80D2-3276FD491003}" srcOrd="1" destOrd="0" presId="urn:microsoft.com/office/officeart/2008/layout/HorizontalMultiLevelHierarchy"/>
    <dgm:cxn modelId="{CAF40D7B-75A9-4377-BBFE-8983DE61458D}" type="presParOf" srcId="{5A7679E5-E590-4C82-B793-08FD95695284}" destId="{1595C97C-C25D-4DB8-9029-709CFB79380F}" srcOrd="10" destOrd="0" presId="urn:microsoft.com/office/officeart/2008/layout/HorizontalMultiLevelHierarchy"/>
    <dgm:cxn modelId="{5878F83A-6BEB-4022-BE50-BEC0E2ED32CC}" type="presParOf" srcId="{1595C97C-C25D-4DB8-9029-709CFB79380F}" destId="{85B2F3F6-3471-4271-87CB-36FB88A7CAD0}" srcOrd="0" destOrd="0" presId="urn:microsoft.com/office/officeart/2008/layout/HorizontalMultiLevelHierarchy"/>
    <dgm:cxn modelId="{FA04AB6A-31E7-401A-A28E-689967BDC4E3}" type="presParOf" srcId="{5A7679E5-E590-4C82-B793-08FD95695284}" destId="{11191168-847B-4C5B-832C-1EA6951076AF}" srcOrd="11" destOrd="0" presId="urn:microsoft.com/office/officeart/2008/layout/HorizontalMultiLevelHierarchy"/>
    <dgm:cxn modelId="{40FB402B-B147-4ADA-8F12-8993D096E5F1}" type="presParOf" srcId="{11191168-847B-4C5B-832C-1EA6951076AF}" destId="{3E3DD988-B523-4634-959D-0983C035A5AC}" srcOrd="0" destOrd="0" presId="urn:microsoft.com/office/officeart/2008/layout/HorizontalMultiLevelHierarchy"/>
    <dgm:cxn modelId="{6AB5EF32-0CB2-40AA-A00A-E38C7EEB8E04}" type="presParOf" srcId="{11191168-847B-4C5B-832C-1EA6951076AF}" destId="{9DB0D4BC-2293-42D6-9200-DF17DC71290D}" srcOrd="1" destOrd="0" presId="urn:microsoft.com/office/officeart/2008/layout/HorizontalMultiLevelHierarchy"/>
    <dgm:cxn modelId="{E18ABF64-41AB-483C-B4CD-19153E87EA22}" type="presParOf" srcId="{5A7679E5-E590-4C82-B793-08FD95695284}" destId="{DD23785D-DE7C-46D0-88F1-5EACD1DFCA8B}" srcOrd="12" destOrd="0" presId="urn:microsoft.com/office/officeart/2008/layout/HorizontalMultiLevelHierarchy"/>
    <dgm:cxn modelId="{5EB55E80-D342-45F3-8D19-62B3ECF47687}" type="presParOf" srcId="{DD23785D-DE7C-46D0-88F1-5EACD1DFCA8B}" destId="{5634AB60-9AEF-4F5C-8F78-565A8074B622}" srcOrd="0" destOrd="0" presId="urn:microsoft.com/office/officeart/2008/layout/HorizontalMultiLevelHierarchy"/>
    <dgm:cxn modelId="{1AC4AE39-C44C-4538-B946-B15FF22BF101}" type="presParOf" srcId="{5A7679E5-E590-4C82-B793-08FD95695284}" destId="{4897FA94-C377-40B3-AE4C-1E73F3342B8E}" srcOrd="13" destOrd="0" presId="urn:microsoft.com/office/officeart/2008/layout/HorizontalMultiLevelHierarchy"/>
    <dgm:cxn modelId="{6A22E552-0DAA-4FAC-A6CE-19784CD575AE}" type="presParOf" srcId="{4897FA94-C377-40B3-AE4C-1E73F3342B8E}" destId="{6438C074-20E0-462D-8D4F-B3D20DA44EBA}" srcOrd="0" destOrd="0" presId="urn:microsoft.com/office/officeart/2008/layout/HorizontalMultiLevelHierarchy"/>
    <dgm:cxn modelId="{1430D7B2-686F-4DCE-B074-A50137D7F620}" type="presParOf" srcId="{4897FA94-C377-40B3-AE4C-1E73F3342B8E}" destId="{2A75498A-D657-49B8-B915-1D2737D2FDC0}" srcOrd="1" destOrd="0" presId="urn:microsoft.com/office/officeart/2008/layout/HorizontalMultiLevelHierarchy"/>
    <dgm:cxn modelId="{7FC3C8C0-09FC-4C0B-A16A-C609AF9DE3A4}" type="presParOf" srcId="{5A7679E5-E590-4C82-B793-08FD95695284}" destId="{B5576AC9-90AC-4E5C-855F-699914CCA372}" srcOrd="14" destOrd="0" presId="urn:microsoft.com/office/officeart/2008/layout/HorizontalMultiLevelHierarchy"/>
    <dgm:cxn modelId="{25BE87A0-E398-4764-A159-4381B4584419}" type="presParOf" srcId="{B5576AC9-90AC-4E5C-855F-699914CCA372}" destId="{8BC5460D-823E-4A06-9852-BE88350F6228}" srcOrd="0" destOrd="0" presId="urn:microsoft.com/office/officeart/2008/layout/HorizontalMultiLevelHierarchy"/>
    <dgm:cxn modelId="{18FC22B1-54F3-44A9-9697-232ED6156152}" type="presParOf" srcId="{5A7679E5-E590-4C82-B793-08FD95695284}" destId="{D144576D-9688-4A42-9665-23C58DFC27E3}" srcOrd="15" destOrd="0" presId="urn:microsoft.com/office/officeart/2008/layout/HorizontalMultiLevelHierarchy"/>
    <dgm:cxn modelId="{4ECE67F7-E404-4917-B1BC-343D8CA4359A}" type="presParOf" srcId="{D144576D-9688-4A42-9665-23C58DFC27E3}" destId="{1AC45F6D-380F-474A-B9F7-F69153D51D59}" srcOrd="0" destOrd="0" presId="urn:microsoft.com/office/officeart/2008/layout/HorizontalMultiLevelHierarchy"/>
    <dgm:cxn modelId="{0D02C605-7F6F-4A77-9CB7-B16E3C370868}" type="presParOf" srcId="{D144576D-9688-4A42-9665-23C58DFC27E3}" destId="{B23C4B0D-2253-4DE1-BA55-004DC804A59C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255125-01D6-4BC8-AE19-D6CEA2262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A5F47D-0AE9-4645-A2FB-95DF5B7FA856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860C14D-B1F6-4FB8-88BF-3F0A754FA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77F637-0BFF-47EC-AD49-6AF878A4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4290D-C363-44EC-8234-DF4991D2D9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932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43B918F-B211-4FBB-820B-967FE3C7C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5C937-8CAD-4238-86DA-FCB6040950A9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AC3DD0-0415-40DE-B7A0-13D4273B3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AF94BFD-CC95-48BA-8DF1-9BB6AECE7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FD8BF-AC86-4194-B38B-431B559D40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93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9CB1393-C0FB-40EE-9F04-7DE5E4C24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83337-78CF-4673-89D0-62D43681652A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3CC91F-3AEE-491C-BEA1-D2EEE6BB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6B0B032-1672-4A5A-8423-72AFB1BC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1109A0-E6C9-430A-8AC6-832B8AA80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044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C75FDAF7-09DC-4355-9C47-A438DFE9B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C4F81-DF8E-4FC6-9131-7B4BD355F25D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C2453D2A-8A28-47CD-BA03-9973C4210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FA72B38F-54C2-41BA-9590-1820E301A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AA9941-250E-428D-B3E7-FF77007E7F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5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BE71C539-1326-4CB4-B568-F7C54D42A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CED2B-1001-4DF8-A9BD-F8304691B1E1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31953D0C-8623-46CE-8B3C-CD39F98C9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BB5AE325-A333-4855-8262-B90C9EA8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35AC0-75F7-4F45-A39E-30070419BE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284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0B189D12-ED57-4A3F-8837-370E07B22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927705-9667-421D-8386-E41A3CAB51F5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362E95BE-54FB-45BE-8485-CF895C68D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AD0F4552-2354-4D76-A448-FA6E2202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B79704-D431-4450-9144-A9E38B4C74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88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4E19FDCC-F2FA-442A-B514-2EFBD928C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602714-0442-41B5-98B4-EED66DFFAE6E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6A4CD77D-E5DE-4537-A92A-3E59DFF8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893030A1-5A9C-44CF-BF43-4ACB3E93B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FBE80-6346-4A95-A6A1-F94F380610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16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459C8C47-C2E7-45DA-9D82-346F23A45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18474-566A-49B5-BB94-6C0267045B56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EC29CED6-75FF-411C-AB8A-D81F76435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BB90AB13-6D64-4DD3-9655-B2B16D41D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8321A-D95C-448F-AC7B-0B386A81F8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231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7E02AFE9-F84A-43F9-B7E7-B3A9A4405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CAACB6-31D6-4A0D-8C95-F75B1026068C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3A4185EE-EA9A-4C9C-B084-9C488A2F9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58981919-DFB4-422A-B681-A43C4C814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A85ECC-9351-4244-B97D-D25C91EFA7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81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B3FE5F-6CC6-4F4E-8164-2094F2F3F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A1F0CA-978E-4DF7-AF5A-BC5297801537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AF56D3-3C08-443E-B4AF-544D7F16B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2C64FBE-F6C1-4FC6-B225-D1168621B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BEC441-7204-4261-8AC4-EA5177F06C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245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8699531-DD28-465C-85D5-5A15B4D7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8BA2E-45D5-44F9-B981-F8D0BBC1384E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F4B44B5-E9C5-4428-A7C8-339EB0C7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DB904DA-4DE5-4E4D-9A32-8EF9DFBF6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7F6BE-2093-402B-B48D-284915BAC5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22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xmlns="" id="{6F284BF5-D3EE-4CB3-994D-8ED87BD73F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67886B35-CFE2-42AC-B0D9-6DB97232E0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/>
              <a:t>Click to edit Master text styles</a:t>
            </a:r>
          </a:p>
          <a:p>
            <a:pPr lvl="1"/>
            <a:r>
              <a:rPr lang="en-US" altLang="ru-RU"/>
              <a:t>Second level</a:t>
            </a:r>
          </a:p>
          <a:p>
            <a:pPr lvl="2"/>
            <a:r>
              <a:rPr lang="en-US" altLang="ru-RU"/>
              <a:t>Third level</a:t>
            </a:r>
          </a:p>
          <a:p>
            <a:pPr lvl="3"/>
            <a:r>
              <a:rPr lang="en-US" altLang="ru-RU"/>
              <a:t>Fourth level</a:t>
            </a:r>
          </a:p>
          <a:p>
            <a:pPr lvl="4"/>
            <a:r>
              <a:rPr lang="en-US" altLang="ru-RU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B21957-4125-43F4-B1C2-3E7B42F7C0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68C68CA-9907-49DC-969A-3751EFE924B8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C9EB7D2-65B6-47FE-923F-313E6C942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5E35FB-8B7C-4C6A-BF50-9D3771163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336995F-EEA3-479C-AD62-967777BFA3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17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0.png"/><Relationship Id="rId3" Type="http://schemas.openxmlformats.org/officeDocument/2006/relationships/image" Target="../media/image8.sv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14.svg"/><Relationship Id="rId4" Type="http://schemas.openxmlformats.org/officeDocument/2006/relationships/chart" Target="../charts/chart1.xml"/><Relationship Id="rId9" Type="http://schemas.openxmlformats.org/officeDocument/2006/relationships/image" Target="../media/image8.png"/><Relationship Id="rId1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8.svg"/><Relationship Id="rId18" Type="http://schemas.openxmlformats.org/officeDocument/2006/relationships/image" Target="../media/image19.png"/><Relationship Id="rId26" Type="http://schemas.openxmlformats.org/officeDocument/2006/relationships/image" Target="../media/image23.png"/><Relationship Id="rId3" Type="http://schemas.openxmlformats.org/officeDocument/2006/relationships/image" Target="../media/image18.svg"/><Relationship Id="rId21" Type="http://schemas.microsoft.com/office/2007/relationships/hdphoto" Target="../media/hdphoto4.wdp"/><Relationship Id="rId34" Type="http://schemas.openxmlformats.org/officeDocument/2006/relationships/image" Target="../media/image27.png"/><Relationship Id="rId7" Type="http://schemas.openxmlformats.org/officeDocument/2006/relationships/image" Target="../media/image22.svg"/><Relationship Id="rId12" Type="http://schemas.openxmlformats.org/officeDocument/2006/relationships/image" Target="../media/image16.png"/><Relationship Id="rId17" Type="http://schemas.openxmlformats.org/officeDocument/2006/relationships/image" Target="../media/image32.svg"/><Relationship Id="rId25" Type="http://schemas.openxmlformats.org/officeDocument/2006/relationships/image" Target="../media/image38.svg"/><Relationship Id="rId33" Type="http://schemas.openxmlformats.org/officeDocument/2006/relationships/image" Target="../media/image46.svg"/><Relationship Id="rId2" Type="http://schemas.openxmlformats.org/officeDocument/2006/relationships/image" Target="../media/image11.png"/><Relationship Id="rId16" Type="http://schemas.openxmlformats.org/officeDocument/2006/relationships/image" Target="../media/image18.png"/><Relationship Id="rId20" Type="http://schemas.openxmlformats.org/officeDocument/2006/relationships/image" Target="../media/image20.png"/><Relationship Id="rId29" Type="http://schemas.openxmlformats.org/officeDocument/2006/relationships/image" Target="../media/image4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6.svg"/><Relationship Id="rId24" Type="http://schemas.openxmlformats.org/officeDocument/2006/relationships/image" Target="../media/image22.png"/><Relationship Id="rId32" Type="http://schemas.openxmlformats.org/officeDocument/2006/relationships/image" Target="../media/image26.png"/><Relationship Id="rId37" Type="http://schemas.openxmlformats.org/officeDocument/2006/relationships/image" Target="../media/image50.svg"/><Relationship Id="rId5" Type="http://schemas.openxmlformats.org/officeDocument/2006/relationships/image" Target="../media/image20.svg"/><Relationship Id="rId15" Type="http://schemas.openxmlformats.org/officeDocument/2006/relationships/image" Target="../media/image30.svg"/><Relationship Id="rId23" Type="http://schemas.openxmlformats.org/officeDocument/2006/relationships/image" Target="../media/image36.svg"/><Relationship Id="rId28" Type="http://schemas.openxmlformats.org/officeDocument/2006/relationships/image" Target="../media/image24.png"/><Relationship Id="rId36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microsoft.com/office/2007/relationships/hdphoto" Target="../media/hdphoto3.wdp"/><Relationship Id="rId31" Type="http://schemas.openxmlformats.org/officeDocument/2006/relationships/image" Target="../media/image44.svg"/><Relationship Id="rId4" Type="http://schemas.openxmlformats.org/officeDocument/2006/relationships/image" Target="../media/image12.png"/><Relationship Id="rId9" Type="http://schemas.openxmlformats.org/officeDocument/2006/relationships/image" Target="../media/image24.svg"/><Relationship Id="rId14" Type="http://schemas.openxmlformats.org/officeDocument/2006/relationships/image" Target="../media/image17.png"/><Relationship Id="rId22" Type="http://schemas.openxmlformats.org/officeDocument/2006/relationships/image" Target="../media/image21.png"/><Relationship Id="rId27" Type="http://schemas.openxmlformats.org/officeDocument/2006/relationships/image" Target="../media/image40.svg"/><Relationship Id="rId30" Type="http://schemas.openxmlformats.org/officeDocument/2006/relationships/image" Target="../media/image25.png"/><Relationship Id="rId35" Type="http://schemas.openxmlformats.org/officeDocument/2006/relationships/image" Target="../media/image4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jpeg"/><Relationship Id="rId17" Type="http://schemas.openxmlformats.org/officeDocument/2006/relationships/image" Target="../media/image44.jpeg"/><Relationship Id="rId2" Type="http://schemas.openxmlformats.org/officeDocument/2006/relationships/image" Target="../media/image29.png"/><Relationship Id="rId16" Type="http://schemas.openxmlformats.org/officeDocument/2006/relationships/image" Target="../media/image43.jpe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3.png"/><Relationship Id="rId11" Type="http://schemas.openxmlformats.org/officeDocument/2006/relationships/image" Target="../media/image38.jpeg"/><Relationship Id="rId24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42.jpeg"/><Relationship Id="rId23" Type="http://schemas.openxmlformats.org/officeDocument/2006/relationships/image" Target="../media/image50.png"/><Relationship Id="rId10" Type="http://schemas.openxmlformats.org/officeDocument/2006/relationships/image" Target="../media/image37.jpe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jpeg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0.svg"/><Relationship Id="rId7" Type="http://schemas.openxmlformats.org/officeDocument/2006/relationships/diagramColors" Target="../diagrams/colors1.xml"/><Relationship Id="rId12" Type="http://schemas.openxmlformats.org/officeDocument/2006/relationships/chart" Target="../charts/chart6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chart" Target="../charts/chart5.xml"/><Relationship Id="rId5" Type="http://schemas.openxmlformats.org/officeDocument/2006/relationships/diagramLayout" Target="../diagrams/layout1.xml"/><Relationship Id="rId10" Type="http://schemas.openxmlformats.org/officeDocument/2006/relationships/chart" Target="../charts/chart4.xml"/><Relationship Id="rId4" Type="http://schemas.openxmlformats.org/officeDocument/2006/relationships/diagramData" Target="../diagrams/data1.xml"/><Relationship Id="rId9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82.svg"/><Relationship Id="rId7" Type="http://schemas.openxmlformats.org/officeDocument/2006/relationships/image" Target="../media/image6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chart" Target="../charts/chart8.xml"/><Relationship Id="rId10" Type="http://schemas.openxmlformats.org/officeDocument/2006/relationships/image" Target="../media/image63.jpeg"/><Relationship Id="rId4" Type="http://schemas.openxmlformats.org/officeDocument/2006/relationships/chart" Target="../charts/chart7.xml"/><Relationship Id="rId9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1780579" y="4542985"/>
            <a:ext cx="11182082" cy="1929323"/>
            <a:chOff x="0" y="0"/>
            <a:chExt cx="3149472" cy="5081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49472" cy="508135"/>
            </a:xfrm>
            <a:custGeom>
              <a:avLst/>
              <a:gdLst/>
              <a:ahLst/>
              <a:cxnLst/>
              <a:rect l="l" t="t" r="r" b="b"/>
              <a:pathLst>
                <a:path w="3149472" h="508135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208957" y="-1011147"/>
            <a:ext cx="2647750" cy="2647750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380940" y="649592"/>
            <a:ext cx="7516996" cy="8987817"/>
            <a:chOff x="0" y="0"/>
            <a:chExt cx="8603361" cy="10286746"/>
          </a:xfr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7" name="Freeform 7"/>
            <p:cNvSpPr/>
            <p:nvPr/>
          </p:nvSpPr>
          <p:spPr>
            <a:xfrm>
              <a:off x="-2794" y="-128"/>
              <a:ext cx="8606155" cy="10286874"/>
            </a:xfrm>
            <a:custGeom>
              <a:avLst/>
              <a:gdLst/>
              <a:ahLst/>
              <a:cxnLst/>
              <a:rect l="l" t="t" r="r" b="b"/>
              <a:pathLst>
                <a:path w="8606155" h="10286874">
                  <a:moveTo>
                    <a:pt x="8606155" y="10251441"/>
                  </a:moveTo>
                  <a:cubicBezTo>
                    <a:pt x="8606155" y="10284588"/>
                    <a:pt x="8595487" y="10286874"/>
                    <a:pt x="8567674" y="10286874"/>
                  </a:cubicBezTo>
                  <a:cubicBezTo>
                    <a:pt x="5713094" y="10286239"/>
                    <a:pt x="2858643" y="10286239"/>
                    <a:pt x="4064" y="10286239"/>
                  </a:cubicBezTo>
                  <a:cubicBezTo>
                    <a:pt x="0" y="10272396"/>
                    <a:pt x="6350" y="10259823"/>
                    <a:pt x="9271" y="10246996"/>
                  </a:cubicBezTo>
                  <a:cubicBezTo>
                    <a:pt x="134747" y="9685402"/>
                    <a:pt x="260350" y="9123935"/>
                    <a:pt x="386207" y="8562467"/>
                  </a:cubicBezTo>
                  <a:cubicBezTo>
                    <a:pt x="565658" y="7761986"/>
                    <a:pt x="745490" y="6961633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6"/>
                    <a:pt x="8605139" y="6846317"/>
                    <a:pt x="8606155" y="10251441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73748" y="3615629"/>
            <a:ext cx="10959085" cy="1743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68"/>
              </a:lnSpc>
            </a:pPr>
            <a:r>
              <a:rPr lang="ru-RU" sz="11306" b="1" dirty="0">
                <a:solidFill>
                  <a:srgbClr val="FFFBFB"/>
                </a:solidFill>
                <a:latin typeface="Consolas" panose="020B0609020204030204" pitchFamily="49" charset="0"/>
                <a:ea typeface="Now Bold"/>
                <a:cs typeface="Now Bold"/>
                <a:sym typeface="Now Bold"/>
              </a:rPr>
              <a:t>ТУЭС</a:t>
            </a:r>
            <a:endParaRPr lang="en-US" sz="11306" b="1" dirty="0">
              <a:solidFill>
                <a:srgbClr val="FFFBFB"/>
              </a:solidFill>
              <a:latin typeface="Now Bold" panose="020B0604020202020204" charset="0"/>
              <a:ea typeface="Now Bold"/>
              <a:cs typeface="Now Bold"/>
              <a:sym typeface="Now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-295175" y="8630507"/>
            <a:ext cx="2647750" cy="2647750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73748" y="5327661"/>
            <a:ext cx="9659937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68"/>
              </a:lnSpc>
            </a:pPr>
            <a:r>
              <a:rPr lang="ru-RU" sz="10000" b="1" dirty="0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В ЦИФРАХ</a:t>
            </a:r>
            <a:endParaRPr lang="en-US" sz="10000" b="1" dirty="0">
              <a:solidFill>
                <a:srgbClr val="56AEFF"/>
              </a:solidFill>
              <a:latin typeface="DM Sans Bold" panose="020B0604020202020204" charset="0"/>
              <a:ea typeface="Now Bold"/>
              <a:cs typeface="Now Bold"/>
              <a:sym typeface="Now Bold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xmlns="" id="{AA568C6A-752A-67BA-A557-C50259471D52}"/>
              </a:ext>
            </a:extLst>
          </p:cNvPr>
          <p:cNvSpPr txBox="1"/>
          <p:nvPr/>
        </p:nvSpPr>
        <p:spPr>
          <a:xfrm>
            <a:off x="2769433" y="643264"/>
            <a:ext cx="10959085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ru-RU" sz="3200" b="1" dirty="0">
                <a:solidFill>
                  <a:srgbClr val="FFFBFB"/>
                </a:solidFill>
                <a:latin typeface="Roboto" panose="02000000000000000000" pitchFamily="2" charset="0"/>
                <a:ea typeface="Roboto" panose="02000000000000000000" pitchFamily="2" charset="0"/>
                <a:cs typeface="Now Bold"/>
                <a:sym typeface="Now Bold"/>
              </a:rPr>
              <a:t>ТЕРМЕЗСКИЙ </a:t>
            </a:r>
            <a:endParaRPr lang="en-US" sz="3200" b="1" dirty="0">
              <a:solidFill>
                <a:srgbClr val="FFFBFB"/>
              </a:solidFill>
              <a:latin typeface="Roboto" panose="02000000000000000000" pitchFamily="2" charset="0"/>
              <a:ea typeface="Roboto" panose="02000000000000000000" pitchFamily="2" charset="0"/>
              <a:cs typeface="Now Bold"/>
              <a:sym typeface="Now Bold"/>
            </a:endParaRPr>
          </a:p>
          <a:p>
            <a:pPr algn="l"/>
            <a:r>
              <a:rPr lang="ru-RU" sz="3200" b="1" dirty="0">
                <a:solidFill>
                  <a:srgbClr val="FFFBFB"/>
                </a:solidFill>
                <a:latin typeface="Roboto" panose="02000000000000000000" pitchFamily="2" charset="0"/>
                <a:ea typeface="Roboto" panose="02000000000000000000" pitchFamily="2" charset="0"/>
                <a:cs typeface="Now Bold"/>
                <a:sym typeface="Now Bold"/>
              </a:rPr>
              <a:t>УНИВЕРСИТЕТ </a:t>
            </a:r>
            <a:endParaRPr lang="en-US" sz="3200" b="1" dirty="0">
              <a:solidFill>
                <a:srgbClr val="FFFBFB"/>
              </a:solidFill>
              <a:latin typeface="Roboto" panose="02000000000000000000" pitchFamily="2" charset="0"/>
              <a:ea typeface="Roboto" panose="02000000000000000000" pitchFamily="2" charset="0"/>
              <a:cs typeface="Now Bold"/>
              <a:sym typeface="Now Bold"/>
            </a:endParaRPr>
          </a:p>
          <a:p>
            <a:pPr algn="l"/>
            <a:r>
              <a:rPr lang="ru-RU" sz="3200" b="1" dirty="0">
                <a:solidFill>
                  <a:srgbClr val="FFFBFB"/>
                </a:solidFill>
                <a:latin typeface="Roboto" panose="02000000000000000000" pitchFamily="2" charset="0"/>
                <a:ea typeface="Roboto" panose="02000000000000000000" pitchFamily="2" charset="0"/>
                <a:cs typeface="Now Bold"/>
                <a:sym typeface="Now Bold"/>
              </a:rPr>
              <a:t>ЭКОНОМИКИ И СЕРВИСА</a:t>
            </a:r>
            <a:endParaRPr lang="en-US" sz="3200" b="1" dirty="0">
              <a:solidFill>
                <a:srgbClr val="FFFBFB"/>
              </a:solidFill>
              <a:latin typeface="Roboto" panose="02000000000000000000" pitchFamily="2" charset="0"/>
              <a:ea typeface="Roboto" panose="02000000000000000000" pitchFamily="2" charset="0"/>
              <a:cs typeface="Now Bold"/>
              <a:sym typeface="Now Bold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3F3AC9BB-EB02-41E7-821F-291329E073F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68" r="65530" b="37921"/>
          <a:stretch/>
        </p:blipFill>
        <p:spPr>
          <a:xfrm>
            <a:off x="306869" y="571500"/>
            <a:ext cx="2334375" cy="15490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roup 15">
            <a:extLst>
              <a:ext uri="{FF2B5EF4-FFF2-40B4-BE49-F238E27FC236}">
                <a16:creationId xmlns:a16="http://schemas.microsoft.com/office/drawing/2014/main" xmlns="" id="{AF8C9CA4-7A95-4C24-B084-4D0F83883860}"/>
              </a:ext>
            </a:extLst>
          </p:cNvPr>
          <p:cNvGrpSpPr/>
          <p:nvPr/>
        </p:nvGrpSpPr>
        <p:grpSpPr>
          <a:xfrm rot="-10800000">
            <a:off x="14176281" y="9827787"/>
            <a:ext cx="13457996" cy="3264379"/>
            <a:chOff x="0" y="0"/>
            <a:chExt cx="17943995" cy="4352506"/>
          </a:xfrm>
        </p:grpSpPr>
        <p:sp>
          <p:nvSpPr>
            <p:cNvPr id="186" name="Freeform 16">
              <a:extLst>
                <a:ext uri="{FF2B5EF4-FFF2-40B4-BE49-F238E27FC236}">
                  <a16:creationId xmlns:a16="http://schemas.microsoft.com/office/drawing/2014/main" xmlns="" id="{AD2DB1B3-A401-4E58-BA12-23DD4B0FA113}"/>
                </a:ext>
              </a:extLst>
            </p:cNvPr>
            <p:cNvSpPr/>
            <p:nvPr/>
          </p:nvSpPr>
          <p:spPr>
            <a:xfrm>
              <a:off x="0" y="0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7" name="Freeform 17">
              <a:extLst>
                <a:ext uri="{FF2B5EF4-FFF2-40B4-BE49-F238E27FC236}">
                  <a16:creationId xmlns:a16="http://schemas.microsoft.com/office/drawing/2014/main" xmlns="" id="{3DFE8A67-7849-4B66-A3E2-8341122EE9B3}"/>
                </a:ext>
              </a:extLst>
            </p:cNvPr>
            <p:cNvSpPr/>
            <p:nvPr/>
          </p:nvSpPr>
          <p:spPr>
            <a:xfrm>
              <a:off x="4600097" y="861572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 b="-26202"/>
              </a:stretch>
            </a:blipFill>
          </p:spPr>
        </p:sp>
        <p:sp>
          <p:nvSpPr>
            <p:cNvPr id="188" name="Freeform 18">
              <a:extLst>
                <a:ext uri="{FF2B5EF4-FFF2-40B4-BE49-F238E27FC236}">
                  <a16:creationId xmlns:a16="http://schemas.microsoft.com/office/drawing/2014/main" xmlns="" id="{0228A121-92A3-4A78-A10B-32D82FBDE3DE}"/>
                </a:ext>
              </a:extLst>
            </p:cNvPr>
            <p:cNvSpPr/>
            <p:nvPr/>
          </p:nvSpPr>
          <p:spPr>
            <a:xfrm>
              <a:off x="9194248" y="202855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9" name="Freeform 19">
              <a:extLst>
                <a:ext uri="{FF2B5EF4-FFF2-40B4-BE49-F238E27FC236}">
                  <a16:creationId xmlns:a16="http://schemas.microsoft.com/office/drawing/2014/main" xmlns="" id="{A90A3CA0-ED9C-45A0-984A-FB68D5A0DD3F}"/>
                </a:ext>
              </a:extLst>
            </p:cNvPr>
            <p:cNvSpPr/>
            <p:nvPr/>
          </p:nvSpPr>
          <p:spPr>
            <a:xfrm>
              <a:off x="13794345" y="1064427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 b="-2620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-10800000">
            <a:off x="117197" y="9204951"/>
            <a:ext cx="13457996" cy="3264379"/>
            <a:chOff x="0" y="0"/>
            <a:chExt cx="17943995" cy="43525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4600097" y="861572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 b="-26202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9194248" y="202855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13794345" y="1064427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 b="-26202"/>
              </a:stretch>
            </a:blipFill>
          </p:spPr>
        </p:sp>
      </p:grpSp>
      <p:sp>
        <p:nvSpPr>
          <p:cNvPr id="190" name="Прямоугольник: скругленные углы 189">
            <a:extLst>
              <a:ext uri="{FF2B5EF4-FFF2-40B4-BE49-F238E27FC236}">
                <a16:creationId xmlns:a16="http://schemas.microsoft.com/office/drawing/2014/main" xmlns="" id="{F39309EA-180C-4358-A98E-F7B432F9F441}"/>
              </a:ext>
            </a:extLst>
          </p:cNvPr>
          <p:cNvSpPr/>
          <p:nvPr/>
        </p:nvSpPr>
        <p:spPr>
          <a:xfrm>
            <a:off x="7351165" y="9056253"/>
            <a:ext cx="3862004" cy="80440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DM Sans Bold" panose="020B0604020202020204" charset="0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6309965" y="2900811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AD8E14CF-CC31-426B-BB31-173B6957A804}"/>
              </a:ext>
            </a:extLst>
          </p:cNvPr>
          <p:cNvSpPr txBox="1"/>
          <p:nvPr/>
        </p:nvSpPr>
        <p:spPr>
          <a:xfrm>
            <a:off x="1" y="195959"/>
            <a:ext cx="18288000" cy="542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solidFill>
                  <a:srgbClr val="FFFFFF"/>
                </a:solidFill>
                <a:latin typeface="Now Bold"/>
              </a:rPr>
              <a:t>СТРАТЕГИЯ РАЗВИТИЯ МАТЕРИАЛЬНО-ТЕХНИЧЕСКОЙ БАЗЫ</a:t>
            </a:r>
            <a:endParaRPr lang="en-US" sz="2800" b="1" dirty="0">
              <a:solidFill>
                <a:srgbClr val="FFFFFF"/>
              </a:solidFill>
              <a:latin typeface="Now Bol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37939859-48FC-4CE8-8713-FAB235D74771}"/>
              </a:ext>
            </a:extLst>
          </p:cNvPr>
          <p:cNvSpPr txBox="1"/>
          <p:nvPr/>
        </p:nvSpPr>
        <p:spPr>
          <a:xfrm>
            <a:off x="0" y="733425"/>
            <a:ext cx="18288001" cy="676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Внедрение передовых технологий, направленных на повышение эффективности духовно-просветительской работы и </a:t>
            </a:r>
            <a:r>
              <a:rPr lang="en-US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en-US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ru-RU" b="1" dirty="0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усиление воспитательного воздействия</a:t>
            </a:r>
            <a:endParaRPr lang="en-US" dirty="0">
              <a:solidFill>
                <a:schemeClr val="bg1"/>
              </a:solidFill>
              <a:effectLst/>
              <a:latin typeface="Now Bold" panose="020B060402020202020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xmlns="" id="{C17567A2-DC67-4E42-A5F7-EBBEF6BAF79A}"/>
              </a:ext>
            </a:extLst>
          </p:cNvPr>
          <p:cNvCxnSpPr>
            <a:cxnSpLocks/>
          </p:cNvCxnSpPr>
          <p:nvPr/>
        </p:nvCxnSpPr>
        <p:spPr>
          <a:xfrm>
            <a:off x="2687015" y="741814"/>
            <a:ext cx="11489266" cy="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aphicFrame>
        <p:nvGraphicFramePr>
          <p:cNvPr id="27" name="Диаграмма 26">
            <a:extLst>
              <a:ext uri="{FF2B5EF4-FFF2-40B4-BE49-F238E27FC236}">
                <a16:creationId xmlns:a16="http://schemas.microsoft.com/office/drawing/2014/main" xmlns="" id="{73B4EC89-3000-49BA-B410-51F7AFCA0C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2526845"/>
              </p:ext>
            </p:extLst>
          </p:nvPr>
        </p:nvGraphicFramePr>
        <p:xfrm>
          <a:off x="6246392" y="1126649"/>
          <a:ext cx="5957213" cy="3344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xmlns="" id="{13C749F0-4776-4273-BE10-3200CD3BF368}"/>
              </a:ext>
            </a:extLst>
          </p:cNvPr>
          <p:cNvSpPr/>
          <p:nvPr/>
        </p:nvSpPr>
        <p:spPr>
          <a:xfrm>
            <a:off x="6787141" y="8060814"/>
            <a:ext cx="2377967" cy="5938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DM Sans Bold" panose="020B0604020202020204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xmlns="" id="{43636613-F57B-4E77-BDFC-9F37B163FC08}"/>
              </a:ext>
            </a:extLst>
          </p:cNvPr>
          <p:cNvSpPr/>
          <p:nvPr/>
        </p:nvSpPr>
        <p:spPr>
          <a:xfrm>
            <a:off x="9525000" y="8058381"/>
            <a:ext cx="2373442" cy="60989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DM Sans Bold" panose="020B0604020202020204" charset="0"/>
            </a:endParaRPr>
          </a:p>
        </p:txBody>
      </p:sp>
      <p:pic>
        <p:nvPicPr>
          <p:cNvPr id="31" name="Рисунок 30" descr="Здание со сплошной заливкой">
            <a:extLst>
              <a:ext uri="{FF2B5EF4-FFF2-40B4-BE49-F238E27FC236}">
                <a16:creationId xmlns:a16="http://schemas.microsoft.com/office/drawing/2014/main" xmlns="" id="{CF69F9A8-D0A6-4808-B9FC-0B018AB150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844564" y="8523519"/>
            <a:ext cx="676146" cy="676146"/>
          </a:xfrm>
          <a:prstGeom prst="rect">
            <a:avLst/>
          </a:prstGeom>
        </p:spPr>
      </p:pic>
      <p:pic>
        <p:nvPicPr>
          <p:cNvPr id="32" name="Рисунок 31" descr="Город со сплошной заливкой">
            <a:extLst>
              <a:ext uri="{FF2B5EF4-FFF2-40B4-BE49-F238E27FC236}">
                <a16:creationId xmlns:a16="http://schemas.microsoft.com/office/drawing/2014/main" xmlns="" id="{D4E3EA41-E42A-42F4-8ADA-5B59167E630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724400" y="7320976"/>
            <a:ext cx="716955" cy="716955"/>
          </a:xfrm>
          <a:prstGeom prst="rect">
            <a:avLst/>
          </a:prstGeom>
        </p:spPr>
      </p:pic>
      <p:pic>
        <p:nvPicPr>
          <p:cNvPr id="33" name="Рисунок 32" descr="Школа со сплошной заливкой">
            <a:extLst>
              <a:ext uri="{FF2B5EF4-FFF2-40B4-BE49-F238E27FC236}">
                <a16:creationId xmlns:a16="http://schemas.microsoft.com/office/drawing/2014/main" xmlns="" id="{F3A12469-D83D-427D-9F56-7E6B7D0679C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03328" y="7204209"/>
            <a:ext cx="855618" cy="855618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xmlns="" id="{B47C4333-8871-4C18-A828-B2FCF1E643E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954" y="8518275"/>
            <a:ext cx="624023" cy="676146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xmlns="" id="{DFF13889-D2B7-42E4-9FD7-3DC360AA95B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035" y="7381899"/>
            <a:ext cx="605652" cy="520614"/>
          </a:xfrm>
          <a:prstGeom prst="rect">
            <a:avLst/>
          </a:prstGeom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614E7DF2-18AD-40D1-9B04-7ECE35AA8C22}"/>
              </a:ext>
            </a:extLst>
          </p:cNvPr>
          <p:cNvSpPr txBox="1"/>
          <p:nvPr/>
        </p:nvSpPr>
        <p:spPr>
          <a:xfrm>
            <a:off x="838200" y="1257566"/>
            <a:ext cx="5555536" cy="609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Обеспеченность учебными корпусами и студенческими местами</a:t>
            </a:r>
            <a:endParaRPr lang="en-US" sz="1600" b="1" dirty="0">
              <a:solidFill>
                <a:schemeClr val="bg1"/>
              </a:solidFill>
              <a:effectLst/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587743D6-83BD-4386-AA25-D790D1C2EE47}"/>
              </a:ext>
            </a:extLst>
          </p:cNvPr>
          <p:cNvSpPr txBox="1"/>
          <p:nvPr/>
        </p:nvSpPr>
        <p:spPr>
          <a:xfrm>
            <a:off x="2082778" y="1812471"/>
            <a:ext cx="3175022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Контингент студентов</a:t>
            </a:r>
            <a:endParaRPr lang="en-US" sz="1600" b="1" dirty="0">
              <a:solidFill>
                <a:schemeClr val="bg1"/>
              </a:solidFill>
              <a:effectLst/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xmlns="" id="{44B6A01D-FD15-4DB7-9A14-9E71BCBCC96F}"/>
              </a:ext>
            </a:extLst>
          </p:cNvPr>
          <p:cNvGrpSpPr/>
          <p:nvPr/>
        </p:nvGrpSpPr>
        <p:grpSpPr>
          <a:xfrm>
            <a:off x="559568" y="2262197"/>
            <a:ext cx="5536432" cy="2858275"/>
            <a:chOff x="282584" y="1348322"/>
            <a:chExt cx="4105343" cy="1988836"/>
          </a:xfrm>
        </p:grpSpPr>
        <p:grpSp>
          <p:nvGrpSpPr>
            <p:cNvPr id="39" name="Группа 38">
              <a:extLst>
                <a:ext uri="{FF2B5EF4-FFF2-40B4-BE49-F238E27FC236}">
                  <a16:creationId xmlns:a16="http://schemas.microsoft.com/office/drawing/2014/main" xmlns="" id="{5B00D473-FB25-4F45-82EA-6DA33FD2F2C2}"/>
                </a:ext>
              </a:extLst>
            </p:cNvPr>
            <p:cNvGrpSpPr/>
            <p:nvPr/>
          </p:nvGrpSpPr>
          <p:grpSpPr>
            <a:xfrm>
              <a:off x="377632" y="1348322"/>
              <a:ext cx="3865033" cy="1988836"/>
              <a:chOff x="535517" y="1311853"/>
              <a:chExt cx="3865033" cy="1988836"/>
            </a:xfrm>
          </p:grpSpPr>
          <p:cxnSp>
            <p:nvCxnSpPr>
              <p:cNvPr id="53" name="Прямая соединительная линия 52">
                <a:extLst>
                  <a:ext uri="{FF2B5EF4-FFF2-40B4-BE49-F238E27FC236}">
                    <a16:creationId xmlns:a16="http://schemas.microsoft.com/office/drawing/2014/main" xmlns="" id="{EA747FE4-563B-4F0E-B4B6-7D8895353F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3609" y="1354541"/>
                <a:ext cx="9594" cy="190835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Прямая соединительная линия 53">
                <a:extLst>
                  <a:ext uri="{FF2B5EF4-FFF2-40B4-BE49-F238E27FC236}">
                    <a16:creationId xmlns:a16="http://schemas.microsoft.com/office/drawing/2014/main" xmlns="" id="{11892DD6-26DE-413C-84DF-5E9064C619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5400" y="1324223"/>
                <a:ext cx="0" cy="193867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Прямая соединительная линия 54">
                <a:extLst>
                  <a:ext uri="{FF2B5EF4-FFF2-40B4-BE49-F238E27FC236}">
                    <a16:creationId xmlns:a16="http://schemas.microsoft.com/office/drawing/2014/main" xmlns="" id="{F95A40C6-40D4-4B04-89E2-BDB18C9E40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7875" y="1331392"/>
                <a:ext cx="0" cy="191215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Прямая соединительная линия 55">
                <a:extLst>
                  <a:ext uri="{FF2B5EF4-FFF2-40B4-BE49-F238E27FC236}">
                    <a16:creationId xmlns:a16="http://schemas.microsoft.com/office/drawing/2014/main" xmlns="" id="{F731E6CD-D862-4B22-93B9-69DBED663E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4751" y="1324223"/>
                <a:ext cx="0" cy="191932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Прямая соединительная линия 56">
                <a:extLst>
                  <a:ext uri="{FF2B5EF4-FFF2-40B4-BE49-F238E27FC236}">
                    <a16:creationId xmlns:a16="http://schemas.microsoft.com/office/drawing/2014/main" xmlns="" id="{21F2B600-292B-4BA0-AEC9-8987996FFE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0655" y="1322287"/>
                <a:ext cx="0" cy="18975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Прямая соединительная линия 57">
                <a:extLst>
                  <a:ext uri="{FF2B5EF4-FFF2-40B4-BE49-F238E27FC236}">
                    <a16:creationId xmlns:a16="http://schemas.microsoft.com/office/drawing/2014/main" xmlns="" id="{69040FBC-A17A-41BD-A8DE-5BC7282074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5517" y="1674051"/>
                <a:ext cx="3865033" cy="11874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Овал 58">
                <a:extLst>
                  <a:ext uri="{FF2B5EF4-FFF2-40B4-BE49-F238E27FC236}">
                    <a16:creationId xmlns:a16="http://schemas.microsoft.com/office/drawing/2014/main" xmlns="" id="{DC8E882F-B030-45D3-B2A7-5C67CA5AF329}"/>
                  </a:ext>
                </a:extLst>
              </p:cNvPr>
              <p:cNvSpPr/>
              <p:nvPr/>
            </p:nvSpPr>
            <p:spPr>
              <a:xfrm>
                <a:off x="769277" y="1616908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60" name="Овал 59">
                <a:extLst>
                  <a:ext uri="{FF2B5EF4-FFF2-40B4-BE49-F238E27FC236}">
                    <a16:creationId xmlns:a16="http://schemas.microsoft.com/office/drawing/2014/main" xmlns="" id="{A94C28AC-83D5-4C81-81F5-3EDFAC1671E1}"/>
                  </a:ext>
                </a:extLst>
              </p:cNvPr>
              <p:cNvSpPr/>
              <p:nvPr/>
            </p:nvSpPr>
            <p:spPr>
              <a:xfrm>
                <a:off x="1951464" y="1622385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cxnSp>
            <p:nvCxnSpPr>
              <p:cNvPr id="61" name="Прямая соединительная линия 60">
                <a:extLst>
                  <a:ext uri="{FF2B5EF4-FFF2-40B4-BE49-F238E27FC236}">
                    <a16:creationId xmlns:a16="http://schemas.microsoft.com/office/drawing/2014/main" xmlns="" id="{8F87E7DE-E299-431A-ADE5-667B682A5F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9400" y="1311853"/>
                <a:ext cx="0" cy="190907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xmlns="" id="{DF670F79-1B61-408B-9465-E78A76929429}"/>
                  </a:ext>
                </a:extLst>
              </p:cNvPr>
              <p:cNvSpPr/>
              <p:nvPr/>
            </p:nvSpPr>
            <p:spPr>
              <a:xfrm>
                <a:off x="2904564" y="1616367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63" name="Овал 62">
                <a:extLst>
                  <a:ext uri="{FF2B5EF4-FFF2-40B4-BE49-F238E27FC236}">
                    <a16:creationId xmlns:a16="http://schemas.microsoft.com/office/drawing/2014/main" xmlns="" id="{A673E0FB-3F3D-442D-9A33-8DF68FBEFD85}"/>
                  </a:ext>
                </a:extLst>
              </p:cNvPr>
              <p:cNvSpPr/>
              <p:nvPr/>
            </p:nvSpPr>
            <p:spPr>
              <a:xfrm>
                <a:off x="3827097" y="1616908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cxnSp>
            <p:nvCxnSpPr>
              <p:cNvPr id="64" name="Прямая соединительная линия 63">
                <a:extLst>
                  <a:ext uri="{FF2B5EF4-FFF2-40B4-BE49-F238E27FC236}">
                    <a16:creationId xmlns:a16="http://schemas.microsoft.com/office/drawing/2014/main" xmlns="" id="{E7117ADD-1D2A-47E9-AFFD-933F50F272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2356" y="2952986"/>
                <a:ext cx="922956" cy="291963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Прямая соединительная линия 64">
                <a:extLst>
                  <a:ext uri="{FF2B5EF4-FFF2-40B4-BE49-F238E27FC236}">
                    <a16:creationId xmlns:a16="http://schemas.microsoft.com/office/drawing/2014/main" xmlns="" id="{583857A5-BA9C-422A-8639-B904905B5C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17916" y="2234698"/>
                <a:ext cx="1223988" cy="721851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Прямая соединительная линия 65">
                <a:extLst>
                  <a:ext uri="{FF2B5EF4-FFF2-40B4-BE49-F238E27FC236}">
                    <a16:creationId xmlns:a16="http://schemas.microsoft.com/office/drawing/2014/main" xmlns="" id="{923A3BBB-1232-4FC8-B036-04A4DBD96A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19279" y="1997960"/>
                <a:ext cx="1041105" cy="253735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Овал 66">
                <a:extLst>
                  <a:ext uri="{FF2B5EF4-FFF2-40B4-BE49-F238E27FC236}">
                    <a16:creationId xmlns:a16="http://schemas.microsoft.com/office/drawing/2014/main" xmlns="" id="{EAB048D4-CEEE-40B0-9AEC-97525343C40E}"/>
                  </a:ext>
                </a:extLst>
              </p:cNvPr>
              <p:cNvSpPr/>
              <p:nvPr/>
            </p:nvSpPr>
            <p:spPr>
              <a:xfrm>
                <a:off x="623262" y="3186403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68" name="Овал 67">
                <a:extLst>
                  <a:ext uri="{FF2B5EF4-FFF2-40B4-BE49-F238E27FC236}">
                    <a16:creationId xmlns:a16="http://schemas.microsoft.com/office/drawing/2014/main" xmlns="" id="{32CE4F2D-AA81-4A5F-8D71-3097494DD9C0}"/>
                  </a:ext>
                </a:extLst>
              </p:cNvPr>
              <p:cNvSpPr/>
              <p:nvPr/>
            </p:nvSpPr>
            <p:spPr>
              <a:xfrm>
                <a:off x="2746808" y="2194551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69" name="Овал 68">
                <a:extLst>
                  <a:ext uri="{FF2B5EF4-FFF2-40B4-BE49-F238E27FC236}">
                    <a16:creationId xmlns:a16="http://schemas.microsoft.com/office/drawing/2014/main" xmlns="" id="{F310079E-9A7D-464E-92DB-B7B038450A9D}"/>
                  </a:ext>
                </a:extLst>
              </p:cNvPr>
              <p:cNvSpPr/>
              <p:nvPr/>
            </p:nvSpPr>
            <p:spPr>
              <a:xfrm>
                <a:off x="1545942" y="2901045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70" name="Овал 69">
                <a:extLst>
                  <a:ext uri="{FF2B5EF4-FFF2-40B4-BE49-F238E27FC236}">
                    <a16:creationId xmlns:a16="http://schemas.microsoft.com/office/drawing/2014/main" xmlns="" id="{94202F79-3374-408F-AB30-6B73BE045E5A}"/>
                  </a:ext>
                </a:extLst>
              </p:cNvPr>
              <p:cNvSpPr/>
              <p:nvPr/>
            </p:nvSpPr>
            <p:spPr>
              <a:xfrm>
                <a:off x="3837584" y="1913023"/>
                <a:ext cx="126205" cy="9241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C653F610-438B-4168-85FF-14E4685F30D8}"/>
                </a:ext>
              </a:extLst>
            </p:cNvPr>
            <p:cNvSpPr txBox="1"/>
            <p:nvPr/>
          </p:nvSpPr>
          <p:spPr>
            <a:xfrm>
              <a:off x="436155" y="1385764"/>
              <a:ext cx="684978" cy="1980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2022-23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5DBB415E-B535-401D-8D93-7DEC097FA83D}"/>
                </a:ext>
              </a:extLst>
            </p:cNvPr>
            <p:cNvSpPr txBox="1"/>
            <p:nvPr/>
          </p:nvSpPr>
          <p:spPr>
            <a:xfrm>
              <a:off x="3320419" y="1414698"/>
              <a:ext cx="709160" cy="1980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2025-26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B1F73B0B-17E5-4246-894B-47C30B122A94}"/>
                </a:ext>
              </a:extLst>
            </p:cNvPr>
            <p:cNvSpPr txBox="1"/>
            <p:nvPr/>
          </p:nvSpPr>
          <p:spPr>
            <a:xfrm>
              <a:off x="2478918" y="1403938"/>
              <a:ext cx="769138" cy="1980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2024-25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CC380F3B-41BF-4A52-BEC7-F44872B3DB27}"/>
                </a:ext>
              </a:extLst>
            </p:cNvPr>
            <p:cNvSpPr txBox="1"/>
            <p:nvPr/>
          </p:nvSpPr>
          <p:spPr>
            <a:xfrm>
              <a:off x="1496486" y="1384295"/>
              <a:ext cx="709348" cy="1980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2023-24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3E801BF8-F1AC-4596-880B-5DAC93EBB006}"/>
                </a:ext>
              </a:extLst>
            </p:cNvPr>
            <p:cNvSpPr txBox="1"/>
            <p:nvPr/>
          </p:nvSpPr>
          <p:spPr>
            <a:xfrm>
              <a:off x="1216421" y="2680634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16768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49EE6AA0-B284-40DE-B36C-75EC149027CC}"/>
                </a:ext>
              </a:extLst>
            </p:cNvPr>
            <p:cNvSpPr txBox="1"/>
            <p:nvPr/>
          </p:nvSpPr>
          <p:spPr>
            <a:xfrm>
              <a:off x="282584" y="2994350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8872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5A5B3C2A-A0FD-49CD-902E-75F327617F3B}"/>
                </a:ext>
              </a:extLst>
            </p:cNvPr>
            <p:cNvSpPr txBox="1"/>
            <p:nvPr/>
          </p:nvSpPr>
          <p:spPr>
            <a:xfrm>
              <a:off x="2395621" y="1985119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23669</a:t>
              </a:r>
              <a:endParaRPr lang="en-US" sz="10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1695ECF2-226F-4BAD-A8DB-ECDE835FD3B9}"/>
                </a:ext>
              </a:extLst>
            </p:cNvPr>
            <p:cNvSpPr txBox="1"/>
            <p:nvPr/>
          </p:nvSpPr>
          <p:spPr>
            <a:xfrm>
              <a:off x="3702642" y="1756701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30669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B471FD18-8FA2-4F5E-B3F0-DA1ACDF21D41}"/>
                </a:ext>
              </a:extLst>
            </p:cNvPr>
            <p:cNvSpPr txBox="1"/>
            <p:nvPr/>
          </p:nvSpPr>
          <p:spPr>
            <a:xfrm>
              <a:off x="1329978" y="3004391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rgbClr val="F79646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+</a:t>
              </a:r>
              <a:r>
                <a:rPr lang="en-US" sz="1000" b="1" dirty="0">
                  <a:solidFill>
                    <a:srgbClr val="F79646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7896</a:t>
              </a:r>
              <a:endParaRPr lang="en-US" sz="1000" b="1" dirty="0">
                <a:solidFill>
                  <a:srgbClr val="F79646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3026ED88-AD31-4E7B-9E02-9D639E6688F4}"/>
                </a:ext>
              </a:extLst>
            </p:cNvPr>
            <p:cNvSpPr txBox="1"/>
            <p:nvPr/>
          </p:nvSpPr>
          <p:spPr>
            <a:xfrm>
              <a:off x="3857789" y="2002591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rgbClr val="F79646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+</a:t>
              </a:r>
              <a:r>
                <a:rPr lang="en-US" sz="1000" b="1" dirty="0">
                  <a:solidFill>
                    <a:srgbClr val="F79646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7000</a:t>
              </a:r>
              <a:endParaRPr lang="en-US" sz="1000" b="1" dirty="0">
                <a:solidFill>
                  <a:srgbClr val="F79646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B2E255F8-AFED-415A-91D0-EF92C9D65B6F}"/>
                </a:ext>
              </a:extLst>
            </p:cNvPr>
            <p:cNvSpPr txBox="1"/>
            <p:nvPr/>
          </p:nvSpPr>
          <p:spPr>
            <a:xfrm>
              <a:off x="2473644" y="2375208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rgbClr val="F79646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+6901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BA48827F-1C6E-4854-AC13-7DE7676E02C7}"/>
                </a:ext>
              </a:extLst>
            </p:cNvPr>
            <p:cNvSpPr txBox="1"/>
            <p:nvPr/>
          </p:nvSpPr>
          <p:spPr>
            <a:xfrm>
              <a:off x="1903996" y="2780765"/>
              <a:ext cx="2306845" cy="1910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ru-RU" sz="11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Учебные площади в зданиях</a:t>
              </a:r>
              <a:endParaRPr lang="en-US" sz="10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78BEFE8C-9F1D-4725-A828-6835F0EDC85E}"/>
                </a:ext>
              </a:extLst>
            </p:cNvPr>
            <p:cNvSpPr txBox="1"/>
            <p:nvPr/>
          </p:nvSpPr>
          <p:spPr>
            <a:xfrm>
              <a:off x="381306" y="2016432"/>
              <a:ext cx="1985439" cy="3227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ru-RU" sz="11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Изменение вместимости учебных корпусов</a:t>
              </a:r>
              <a:endParaRPr lang="en-US" sz="10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xmlns="" id="{0B8F8DDE-D6DD-47AF-A258-0F94CD1DF740}"/>
              </a:ext>
            </a:extLst>
          </p:cNvPr>
          <p:cNvGrpSpPr/>
          <p:nvPr/>
        </p:nvGrpSpPr>
        <p:grpSpPr>
          <a:xfrm>
            <a:off x="1121795" y="5143504"/>
            <a:ext cx="3700072" cy="718768"/>
            <a:chOff x="65953" y="3599022"/>
            <a:chExt cx="2100431" cy="459081"/>
          </a:xfrm>
        </p:grpSpPr>
        <p:sp>
          <p:nvSpPr>
            <p:cNvPr id="72" name="Прямоугольник: скругленные углы 71">
              <a:extLst>
                <a:ext uri="{FF2B5EF4-FFF2-40B4-BE49-F238E27FC236}">
                  <a16:creationId xmlns:a16="http://schemas.microsoft.com/office/drawing/2014/main" xmlns="" id="{E4C970DB-EB74-4A2A-B54E-961D8024640A}"/>
                </a:ext>
              </a:extLst>
            </p:cNvPr>
            <p:cNvSpPr/>
            <p:nvPr/>
          </p:nvSpPr>
          <p:spPr>
            <a:xfrm>
              <a:off x="65953" y="3599022"/>
              <a:ext cx="2100430" cy="4590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51D40"/>
                </a:solidFill>
                <a:latin typeface="DM Sans Bold" panose="020B060402020202020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202640C5-9632-463D-A973-156205CFAAA2}"/>
                </a:ext>
              </a:extLst>
            </p:cNvPr>
            <p:cNvSpPr txBox="1"/>
            <p:nvPr/>
          </p:nvSpPr>
          <p:spPr>
            <a:xfrm>
              <a:off x="87639" y="3639607"/>
              <a:ext cx="2078745" cy="20067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400" b="1" dirty="0">
                  <a:solidFill>
                    <a:srgbClr val="051D40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Используемая площадь </a:t>
              </a:r>
              <a:r>
                <a:rPr lang="en-US" sz="1400" b="1" dirty="0">
                  <a:solidFill>
                    <a:srgbClr val="051D40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45 650,2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xmlns="" id="{C9CF56EF-8B35-4596-8473-5F647FD2FE83}"/>
                </a:ext>
              </a:extLst>
            </p:cNvPr>
            <p:cNvSpPr txBox="1"/>
            <p:nvPr/>
          </p:nvSpPr>
          <p:spPr>
            <a:xfrm>
              <a:off x="87638" y="3812528"/>
              <a:ext cx="2023417" cy="20161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400" b="1" dirty="0">
                  <a:solidFill>
                    <a:srgbClr val="051D40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Учебная площадь </a:t>
              </a:r>
              <a:r>
                <a:rPr lang="ru-RU" sz="1400" b="1" dirty="0">
                  <a:solidFill>
                    <a:srgbClr val="051D40"/>
                  </a:solidFill>
                  <a:ea typeface="Tahoma" panose="020B0604030504040204" pitchFamily="34" charset="0"/>
                  <a:cs typeface="Times New Roman" panose="02020603050405020304" pitchFamily="18" charset="0"/>
                </a:rPr>
                <a:t>32 687,3</a:t>
              </a:r>
              <a:endParaRPr lang="en-US" sz="1400" b="1" dirty="0">
                <a:solidFill>
                  <a:srgbClr val="051D40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xmlns="" id="{D2CD2F56-FEC8-4287-82A2-4F65076419F2}"/>
              </a:ext>
            </a:extLst>
          </p:cNvPr>
          <p:cNvGrpSpPr/>
          <p:nvPr/>
        </p:nvGrpSpPr>
        <p:grpSpPr>
          <a:xfrm>
            <a:off x="2960792" y="5982169"/>
            <a:ext cx="2447961" cy="568217"/>
            <a:chOff x="2025168" y="3612467"/>
            <a:chExt cx="1907151" cy="407418"/>
          </a:xfrm>
        </p:grpSpPr>
        <p:sp>
          <p:nvSpPr>
            <p:cNvPr id="76" name="Прямоугольник: скругленные углы 75">
              <a:extLst>
                <a:ext uri="{FF2B5EF4-FFF2-40B4-BE49-F238E27FC236}">
                  <a16:creationId xmlns:a16="http://schemas.microsoft.com/office/drawing/2014/main" xmlns="" id="{0BC9DAE8-52B0-47EA-B62D-53575E0F4AC9}"/>
                </a:ext>
              </a:extLst>
            </p:cNvPr>
            <p:cNvSpPr/>
            <p:nvPr/>
          </p:nvSpPr>
          <p:spPr>
            <a:xfrm>
              <a:off x="2169516" y="3612467"/>
              <a:ext cx="1740751" cy="40741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accent5">
                    <a:lumMod val="75000"/>
                  </a:schemeClr>
                </a:solidFill>
                <a:latin typeface="DM Sans Bold" panose="020B0604020202020204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0DF3366A-1D54-48A7-BCA3-6DB9D38A7A9E}"/>
                </a:ext>
              </a:extLst>
            </p:cNvPr>
            <p:cNvSpPr txBox="1"/>
            <p:nvPr/>
          </p:nvSpPr>
          <p:spPr>
            <a:xfrm>
              <a:off x="2025168" y="3696328"/>
              <a:ext cx="1907151" cy="22067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   </a:t>
              </a:r>
              <a:r>
                <a:rPr lang="ru-RU" sz="1400" b="1" dirty="0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Коэффициенты смены </a:t>
              </a:r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xmlns="" id="{4E26892B-45B1-4906-8FBC-EEB61C72E2ED}"/>
              </a:ext>
            </a:extLst>
          </p:cNvPr>
          <p:cNvGrpSpPr/>
          <p:nvPr/>
        </p:nvGrpSpPr>
        <p:grpSpPr>
          <a:xfrm>
            <a:off x="327522" y="5966161"/>
            <a:ext cx="2494134" cy="584226"/>
            <a:chOff x="175985" y="4113535"/>
            <a:chExt cx="1806019" cy="384050"/>
          </a:xfrm>
        </p:grpSpPr>
        <p:sp>
          <p:nvSpPr>
            <p:cNvPr id="79" name="Прямоугольник: скругленные углы 78">
              <a:extLst>
                <a:ext uri="{FF2B5EF4-FFF2-40B4-BE49-F238E27FC236}">
                  <a16:creationId xmlns:a16="http://schemas.microsoft.com/office/drawing/2014/main" xmlns="" id="{437C268F-A3E6-4B8C-A421-499DA2E23383}"/>
                </a:ext>
              </a:extLst>
            </p:cNvPr>
            <p:cNvSpPr/>
            <p:nvPr/>
          </p:nvSpPr>
          <p:spPr>
            <a:xfrm>
              <a:off x="241253" y="4113535"/>
              <a:ext cx="1740751" cy="38405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DM Sans Bold" panose="020B060402020202020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xmlns="" id="{14F24DB1-7449-4AF8-B8A9-A635AB43E455}"/>
                </a:ext>
              </a:extLst>
            </p:cNvPr>
            <p:cNvSpPr txBox="1"/>
            <p:nvPr/>
          </p:nvSpPr>
          <p:spPr>
            <a:xfrm>
              <a:off x="175985" y="4195850"/>
              <a:ext cx="1796290" cy="20232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  </a:t>
              </a:r>
              <a:r>
                <a:rPr lang="ru-RU" sz="1400" b="1" dirty="0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На одного студента </a:t>
              </a:r>
              <a:r>
                <a:rPr lang="ru-RU" sz="1400" b="1" dirty="0">
                  <a:solidFill>
                    <a:srgbClr val="051D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.</a:t>
              </a:r>
              <a:r>
                <a:rPr lang="ru-RU" sz="1400" b="1" dirty="0">
                  <a:solidFill>
                    <a:srgbClr val="051D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ru-RU" sz="1400" b="1" u="none" strike="noStrike" dirty="0">
                  <a:solidFill>
                    <a:srgbClr val="051D40"/>
                  </a:solidFill>
                  <a:effectLst/>
                  <a:latin typeface="DM Sans Bold" panose="020B0604020202020204" charset="0"/>
                </a:rPr>
                <a:t>м</a:t>
              </a:r>
              <a:r>
                <a:rPr lang="en-US" sz="1400" b="1" u="none" strike="noStrike" dirty="0">
                  <a:solidFill>
                    <a:srgbClr val="051D40"/>
                  </a:solidFill>
                  <a:effectLst/>
                  <a:latin typeface="DM Sans Bold" panose="020B0604020202020204" charset="0"/>
                </a:rPr>
                <a:t>²</a:t>
              </a:r>
              <a:endParaRPr lang="en-US" sz="14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xmlns="" id="{31E6ADD3-D05E-4956-BB80-16943171AA16}"/>
              </a:ext>
            </a:extLst>
          </p:cNvPr>
          <p:cNvCxnSpPr/>
          <p:nvPr/>
        </p:nvCxnSpPr>
        <p:spPr>
          <a:xfrm flipV="1">
            <a:off x="921463" y="6656704"/>
            <a:ext cx="3963480" cy="1911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8410A9E8-AC57-4DB7-94AD-499A96C4E7C5}"/>
              </a:ext>
            </a:extLst>
          </p:cNvPr>
          <p:cNvSpPr txBox="1"/>
          <p:nvPr/>
        </p:nvSpPr>
        <p:spPr>
          <a:xfrm>
            <a:off x="6422849" y="7239392"/>
            <a:ext cx="57390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СТРОИТЕЛЬСТВО ДОПОЛНИТЕЛЬНЫХ ОБЪЕКТОВ ИНФРАСТРУКТУРЫ</a:t>
            </a:r>
            <a:endParaRPr lang="en-US" sz="1000" b="1" dirty="0">
              <a:solidFill>
                <a:schemeClr val="accent5">
                  <a:lumMod val="75000"/>
                </a:schemeClr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xmlns="" id="{3F875D4B-A249-4BB3-8C02-2FBFF2807E58}"/>
              </a:ext>
            </a:extLst>
          </p:cNvPr>
          <p:cNvSpPr txBox="1"/>
          <p:nvPr/>
        </p:nvSpPr>
        <p:spPr>
          <a:xfrm>
            <a:off x="849575" y="7894098"/>
            <a:ext cx="566657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effectLst/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B23A331E-0D0A-46B7-AA91-76755CE84DB2}"/>
              </a:ext>
            </a:extLst>
          </p:cNvPr>
          <p:cNvSpPr txBox="1"/>
          <p:nvPr/>
        </p:nvSpPr>
        <p:spPr>
          <a:xfrm>
            <a:off x="3904086" y="9157075"/>
            <a:ext cx="1607122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2027-30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6CE3111A-3420-4B6F-B87D-F1238E29F593}"/>
              </a:ext>
            </a:extLst>
          </p:cNvPr>
          <p:cNvSpPr txBox="1"/>
          <p:nvPr/>
        </p:nvSpPr>
        <p:spPr>
          <a:xfrm>
            <a:off x="1753064" y="9177885"/>
            <a:ext cx="847197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2025-26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EE9F171C-0D52-49F3-A777-FB90C43D82E7}"/>
              </a:ext>
            </a:extLst>
          </p:cNvPr>
          <p:cNvSpPr txBox="1"/>
          <p:nvPr/>
        </p:nvSpPr>
        <p:spPr>
          <a:xfrm>
            <a:off x="4707647" y="7949235"/>
            <a:ext cx="838200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2025-</a:t>
            </a:r>
            <a:r>
              <a:rPr lang="ru-RU" sz="1200" b="1" dirty="0">
                <a:solidFill>
                  <a:schemeClr val="bg1"/>
                </a:solidFill>
                <a:highlight>
                  <a:srgbClr val="0000FF"/>
                </a:highlight>
                <a:ea typeface="Tahoma" panose="020B0604030504040204" pitchFamily="34" charset="0"/>
                <a:cs typeface="Times New Roman" panose="02020603050405020304" pitchFamily="18" charset="0"/>
              </a:rPr>
              <a:t>30</a:t>
            </a:r>
            <a:endParaRPr lang="en-US" sz="1200" b="1" dirty="0">
              <a:solidFill>
                <a:schemeClr val="bg1"/>
              </a:solidFill>
              <a:highlight>
                <a:srgbClr val="0000FF"/>
              </a:highlight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xmlns="" id="{AC87FCC7-BBC3-4B1C-8F3A-E7C4A6C86470}"/>
              </a:ext>
            </a:extLst>
          </p:cNvPr>
          <p:cNvSpPr txBox="1"/>
          <p:nvPr/>
        </p:nvSpPr>
        <p:spPr>
          <a:xfrm>
            <a:off x="3030114" y="7886873"/>
            <a:ext cx="656147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E042DEA5-B0E7-4054-9906-D8613804EF21}"/>
              </a:ext>
            </a:extLst>
          </p:cNvPr>
          <p:cNvSpPr txBox="1"/>
          <p:nvPr/>
        </p:nvSpPr>
        <p:spPr>
          <a:xfrm>
            <a:off x="2118416" y="8073146"/>
            <a:ext cx="20424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Учебный корпус на 75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00 </a:t>
            </a:r>
            <a:r>
              <a:rPr lang="ru-RU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мест</a:t>
            </a:r>
            <a:endParaRPr lang="en-US" sz="1200" b="1" dirty="0">
              <a:solidFill>
                <a:schemeClr val="bg1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xmlns="" id="{42F03B35-DE56-4D5A-B9BE-06B0C18BF6F2}"/>
              </a:ext>
            </a:extLst>
          </p:cNvPr>
          <p:cNvSpPr txBox="1"/>
          <p:nvPr/>
        </p:nvSpPr>
        <p:spPr>
          <a:xfrm>
            <a:off x="3764551" y="8094965"/>
            <a:ext cx="25492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Здание общежития для студентов на 2000 мест</a:t>
            </a:r>
            <a:endParaRPr lang="en-US" sz="1200" b="1" dirty="0">
              <a:solidFill>
                <a:schemeClr val="bg1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985FB2BA-1C76-46E0-BACB-6617D4806855}"/>
              </a:ext>
            </a:extLst>
          </p:cNvPr>
          <p:cNvSpPr txBox="1"/>
          <p:nvPr/>
        </p:nvSpPr>
        <p:spPr>
          <a:xfrm>
            <a:off x="3479650" y="9367027"/>
            <a:ext cx="2766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Открытые и закрытые спортивные сооружения</a:t>
            </a:r>
            <a:endParaRPr lang="en-US" sz="1200" b="1" dirty="0">
              <a:solidFill>
                <a:schemeClr val="bg1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EC30AB3B-027C-4E7A-93D6-222CE09A83E7}"/>
              </a:ext>
            </a:extLst>
          </p:cNvPr>
          <p:cNvSpPr txBox="1"/>
          <p:nvPr/>
        </p:nvSpPr>
        <p:spPr>
          <a:xfrm>
            <a:off x="621149" y="9392366"/>
            <a:ext cx="28585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Строительство ипотечных домов на 68 квартир для преподавателей</a:t>
            </a:r>
            <a:endParaRPr lang="en-US" sz="1200" b="1" dirty="0">
              <a:solidFill>
                <a:schemeClr val="bg1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A90EA7A4-0526-479F-9DAB-9607155F3E04}"/>
              </a:ext>
            </a:extLst>
          </p:cNvPr>
          <p:cNvSpPr txBox="1"/>
          <p:nvPr/>
        </p:nvSpPr>
        <p:spPr>
          <a:xfrm>
            <a:off x="96700" y="8075887"/>
            <a:ext cx="2085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Корпус Медицинского факультета</a:t>
            </a:r>
            <a:endParaRPr lang="en-US" sz="1200" b="1" dirty="0">
              <a:solidFill>
                <a:schemeClr val="bg1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A7C1ECFE-CC16-4613-8D67-BCE356EA6886}"/>
              </a:ext>
            </a:extLst>
          </p:cNvPr>
          <p:cNvSpPr txBox="1"/>
          <p:nvPr/>
        </p:nvSpPr>
        <p:spPr>
          <a:xfrm>
            <a:off x="6309964" y="1401106"/>
            <a:ext cx="5555535" cy="34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Территория земельного участка университета – 1,3 га</a:t>
            </a:r>
            <a:endParaRPr lang="en-US" sz="1600" b="1" dirty="0">
              <a:solidFill>
                <a:schemeClr val="bg1"/>
              </a:solidFill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4" name="Прямая соединительная линия 93">
            <a:extLst>
              <a:ext uri="{FF2B5EF4-FFF2-40B4-BE49-F238E27FC236}">
                <a16:creationId xmlns:a16="http://schemas.microsoft.com/office/drawing/2014/main" xmlns="" id="{61B16880-CF8A-4976-9F2A-7D577BBF2FDC}"/>
              </a:ext>
            </a:extLst>
          </p:cNvPr>
          <p:cNvCxnSpPr/>
          <p:nvPr/>
        </p:nvCxnSpPr>
        <p:spPr>
          <a:xfrm flipV="1">
            <a:off x="7523889" y="4337464"/>
            <a:ext cx="3963480" cy="1911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xmlns="" id="{C5CE84E0-86D5-4EC9-835A-8018C2B7F4BD}"/>
              </a:ext>
            </a:extLst>
          </p:cNvPr>
          <p:cNvSpPr txBox="1"/>
          <p:nvPr/>
        </p:nvSpPr>
        <p:spPr>
          <a:xfrm>
            <a:off x="6707484" y="4407573"/>
            <a:ext cx="5310143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МОЩНОСТЬ УЧЕБНЫХ КОРПУСОВ УНИВЕРСИТЕТА</a:t>
            </a:r>
            <a:endParaRPr lang="en-US" sz="1600" b="1" dirty="0">
              <a:solidFill>
                <a:schemeClr val="bg1"/>
              </a:solidFill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6" name="Таблица 95">
            <a:extLst>
              <a:ext uri="{FF2B5EF4-FFF2-40B4-BE49-F238E27FC236}">
                <a16:creationId xmlns:a16="http://schemas.microsoft.com/office/drawing/2014/main" xmlns="" id="{26F8F126-A3F7-4B71-A77F-1B5FE0D27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173928"/>
              </p:ext>
            </p:extLst>
          </p:nvPr>
        </p:nvGraphicFramePr>
        <p:xfrm>
          <a:off x="6447649" y="4737349"/>
          <a:ext cx="5618365" cy="227154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93740">
                  <a:extLst>
                    <a:ext uri="{9D8B030D-6E8A-4147-A177-3AD203B41FA5}">
                      <a16:colId xmlns:a16="http://schemas.microsoft.com/office/drawing/2014/main" xmlns="" val="1697758280"/>
                    </a:ext>
                  </a:extLst>
                </a:gridCol>
                <a:gridCol w="901944">
                  <a:extLst>
                    <a:ext uri="{9D8B030D-6E8A-4147-A177-3AD203B41FA5}">
                      <a16:colId xmlns:a16="http://schemas.microsoft.com/office/drawing/2014/main" xmlns="" val="3410471065"/>
                    </a:ext>
                  </a:extLst>
                </a:gridCol>
                <a:gridCol w="1822681">
                  <a:extLst>
                    <a:ext uri="{9D8B030D-6E8A-4147-A177-3AD203B41FA5}">
                      <a16:colId xmlns:a16="http://schemas.microsoft.com/office/drawing/2014/main" xmlns="" val="210981598"/>
                    </a:ext>
                  </a:extLst>
                </a:gridCol>
              </a:tblGrid>
              <a:tr h="58851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Названия объектов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Число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Учебная площадь м</a:t>
                      </a:r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²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402213980"/>
                  </a:ext>
                </a:extLst>
              </a:tr>
              <a:tr h="47129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Учебные здания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4 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32687,3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863910877"/>
                  </a:ext>
                </a:extLst>
              </a:tr>
              <a:tr h="29718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Учебные аудитории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148 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31791,4 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483734580"/>
                  </a:ext>
                </a:extLst>
              </a:tr>
              <a:tr h="32019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Лабораторные аудитории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9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435,7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187185773"/>
                  </a:ext>
                </a:extLst>
              </a:tr>
              <a:tr h="29718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Компьютерные аудитории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10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460,2 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979718309"/>
                  </a:ext>
                </a:extLst>
              </a:tr>
              <a:tr h="29718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Учебные вспомогательные здания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1482,8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160562018"/>
                  </a:ext>
                </a:extLst>
              </a:tr>
            </a:tbl>
          </a:graphicData>
        </a:graphic>
      </p:graphicFrame>
      <p:cxnSp>
        <p:nvCxnSpPr>
          <p:cNvPr id="97" name="Прямая соединительная линия 96">
            <a:extLst>
              <a:ext uri="{FF2B5EF4-FFF2-40B4-BE49-F238E27FC236}">
                <a16:creationId xmlns:a16="http://schemas.microsoft.com/office/drawing/2014/main" xmlns="" id="{018B090E-5047-4E8D-BDFC-C1B74AD66DC0}"/>
              </a:ext>
            </a:extLst>
          </p:cNvPr>
          <p:cNvCxnSpPr/>
          <p:nvPr/>
        </p:nvCxnSpPr>
        <p:spPr>
          <a:xfrm flipV="1">
            <a:off x="7475659" y="7200205"/>
            <a:ext cx="3963480" cy="1911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xmlns="" id="{7994A125-5509-4645-9328-C22730323DA9}"/>
              </a:ext>
            </a:extLst>
          </p:cNvPr>
          <p:cNvSpPr txBox="1"/>
          <p:nvPr/>
        </p:nvSpPr>
        <p:spPr>
          <a:xfrm>
            <a:off x="784404" y="6865555"/>
            <a:ext cx="4927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ВНОВЬ СОЗДАВАЕМЫЕ УЧЕНИЧЕСКИЕ МЕСТА</a:t>
            </a:r>
            <a:endParaRPr lang="en-US" sz="1000" b="1" dirty="0">
              <a:solidFill>
                <a:schemeClr val="accent5">
                  <a:lumMod val="75000"/>
                </a:schemeClr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xmlns="" id="{61229093-AEBA-4F17-A09D-6B8A727B4611}"/>
              </a:ext>
            </a:extLst>
          </p:cNvPr>
          <p:cNvSpPr txBox="1"/>
          <p:nvPr/>
        </p:nvSpPr>
        <p:spPr>
          <a:xfrm>
            <a:off x="7443764" y="7734674"/>
            <a:ext cx="2005036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2022 -2023-</a:t>
            </a:r>
            <a:r>
              <a:rPr lang="ru-RU" sz="1200" b="1" dirty="0" err="1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г.г</a:t>
            </a:r>
            <a:r>
              <a:rPr lang="ru-RU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  <a:endParaRPr lang="en-US" sz="1200" b="1" dirty="0">
              <a:solidFill>
                <a:schemeClr val="bg1"/>
              </a:solidFill>
              <a:highlight>
                <a:srgbClr val="0000FF"/>
              </a:highlight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FED4BEA3-D4C4-435F-976E-65A734B80A5C}"/>
              </a:ext>
            </a:extLst>
          </p:cNvPr>
          <p:cNvSpPr txBox="1"/>
          <p:nvPr/>
        </p:nvSpPr>
        <p:spPr>
          <a:xfrm>
            <a:off x="8686800" y="8748094"/>
            <a:ext cx="1508658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2026 -2027-</a:t>
            </a:r>
            <a:r>
              <a:rPr lang="ru-RU" sz="1200" b="1" dirty="0" err="1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г.г</a:t>
            </a:r>
            <a:r>
              <a:rPr lang="ru-RU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  <a:endParaRPr lang="en-US" sz="1200" b="1" dirty="0">
              <a:solidFill>
                <a:schemeClr val="bg1"/>
              </a:solidFill>
              <a:highlight>
                <a:srgbClr val="0000FF"/>
              </a:highlight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xmlns="" id="{A96A42AD-FA73-44E0-9E93-40E3A75B6A39}"/>
              </a:ext>
            </a:extLst>
          </p:cNvPr>
          <p:cNvSpPr txBox="1"/>
          <p:nvPr/>
        </p:nvSpPr>
        <p:spPr>
          <a:xfrm>
            <a:off x="10264179" y="7734300"/>
            <a:ext cx="1470621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2027 -2030-</a:t>
            </a:r>
            <a:r>
              <a:rPr lang="ru-RU" sz="1200" b="1" dirty="0" err="1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г.г</a:t>
            </a:r>
            <a:r>
              <a:rPr lang="ru-RU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  <a:endParaRPr lang="en-US" sz="1200" b="1" dirty="0">
              <a:solidFill>
                <a:schemeClr val="bg1"/>
              </a:solidFill>
              <a:highlight>
                <a:srgbClr val="0000FF"/>
              </a:highlight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7400EC29-134C-47CD-BD29-21FF2BA8B920}"/>
              </a:ext>
            </a:extLst>
          </p:cNvPr>
          <p:cNvSpPr txBox="1"/>
          <p:nvPr/>
        </p:nvSpPr>
        <p:spPr>
          <a:xfrm>
            <a:off x="6733206" y="8113694"/>
            <a:ext cx="24869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Создание центра медицинской диагностики</a:t>
            </a:r>
            <a:endParaRPr lang="en-US" sz="1300" b="1" dirty="0">
              <a:solidFill>
                <a:srgbClr val="051D40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xmlns="" id="{E62CF41D-37BC-4992-B233-7E3C39CA1D79}"/>
              </a:ext>
            </a:extLst>
          </p:cNvPr>
          <p:cNvSpPr txBox="1"/>
          <p:nvPr/>
        </p:nvSpPr>
        <p:spPr>
          <a:xfrm>
            <a:off x="9015470" y="8024140"/>
            <a:ext cx="3368277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Улучшение обслуживания и </a:t>
            </a:r>
            <a:r>
              <a:rPr lang="en-US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/>
            </a:r>
            <a:br>
              <a:rPr lang="en-US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</a:br>
            <a:r>
              <a:rPr lang="ru-RU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услуг цифрового </a:t>
            </a:r>
            <a:r>
              <a:rPr lang="en-US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/>
            </a:r>
            <a:br>
              <a:rPr lang="en-US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</a:br>
            <a:r>
              <a:rPr lang="ru-RU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маркетинга</a:t>
            </a:r>
            <a:endParaRPr lang="en-US" sz="1300" b="1" dirty="0">
              <a:solidFill>
                <a:srgbClr val="051D40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xmlns="" id="{874AE898-29F7-4C2C-9103-2FE2A12619A2}"/>
              </a:ext>
            </a:extLst>
          </p:cNvPr>
          <p:cNvSpPr txBox="1"/>
          <p:nvPr/>
        </p:nvSpPr>
        <p:spPr>
          <a:xfrm>
            <a:off x="7351165" y="9089123"/>
            <a:ext cx="37733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Создание центра обучения языкам, обучения в сфере IT, обучения на медицинских курсах</a:t>
            </a:r>
            <a:endParaRPr lang="en-US" sz="1400" b="1" dirty="0">
              <a:solidFill>
                <a:srgbClr val="051D40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xmlns="" id="{FA61FB76-5773-4D76-8E6C-A16047859C55}"/>
              </a:ext>
            </a:extLst>
          </p:cNvPr>
          <p:cNvSpPr txBox="1"/>
          <p:nvPr/>
        </p:nvSpPr>
        <p:spPr>
          <a:xfrm>
            <a:off x="13997480" y="1460046"/>
            <a:ext cx="3464294" cy="34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СТУДЕНЧЕСКОЕ ОБЩЕЖИТИЕ</a:t>
            </a:r>
            <a:endParaRPr lang="en-US" sz="1600" b="1" dirty="0">
              <a:solidFill>
                <a:schemeClr val="bg1"/>
              </a:solidFill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xmlns="" id="{5D538BA6-5D9E-4033-ABF1-6FFCAF5F2FFC}"/>
              </a:ext>
            </a:extLst>
          </p:cNvPr>
          <p:cNvSpPr txBox="1"/>
          <p:nvPr/>
        </p:nvSpPr>
        <p:spPr>
          <a:xfrm>
            <a:off x="17325166" y="3722348"/>
            <a:ext cx="10108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1650</a:t>
            </a:r>
          </a:p>
          <a:p>
            <a:endParaRPr lang="en-US" sz="1200" dirty="0">
              <a:solidFill>
                <a:schemeClr val="bg1"/>
              </a:solidFill>
              <a:latin typeface="DM Sans Bold" panose="020B060402020202020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xmlns="" id="{F5220F7F-30EF-4F6A-8D22-5380FE017C4F}"/>
              </a:ext>
            </a:extLst>
          </p:cNvPr>
          <p:cNvSpPr txBox="1"/>
          <p:nvPr/>
        </p:nvSpPr>
        <p:spPr>
          <a:xfrm>
            <a:off x="12580657" y="4732227"/>
            <a:ext cx="10108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  <a:latin typeface="DM Sans Bold" panose="020B0604020202020204" charset="0"/>
              </a:rPr>
              <a:t>200</a:t>
            </a:r>
            <a:endParaRPr lang="en-US" sz="1200" b="1" dirty="0">
              <a:solidFill>
                <a:schemeClr val="bg1"/>
              </a:solidFill>
              <a:latin typeface="DM Sans Bold" panose="020B060402020202020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xmlns="" id="{68BE4E3B-AE25-4104-BAF1-671737574380}"/>
              </a:ext>
            </a:extLst>
          </p:cNvPr>
          <p:cNvSpPr txBox="1"/>
          <p:nvPr/>
        </p:nvSpPr>
        <p:spPr>
          <a:xfrm>
            <a:off x="17453410" y="3390735"/>
            <a:ext cx="770451" cy="252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b="1" dirty="0">
                <a:solidFill>
                  <a:schemeClr val="accent6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+1500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xmlns="" id="{A6485F51-7147-4702-B6EE-574F956C1648}"/>
              </a:ext>
            </a:extLst>
          </p:cNvPr>
          <p:cNvSpPr txBox="1"/>
          <p:nvPr/>
        </p:nvSpPr>
        <p:spPr>
          <a:xfrm>
            <a:off x="12649498" y="4089055"/>
            <a:ext cx="770451" cy="252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b="1" dirty="0">
                <a:solidFill>
                  <a:schemeClr val="accent6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+50</a:t>
            </a:r>
          </a:p>
        </p:txBody>
      </p:sp>
      <p:grpSp>
        <p:nvGrpSpPr>
          <p:cNvPr id="111" name="Группа 110">
            <a:extLst>
              <a:ext uri="{FF2B5EF4-FFF2-40B4-BE49-F238E27FC236}">
                <a16:creationId xmlns:a16="http://schemas.microsoft.com/office/drawing/2014/main" xmlns="" id="{D6EC3832-37BB-44B1-8566-5D286434F7DC}"/>
              </a:ext>
            </a:extLst>
          </p:cNvPr>
          <p:cNvGrpSpPr/>
          <p:nvPr/>
        </p:nvGrpSpPr>
        <p:grpSpPr>
          <a:xfrm>
            <a:off x="12756709" y="1928554"/>
            <a:ext cx="7048957" cy="3372061"/>
            <a:chOff x="8181435" y="1098528"/>
            <a:chExt cx="5276617" cy="3414260"/>
          </a:xfrm>
        </p:grpSpPr>
        <p:cxnSp>
          <p:nvCxnSpPr>
            <p:cNvPr id="112" name="Прямая соединительная линия 111">
              <a:extLst>
                <a:ext uri="{FF2B5EF4-FFF2-40B4-BE49-F238E27FC236}">
                  <a16:creationId xmlns:a16="http://schemas.microsoft.com/office/drawing/2014/main" xmlns="" id="{ABD5FD99-784B-48DA-876A-53711AD52A87}"/>
                </a:ext>
              </a:extLst>
            </p:cNvPr>
            <p:cNvCxnSpPr>
              <a:cxnSpLocks/>
            </p:cNvCxnSpPr>
            <p:nvPr/>
          </p:nvCxnSpPr>
          <p:spPr>
            <a:xfrm>
              <a:off x="8602617" y="1145757"/>
              <a:ext cx="9727" cy="32409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Прямая соединительная линия 112">
              <a:extLst>
                <a:ext uri="{FF2B5EF4-FFF2-40B4-BE49-F238E27FC236}">
                  <a16:creationId xmlns:a16="http://schemas.microsoft.com/office/drawing/2014/main" xmlns="" id="{9351B94B-2629-4A49-BCAB-9D84EE6F16CB}"/>
                </a:ext>
              </a:extLst>
            </p:cNvPr>
            <p:cNvCxnSpPr>
              <a:cxnSpLocks/>
            </p:cNvCxnSpPr>
            <p:nvPr/>
          </p:nvCxnSpPr>
          <p:spPr>
            <a:xfrm>
              <a:off x="9315517" y="1166305"/>
              <a:ext cx="0" cy="32204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Прямая соединительная линия 113">
              <a:extLst>
                <a:ext uri="{FF2B5EF4-FFF2-40B4-BE49-F238E27FC236}">
                  <a16:creationId xmlns:a16="http://schemas.microsoft.com/office/drawing/2014/main" xmlns="" id="{B0B651C6-2D21-4228-8D58-8209A176F9AF}"/>
                </a:ext>
              </a:extLst>
            </p:cNvPr>
            <p:cNvCxnSpPr>
              <a:cxnSpLocks/>
            </p:cNvCxnSpPr>
            <p:nvPr/>
          </p:nvCxnSpPr>
          <p:spPr>
            <a:xfrm>
              <a:off x="10038164" y="1178214"/>
              <a:ext cx="0" cy="31763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Прямая соединительная линия 114">
              <a:extLst>
                <a:ext uri="{FF2B5EF4-FFF2-40B4-BE49-F238E27FC236}">
                  <a16:creationId xmlns:a16="http://schemas.microsoft.com/office/drawing/2014/main" xmlns="" id="{756A2B74-DFA2-4298-A782-D24F1E875559}"/>
                </a:ext>
              </a:extLst>
            </p:cNvPr>
            <p:cNvCxnSpPr>
              <a:cxnSpLocks/>
            </p:cNvCxnSpPr>
            <p:nvPr/>
          </p:nvCxnSpPr>
          <p:spPr>
            <a:xfrm>
              <a:off x="11370065" y="1166305"/>
              <a:ext cx="0" cy="31882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Прямая соединительная линия 115">
              <a:extLst>
                <a:ext uri="{FF2B5EF4-FFF2-40B4-BE49-F238E27FC236}">
                  <a16:creationId xmlns:a16="http://schemas.microsoft.com/office/drawing/2014/main" xmlns="" id="{B0932310-4A9E-47B0-B14B-2390A280AA36}"/>
                </a:ext>
              </a:extLst>
            </p:cNvPr>
            <p:cNvCxnSpPr>
              <a:cxnSpLocks/>
            </p:cNvCxnSpPr>
            <p:nvPr/>
          </p:nvCxnSpPr>
          <p:spPr>
            <a:xfrm>
              <a:off x="10674672" y="1163089"/>
              <a:ext cx="0" cy="31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Прямая соединительная линия 116">
              <a:extLst>
                <a:ext uri="{FF2B5EF4-FFF2-40B4-BE49-F238E27FC236}">
                  <a16:creationId xmlns:a16="http://schemas.microsoft.com/office/drawing/2014/main" xmlns="" id="{769E7426-E754-4F39-92ED-52A313FD2EA4}"/>
                </a:ext>
              </a:extLst>
            </p:cNvPr>
            <p:cNvCxnSpPr>
              <a:cxnSpLocks/>
            </p:cNvCxnSpPr>
            <p:nvPr/>
          </p:nvCxnSpPr>
          <p:spPr>
            <a:xfrm>
              <a:off x="11950746" y="1145757"/>
              <a:ext cx="0" cy="31712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Прямая соединительная линия 117">
              <a:extLst>
                <a:ext uri="{FF2B5EF4-FFF2-40B4-BE49-F238E27FC236}">
                  <a16:creationId xmlns:a16="http://schemas.microsoft.com/office/drawing/2014/main" xmlns="" id="{9195F90B-FC1C-4016-9E9B-CA7536B69B7A}"/>
                </a:ext>
              </a:extLst>
            </p:cNvPr>
            <p:cNvCxnSpPr>
              <a:cxnSpLocks/>
              <a:endCxn id="122" idx="3"/>
            </p:cNvCxnSpPr>
            <p:nvPr/>
          </p:nvCxnSpPr>
          <p:spPr>
            <a:xfrm flipV="1">
              <a:off x="8797759" y="1891457"/>
              <a:ext cx="917526" cy="40666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Прямая соединительная линия 118">
              <a:extLst>
                <a:ext uri="{FF2B5EF4-FFF2-40B4-BE49-F238E27FC236}">
                  <a16:creationId xmlns:a16="http://schemas.microsoft.com/office/drawing/2014/main" xmlns="" id="{E223DA98-63D6-4510-850C-8B2B1EAAA3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31980" y="1427781"/>
              <a:ext cx="1937047" cy="43043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Овал 119">
              <a:extLst>
                <a:ext uri="{FF2B5EF4-FFF2-40B4-BE49-F238E27FC236}">
                  <a16:creationId xmlns:a16="http://schemas.microsoft.com/office/drawing/2014/main" xmlns="" id="{10B75A55-43EF-4936-856D-196F27600EFB}"/>
                </a:ext>
              </a:extLst>
            </p:cNvPr>
            <p:cNvSpPr/>
            <p:nvPr/>
          </p:nvSpPr>
          <p:spPr>
            <a:xfrm>
              <a:off x="10981098" y="1528099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21" name="Овал 120">
              <a:extLst>
                <a:ext uri="{FF2B5EF4-FFF2-40B4-BE49-F238E27FC236}">
                  <a16:creationId xmlns:a16="http://schemas.microsoft.com/office/drawing/2014/main" xmlns="" id="{3F4E8911-3992-437D-BDAC-DD45BF3F7A9A}"/>
                </a:ext>
              </a:extLst>
            </p:cNvPr>
            <p:cNvSpPr/>
            <p:nvPr/>
          </p:nvSpPr>
          <p:spPr>
            <a:xfrm>
              <a:off x="10368422" y="1642385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22" name="Овал 121">
              <a:extLst>
                <a:ext uri="{FF2B5EF4-FFF2-40B4-BE49-F238E27FC236}">
                  <a16:creationId xmlns:a16="http://schemas.microsoft.com/office/drawing/2014/main" xmlns="" id="{606D12F3-17DC-4ABA-A3F5-9D96CD3978DF}"/>
                </a:ext>
              </a:extLst>
            </p:cNvPr>
            <p:cNvSpPr/>
            <p:nvPr/>
          </p:nvSpPr>
          <p:spPr>
            <a:xfrm>
              <a:off x="9698236" y="1793908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23" name="Овал 122">
              <a:extLst>
                <a:ext uri="{FF2B5EF4-FFF2-40B4-BE49-F238E27FC236}">
                  <a16:creationId xmlns:a16="http://schemas.microsoft.com/office/drawing/2014/main" xmlns="" id="{AC84824C-B76B-4222-8188-343240909F5F}"/>
                </a:ext>
              </a:extLst>
            </p:cNvPr>
            <p:cNvSpPr/>
            <p:nvPr/>
          </p:nvSpPr>
          <p:spPr>
            <a:xfrm>
              <a:off x="8724837" y="2241634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24" name="Овал 123">
              <a:extLst>
                <a:ext uri="{FF2B5EF4-FFF2-40B4-BE49-F238E27FC236}">
                  <a16:creationId xmlns:a16="http://schemas.microsoft.com/office/drawing/2014/main" xmlns="" id="{9B9D5EDF-32E5-4BDB-8C86-94B5C5A7AA9C}"/>
                </a:ext>
              </a:extLst>
            </p:cNvPr>
            <p:cNvSpPr/>
            <p:nvPr/>
          </p:nvSpPr>
          <p:spPr>
            <a:xfrm>
              <a:off x="11584407" y="1360112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cxnSp>
          <p:nvCxnSpPr>
            <p:cNvPr id="125" name="Прямая соединительная линия 124">
              <a:extLst>
                <a:ext uri="{FF2B5EF4-FFF2-40B4-BE49-F238E27FC236}">
                  <a16:creationId xmlns:a16="http://schemas.microsoft.com/office/drawing/2014/main" xmlns="" id="{F99CF917-FE39-4D07-A8A3-33E0C301C058}"/>
                </a:ext>
              </a:extLst>
            </p:cNvPr>
            <p:cNvCxnSpPr/>
            <p:nvPr/>
          </p:nvCxnSpPr>
          <p:spPr>
            <a:xfrm flipV="1">
              <a:off x="8216854" y="2872848"/>
              <a:ext cx="3619500" cy="74684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Овал 125">
              <a:extLst>
                <a:ext uri="{FF2B5EF4-FFF2-40B4-BE49-F238E27FC236}">
                  <a16:creationId xmlns:a16="http://schemas.microsoft.com/office/drawing/2014/main" xmlns="" id="{93791F79-1B15-4A9E-815D-86762E0A19E8}"/>
                </a:ext>
              </a:extLst>
            </p:cNvPr>
            <p:cNvSpPr/>
            <p:nvPr/>
          </p:nvSpPr>
          <p:spPr>
            <a:xfrm>
              <a:off x="8181435" y="3558864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27" name="Овал 126">
              <a:extLst>
                <a:ext uri="{FF2B5EF4-FFF2-40B4-BE49-F238E27FC236}">
                  <a16:creationId xmlns:a16="http://schemas.microsoft.com/office/drawing/2014/main" xmlns="" id="{43C42B3C-4BF6-4691-BD2D-720A579FC6CD}"/>
                </a:ext>
              </a:extLst>
            </p:cNvPr>
            <p:cNvSpPr/>
            <p:nvPr/>
          </p:nvSpPr>
          <p:spPr>
            <a:xfrm>
              <a:off x="10971741" y="2957630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28" name="Овал 127">
              <a:extLst>
                <a:ext uri="{FF2B5EF4-FFF2-40B4-BE49-F238E27FC236}">
                  <a16:creationId xmlns:a16="http://schemas.microsoft.com/office/drawing/2014/main" xmlns="" id="{F02CD4EA-C241-4FB0-8B41-FFED7332166A}"/>
                </a:ext>
              </a:extLst>
            </p:cNvPr>
            <p:cNvSpPr/>
            <p:nvPr/>
          </p:nvSpPr>
          <p:spPr>
            <a:xfrm>
              <a:off x="10317502" y="3109079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29" name="Овал 128">
              <a:extLst>
                <a:ext uri="{FF2B5EF4-FFF2-40B4-BE49-F238E27FC236}">
                  <a16:creationId xmlns:a16="http://schemas.microsoft.com/office/drawing/2014/main" xmlns="" id="{955FCE2D-3571-457C-883E-EA565559C09E}"/>
                </a:ext>
              </a:extLst>
            </p:cNvPr>
            <p:cNvSpPr/>
            <p:nvPr/>
          </p:nvSpPr>
          <p:spPr>
            <a:xfrm>
              <a:off x="9657076" y="3246271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30" name="Овал 129">
              <a:extLst>
                <a:ext uri="{FF2B5EF4-FFF2-40B4-BE49-F238E27FC236}">
                  <a16:creationId xmlns:a16="http://schemas.microsoft.com/office/drawing/2014/main" xmlns="" id="{27A441A5-42E7-4E86-884D-1E4D32644FEF}"/>
                </a:ext>
              </a:extLst>
            </p:cNvPr>
            <p:cNvSpPr/>
            <p:nvPr/>
          </p:nvSpPr>
          <p:spPr>
            <a:xfrm>
              <a:off x="8950883" y="3412099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31" name="Овал 130">
              <a:extLst>
                <a:ext uri="{FF2B5EF4-FFF2-40B4-BE49-F238E27FC236}">
                  <a16:creationId xmlns:a16="http://schemas.microsoft.com/office/drawing/2014/main" xmlns="" id="{1716E952-E63B-4096-B3F9-4C4B98F926AE}"/>
                </a:ext>
              </a:extLst>
            </p:cNvPr>
            <p:cNvSpPr/>
            <p:nvPr/>
          </p:nvSpPr>
          <p:spPr>
            <a:xfrm>
              <a:off x="11794175" y="2812593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grpSp>
          <p:nvGrpSpPr>
            <p:cNvPr id="132" name="Группа 131">
              <a:extLst>
                <a:ext uri="{FF2B5EF4-FFF2-40B4-BE49-F238E27FC236}">
                  <a16:creationId xmlns:a16="http://schemas.microsoft.com/office/drawing/2014/main" xmlns="" id="{FE60C904-1A3D-4830-BB97-A1CB4AA943E5}"/>
                </a:ext>
              </a:extLst>
            </p:cNvPr>
            <p:cNvGrpSpPr/>
            <p:nvPr/>
          </p:nvGrpSpPr>
          <p:grpSpPr>
            <a:xfrm>
              <a:off x="8256419" y="3875542"/>
              <a:ext cx="3563490" cy="425508"/>
              <a:chOff x="8144642" y="3721108"/>
              <a:chExt cx="3563490" cy="425508"/>
            </a:xfrm>
          </p:grpSpPr>
          <p:cxnSp>
            <p:nvCxnSpPr>
              <p:cNvPr id="166" name="Прямая соединительная линия 165">
                <a:extLst>
                  <a:ext uri="{FF2B5EF4-FFF2-40B4-BE49-F238E27FC236}">
                    <a16:creationId xmlns:a16="http://schemas.microsoft.com/office/drawing/2014/main" xmlns="" id="{95FF7F34-D70C-4793-A0CE-AB36B09281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1435" y="3820759"/>
                <a:ext cx="3519389" cy="29404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Овал 166">
                <a:extLst>
                  <a:ext uri="{FF2B5EF4-FFF2-40B4-BE49-F238E27FC236}">
                    <a16:creationId xmlns:a16="http://schemas.microsoft.com/office/drawing/2014/main" xmlns="" id="{E06F5F4D-BA63-4DB2-A733-A14529BCF142}"/>
                  </a:ext>
                </a:extLst>
              </p:cNvPr>
              <p:cNvSpPr/>
              <p:nvPr/>
            </p:nvSpPr>
            <p:spPr>
              <a:xfrm>
                <a:off x="8144642" y="3721108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168" name="Овал 167">
                <a:extLst>
                  <a:ext uri="{FF2B5EF4-FFF2-40B4-BE49-F238E27FC236}">
                    <a16:creationId xmlns:a16="http://schemas.microsoft.com/office/drawing/2014/main" xmlns="" id="{6A867122-EC71-475E-AF5A-1042078B8734}"/>
                  </a:ext>
                </a:extLst>
              </p:cNvPr>
              <p:cNvSpPr/>
              <p:nvPr/>
            </p:nvSpPr>
            <p:spPr>
              <a:xfrm>
                <a:off x="9685323" y="3873048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169" name="Овал 168">
                <a:extLst>
                  <a:ext uri="{FF2B5EF4-FFF2-40B4-BE49-F238E27FC236}">
                    <a16:creationId xmlns:a16="http://schemas.microsoft.com/office/drawing/2014/main" xmlns="" id="{20401A69-A26B-40E5-9ABB-1805BC7D5EE6}"/>
                  </a:ext>
                </a:extLst>
              </p:cNvPr>
              <p:cNvSpPr/>
              <p:nvPr/>
            </p:nvSpPr>
            <p:spPr>
              <a:xfrm>
                <a:off x="8933278" y="3806521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170" name="Овал 169">
                <a:extLst>
                  <a:ext uri="{FF2B5EF4-FFF2-40B4-BE49-F238E27FC236}">
                    <a16:creationId xmlns:a16="http://schemas.microsoft.com/office/drawing/2014/main" xmlns="" id="{BA62BC11-7210-4AF8-AC6F-4517CC25AFCE}"/>
                  </a:ext>
                </a:extLst>
              </p:cNvPr>
              <p:cNvSpPr/>
              <p:nvPr/>
            </p:nvSpPr>
            <p:spPr>
              <a:xfrm>
                <a:off x="10298210" y="3930191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171" name="Овал 170">
                <a:extLst>
                  <a:ext uri="{FF2B5EF4-FFF2-40B4-BE49-F238E27FC236}">
                    <a16:creationId xmlns:a16="http://schemas.microsoft.com/office/drawing/2014/main" xmlns="" id="{2FA381B5-5145-4A90-BE33-ADCFCFBDFF23}"/>
                  </a:ext>
                </a:extLst>
              </p:cNvPr>
              <p:cNvSpPr/>
              <p:nvPr/>
            </p:nvSpPr>
            <p:spPr>
              <a:xfrm>
                <a:off x="11044792" y="3997028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172" name="Овал 171">
                <a:extLst>
                  <a:ext uri="{FF2B5EF4-FFF2-40B4-BE49-F238E27FC236}">
                    <a16:creationId xmlns:a16="http://schemas.microsoft.com/office/drawing/2014/main" xmlns="" id="{9DC8A42C-7E73-477D-9E6E-F36BE972EC5D}"/>
                  </a:ext>
                </a:extLst>
              </p:cNvPr>
              <p:cNvSpPr/>
              <p:nvPr/>
            </p:nvSpPr>
            <p:spPr>
              <a:xfrm>
                <a:off x="11591715" y="4032330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xmlns="" id="{E51E83A3-10BC-4EDD-8D13-B251CB9A7F84}"/>
                </a:ext>
              </a:extLst>
            </p:cNvPr>
            <p:cNvSpPr txBox="1"/>
            <p:nvPr/>
          </p:nvSpPr>
          <p:spPr>
            <a:xfrm>
              <a:off x="8722143" y="1116016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2023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xmlns="" id="{28A9B80E-EA33-4F09-B128-854F6B22D8CA}"/>
                </a:ext>
              </a:extLst>
            </p:cNvPr>
            <p:cNvSpPr txBox="1"/>
            <p:nvPr/>
          </p:nvSpPr>
          <p:spPr>
            <a:xfrm>
              <a:off x="10772489" y="1106058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2026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xmlns="" id="{117CA1BA-B1D1-4C8F-A497-F9DDF95532D9}"/>
                </a:ext>
              </a:extLst>
            </p:cNvPr>
            <p:cNvSpPr txBox="1"/>
            <p:nvPr/>
          </p:nvSpPr>
          <p:spPr>
            <a:xfrm>
              <a:off x="11405716" y="1106058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2027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xmlns="" id="{AC3B384C-49AA-45A2-9BE5-1FB6866CE435}"/>
                </a:ext>
              </a:extLst>
            </p:cNvPr>
            <p:cNvSpPr txBox="1"/>
            <p:nvPr/>
          </p:nvSpPr>
          <p:spPr>
            <a:xfrm>
              <a:off x="10160891" y="1098528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2025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xmlns="" id="{3013119C-2F0A-4481-B67D-9242B3F16809}"/>
                </a:ext>
              </a:extLst>
            </p:cNvPr>
            <p:cNvSpPr txBox="1"/>
            <p:nvPr/>
          </p:nvSpPr>
          <p:spPr>
            <a:xfrm>
              <a:off x="9455874" y="1116016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2024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xmlns="" id="{076AA24A-8237-4C85-A862-A858C1D5F010}"/>
                </a:ext>
              </a:extLst>
            </p:cNvPr>
            <p:cNvSpPr txBox="1"/>
            <p:nvPr/>
          </p:nvSpPr>
          <p:spPr>
            <a:xfrm>
              <a:off x="8565765" y="2286103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200" b="1" dirty="0">
                  <a:solidFill>
                    <a:schemeClr val="bg1"/>
                  </a:solidFill>
                </a:rPr>
                <a:t>200</a:t>
              </a:r>
              <a:endParaRPr lang="en-US" sz="1200" b="1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xmlns="" id="{46638E8C-5D5F-4959-AD3E-BFA8F785C1E2}"/>
                </a:ext>
              </a:extLst>
            </p:cNvPr>
            <p:cNvSpPr txBox="1"/>
            <p:nvPr/>
          </p:nvSpPr>
          <p:spPr>
            <a:xfrm>
              <a:off x="10776675" y="1631577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10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xmlns="" id="{D320F243-412D-42EA-9041-659B201AD9F6}"/>
                </a:ext>
              </a:extLst>
            </p:cNvPr>
            <p:cNvSpPr txBox="1"/>
            <p:nvPr/>
          </p:nvSpPr>
          <p:spPr>
            <a:xfrm>
              <a:off x="10158951" y="1746901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50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xmlns="" id="{EFBF011B-5439-4F5C-BED2-04756CFA843E}"/>
                </a:ext>
              </a:extLst>
            </p:cNvPr>
            <p:cNvSpPr txBox="1"/>
            <p:nvPr/>
          </p:nvSpPr>
          <p:spPr>
            <a:xfrm>
              <a:off x="9526469" y="1919194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250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xmlns="" id="{8EA568E2-D371-4DFF-8F42-DE79332990BD}"/>
                </a:ext>
              </a:extLst>
            </p:cNvPr>
            <p:cNvSpPr txBox="1"/>
            <p:nvPr/>
          </p:nvSpPr>
          <p:spPr>
            <a:xfrm>
              <a:off x="11414627" y="1479486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000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xmlns="" id="{2DC5B8C8-C59A-4DA0-BD98-E8537841C3F8}"/>
                </a:ext>
              </a:extLst>
            </p:cNvPr>
            <p:cNvSpPr txBox="1"/>
            <p:nvPr/>
          </p:nvSpPr>
          <p:spPr>
            <a:xfrm>
              <a:off x="8616340" y="2457421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2023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xmlns="" id="{B151671E-DD8F-41FF-9DF0-35E5FF593269}"/>
                </a:ext>
              </a:extLst>
            </p:cNvPr>
            <p:cNvSpPr txBox="1"/>
            <p:nvPr/>
          </p:nvSpPr>
          <p:spPr>
            <a:xfrm>
              <a:off x="9389117" y="2439000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2024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xmlns="" id="{2EA0B42F-2D42-4748-8D7F-C3DEE507032A}"/>
                </a:ext>
              </a:extLst>
            </p:cNvPr>
            <p:cNvSpPr txBox="1"/>
            <p:nvPr/>
          </p:nvSpPr>
          <p:spPr>
            <a:xfrm>
              <a:off x="10105829" y="2447857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2026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xmlns="" id="{9A4FCDF1-91F3-45E9-9864-FFBCC9B0070D}"/>
                </a:ext>
              </a:extLst>
            </p:cNvPr>
            <p:cNvSpPr txBox="1"/>
            <p:nvPr/>
          </p:nvSpPr>
          <p:spPr>
            <a:xfrm>
              <a:off x="10765533" y="2476517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2026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xmlns="" id="{131F0D50-B090-44B9-A55A-127212413683}"/>
                </a:ext>
              </a:extLst>
            </p:cNvPr>
            <p:cNvSpPr txBox="1"/>
            <p:nvPr/>
          </p:nvSpPr>
          <p:spPr>
            <a:xfrm>
              <a:off x="11380817" y="2409889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2027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xmlns="" id="{375FC5BB-F0FC-4EFA-9B69-E5F9BE731302}"/>
                </a:ext>
              </a:extLst>
            </p:cNvPr>
            <p:cNvSpPr txBox="1"/>
            <p:nvPr/>
          </p:nvSpPr>
          <p:spPr>
            <a:xfrm>
              <a:off x="10310416" y="2016348"/>
              <a:ext cx="3147636" cy="436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ru-RU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Сохраняющаяся потребность в </a:t>
              </a:r>
              <a:r>
                <a:rPr lang="en-US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/>
              </a:r>
              <a:br>
                <a:rPr lang="en-US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</a:br>
              <a:r>
                <a:rPr lang="ru-RU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студенческом общежитии</a:t>
              </a:r>
              <a:endParaRPr lang="en-US" sz="105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xmlns="" id="{D0980B8F-06B1-44DF-939A-3C7FF139DCA9}"/>
                </a:ext>
              </a:extLst>
            </p:cNvPr>
            <p:cNvSpPr txBox="1"/>
            <p:nvPr/>
          </p:nvSpPr>
          <p:spPr>
            <a:xfrm>
              <a:off x="8764914" y="3600521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2023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xmlns="" id="{F822B928-8B09-47F9-9154-AE4D7B1CF6D8}"/>
                </a:ext>
              </a:extLst>
            </p:cNvPr>
            <p:cNvSpPr txBox="1"/>
            <p:nvPr/>
          </p:nvSpPr>
          <p:spPr>
            <a:xfrm>
              <a:off x="9484759" y="3597564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2024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xmlns="" id="{3CAE5842-C506-4677-9B88-4F3ABCD8E96A}"/>
                </a:ext>
              </a:extLst>
            </p:cNvPr>
            <p:cNvSpPr txBox="1"/>
            <p:nvPr/>
          </p:nvSpPr>
          <p:spPr>
            <a:xfrm>
              <a:off x="10162513" y="3617615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2026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xmlns="" id="{C6EF952E-7C3C-4CEC-AC47-AB9683201C05}"/>
                </a:ext>
              </a:extLst>
            </p:cNvPr>
            <p:cNvSpPr txBox="1"/>
            <p:nvPr/>
          </p:nvSpPr>
          <p:spPr>
            <a:xfrm>
              <a:off x="10818836" y="3610624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2026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xmlns="" id="{0F09B663-6BA6-41B7-9A89-E70AC4647CEF}"/>
                </a:ext>
              </a:extLst>
            </p:cNvPr>
            <p:cNvSpPr txBox="1"/>
            <p:nvPr/>
          </p:nvSpPr>
          <p:spPr>
            <a:xfrm>
              <a:off x="11441537" y="3591110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2027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xmlns="" id="{FCB3B4E7-6E4B-48C2-9D26-440FE9A1C1A6}"/>
                </a:ext>
              </a:extLst>
            </p:cNvPr>
            <p:cNvSpPr txBox="1"/>
            <p:nvPr/>
          </p:nvSpPr>
          <p:spPr>
            <a:xfrm>
              <a:off x="8192054" y="3555098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xmlns="" id="{D144D1C9-3DF3-4251-B158-CAD17C41879A}"/>
                </a:ext>
              </a:extLst>
            </p:cNvPr>
            <p:cNvSpPr txBox="1"/>
            <p:nvPr/>
          </p:nvSpPr>
          <p:spPr>
            <a:xfrm>
              <a:off x="9526469" y="3318665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25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xmlns="" id="{33AA5073-8C24-4A52-9DA4-6BA1D9000346}"/>
                </a:ext>
              </a:extLst>
            </p:cNvPr>
            <p:cNvSpPr txBox="1"/>
            <p:nvPr/>
          </p:nvSpPr>
          <p:spPr>
            <a:xfrm>
              <a:off x="10783546" y="3080294"/>
              <a:ext cx="756696" cy="4674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75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xmlns="" id="{E685BA78-DCC4-4BAF-80DF-7BBCB0A0F4CD}"/>
                </a:ext>
              </a:extLst>
            </p:cNvPr>
            <p:cNvSpPr txBox="1"/>
            <p:nvPr/>
          </p:nvSpPr>
          <p:spPr>
            <a:xfrm>
              <a:off x="8982066" y="3394784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xmlns="" id="{ACAFACEF-D6DB-4FEC-9F46-A064585F1703}"/>
                </a:ext>
              </a:extLst>
            </p:cNvPr>
            <p:cNvSpPr txBox="1"/>
            <p:nvPr/>
          </p:nvSpPr>
          <p:spPr>
            <a:xfrm>
              <a:off x="8802207" y="4038536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xmlns="" id="{184B70E2-F1C7-4C31-9262-213060D93CBA}"/>
                </a:ext>
              </a:extLst>
            </p:cNvPr>
            <p:cNvSpPr txBox="1"/>
            <p:nvPr/>
          </p:nvSpPr>
          <p:spPr>
            <a:xfrm>
              <a:off x="10258569" y="4156862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25</a:t>
              </a:r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xmlns="" id="{53F261C0-63A7-4D20-8ACC-5689EE32AF70}"/>
                </a:ext>
              </a:extLst>
            </p:cNvPr>
            <p:cNvSpPr txBox="1"/>
            <p:nvPr/>
          </p:nvSpPr>
          <p:spPr>
            <a:xfrm>
              <a:off x="9630374" y="4082685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50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xmlns="" id="{ED272D6D-EBC3-4097-BE30-FC74EB245BBD}"/>
                </a:ext>
              </a:extLst>
            </p:cNvPr>
            <p:cNvSpPr txBox="1"/>
            <p:nvPr/>
          </p:nvSpPr>
          <p:spPr>
            <a:xfrm>
              <a:off x="10868916" y="4216065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250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xmlns="" id="{8E1BEB07-9B4D-4986-8429-A2EB4263BB12}"/>
                </a:ext>
              </a:extLst>
            </p:cNvPr>
            <p:cNvSpPr txBox="1"/>
            <p:nvPr/>
          </p:nvSpPr>
          <p:spPr>
            <a:xfrm>
              <a:off x="11468900" y="4232323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35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xmlns="" id="{4616F94C-C9D4-4F71-8ACF-2F411B314619}"/>
                </a:ext>
              </a:extLst>
            </p:cNvPr>
            <p:cNvSpPr txBox="1"/>
            <p:nvPr/>
          </p:nvSpPr>
          <p:spPr>
            <a:xfrm>
              <a:off x="9329095" y="3034082"/>
              <a:ext cx="576734" cy="255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rgbClr val="F79646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+250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xmlns="" id="{77BC6FC1-8D1F-4C38-A662-85180F84A619}"/>
                </a:ext>
              </a:extLst>
            </p:cNvPr>
            <p:cNvSpPr txBox="1"/>
            <p:nvPr/>
          </p:nvSpPr>
          <p:spPr>
            <a:xfrm>
              <a:off x="10072677" y="2903339"/>
              <a:ext cx="576734" cy="255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rgbClr val="F79646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+500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xmlns="" id="{D2152596-0C8C-47B5-83F5-B8A7F11D439E}"/>
                </a:ext>
              </a:extLst>
            </p:cNvPr>
            <p:cNvSpPr txBox="1"/>
            <p:nvPr/>
          </p:nvSpPr>
          <p:spPr>
            <a:xfrm>
              <a:off x="10175764" y="3219553"/>
              <a:ext cx="1849625" cy="4387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7000"/>
                </a:lnSpc>
                <a:spcAft>
                  <a:spcPts val="800"/>
                </a:spcAft>
              </a:pPr>
              <a:r>
                <a:rPr lang="ru-RU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Сохраняющаяся потребность в студенческом общежитии</a:t>
              </a:r>
              <a:endParaRPr lang="en-US" sz="105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73" name="Таблица 172">
            <a:extLst>
              <a:ext uri="{FF2B5EF4-FFF2-40B4-BE49-F238E27FC236}">
                <a16:creationId xmlns:a16="http://schemas.microsoft.com/office/drawing/2014/main" xmlns="" id="{46056453-7679-49AA-A20D-E575252C0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904612"/>
              </p:ext>
            </p:extLst>
          </p:nvPr>
        </p:nvGraphicFramePr>
        <p:xfrm>
          <a:off x="12589053" y="6046819"/>
          <a:ext cx="5371425" cy="173665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2286">
                  <a:extLst>
                    <a:ext uri="{9D8B030D-6E8A-4147-A177-3AD203B41FA5}">
                      <a16:colId xmlns:a16="http://schemas.microsoft.com/office/drawing/2014/main" xmlns="" val="3221827101"/>
                    </a:ext>
                  </a:extLst>
                </a:gridCol>
                <a:gridCol w="1541844">
                  <a:extLst>
                    <a:ext uri="{9D8B030D-6E8A-4147-A177-3AD203B41FA5}">
                      <a16:colId xmlns:a16="http://schemas.microsoft.com/office/drawing/2014/main" xmlns="" val="2099833603"/>
                    </a:ext>
                  </a:extLst>
                </a:gridCol>
                <a:gridCol w="1317867">
                  <a:extLst>
                    <a:ext uri="{9D8B030D-6E8A-4147-A177-3AD203B41FA5}">
                      <a16:colId xmlns:a16="http://schemas.microsoft.com/office/drawing/2014/main" xmlns="" val="2830177320"/>
                    </a:ext>
                  </a:extLst>
                </a:gridCol>
                <a:gridCol w="1012021">
                  <a:extLst>
                    <a:ext uri="{9D8B030D-6E8A-4147-A177-3AD203B41FA5}">
                      <a16:colId xmlns:a16="http://schemas.microsoft.com/office/drawing/2014/main" xmlns="" val="1281292787"/>
                    </a:ext>
                  </a:extLst>
                </a:gridCol>
                <a:gridCol w="1077407">
                  <a:extLst>
                    <a:ext uri="{9D8B030D-6E8A-4147-A177-3AD203B41FA5}">
                      <a16:colId xmlns:a16="http://schemas.microsoft.com/office/drawing/2014/main" xmlns="" val="2643898675"/>
                    </a:ext>
                  </a:extLst>
                </a:gridCol>
              </a:tblGrid>
              <a:tr h="4276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№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Название занятий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Специальность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Количество участников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Время организации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292744925"/>
                  </a:ext>
                </a:extLst>
              </a:tr>
              <a:tr h="4276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dirty="0">
                          <a:solidFill>
                            <a:srgbClr val="051D40"/>
                          </a:solidFill>
                          <a:latin typeface="DM Sans Bold" panose="020B0604020202020204" charset="0"/>
                        </a:rPr>
                        <a:t>Центр обучения языкам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Английский, турецкий, русский языки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800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2024 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734495267"/>
                  </a:ext>
                </a:extLst>
              </a:tr>
              <a:tr h="842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2</a:t>
                      </a:r>
                      <a:endParaRPr lang="en-US" sz="1000" b="1" i="0" u="none" strike="noStrike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Центр обучения профессиям</a:t>
                      </a:r>
                      <a:endParaRPr lang="en-US" sz="1000" b="1" u="none" strike="noStrike" kern="1200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Сестринское дело и техник-стоматолог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100 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2025 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784115947"/>
                  </a:ext>
                </a:extLst>
              </a:tr>
            </a:tbl>
          </a:graphicData>
        </a:graphic>
      </p:graphicFrame>
      <p:graphicFrame>
        <p:nvGraphicFramePr>
          <p:cNvPr id="175" name="Таблица 174">
            <a:extLst>
              <a:ext uri="{FF2B5EF4-FFF2-40B4-BE49-F238E27FC236}">
                <a16:creationId xmlns:a16="http://schemas.microsoft.com/office/drawing/2014/main" xmlns="" id="{41A5FD36-C614-491E-98BB-0EA0834C6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283686"/>
              </p:ext>
            </p:extLst>
          </p:nvPr>
        </p:nvGraphicFramePr>
        <p:xfrm>
          <a:off x="12605712" y="8513288"/>
          <a:ext cx="5354766" cy="141941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98537">
                  <a:extLst>
                    <a:ext uri="{9D8B030D-6E8A-4147-A177-3AD203B41FA5}">
                      <a16:colId xmlns:a16="http://schemas.microsoft.com/office/drawing/2014/main" xmlns="" val="3221827101"/>
                    </a:ext>
                  </a:extLst>
                </a:gridCol>
                <a:gridCol w="1827730">
                  <a:extLst>
                    <a:ext uri="{9D8B030D-6E8A-4147-A177-3AD203B41FA5}">
                      <a16:colId xmlns:a16="http://schemas.microsoft.com/office/drawing/2014/main" xmlns="" val="2830177320"/>
                    </a:ext>
                  </a:extLst>
                </a:gridCol>
                <a:gridCol w="1726244">
                  <a:extLst>
                    <a:ext uri="{9D8B030D-6E8A-4147-A177-3AD203B41FA5}">
                      <a16:colId xmlns:a16="http://schemas.microsoft.com/office/drawing/2014/main" xmlns="" val="1281292787"/>
                    </a:ext>
                  </a:extLst>
                </a:gridCol>
                <a:gridCol w="1302255">
                  <a:extLst>
                    <a:ext uri="{9D8B030D-6E8A-4147-A177-3AD203B41FA5}">
                      <a16:colId xmlns:a16="http://schemas.microsoft.com/office/drawing/2014/main" xmlns="" val="2643898675"/>
                    </a:ext>
                  </a:extLst>
                </a:gridCol>
              </a:tblGrid>
              <a:tr h="6119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№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Название арендуемого здания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Количество арендуемых учебных аудиторий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Арендованная территория м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²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292744925"/>
                  </a:ext>
                </a:extLst>
              </a:tr>
              <a:tr h="4295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Здание Юридического колледжа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11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606,6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734495267"/>
                  </a:ext>
                </a:extLst>
              </a:tr>
              <a:tr h="377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2</a:t>
                      </a:r>
                      <a:endParaRPr lang="en-US" sz="1000" b="1" i="0" u="none" strike="noStrike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Здание Спортивного колледжа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5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876,2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784115947"/>
                  </a:ext>
                </a:extLst>
              </a:tr>
            </a:tbl>
          </a:graphicData>
        </a:graphic>
      </p:graphicFrame>
      <p:sp>
        <p:nvSpPr>
          <p:cNvPr id="176" name="TextBox 175">
            <a:extLst>
              <a:ext uri="{FF2B5EF4-FFF2-40B4-BE49-F238E27FC236}">
                <a16:creationId xmlns:a16="http://schemas.microsoft.com/office/drawing/2014/main" xmlns="" id="{2F11386B-19B1-4EC8-BC8A-F557203CB7A2}"/>
              </a:ext>
            </a:extLst>
          </p:cNvPr>
          <p:cNvSpPr txBox="1"/>
          <p:nvPr/>
        </p:nvSpPr>
        <p:spPr>
          <a:xfrm>
            <a:off x="12389852" y="5402662"/>
            <a:ext cx="5946173" cy="612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ОБУЧАЮЩИЕ КУРСЫ, ОТКРЫТЫЕ ПРИ УЧЕБНЫХ КОРПУСАХ УНИВЕРСИТЕТА</a:t>
            </a:r>
            <a:endParaRPr lang="en-US" sz="1600" b="1" dirty="0">
              <a:solidFill>
                <a:schemeClr val="bg1"/>
              </a:solidFill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xmlns="" id="{F70ECF11-2177-4746-91BC-91539E41B172}"/>
              </a:ext>
            </a:extLst>
          </p:cNvPr>
          <p:cNvSpPr txBox="1"/>
          <p:nvPr/>
        </p:nvSpPr>
        <p:spPr>
          <a:xfrm>
            <a:off x="13012398" y="7824167"/>
            <a:ext cx="4948079" cy="609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УЧЕБНЫЕ КОРПУСА, АРЕНДУЕМЫЕ УНИВЕРСИТЕТОМ</a:t>
            </a:r>
            <a:endParaRPr lang="en-US" sz="1600" b="1" dirty="0">
              <a:solidFill>
                <a:schemeClr val="bg1"/>
              </a:solidFill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8" name="AutoShape 2">
            <a:extLst>
              <a:ext uri="{FF2B5EF4-FFF2-40B4-BE49-F238E27FC236}">
                <a16:creationId xmlns:a16="http://schemas.microsoft.com/office/drawing/2014/main" xmlns="" id="{2CBF079D-3B49-494D-89F2-1CB375EBB6FA}"/>
              </a:ext>
            </a:extLst>
          </p:cNvPr>
          <p:cNvSpPr/>
          <p:nvPr/>
        </p:nvSpPr>
        <p:spPr>
          <a:xfrm>
            <a:off x="12344400" y="2919806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cxnSp>
        <p:nvCxnSpPr>
          <p:cNvPr id="184" name="Прямая соединительная линия 183">
            <a:extLst>
              <a:ext uri="{FF2B5EF4-FFF2-40B4-BE49-F238E27FC236}">
                <a16:creationId xmlns:a16="http://schemas.microsoft.com/office/drawing/2014/main" xmlns="" id="{CBD29DA8-E435-4BB0-983C-01588B1DC274}"/>
              </a:ext>
            </a:extLst>
          </p:cNvPr>
          <p:cNvCxnSpPr/>
          <p:nvPr/>
        </p:nvCxnSpPr>
        <p:spPr>
          <a:xfrm flipV="1">
            <a:off x="1150063" y="5056504"/>
            <a:ext cx="3963480" cy="1911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reeform 30">
            <a:extLst>
              <a:ext uri="{FF2B5EF4-FFF2-40B4-BE49-F238E27FC236}">
                <a16:creationId xmlns:a16="http://schemas.microsoft.com/office/drawing/2014/main" xmlns="" id="{6C400B0C-1027-448C-B7EC-AE718A54D734}"/>
              </a:ext>
            </a:extLst>
          </p:cNvPr>
          <p:cNvSpPr/>
          <p:nvPr/>
        </p:nvSpPr>
        <p:spPr>
          <a:xfrm>
            <a:off x="17442642" y="117096"/>
            <a:ext cx="9077445" cy="9077445"/>
          </a:xfrm>
          <a:custGeom>
            <a:avLst/>
            <a:gdLst/>
            <a:ahLst/>
            <a:cxnLst/>
            <a:rect l="l" t="t" r="r" b="b"/>
            <a:pathLst>
              <a:path w="9077445" h="9077445">
                <a:moveTo>
                  <a:pt x="0" y="0"/>
                </a:moveTo>
                <a:lnTo>
                  <a:pt x="9077444" y="0"/>
                </a:lnTo>
                <a:lnTo>
                  <a:pt x="9077444" y="9077445"/>
                </a:lnTo>
                <a:lnTo>
                  <a:pt x="0" y="90774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-7659113" y="589044"/>
            <a:ext cx="9077445" cy="9077445"/>
          </a:xfrm>
          <a:custGeom>
            <a:avLst/>
            <a:gdLst/>
            <a:ahLst/>
            <a:cxnLst/>
            <a:rect l="l" t="t" r="r" b="b"/>
            <a:pathLst>
              <a:path w="9077445" h="9077445">
                <a:moveTo>
                  <a:pt x="0" y="0"/>
                </a:moveTo>
                <a:lnTo>
                  <a:pt x="9077444" y="0"/>
                </a:lnTo>
                <a:lnTo>
                  <a:pt x="9077444" y="9077445"/>
                </a:lnTo>
                <a:lnTo>
                  <a:pt x="0" y="90774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8669000" y="8698"/>
            <a:ext cx="1690455" cy="97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91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7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xmlns="" id="{BACDC718-1908-4002-ACAA-A54DE51E30EB}"/>
              </a:ext>
            </a:extLst>
          </p:cNvPr>
          <p:cNvCxnSpPr/>
          <p:nvPr/>
        </p:nvCxnSpPr>
        <p:spPr>
          <a:xfrm>
            <a:off x="2971800" y="571500"/>
            <a:ext cx="11759381" cy="0"/>
          </a:xfrm>
          <a:prstGeom prst="line">
            <a:avLst/>
          </a:prstGeom>
          <a:ln>
            <a:solidFill>
              <a:schemeClr val="accent5">
                <a:alpha val="5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935DC1D-91D1-499F-A939-C1400EAFA995}"/>
              </a:ext>
            </a:extLst>
          </p:cNvPr>
          <p:cNvSpPr txBox="1"/>
          <p:nvPr/>
        </p:nvSpPr>
        <p:spPr>
          <a:xfrm>
            <a:off x="78091" y="521534"/>
            <a:ext cx="90774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0215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Calibri" panose="020F0502020204030204" pitchFamily="34" charset="0"/>
                <a:cs typeface="+mn-cs"/>
              </a:rPr>
              <a:t>ОБНОВЛЕНИЕ ЛАБОРАТОРИЙ В 2022-2025 УЧЕБНЫХ ГОДА 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DC83D58-409B-475A-B4E3-E3D9BD54A6A5}"/>
              </a:ext>
            </a:extLst>
          </p:cNvPr>
          <p:cNvSpPr txBox="1"/>
          <p:nvPr/>
        </p:nvSpPr>
        <p:spPr>
          <a:xfrm flipH="1">
            <a:off x="745423" y="860088"/>
            <a:ext cx="77889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0215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Calibri" panose="020F0502020204030204" pitchFamily="34" charset="0"/>
                <a:cs typeface="+mn-cs"/>
              </a:rPr>
              <a:t>УЧЕБНЫЕ ЛАБОРАТОРИИ  (ЗА СЧЕТ СРЕДСТВ УНИВЕРСИТЕТА)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Calibri" panose="020F0502020204030204" pitchFamily="34" charset="0"/>
              <a:cs typeface="+mn-cs"/>
            </a:endParaRPr>
          </a:p>
        </p:txBody>
      </p:sp>
      <p:graphicFrame>
        <p:nvGraphicFramePr>
          <p:cNvPr id="69" name="Диаграмма 68">
            <a:extLst>
              <a:ext uri="{FF2B5EF4-FFF2-40B4-BE49-F238E27FC236}">
                <a16:creationId xmlns:a16="http://schemas.microsoft.com/office/drawing/2014/main" xmlns="" id="{1E6179FE-7557-40B6-9DEF-181FC4B77D7D}"/>
              </a:ext>
            </a:extLst>
          </p:cNvPr>
          <p:cNvGraphicFramePr/>
          <p:nvPr/>
        </p:nvGraphicFramePr>
        <p:xfrm>
          <a:off x="745425" y="6732351"/>
          <a:ext cx="4392170" cy="32879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F076D934-86EA-4265-AEF7-300A111B10A8}"/>
              </a:ext>
            </a:extLst>
          </p:cNvPr>
          <p:cNvSpPr txBox="1"/>
          <p:nvPr/>
        </p:nvSpPr>
        <p:spPr>
          <a:xfrm>
            <a:off x="12741159" y="811464"/>
            <a:ext cx="38151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0215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Calibri" panose="020F0502020204030204" pitchFamily="34" charset="0"/>
                <a:cs typeface="+mn-cs"/>
              </a:rPr>
              <a:t>НАУЧНЫЕ ШКОЛЫ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Calibri" panose="020F0502020204030204" pitchFamily="34" charset="0"/>
              <a:cs typeface="+mn-cs"/>
            </a:endParaRPr>
          </a:p>
        </p:txBody>
      </p: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xmlns="" id="{EDAB7754-70CC-45F9-927D-AB8538CF220B}"/>
              </a:ext>
            </a:extLst>
          </p:cNvPr>
          <p:cNvGrpSpPr/>
          <p:nvPr/>
        </p:nvGrpSpPr>
        <p:grpSpPr>
          <a:xfrm>
            <a:off x="9349341" y="1181100"/>
            <a:ext cx="8557659" cy="5242626"/>
            <a:chOff x="6078481" y="564434"/>
            <a:chExt cx="6203737" cy="4050749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xmlns="" id="{56C9355D-6879-4B81-8890-1F4918A02DF7}"/>
                </a:ext>
              </a:extLst>
            </p:cNvPr>
            <p:cNvSpPr txBox="1"/>
            <p:nvPr/>
          </p:nvSpPr>
          <p:spPr>
            <a:xfrm>
              <a:off x="6078481" y="1831548"/>
              <a:ext cx="876097" cy="552518"/>
            </a:xfrm>
            <a:prstGeom prst="flowChartAlternateProcess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Области научных школ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CAEFC216-2DB9-4DCB-BC8B-86A0230EDE70}"/>
                </a:ext>
              </a:extLst>
            </p:cNvPr>
            <p:cNvSpPr txBox="1"/>
            <p:nvPr/>
          </p:nvSpPr>
          <p:spPr>
            <a:xfrm>
              <a:off x="7084028" y="603078"/>
              <a:ext cx="854135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Химия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xmlns="" id="{381A80F0-DA1F-49D0-BBA4-727EB504EDAD}"/>
                </a:ext>
              </a:extLst>
            </p:cNvPr>
            <p:cNvSpPr txBox="1"/>
            <p:nvPr/>
          </p:nvSpPr>
          <p:spPr>
            <a:xfrm>
              <a:off x="7084028" y="1057540"/>
              <a:ext cx="846590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Биофизика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xmlns="" id="{2B704511-910C-4EC8-B5D8-4FDC460C3FF8}"/>
                </a:ext>
              </a:extLst>
            </p:cNvPr>
            <p:cNvSpPr txBox="1"/>
            <p:nvPr/>
          </p:nvSpPr>
          <p:spPr>
            <a:xfrm>
              <a:off x="7066692" y="1496122"/>
              <a:ext cx="864000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Биология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xmlns="" id="{D5BB9CF9-1E41-473A-980F-5D37E09E66DD}"/>
                </a:ext>
              </a:extLst>
            </p:cNvPr>
            <p:cNvSpPr txBox="1"/>
            <p:nvPr/>
          </p:nvSpPr>
          <p:spPr>
            <a:xfrm>
              <a:off x="7076483" y="1959379"/>
              <a:ext cx="854135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Анатомия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19B1E83C-C597-4B5D-AFB6-03C47E806E4F}"/>
                </a:ext>
              </a:extLst>
            </p:cNvPr>
            <p:cNvSpPr txBox="1"/>
            <p:nvPr/>
          </p:nvSpPr>
          <p:spPr>
            <a:xfrm>
              <a:off x="7067174" y="2402958"/>
              <a:ext cx="854134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Физиология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xmlns="" id="{FE905797-E9D3-4B12-93F5-1D8CB2CE5DD9}"/>
                </a:ext>
              </a:extLst>
            </p:cNvPr>
            <p:cNvSpPr txBox="1"/>
            <p:nvPr/>
          </p:nvSpPr>
          <p:spPr>
            <a:xfrm>
              <a:off x="7066692" y="2889873"/>
              <a:ext cx="854136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Гистология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xmlns="" id="{D83F6C07-046A-4AE1-B1F4-3CF1937569AC}"/>
                </a:ext>
              </a:extLst>
            </p:cNvPr>
            <p:cNvSpPr txBox="1"/>
            <p:nvPr/>
          </p:nvSpPr>
          <p:spPr>
            <a:xfrm>
              <a:off x="7057507" y="3353130"/>
              <a:ext cx="864000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История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xmlns="" id="{705D55DC-3D91-40E4-818A-F4D43C5666EA}"/>
                </a:ext>
              </a:extLst>
            </p:cNvPr>
            <p:cNvSpPr txBox="1"/>
            <p:nvPr/>
          </p:nvSpPr>
          <p:spPr>
            <a:xfrm>
              <a:off x="7062439" y="3815696"/>
              <a:ext cx="854136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Этнография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 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xmlns="" id="{E723304E-68B7-46EE-ACD3-CD9B517BD6A1}"/>
                </a:ext>
              </a:extLst>
            </p:cNvPr>
            <p:cNvSpPr txBox="1"/>
            <p:nvPr/>
          </p:nvSpPr>
          <p:spPr>
            <a:xfrm>
              <a:off x="8692446" y="564434"/>
              <a:ext cx="3563032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Перспективы извлечения химических веществ из растений, произрастающих в Узбекистане, и их применение в медицине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 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xmlns="" id="{778E2E09-8AA5-475B-8979-A8A719F13881}"/>
                </a:ext>
              </a:extLst>
            </p:cNvPr>
            <p:cNvSpPr txBox="1"/>
            <p:nvPr/>
          </p:nvSpPr>
          <p:spPr>
            <a:xfrm>
              <a:off x="8060762" y="598727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2022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xmlns="" id="{C2B50D4B-21BC-405A-AD71-0FC071DC381D}"/>
                </a:ext>
              </a:extLst>
            </p:cNvPr>
            <p:cNvSpPr txBox="1"/>
            <p:nvPr/>
          </p:nvSpPr>
          <p:spPr>
            <a:xfrm>
              <a:off x="8060762" y="1044700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2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023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xmlns="" id="{0C81FABE-FC7A-417B-BB25-54CD172E0AD1}"/>
                </a:ext>
              </a:extLst>
            </p:cNvPr>
            <p:cNvSpPr txBox="1"/>
            <p:nvPr/>
          </p:nvSpPr>
          <p:spPr>
            <a:xfrm>
              <a:off x="8692446" y="1020624"/>
              <a:ext cx="3563032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Изучение биохимических процессов в организме с помощью физических методов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xmlns="" id="{6ED345B3-671E-46E3-9162-9B18DC36CFCF}"/>
                </a:ext>
              </a:extLst>
            </p:cNvPr>
            <p:cNvSpPr txBox="1"/>
            <p:nvPr/>
          </p:nvSpPr>
          <p:spPr>
            <a:xfrm>
              <a:off x="8062408" y="1495993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2024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xmlns="" id="{58E58A7A-3622-41F1-B292-FA14B410FD62}"/>
                </a:ext>
              </a:extLst>
            </p:cNvPr>
            <p:cNvSpPr txBox="1"/>
            <p:nvPr/>
          </p:nvSpPr>
          <p:spPr>
            <a:xfrm>
              <a:off x="8681108" y="1480793"/>
              <a:ext cx="3563032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Популяция лечебных растений в Сурхандарье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8886E3F4-D453-425A-9552-EB3915204624}"/>
                </a:ext>
              </a:extLst>
            </p:cNvPr>
            <p:cNvSpPr txBox="1"/>
            <p:nvPr/>
          </p:nvSpPr>
          <p:spPr>
            <a:xfrm>
              <a:off x="8067129" y="1941966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2025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xmlns="" id="{65C10F1E-3CD8-47FE-B603-57CE1B4CEC4C}"/>
                </a:ext>
              </a:extLst>
            </p:cNvPr>
            <p:cNvSpPr txBox="1"/>
            <p:nvPr/>
          </p:nvSpPr>
          <p:spPr>
            <a:xfrm>
              <a:off x="8681107" y="1766484"/>
              <a:ext cx="3574370" cy="552518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Анализ антропометрических, морфометрических и морфологических показателей заболеваний организмов, обитающих в условиях жаркого климата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 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xmlns="" id="{F9443F09-772E-4F27-831F-C7BC31A7315D}"/>
                </a:ext>
              </a:extLst>
            </p:cNvPr>
            <p:cNvSpPr txBox="1"/>
            <p:nvPr/>
          </p:nvSpPr>
          <p:spPr>
            <a:xfrm>
              <a:off x="8067129" y="2398784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2025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xmlns="" id="{F604B73A-1597-444B-8A27-83F157C82C92}"/>
                </a:ext>
              </a:extLst>
            </p:cNvPr>
            <p:cNvSpPr txBox="1"/>
            <p:nvPr/>
          </p:nvSpPr>
          <p:spPr>
            <a:xfrm>
              <a:off x="8680448" y="2377879"/>
              <a:ext cx="3574370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Изучение физиологических процессов в организме с помощью физиологических методов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xmlns="" id="{E99EB764-9B44-449F-BD29-BDE980DD8AF3}"/>
                </a:ext>
              </a:extLst>
            </p:cNvPr>
            <p:cNvSpPr txBox="1"/>
            <p:nvPr/>
          </p:nvSpPr>
          <p:spPr>
            <a:xfrm>
              <a:off x="8057162" y="2892406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2025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xmlns="" id="{46E65094-BC60-48D6-A0F9-6A14DCF611B3}"/>
                </a:ext>
              </a:extLst>
            </p:cNvPr>
            <p:cNvSpPr txBox="1"/>
            <p:nvPr/>
          </p:nvSpPr>
          <p:spPr>
            <a:xfrm>
              <a:off x="8692446" y="2840069"/>
              <a:ext cx="3574370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+mn-ea"/>
                  <a:cs typeface="+mn-cs"/>
                </a:rPr>
                <a:t>Изучение физиологических процессов в организме гистохимическими и </a:t>
              </a:r>
              <a:r>
                <a:rPr kumimoji="0" lang="ru-RU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+mn-ea"/>
                  <a:cs typeface="+mn-cs"/>
                </a:rPr>
                <a:t>иммуногистохимическими</a:t>
              </a: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+mn-ea"/>
                  <a:cs typeface="+mn-cs"/>
                </a:rPr>
                <a:t> методами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xmlns="" id="{1428C851-A2BD-455C-852A-87E2C7B57ACE}"/>
                </a:ext>
              </a:extLst>
            </p:cNvPr>
            <p:cNvSpPr txBox="1"/>
            <p:nvPr/>
          </p:nvSpPr>
          <p:spPr>
            <a:xfrm>
              <a:off x="8067129" y="3338380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2025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xmlns="" id="{87FC681A-13CC-481C-A525-3DD3A2B8BADB}"/>
                </a:ext>
              </a:extLst>
            </p:cNvPr>
            <p:cNvSpPr txBox="1"/>
            <p:nvPr/>
          </p:nvSpPr>
          <p:spPr>
            <a:xfrm>
              <a:off x="8681108" y="3302259"/>
              <a:ext cx="3585708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+mn-ea"/>
                  <a:cs typeface="+mn-cs"/>
                </a:rPr>
                <a:t>Внедрение цифровых технологий и искусственного интеллекта в образовательный процесс в области истории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xmlns="" id="{75FFF9AE-1D7E-4A99-8CD2-506E290E8ECC}"/>
                </a:ext>
              </a:extLst>
            </p:cNvPr>
            <p:cNvSpPr txBox="1"/>
            <p:nvPr/>
          </p:nvSpPr>
          <p:spPr>
            <a:xfrm>
              <a:off x="8052897" y="3792723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2025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xmlns="" id="{BB617A76-D0C0-4F97-B356-79125FA660DD}"/>
                </a:ext>
              </a:extLst>
            </p:cNvPr>
            <p:cNvSpPr txBox="1"/>
            <p:nvPr/>
          </p:nvSpPr>
          <p:spPr>
            <a:xfrm>
              <a:off x="8681108" y="3759286"/>
              <a:ext cx="3585708" cy="552518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+mn-ea"/>
                  <a:cs typeface="+mn-cs"/>
                </a:rPr>
                <a:t>Основные направления и школы современной этнографии, приоритетные теоретико-методологические подходы, связанные с теорией этноса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xmlns="" id="{CE4526DB-F007-46C6-8B30-1DFED9F71FB5}"/>
                </a:ext>
              </a:extLst>
            </p:cNvPr>
            <p:cNvSpPr txBox="1"/>
            <p:nvPr/>
          </p:nvSpPr>
          <p:spPr>
            <a:xfrm>
              <a:off x="7057507" y="4303301"/>
              <a:ext cx="880656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Биохимия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xmlns="" id="{7523599E-8C5E-4B19-8DB7-7C892857383C}"/>
                </a:ext>
              </a:extLst>
            </p:cNvPr>
            <p:cNvSpPr txBox="1"/>
            <p:nvPr/>
          </p:nvSpPr>
          <p:spPr>
            <a:xfrm>
              <a:off x="8086225" y="4306059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2026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xmlns="" id="{CD974F13-C2B9-4295-B6CE-0534BA6FD8AF}"/>
                </a:ext>
              </a:extLst>
            </p:cNvPr>
            <p:cNvSpPr txBox="1"/>
            <p:nvPr/>
          </p:nvSpPr>
          <p:spPr>
            <a:xfrm>
              <a:off x="8696510" y="4378389"/>
              <a:ext cx="3585708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DD5FF"/>
                  </a:solidFill>
                  <a:effectLst/>
                  <a:uLnTx/>
                  <a:uFillTx/>
                  <a:latin typeface="DM Sans Bold" charset="0"/>
                  <a:ea typeface="Calibri" panose="020F0502020204030204" pitchFamily="34" charset="0"/>
                  <a:cs typeface="+mn-cs"/>
                </a:rPr>
                <a:t>Биохимический анализ крови, мочи и лимфы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endParaRPr>
            </a:p>
          </p:txBody>
        </p:sp>
      </p:grpSp>
      <p:graphicFrame>
        <p:nvGraphicFramePr>
          <p:cNvPr id="100" name="Таблица 99">
            <a:extLst>
              <a:ext uri="{FF2B5EF4-FFF2-40B4-BE49-F238E27FC236}">
                <a16:creationId xmlns:a16="http://schemas.microsoft.com/office/drawing/2014/main" xmlns="" id="{55F7A277-1947-48DF-8EAA-DAA81B775843}"/>
              </a:ext>
            </a:extLst>
          </p:cNvPr>
          <p:cNvGraphicFramePr>
            <a:graphicFrameLocks noGrp="1"/>
          </p:cNvGraphicFramePr>
          <p:nvPr/>
        </p:nvGraphicFramePr>
        <p:xfrm>
          <a:off x="5409923" y="6972300"/>
          <a:ext cx="12585188" cy="3251511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049346">
                  <a:extLst>
                    <a:ext uri="{9D8B030D-6E8A-4147-A177-3AD203B41FA5}">
                      <a16:colId xmlns:a16="http://schemas.microsoft.com/office/drawing/2014/main" xmlns="" val="2412190412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950659728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2905255576"/>
                    </a:ext>
                  </a:extLst>
                </a:gridCol>
                <a:gridCol w="818673">
                  <a:extLst>
                    <a:ext uri="{9D8B030D-6E8A-4147-A177-3AD203B41FA5}">
                      <a16:colId xmlns:a16="http://schemas.microsoft.com/office/drawing/2014/main" xmlns="" val="3903734109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3995636124"/>
                    </a:ext>
                  </a:extLst>
                </a:gridCol>
                <a:gridCol w="167244">
                  <a:extLst>
                    <a:ext uri="{9D8B030D-6E8A-4147-A177-3AD203B41FA5}">
                      <a16:colId xmlns:a16="http://schemas.microsoft.com/office/drawing/2014/main" xmlns="" val="4049532059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2864908799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2716044720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3056698115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2381897438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3857948873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3307057509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218366745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68286963"/>
                    </a:ext>
                  </a:extLst>
                </a:gridCol>
              </a:tblGrid>
              <a:tr h="225267">
                <a:tc rowSpan="2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  <a:r>
                        <a:rPr lang="ru-RU" sz="160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Название факультета</a:t>
                      </a:r>
                      <a:endParaRPr lang="en-US" sz="16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2023</a:t>
                      </a:r>
                      <a:endParaRPr lang="en-US" sz="16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2024</a:t>
                      </a:r>
                      <a:endParaRPr lang="en-US" sz="16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2025</a:t>
                      </a:r>
                      <a:endParaRPr lang="en-US" sz="16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2026</a:t>
                      </a:r>
                      <a:endParaRPr lang="en-US" sz="16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119995038"/>
                  </a:ext>
                </a:extLst>
              </a:tr>
              <a:tr h="15141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ru-RU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Учебная лаборатория / уровень обновления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ru-RU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Научная лаборатория / уровень обновления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ru-RU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Уровень наполнения виртуальной лаборатории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ru-RU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Учебная лаборатория / уровень обновления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ru-RU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Научная лаборатория / уровень обновления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ru-RU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Уровень заполнения виртуальной лаборатории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ru-RU" sz="12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Учебная лаборатория / степень обновления</a:t>
                      </a:r>
                      <a:endParaRPr lang="en-US" sz="1200" b="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ru-RU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Научная лаборатория / степень обновления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ru-RU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Уровень наполнения виртуальной лаборатории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ru-RU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Учебная лаборатория / степень обновления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ru-RU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Научная лаборатория / степень обновления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ru-RU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Уровень заполнения виртуальной лаборатории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26340592"/>
                  </a:ext>
                </a:extLst>
              </a:tr>
              <a:tr h="201954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Медицина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12%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9%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5%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16%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13%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8%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23%</a:t>
                      </a:r>
                      <a:endParaRPr lang="en-US" sz="1400" b="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17%</a:t>
                      </a:r>
                      <a:endParaRPr lang="en-US" sz="140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12%</a:t>
                      </a:r>
                      <a:endParaRPr lang="en-US" sz="140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28%</a:t>
                      </a:r>
                      <a:endParaRPr lang="en-US" sz="140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21%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18%</a:t>
                      </a:r>
                      <a:endParaRPr lang="en-US" sz="140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28782184"/>
                  </a:ext>
                </a:extLst>
              </a:tr>
              <a:tr h="592566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Экономика и информационные технологии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10%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7%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4%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12%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11%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6%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15%</a:t>
                      </a:r>
                      <a:endParaRPr lang="en-US" sz="1400" b="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14%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9%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20%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13%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12%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78696264"/>
                  </a:ext>
                </a:extLst>
              </a:tr>
              <a:tr h="497441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Педагогика и социально-гуманитарные науки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8%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6%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4%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9%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10%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9%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11%</a:t>
                      </a:r>
                      <a:endParaRPr lang="en-US" sz="1400" b="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15%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16%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17%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14%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13%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57226193"/>
                  </a:ext>
                </a:extLst>
              </a:tr>
            </a:tbl>
          </a:graphicData>
        </a:graphic>
      </p:graphicFrame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E03C0B0F-A257-4F92-A231-24DDBC07CD1D}"/>
              </a:ext>
            </a:extLst>
          </p:cNvPr>
          <p:cNvSpPr txBox="1"/>
          <p:nvPr/>
        </p:nvSpPr>
        <p:spPr>
          <a:xfrm>
            <a:off x="8891016" y="6557546"/>
            <a:ext cx="63315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0215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Calibri" panose="020F0502020204030204" pitchFamily="34" charset="0"/>
                <a:cs typeface="+mn-cs"/>
              </a:rPr>
              <a:t>ОБУЧАЮЩЕ-НАУЧНЫЕ ЛАБОРАТОРИИ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Calibri" panose="020F0502020204030204" pitchFamily="34" charset="0"/>
                <a:cs typeface="+mn-cs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103" name="TextBox 22">
            <a:extLst>
              <a:ext uri="{FF2B5EF4-FFF2-40B4-BE49-F238E27FC236}">
                <a16:creationId xmlns:a16="http://schemas.microsoft.com/office/drawing/2014/main" xmlns="" id="{BD58AAC9-47AF-4F2F-94B6-18EB90137BF5}"/>
              </a:ext>
            </a:extLst>
          </p:cNvPr>
          <p:cNvSpPr txBox="1"/>
          <p:nvPr/>
        </p:nvSpPr>
        <p:spPr>
          <a:xfrm>
            <a:off x="19217185" y="3949176"/>
            <a:ext cx="4026849" cy="38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5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1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Bold"/>
                <a:ea typeface="DM Sans Bold"/>
                <a:cs typeface="DM Sans Bold"/>
                <a:sym typeface="DM Sans Bold"/>
              </a:rPr>
              <a:t>BUSINESS PROPOSAL</a:t>
            </a:r>
          </a:p>
        </p:txBody>
      </p:sp>
      <p:sp>
        <p:nvSpPr>
          <p:cNvPr id="104" name="AutoShape 2">
            <a:extLst>
              <a:ext uri="{FF2B5EF4-FFF2-40B4-BE49-F238E27FC236}">
                <a16:creationId xmlns:a16="http://schemas.microsoft.com/office/drawing/2014/main" xmlns="" id="{077B3421-BA28-4C9E-BFCF-7DC2D9302F85}"/>
              </a:ext>
            </a:extLst>
          </p:cNvPr>
          <p:cNvSpPr/>
          <p:nvPr/>
        </p:nvSpPr>
        <p:spPr>
          <a:xfrm>
            <a:off x="5257800" y="6501742"/>
            <a:ext cx="0" cy="3547252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3AB556C1-39C8-4205-B9C2-41AEF7F1C7D5}"/>
              </a:ext>
            </a:extLst>
          </p:cNvPr>
          <p:cNvSpPr txBox="1"/>
          <p:nvPr/>
        </p:nvSpPr>
        <p:spPr>
          <a:xfrm>
            <a:off x="876492" y="6086152"/>
            <a:ext cx="40003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0215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Calibri" panose="020F0502020204030204" pitchFamily="34" charset="0"/>
                <a:cs typeface="+mn-cs"/>
              </a:rPr>
              <a:t>ILMIY MAKTAB LOYIHALARIDA TALABA VA DOKTORANTLAR ISHTIROKI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110" name="AutoShape 2">
            <a:extLst>
              <a:ext uri="{FF2B5EF4-FFF2-40B4-BE49-F238E27FC236}">
                <a16:creationId xmlns:a16="http://schemas.microsoft.com/office/drawing/2014/main" xmlns="" id="{9E6AEB1B-D269-491F-8E3A-12CBFD8213F6}"/>
              </a:ext>
            </a:extLst>
          </p:cNvPr>
          <p:cNvSpPr/>
          <p:nvPr/>
        </p:nvSpPr>
        <p:spPr>
          <a:xfrm>
            <a:off x="9144000" y="1516723"/>
            <a:ext cx="0" cy="3547252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593D9E75-FFB6-4320-B46D-A03E2CEA7C05}"/>
              </a:ext>
            </a:extLst>
          </p:cNvPr>
          <p:cNvSpPr txBox="1"/>
          <p:nvPr/>
        </p:nvSpPr>
        <p:spPr>
          <a:xfrm>
            <a:off x="2286000" y="22306"/>
            <a:ext cx="12161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0215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ПЕРСПЕКТИВЫ РАЗВИТИЯ НАУЧНОЙ ДЕЯТЕЛЬНОСТИ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+mn-cs"/>
            </a:endParaRPr>
          </a:p>
        </p:txBody>
      </p:sp>
      <p:graphicFrame>
        <p:nvGraphicFramePr>
          <p:cNvPr id="50" name="Таблица 49">
            <a:extLst>
              <a:ext uri="{FF2B5EF4-FFF2-40B4-BE49-F238E27FC236}">
                <a16:creationId xmlns:a16="http://schemas.microsoft.com/office/drawing/2014/main" xmlns="" id="{39D3ABE2-0468-4B28-A90E-567FC3ACB632}"/>
              </a:ext>
            </a:extLst>
          </p:cNvPr>
          <p:cNvGraphicFramePr>
            <a:graphicFrameLocks noGrp="1"/>
          </p:cNvGraphicFramePr>
          <p:nvPr/>
        </p:nvGraphicFramePr>
        <p:xfrm>
          <a:off x="240132" y="1225483"/>
          <a:ext cx="4800093" cy="5516220"/>
        </p:xfrm>
        <a:graphic>
          <a:graphicData uri="http://schemas.openxmlformats.org/drawingml/2006/table">
            <a:tbl>
              <a:tblPr>
                <a:tableStyleId>{5A111915-BE36-4E01-A7E5-04B1672EAD32}</a:tableStyleId>
              </a:tblPr>
              <a:tblGrid>
                <a:gridCol w="3036276">
                  <a:extLst>
                    <a:ext uri="{9D8B030D-6E8A-4147-A177-3AD203B41FA5}">
                      <a16:colId xmlns:a16="http://schemas.microsoft.com/office/drawing/2014/main" xmlns="" val="1381507521"/>
                    </a:ext>
                  </a:extLst>
                </a:gridCol>
                <a:gridCol w="1763817">
                  <a:extLst>
                    <a:ext uri="{9D8B030D-6E8A-4147-A177-3AD203B41FA5}">
                      <a16:colId xmlns:a16="http://schemas.microsoft.com/office/drawing/2014/main" xmlns="" val="3965176601"/>
                    </a:ext>
                  </a:extLst>
                </a:gridCol>
              </a:tblGrid>
              <a:tr h="363809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  Термостат   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TSO- 1/80 SPU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Медицинская и биологическая физика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0916865"/>
                  </a:ext>
                </a:extLst>
              </a:tr>
              <a:tr h="361879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Магнитный </a:t>
                      </a:r>
                      <a:r>
                        <a:rPr lang="ru-RU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сместитель</a:t>
                      </a:r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MS7-H550-Pro</a:t>
                      </a:r>
                    </a:p>
                    <a:p>
                      <a:pPr algn="l" fontAlgn="b"/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79830270"/>
                  </a:ext>
                </a:extLst>
              </a:tr>
              <a:tr h="18515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Высокоскоростная центрифуга </a:t>
                      </a:r>
                      <a:r>
                        <a:rPr lang="it-IT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D2012 plus</a:t>
                      </a:r>
                      <a:endParaRPr lang="it-IT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86377812"/>
                  </a:ext>
                </a:extLst>
              </a:tr>
              <a:tr h="18515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Цифровой 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pH-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metr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PHS-3E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Биохимия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26853409"/>
                  </a:ext>
                </a:extLst>
              </a:tr>
              <a:tr h="18515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Анализатор мочи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MS7-H550-Pro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Медицинская и биологическая химия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47423262"/>
                  </a:ext>
                </a:extLst>
              </a:tr>
              <a:tr h="185156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Лаборатория электрической печи</a:t>
                      </a:r>
                      <a:r>
                        <a:rPr lang="it-IT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SNOL 8.2</a:t>
                      </a:r>
                      <a:endParaRPr lang="it-IT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98577041"/>
                  </a:ext>
                </a:extLst>
              </a:tr>
              <a:tr h="185156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Times New Roman" panose="02020603050405020304" pitchFamily="18" charset="0"/>
                        <a:buNone/>
                      </a:pPr>
                      <a:r>
                        <a:rPr lang="ru-RU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Организация операционного зала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endParaRPr lang="ru-RU" sz="1100" b="0" i="0" u="none" strike="noStrike" dirty="0">
                        <a:solidFill>
                          <a:srgbClr val="4DD5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Физиология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94456106"/>
                  </a:ext>
                </a:extLst>
              </a:tr>
              <a:tr h="437749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Таблица </a:t>
                      </a:r>
                      <a:r>
                        <a:rPr lang="ru-RU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Севтсева</a:t>
                      </a:r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. Для уточнения зоркости глаза.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36073066"/>
                  </a:ext>
                </a:extLst>
              </a:tr>
              <a:tr h="361879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Комплект лабораторного оборудования для уточнения группы крови  и анализа крови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Патологическая физиология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10610755"/>
                  </a:ext>
                </a:extLst>
              </a:tr>
              <a:tr h="18515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Динамометр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90198156"/>
                  </a:ext>
                </a:extLst>
              </a:tr>
              <a:tr h="36736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Таблица </a:t>
                      </a:r>
                      <a:r>
                        <a:rPr lang="ru-RU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Сетвсева</a:t>
                      </a:r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. Для определения зоркости глаз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14249696"/>
                  </a:ext>
                </a:extLst>
              </a:tr>
              <a:tr h="18515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Неврологический молоток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Клиническая Анатомия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05688911"/>
                  </a:ext>
                </a:extLst>
              </a:tr>
              <a:tr h="18515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Автоклав-стерилизатор 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GR85DF (</a:t>
                      </a:r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автомат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42803931"/>
                  </a:ext>
                </a:extLst>
              </a:tr>
              <a:tr h="18515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Центрифуга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ОХТА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60284208"/>
                  </a:ext>
                </a:extLst>
              </a:tr>
              <a:tr h="18515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Пикфлоуметр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Гистология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52094571"/>
                  </a:ext>
                </a:extLst>
              </a:tr>
              <a:tr h="18515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Спирометр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35356552"/>
                  </a:ext>
                </a:extLst>
              </a:tr>
              <a:tr h="18515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Микротон</a:t>
                      </a:r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Полуавтомат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Патологическая анатомия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30154222"/>
                  </a:ext>
                </a:extLst>
              </a:tr>
              <a:tr h="18515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Аппарат ЭКГ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00264784"/>
                  </a:ext>
                </a:extLst>
              </a:tr>
              <a:tr h="185156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Times New Roman" panose="02020603050405020304" pitchFamily="18" charset="0"/>
                        <a:buNone/>
                      </a:pPr>
                      <a:r>
                        <a:rPr lang="ru-RU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Автоклав (для </a:t>
                      </a:r>
                      <a:r>
                        <a:rPr lang="ru-RU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стериализации</a:t>
                      </a:r>
                      <a:r>
                        <a:rPr lang="ru-RU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)</a:t>
                      </a:r>
                      <a:endParaRPr lang="ru-RU" sz="1100" b="0" i="0" u="none" strike="noStrike" dirty="0">
                        <a:solidFill>
                          <a:srgbClr val="4DD5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77019489"/>
                  </a:ext>
                </a:extLst>
              </a:tr>
              <a:tr h="185156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Times New Roman" panose="02020603050405020304" pitchFamily="18" charset="0"/>
                        <a:buNone/>
                      </a:pPr>
                      <a:r>
                        <a:rPr lang="ru-RU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Организация виварий для животных</a:t>
                      </a:r>
                      <a:endParaRPr lang="ru-RU" sz="1100" b="0" i="0" u="none" strike="noStrike" dirty="0">
                        <a:solidFill>
                          <a:srgbClr val="4DD5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Микробиология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6810882"/>
                  </a:ext>
                </a:extLst>
              </a:tr>
              <a:tr h="715326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Times New Roman" panose="02020603050405020304" pitchFamily="18" charset="0"/>
                        <a:buNone/>
                      </a:pP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IT </a:t>
                      </a:r>
                      <a:r>
                        <a:rPr lang="ru-RU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лаборатория ,состоящая из отделов  мобильных приложений, робототехники, компьютерной графики, веб разработки </a:t>
                      </a:r>
                      <a:r>
                        <a:rPr lang="ru-RU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програмного</a:t>
                      </a:r>
                      <a:r>
                        <a:rPr lang="ru-RU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обеспечения для настольных компьютеров и сетевых отделов</a:t>
                      </a:r>
                      <a:endParaRPr lang="ru-RU" sz="1100" b="0" i="0" u="none" strike="noStrike" dirty="0">
                        <a:solidFill>
                          <a:srgbClr val="4DD5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b="0" i="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Информационные технологии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45877151"/>
                  </a:ext>
                </a:extLst>
              </a:tr>
            </a:tbl>
          </a:graphicData>
        </a:graphic>
      </p:graphicFrame>
      <p:graphicFrame>
        <p:nvGraphicFramePr>
          <p:cNvPr id="51" name="Таблица 50">
            <a:extLst>
              <a:ext uri="{FF2B5EF4-FFF2-40B4-BE49-F238E27FC236}">
                <a16:creationId xmlns:a16="http://schemas.microsoft.com/office/drawing/2014/main" xmlns="" id="{F4225AD7-F018-4C0A-A4F6-A5CA29F28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654847"/>
              </p:ext>
            </p:extLst>
          </p:nvPr>
        </p:nvGraphicFramePr>
        <p:xfrm>
          <a:off x="5194195" y="1381290"/>
          <a:ext cx="3813909" cy="46942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xmlns="" val="3715704961"/>
                    </a:ext>
                  </a:extLst>
                </a:gridCol>
                <a:gridCol w="1653909">
                  <a:extLst>
                    <a:ext uri="{9D8B030D-6E8A-4147-A177-3AD203B41FA5}">
                      <a16:colId xmlns:a16="http://schemas.microsoft.com/office/drawing/2014/main" xmlns="" val="3528304817"/>
                    </a:ext>
                  </a:extLst>
                </a:gridCol>
              </a:tblGrid>
              <a:tr h="421459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Анализатор мочи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MS7-H550-Pro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Исследования по выделению алкалоидов и других химических веществ из лекарственных растений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12972153"/>
                  </a:ext>
                </a:extLst>
              </a:tr>
              <a:tr h="421459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Электрическая лабораторная печь</a:t>
                      </a:r>
                      <a:r>
                        <a:rPr lang="it-IT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SNOL 8.2</a:t>
                      </a:r>
                      <a:endParaRPr lang="it-IT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3917386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Дистилятор</a:t>
                      </a:r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воды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ADEa-4-</a:t>
                      </a:r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</a:rPr>
                        <a:t>С3МО</a:t>
                      </a:r>
                      <a:endParaRPr lang="ru-RU" sz="1100" b="0" i="0" u="none" strike="noStrike" dirty="0">
                        <a:solidFill>
                          <a:srgbClr val="4DD5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13794307"/>
                  </a:ext>
                </a:extLst>
              </a:tr>
              <a:tr h="421459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Высокоскоростная центрифуга </a:t>
                      </a:r>
                      <a:r>
                        <a:rPr lang="it-IT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D2012 plus</a:t>
                      </a:r>
                      <a:endParaRPr lang="it-IT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24850710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Анализатор </a:t>
                      </a:r>
                      <a:r>
                        <a:rPr lang="ru-RU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Сокслета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44818677"/>
                  </a:ext>
                </a:extLst>
              </a:tr>
              <a:tr h="421459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Цифровой стационар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pH-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metr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PHS-3E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60917455"/>
                  </a:ext>
                </a:extLst>
              </a:tr>
              <a:tr h="421459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Для сохранения животных для опыта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 rtl="0" fontAlgn="ctr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Моделирование заболеваний и изучение патогенеза их протекания на основе научных исследований, а также экспериментальное исследование приоритетных методов лечения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87827242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Биохимический  анализатор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07707704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ИФА анализатор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59229629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Анализатор мочи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01833535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Анализатор крови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05442047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Термостат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17655492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Стерилизатор -автоклав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07816486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Отдел здания для вивария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11129807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Клетки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4025146"/>
                  </a:ext>
                </a:extLst>
              </a:tr>
              <a:tr h="421459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Комплект больших и маленьких  хирургических  инструментов 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158586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">
            <a:extLst>
              <a:ext uri="{FF2B5EF4-FFF2-40B4-BE49-F238E27FC236}">
                <a16:creationId xmlns:a16="http://schemas.microsoft.com/office/drawing/2014/main" xmlns="" id="{CE33C39A-4C26-462C-9556-55BC0ECB5137}"/>
              </a:ext>
            </a:extLst>
          </p:cNvPr>
          <p:cNvSpPr/>
          <p:nvPr/>
        </p:nvSpPr>
        <p:spPr>
          <a:xfrm>
            <a:off x="-5919198" y="-5541287"/>
            <a:ext cx="10196686" cy="10196685"/>
          </a:xfrm>
          <a:custGeom>
            <a:avLst/>
            <a:gdLst/>
            <a:ahLst/>
            <a:cxnLst/>
            <a:rect l="l" t="t" r="r" b="b"/>
            <a:pathLst>
              <a:path w="8414387" h="8414387">
                <a:moveTo>
                  <a:pt x="0" y="0"/>
                </a:moveTo>
                <a:lnTo>
                  <a:pt x="8414387" y="0"/>
                </a:lnTo>
                <a:lnTo>
                  <a:pt x="8414387" y="8414387"/>
                </a:lnTo>
                <a:lnTo>
                  <a:pt x="0" y="841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97329" y="6667836"/>
            <a:ext cx="8414387" cy="8414387"/>
          </a:xfrm>
          <a:custGeom>
            <a:avLst/>
            <a:gdLst/>
            <a:ahLst/>
            <a:cxnLst/>
            <a:rect l="l" t="t" r="r" b="b"/>
            <a:pathLst>
              <a:path w="8414387" h="8414387">
                <a:moveTo>
                  <a:pt x="0" y="0"/>
                </a:moveTo>
                <a:lnTo>
                  <a:pt x="8414387" y="0"/>
                </a:lnTo>
                <a:lnTo>
                  <a:pt x="8414387" y="8414387"/>
                </a:lnTo>
                <a:lnTo>
                  <a:pt x="0" y="841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4F09F49E-AF35-43CA-A808-209D96AC03FC}"/>
              </a:ext>
            </a:extLst>
          </p:cNvPr>
          <p:cNvSpPr txBox="1"/>
          <p:nvPr/>
        </p:nvSpPr>
        <p:spPr>
          <a:xfrm>
            <a:off x="0" y="266700"/>
            <a:ext cx="18288000" cy="542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w Bold"/>
                <a:ea typeface="+mn-ea"/>
                <a:cs typeface="+mn-cs"/>
              </a:rPr>
              <a:t>СТРАТЕГИЯ РАБОТЫ С МОЛОДЁЖЬЮ В ТЕРМЕЗСКОМ УНИВЕРСИТЕТЕ ЭКОНОМИКИ И СЕРВИСА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w Bold"/>
              <a:ea typeface="+mn-ea"/>
              <a:cs typeface="+mn-cs"/>
            </a:endParaRPr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xmlns="" id="{5B205A2E-5060-4D2A-8C1D-58C119BCE124}"/>
              </a:ext>
            </a:extLst>
          </p:cNvPr>
          <p:cNvSpPr/>
          <p:nvPr/>
        </p:nvSpPr>
        <p:spPr>
          <a:xfrm>
            <a:off x="1244284" y="832731"/>
            <a:ext cx="15900994" cy="61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+mn-cs"/>
              </a:rPr>
              <a:t> Внедрение передовых технологий, направленных на повышение эффективности духовно-просветительской работы и улучшение воздействия воспитательных мероприятий.</a:t>
            </a:r>
            <a:endParaRPr kumimoji="0" lang="uz-Cyrl-UZ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40238D2D-C715-4C57-83FB-DCDA3EE99ED5}"/>
              </a:ext>
            </a:extLst>
          </p:cNvPr>
          <p:cNvSpPr txBox="1"/>
          <p:nvPr/>
        </p:nvSpPr>
        <p:spPr>
          <a:xfrm>
            <a:off x="723502" y="1616383"/>
            <a:ext cx="5146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prstClr val="white"/>
                </a:solidFill>
              </a:rPr>
              <a:t>              </a:t>
            </a:r>
            <a:r>
              <a:rPr lang="ru-RU" sz="1400" b="1" dirty="0">
                <a:solidFill>
                  <a:prstClr val="white"/>
                </a:solidFill>
              </a:rPr>
              <a:t>1. ПОВЫШЕНИЕ ЭФФЕКТИВНОСТИ РАБОТЫ ПО ДЕЛАМ МОЛОДЕЖИ И ДУХОВНО-ПРОСВЕТИТЕЛЬСКОЙ ДЕЯТЕЛЬНОСТИ.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4ECA8453-0759-4213-AEAB-270C2E9185FA}"/>
              </a:ext>
            </a:extLst>
          </p:cNvPr>
          <p:cNvSpPr txBox="1"/>
          <p:nvPr/>
        </p:nvSpPr>
        <p:spPr>
          <a:xfrm>
            <a:off x="652248" y="2097573"/>
            <a:ext cx="532566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"Создание </a:t>
            </a:r>
            <a:r>
              <a:rPr kumimoji="0" lang="ru-R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межк</a:t>
            </a:r>
            <a:r>
              <a:rPr kumimoji="0" lang="ru-RU" sz="14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афед</a:t>
            </a:r>
            <a:r>
              <a:rPr kumimoji="0" lang="ru-R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ральной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 лаборатории социологического и психологического анализа в системе духовно-просветительского и воспитательного управления в университете. Внедрение системного обучения руководящих кадров и сотрудников в данной области."</a:t>
            </a:r>
            <a:endParaRPr kumimoji="0" lang="uz-Cyrl-UZ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BFBDE6DC-5182-463C-810F-943F16CBC40D}"/>
              </a:ext>
            </a:extLst>
          </p:cNvPr>
          <p:cNvSpPr txBox="1"/>
          <p:nvPr/>
        </p:nvSpPr>
        <p:spPr>
          <a:xfrm>
            <a:off x="664767" y="3629680"/>
            <a:ext cx="53131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               2.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СОДЕРЖАТЕЛЬНОЕ ПРОВЕДЕНИЕ СВОБОДНОГО ВРЕМЕНИ МОЛОДЁЖИ И ОБЕСПЕЧЕНИЕ ИХ ЗАНЯТОСТИ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.</a:t>
            </a:r>
            <a:endParaRPr kumimoji="0" lang="uz-Cyrl-UZ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DF7DD107-1A78-407F-853A-C4D229CA961B}"/>
              </a:ext>
            </a:extLst>
          </p:cNvPr>
          <p:cNvSpPr txBox="1"/>
          <p:nvPr/>
        </p:nvSpPr>
        <p:spPr>
          <a:xfrm>
            <a:off x="657549" y="4202549"/>
            <a:ext cx="55341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Организация «Студенческих </a:t>
            </a:r>
            <a:r>
              <a:rPr kumimoji="0" lang="ru-R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техноучастков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», «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Book-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kafe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»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“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, «Сада творческих студентов» для одарённых и талантливых студентов, обучающихся в университете. Организация деятельности «Студенческого медиа-центра». Современные технологии работы со студентами и организация деятельности единого интерактивного кластера.</a:t>
            </a:r>
            <a:endParaRPr kumimoji="0" lang="uz-Cyrl-UZ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461BE9AF-E206-4638-9A78-535DB08F8C9E}"/>
              </a:ext>
            </a:extLst>
          </p:cNvPr>
          <p:cNvSpPr txBox="1"/>
          <p:nvPr/>
        </p:nvSpPr>
        <p:spPr>
          <a:xfrm>
            <a:off x="664767" y="5687080"/>
            <a:ext cx="50745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               3.</a:t>
            </a:r>
            <a:r>
              <a:rPr lang="en-US" sz="1400" b="1" dirty="0">
                <a:solidFill>
                  <a:prstClr val="white"/>
                </a:solidFill>
                <a:latin typeface="DM Sans Bold" charset="0"/>
              </a:rPr>
              <a:t>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«СОВЕРШЕНСТВОВАНИЕ СИСТЕМЫ САМОУПРАВЛЕНИЯ СТУДЕНТОВ И ЭФФЕКТИВНАЯ ОРГАНИЗАЦИЯ ИХ ДЕЯТЕЛЬНОСТИ»</a:t>
            </a:r>
            <a:endParaRPr kumimoji="0" lang="uz-Cyrl-UZ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6435A9DE-5DE6-4653-AE67-9A9A1F8A67A4}"/>
              </a:ext>
            </a:extLst>
          </p:cNvPr>
          <p:cNvSpPr txBox="1"/>
          <p:nvPr/>
        </p:nvSpPr>
        <p:spPr>
          <a:xfrm>
            <a:off x="609813" y="6372460"/>
            <a:ext cx="55341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«Изучение опыта престижных высших образовательных учреждений иностранных государств и внедрение деятельности университетского "Совета студентов"».</a:t>
            </a:r>
            <a:endParaRPr kumimoji="0" lang="uz-Cyrl-UZ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16E71D85-5966-4F20-A00F-95B0C95B1F08}"/>
              </a:ext>
            </a:extLst>
          </p:cNvPr>
          <p:cNvSpPr txBox="1"/>
          <p:nvPr/>
        </p:nvSpPr>
        <p:spPr>
          <a:xfrm>
            <a:off x="672802" y="7605236"/>
            <a:ext cx="51852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                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4.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«ПОВЫШЕНИЕ СОЦИАЛЬНОЙ АКТИВНОСТИ СТУДЕНТОК, ОРГАНИЗАЦИЯ РАБОТ ПО ПОДГОТОВКЕ ИХ КАК ПРАКТИЧЕСКИХ СПЕЦИАЛИСТОВ И СИСТЕМАТИЧЕСКОЕ ПРОВЕДЕНИЕ ЭТИХ РАБОТ»</a:t>
            </a:r>
            <a:endParaRPr kumimoji="0" lang="uz-Cyrl-UZ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8D1F7D4E-B985-474C-AB39-B511C30B8AB6}"/>
              </a:ext>
            </a:extLst>
          </p:cNvPr>
          <p:cNvSpPr txBox="1"/>
          <p:nvPr/>
        </p:nvSpPr>
        <p:spPr>
          <a:xfrm>
            <a:off x="681371" y="8530544"/>
            <a:ext cx="59629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«Организация деятельности клуба "Последователи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Зульфияхоним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 для одарённых и творческих студенток, обучающихся в университете, а также систематическая помощь студенткам, включённым в "Железный список" и "Список молодёжи", в освоении профессий и навыков с целью их социальной защиты».</a:t>
            </a:r>
            <a:endParaRPr kumimoji="0" lang="uz-Cyrl-UZ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0C7AD2B9-A8B0-4011-9DD1-0CBD45211C39}"/>
              </a:ext>
            </a:extLst>
          </p:cNvPr>
          <p:cNvSpPr txBox="1"/>
          <p:nvPr/>
        </p:nvSpPr>
        <p:spPr>
          <a:xfrm>
            <a:off x="6688105" y="1532830"/>
            <a:ext cx="522231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Franklin Gothic Heavy" panose="020B0903020102020204" pitchFamily="34" charset="0"/>
                <a:cs typeface="Franklin Gothic Heavy" panose="020B0903020102020204" pitchFamily="34" charset="0"/>
              </a:rPr>
              <a:t>             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Franklin Gothic Heavy" panose="020B0903020102020204" pitchFamily="34" charset="0"/>
                <a:cs typeface="Franklin Gothic Heavy" panose="020B0903020102020204" pitchFamily="34" charset="0"/>
              </a:rPr>
              <a:t>РАЗВИТИЕ НАЦИОНАЛЬНОГО СПОРТА СРЕДИ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Franklin Gothic Heavy" panose="020B0903020102020204" pitchFamily="34" charset="0"/>
                <a:cs typeface="Franklin Gothic Heavy" panose="020B0903020102020204" pitchFamily="34" charset="0"/>
              </a:rPr>
              <a:t>          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prstClr val="white"/>
                </a:solidFill>
                <a:latin typeface="DM Sans" charset="0"/>
                <a:ea typeface="Franklin Gothic Heavy" panose="020B0903020102020204" pitchFamily="34" charset="0"/>
                <a:cs typeface="Franklin Gothic Heavy" panose="020B0903020102020204" pitchFamily="34" charset="0"/>
              </a:rPr>
              <a:t>         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Franklin Gothic Heavy" panose="020B0903020102020204" pitchFamily="34" charset="0"/>
                <a:cs typeface="Franklin Gothic Heavy" panose="020B0903020102020204" pitchFamily="34" charset="0"/>
              </a:rPr>
              <a:t>СТУДЕНТОВ УНИВЕРСИТЕТА, РАЗРАБОТКА УНИВЕРСИТЕТСКОЙ ПРОГРАММЫ С ЦЕЛЬЮ ПОДГОТОВКИ ЧЕМПИОНОВ РЕСПУБЛИКИ, АЗИИ, МИРА И ОЛИМПИЙСКИХ ИГР.</a:t>
            </a:r>
            <a:endParaRPr kumimoji="0" lang="uz-Cyrl-UZ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6" name="Таблица 35">
            <a:extLst>
              <a:ext uri="{FF2B5EF4-FFF2-40B4-BE49-F238E27FC236}">
                <a16:creationId xmlns:a16="http://schemas.microsoft.com/office/drawing/2014/main" xmlns="" id="{B9B3ABE5-4BB2-41AB-BFDD-FEFFA2EBC643}"/>
              </a:ext>
            </a:extLst>
          </p:cNvPr>
          <p:cNvGraphicFramePr>
            <a:graphicFrameLocks noGrp="1"/>
          </p:cNvGraphicFramePr>
          <p:nvPr/>
        </p:nvGraphicFramePr>
        <p:xfrm>
          <a:off x="6497990" y="2808766"/>
          <a:ext cx="5680319" cy="3783541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64261">
                  <a:extLst>
                    <a:ext uri="{9D8B030D-6E8A-4147-A177-3AD203B41FA5}">
                      <a16:colId xmlns:a16="http://schemas.microsoft.com/office/drawing/2014/main" xmlns="" val="3812862088"/>
                    </a:ext>
                  </a:extLst>
                </a:gridCol>
                <a:gridCol w="1859676">
                  <a:extLst>
                    <a:ext uri="{9D8B030D-6E8A-4147-A177-3AD203B41FA5}">
                      <a16:colId xmlns:a16="http://schemas.microsoft.com/office/drawing/2014/main" xmlns="" val="3075881301"/>
                    </a:ext>
                  </a:extLst>
                </a:gridCol>
                <a:gridCol w="539819">
                  <a:extLst>
                    <a:ext uri="{9D8B030D-6E8A-4147-A177-3AD203B41FA5}">
                      <a16:colId xmlns:a16="http://schemas.microsoft.com/office/drawing/2014/main" xmlns="" val="791459531"/>
                    </a:ext>
                  </a:extLst>
                </a:gridCol>
                <a:gridCol w="585105">
                  <a:extLst>
                    <a:ext uri="{9D8B030D-6E8A-4147-A177-3AD203B41FA5}">
                      <a16:colId xmlns:a16="http://schemas.microsoft.com/office/drawing/2014/main" xmlns="" val="2402434065"/>
                    </a:ext>
                  </a:extLst>
                </a:gridCol>
                <a:gridCol w="515138">
                  <a:extLst>
                    <a:ext uri="{9D8B030D-6E8A-4147-A177-3AD203B41FA5}">
                      <a16:colId xmlns:a16="http://schemas.microsoft.com/office/drawing/2014/main" xmlns="" val="3628146781"/>
                    </a:ext>
                  </a:extLst>
                </a:gridCol>
                <a:gridCol w="648565">
                  <a:extLst>
                    <a:ext uri="{9D8B030D-6E8A-4147-A177-3AD203B41FA5}">
                      <a16:colId xmlns:a16="http://schemas.microsoft.com/office/drawing/2014/main" xmlns="" val="2953373719"/>
                    </a:ext>
                  </a:extLst>
                </a:gridCol>
                <a:gridCol w="636983">
                  <a:extLst>
                    <a:ext uri="{9D8B030D-6E8A-4147-A177-3AD203B41FA5}">
                      <a16:colId xmlns:a16="http://schemas.microsoft.com/office/drawing/2014/main" xmlns="" val="2701329986"/>
                    </a:ext>
                  </a:extLst>
                </a:gridCol>
                <a:gridCol w="530772">
                  <a:extLst>
                    <a:ext uri="{9D8B030D-6E8A-4147-A177-3AD203B41FA5}">
                      <a16:colId xmlns:a16="http://schemas.microsoft.com/office/drawing/2014/main" xmlns="" val="4276954764"/>
                    </a:ext>
                  </a:extLst>
                </a:gridCol>
              </a:tblGrid>
              <a:tr h="5003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№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ru-RU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Целевые показатели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2025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2026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2027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2028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2029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2030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44040679"/>
                  </a:ext>
                </a:extLst>
              </a:tr>
              <a:tr h="52703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noProof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Кружки и клубы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14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16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17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19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19836710"/>
                  </a:ext>
                </a:extLst>
              </a:tr>
              <a:tr h="55201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 Чемпионы Узбекистана, Азии, мира и </a:t>
                      </a:r>
                      <a:r>
                        <a:rPr lang="ru-RU" sz="1400" b="1" noProof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Олимпийских игр.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10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18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22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30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36227462"/>
                  </a:ext>
                </a:extLst>
              </a:tr>
              <a:tr h="50601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Аудитории 5 важных инициатив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3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4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6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7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8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631438"/>
                  </a:ext>
                </a:extLst>
              </a:tr>
              <a:tr h="55201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 Победители конкурсов и соревнований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8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12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18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83430757"/>
                  </a:ext>
                </a:extLst>
              </a:tr>
              <a:tr h="55201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Победители конкурсов и соревнований</a:t>
                      </a:r>
                      <a:endParaRPr lang="en-US" sz="1400" b="1" noProof="0" dirty="0">
                        <a:solidFill>
                          <a:schemeClr val="bg1"/>
                        </a:solidFill>
                        <a:effectLst/>
                        <a:latin typeface="DM Sans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3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4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6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7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89077491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343BE993-D11E-49C8-95F7-24BE7ED0C97C}"/>
              </a:ext>
            </a:extLst>
          </p:cNvPr>
          <p:cNvSpPr txBox="1"/>
          <p:nvPr/>
        </p:nvSpPr>
        <p:spPr>
          <a:xfrm>
            <a:off x="6711388" y="6961801"/>
            <a:ext cx="49680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               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6.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«СИСТЕМАТИЧЕСКИЙ МОНИТОРИНГ ДЕЯТЕЛЬНОСТИ В ДУХОВНО-МОРАЛЬНОЙ СФЕРЕ И ШИРОКОЕ ВНЕДРЕНИЕ ЦИФРОВЫХ ТЕХНОЛОГИЙ»</a:t>
            </a:r>
            <a:endParaRPr kumimoji="0" lang="uz-Cyrl-UZ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128DBBB1-7277-46F6-8583-6587E3A1C680}"/>
              </a:ext>
            </a:extLst>
          </p:cNvPr>
          <p:cNvSpPr txBox="1"/>
          <p:nvPr/>
        </p:nvSpPr>
        <p:spPr>
          <a:xfrm>
            <a:off x="6681704" y="7756834"/>
            <a:ext cx="46675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-проведение различных конкурсов и мероприятий через мобильные приложения;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-цифровизация процесса распределения мест в общежитиях для студентов;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-создание мобильного приложения «Безопасный студент» для поддержания общественного порядка;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charset="0"/>
                <a:ea typeface="+mn-ea"/>
                <a:cs typeface="+mn-cs"/>
              </a:rPr>
              <a:t>-разработка эффективной системы поддержки студентов с ограниченными возможностями, обучающихся в университете.</a:t>
            </a:r>
          </a:p>
        </p:txBody>
      </p:sp>
      <p:grpSp>
        <p:nvGrpSpPr>
          <p:cNvPr id="39" name="Google Shape;713;p22">
            <a:extLst>
              <a:ext uri="{FF2B5EF4-FFF2-40B4-BE49-F238E27FC236}">
                <a16:creationId xmlns:a16="http://schemas.microsoft.com/office/drawing/2014/main" xmlns="" id="{9BA98A6D-9667-491F-A21F-B530EF8FB153}"/>
              </a:ext>
            </a:extLst>
          </p:cNvPr>
          <p:cNvGrpSpPr/>
          <p:nvPr/>
        </p:nvGrpSpPr>
        <p:grpSpPr>
          <a:xfrm>
            <a:off x="14066457" y="2349224"/>
            <a:ext cx="2319305" cy="644795"/>
            <a:chOff x="5193875" y="1091738"/>
            <a:chExt cx="2485751" cy="678146"/>
          </a:xfrm>
        </p:grpSpPr>
        <p:grpSp>
          <p:nvGrpSpPr>
            <p:cNvPr id="40" name="Google Shape;714;p22">
              <a:extLst>
                <a:ext uri="{FF2B5EF4-FFF2-40B4-BE49-F238E27FC236}">
                  <a16:creationId xmlns:a16="http://schemas.microsoft.com/office/drawing/2014/main" xmlns="" id="{93FC64E3-5225-4370-855D-53CC5FF146EF}"/>
                </a:ext>
              </a:extLst>
            </p:cNvPr>
            <p:cNvGrpSpPr/>
            <p:nvPr/>
          </p:nvGrpSpPr>
          <p:grpSpPr>
            <a:xfrm flipH="1">
              <a:off x="5193875" y="1091738"/>
              <a:ext cx="2485751" cy="678146"/>
              <a:chOff x="800213" y="1002738"/>
              <a:chExt cx="2485751" cy="678146"/>
            </a:xfrm>
          </p:grpSpPr>
          <p:sp>
            <p:nvSpPr>
              <p:cNvPr id="42" name="Google Shape;715;p22">
                <a:extLst>
                  <a:ext uri="{FF2B5EF4-FFF2-40B4-BE49-F238E27FC236}">
                    <a16:creationId xmlns:a16="http://schemas.microsoft.com/office/drawing/2014/main" xmlns="" id="{2B113430-D631-409A-8693-944E50DF05D1}"/>
                  </a:ext>
                </a:extLst>
              </p:cNvPr>
              <p:cNvSpPr/>
              <p:nvPr/>
            </p:nvSpPr>
            <p:spPr>
              <a:xfrm>
                <a:off x="800213" y="1122363"/>
                <a:ext cx="2334900" cy="4389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" name="Google Shape;716;p22">
                <a:extLst>
                  <a:ext uri="{FF2B5EF4-FFF2-40B4-BE49-F238E27FC236}">
                    <a16:creationId xmlns:a16="http://schemas.microsoft.com/office/drawing/2014/main" xmlns="" id="{03C095BA-6951-472C-B981-7CF1219E3FB3}"/>
                  </a:ext>
                </a:extLst>
              </p:cNvPr>
              <p:cNvSpPr/>
              <p:nvPr/>
            </p:nvSpPr>
            <p:spPr>
              <a:xfrm flipH="1">
                <a:off x="2607888" y="1002738"/>
                <a:ext cx="678076" cy="678146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6558" extrusionOk="0">
                    <a:moveTo>
                      <a:pt x="3279" y="1"/>
                    </a:moveTo>
                    <a:cubicBezTo>
                      <a:pt x="1469" y="1"/>
                      <a:pt x="1" y="1469"/>
                      <a:pt x="1" y="3280"/>
                    </a:cubicBezTo>
                    <a:cubicBezTo>
                      <a:pt x="1" y="5090"/>
                      <a:pt x="1469" y="6558"/>
                      <a:pt x="3279" y="6558"/>
                    </a:cubicBezTo>
                    <a:cubicBezTo>
                      <a:pt x="5089" y="6558"/>
                      <a:pt x="6557" y="5090"/>
                      <a:pt x="6557" y="3280"/>
                    </a:cubicBezTo>
                    <a:cubicBezTo>
                      <a:pt x="6557" y="1469"/>
                      <a:pt x="5089" y="1"/>
                      <a:pt x="3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1" name="Google Shape;717;p22">
              <a:extLst>
                <a:ext uri="{FF2B5EF4-FFF2-40B4-BE49-F238E27FC236}">
                  <a16:creationId xmlns:a16="http://schemas.microsoft.com/office/drawing/2014/main" xmlns="" id="{B54A546A-E812-46C7-9199-8E4169F69978}"/>
                </a:ext>
              </a:extLst>
            </p:cNvPr>
            <p:cNvSpPr txBox="1"/>
            <p:nvPr/>
          </p:nvSpPr>
          <p:spPr>
            <a:xfrm>
              <a:off x="5897250" y="1210612"/>
              <a:ext cx="1652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Шахматный клуб </a:t>
              </a:r>
              <a:r>
                <a:rPr kumimoji="0" lang="ru-RU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ТУЭиС</a:t>
              </a:r>
              <a:endPara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" name="Google Shape;718;p22">
            <a:extLst>
              <a:ext uri="{FF2B5EF4-FFF2-40B4-BE49-F238E27FC236}">
                <a16:creationId xmlns:a16="http://schemas.microsoft.com/office/drawing/2014/main" xmlns="" id="{005F9712-3484-40CA-A40A-C9C2DEA25D52}"/>
              </a:ext>
            </a:extLst>
          </p:cNvPr>
          <p:cNvGrpSpPr/>
          <p:nvPr/>
        </p:nvGrpSpPr>
        <p:grpSpPr>
          <a:xfrm>
            <a:off x="15178262" y="2927121"/>
            <a:ext cx="2319305" cy="644795"/>
            <a:chOff x="5941100" y="2054463"/>
            <a:chExt cx="2485751" cy="678146"/>
          </a:xfrm>
        </p:grpSpPr>
        <p:grpSp>
          <p:nvGrpSpPr>
            <p:cNvPr id="45" name="Google Shape;719;p22">
              <a:extLst>
                <a:ext uri="{FF2B5EF4-FFF2-40B4-BE49-F238E27FC236}">
                  <a16:creationId xmlns:a16="http://schemas.microsoft.com/office/drawing/2014/main" xmlns="" id="{A53304AE-571F-4663-B150-590F8CBDE487}"/>
                </a:ext>
              </a:extLst>
            </p:cNvPr>
            <p:cNvGrpSpPr/>
            <p:nvPr/>
          </p:nvGrpSpPr>
          <p:grpSpPr>
            <a:xfrm flipH="1">
              <a:off x="5941100" y="2054463"/>
              <a:ext cx="2485751" cy="678146"/>
              <a:chOff x="800213" y="1002738"/>
              <a:chExt cx="2485751" cy="678146"/>
            </a:xfrm>
          </p:grpSpPr>
          <p:sp>
            <p:nvSpPr>
              <p:cNvPr id="47" name="Google Shape;720;p22">
                <a:extLst>
                  <a:ext uri="{FF2B5EF4-FFF2-40B4-BE49-F238E27FC236}">
                    <a16:creationId xmlns:a16="http://schemas.microsoft.com/office/drawing/2014/main" xmlns="" id="{820F35B5-5F0D-4F5A-B127-D0671339C458}"/>
                  </a:ext>
                </a:extLst>
              </p:cNvPr>
              <p:cNvSpPr/>
              <p:nvPr/>
            </p:nvSpPr>
            <p:spPr>
              <a:xfrm>
                <a:off x="800213" y="1122363"/>
                <a:ext cx="2334900" cy="438900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8" name="Google Shape;721;p22">
                <a:extLst>
                  <a:ext uri="{FF2B5EF4-FFF2-40B4-BE49-F238E27FC236}">
                    <a16:creationId xmlns:a16="http://schemas.microsoft.com/office/drawing/2014/main" xmlns="" id="{334BF016-72CA-45F2-B607-F98190F82B10}"/>
                  </a:ext>
                </a:extLst>
              </p:cNvPr>
              <p:cNvSpPr/>
              <p:nvPr/>
            </p:nvSpPr>
            <p:spPr>
              <a:xfrm flipH="1">
                <a:off x="2607888" y="1002738"/>
                <a:ext cx="678076" cy="678146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6558" extrusionOk="0">
                    <a:moveTo>
                      <a:pt x="3279" y="1"/>
                    </a:moveTo>
                    <a:cubicBezTo>
                      <a:pt x="1469" y="1"/>
                      <a:pt x="1" y="1469"/>
                      <a:pt x="1" y="3280"/>
                    </a:cubicBezTo>
                    <a:cubicBezTo>
                      <a:pt x="1" y="5090"/>
                      <a:pt x="1469" y="6558"/>
                      <a:pt x="3279" y="6558"/>
                    </a:cubicBezTo>
                    <a:cubicBezTo>
                      <a:pt x="5089" y="6558"/>
                      <a:pt x="6557" y="5090"/>
                      <a:pt x="6557" y="3280"/>
                    </a:cubicBezTo>
                    <a:cubicBezTo>
                      <a:pt x="6557" y="1469"/>
                      <a:pt x="5089" y="1"/>
                      <a:pt x="3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6" name="Google Shape;722;p22">
              <a:extLst>
                <a:ext uri="{FF2B5EF4-FFF2-40B4-BE49-F238E27FC236}">
                  <a16:creationId xmlns:a16="http://schemas.microsoft.com/office/drawing/2014/main" xmlns="" id="{01238998-0EC2-4B2F-B959-58B99930528E}"/>
                </a:ext>
              </a:extLst>
            </p:cNvPr>
            <p:cNvSpPr txBox="1"/>
            <p:nvPr/>
          </p:nvSpPr>
          <p:spPr>
            <a:xfrm>
              <a:off x="6658025" y="2173337"/>
              <a:ext cx="1652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Кружок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“</a:t>
              </a:r>
              <a:r>
                <a:rPr kumimoji="0" lang="ru-RU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Студентов- книголюбов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” </a:t>
              </a:r>
              <a:endPara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" name="Google Shape;723;p22">
            <a:extLst>
              <a:ext uri="{FF2B5EF4-FFF2-40B4-BE49-F238E27FC236}">
                <a16:creationId xmlns:a16="http://schemas.microsoft.com/office/drawing/2014/main" xmlns="" id="{7BB10A51-69F5-4042-9F61-346F46B56DA3}"/>
              </a:ext>
            </a:extLst>
          </p:cNvPr>
          <p:cNvGrpSpPr/>
          <p:nvPr/>
        </p:nvGrpSpPr>
        <p:grpSpPr>
          <a:xfrm>
            <a:off x="15020110" y="4279640"/>
            <a:ext cx="2332004" cy="644795"/>
            <a:chOff x="5927490" y="3017001"/>
            <a:chExt cx="2499361" cy="678146"/>
          </a:xfrm>
        </p:grpSpPr>
        <p:grpSp>
          <p:nvGrpSpPr>
            <p:cNvPr id="50" name="Google Shape;724;p22">
              <a:extLst>
                <a:ext uri="{FF2B5EF4-FFF2-40B4-BE49-F238E27FC236}">
                  <a16:creationId xmlns:a16="http://schemas.microsoft.com/office/drawing/2014/main" xmlns="" id="{2746C061-CBC9-4A2E-8BEE-C3FBB0E1EA1A}"/>
                </a:ext>
              </a:extLst>
            </p:cNvPr>
            <p:cNvGrpSpPr/>
            <p:nvPr/>
          </p:nvGrpSpPr>
          <p:grpSpPr>
            <a:xfrm flipH="1">
              <a:off x="5927490" y="3017001"/>
              <a:ext cx="2499361" cy="678146"/>
              <a:chOff x="800213" y="1002738"/>
              <a:chExt cx="2499361" cy="678146"/>
            </a:xfrm>
          </p:grpSpPr>
          <p:sp>
            <p:nvSpPr>
              <p:cNvPr id="52" name="Google Shape;725;p22">
                <a:extLst>
                  <a:ext uri="{FF2B5EF4-FFF2-40B4-BE49-F238E27FC236}">
                    <a16:creationId xmlns:a16="http://schemas.microsoft.com/office/drawing/2014/main" xmlns="" id="{1822836C-BBAA-4C40-9A64-355EA3CA5863}"/>
                  </a:ext>
                </a:extLst>
              </p:cNvPr>
              <p:cNvSpPr/>
              <p:nvPr/>
            </p:nvSpPr>
            <p:spPr>
              <a:xfrm>
                <a:off x="800213" y="1122363"/>
                <a:ext cx="2334900" cy="438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Google Shape;726;p22">
                <a:extLst>
                  <a:ext uri="{FF2B5EF4-FFF2-40B4-BE49-F238E27FC236}">
                    <a16:creationId xmlns:a16="http://schemas.microsoft.com/office/drawing/2014/main" xmlns="" id="{D1F7C75F-BE29-407A-BDA4-D0E5286E08EB}"/>
                  </a:ext>
                </a:extLst>
              </p:cNvPr>
              <p:cNvSpPr/>
              <p:nvPr/>
            </p:nvSpPr>
            <p:spPr>
              <a:xfrm flipH="1">
                <a:off x="2621498" y="1002738"/>
                <a:ext cx="678076" cy="678146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6558" extrusionOk="0">
                    <a:moveTo>
                      <a:pt x="3279" y="1"/>
                    </a:moveTo>
                    <a:cubicBezTo>
                      <a:pt x="1469" y="1"/>
                      <a:pt x="1" y="1469"/>
                      <a:pt x="1" y="3280"/>
                    </a:cubicBezTo>
                    <a:cubicBezTo>
                      <a:pt x="1" y="5090"/>
                      <a:pt x="1469" y="6558"/>
                      <a:pt x="3279" y="6558"/>
                    </a:cubicBezTo>
                    <a:cubicBezTo>
                      <a:pt x="5089" y="6558"/>
                      <a:pt x="6557" y="5090"/>
                      <a:pt x="6557" y="3280"/>
                    </a:cubicBezTo>
                    <a:cubicBezTo>
                      <a:pt x="6557" y="1469"/>
                      <a:pt x="5089" y="1"/>
                      <a:pt x="3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51" name="Google Shape;727;p22">
              <a:extLst>
                <a:ext uri="{FF2B5EF4-FFF2-40B4-BE49-F238E27FC236}">
                  <a16:creationId xmlns:a16="http://schemas.microsoft.com/office/drawing/2014/main" xmlns="" id="{5DCB1C04-8DAB-4662-81D7-44DA2C8A35A3}"/>
                </a:ext>
              </a:extLst>
            </p:cNvPr>
            <p:cNvSpPr txBox="1"/>
            <p:nvPr/>
          </p:nvSpPr>
          <p:spPr>
            <a:xfrm>
              <a:off x="6658023" y="3135874"/>
              <a:ext cx="1675871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Студенческий медиа-центр</a:t>
              </a:r>
              <a:endPara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" name="Google Shape;733;p22">
            <a:extLst>
              <a:ext uri="{FF2B5EF4-FFF2-40B4-BE49-F238E27FC236}">
                <a16:creationId xmlns:a16="http://schemas.microsoft.com/office/drawing/2014/main" xmlns="" id="{2CE8F197-094C-436C-9AE3-CEBCC4BF8828}"/>
              </a:ext>
            </a:extLst>
          </p:cNvPr>
          <p:cNvGrpSpPr/>
          <p:nvPr/>
        </p:nvGrpSpPr>
        <p:grpSpPr>
          <a:xfrm>
            <a:off x="14262741" y="4856261"/>
            <a:ext cx="2319305" cy="644795"/>
            <a:chOff x="5193875" y="3981851"/>
            <a:chExt cx="2485751" cy="678146"/>
          </a:xfrm>
        </p:grpSpPr>
        <p:grpSp>
          <p:nvGrpSpPr>
            <p:cNvPr id="55" name="Google Shape;734;p22">
              <a:extLst>
                <a:ext uri="{FF2B5EF4-FFF2-40B4-BE49-F238E27FC236}">
                  <a16:creationId xmlns:a16="http://schemas.microsoft.com/office/drawing/2014/main" xmlns="" id="{2D0BC850-9795-4F18-8637-C3C3AD6373AD}"/>
                </a:ext>
              </a:extLst>
            </p:cNvPr>
            <p:cNvGrpSpPr/>
            <p:nvPr/>
          </p:nvGrpSpPr>
          <p:grpSpPr>
            <a:xfrm flipH="1">
              <a:off x="5193875" y="3981851"/>
              <a:ext cx="2485751" cy="678146"/>
              <a:chOff x="800213" y="1002738"/>
              <a:chExt cx="2485751" cy="678146"/>
            </a:xfrm>
          </p:grpSpPr>
          <p:sp>
            <p:nvSpPr>
              <p:cNvPr id="57" name="Google Shape;735;p22">
                <a:extLst>
                  <a:ext uri="{FF2B5EF4-FFF2-40B4-BE49-F238E27FC236}">
                    <a16:creationId xmlns:a16="http://schemas.microsoft.com/office/drawing/2014/main" xmlns="" id="{B4B26D3F-6569-4A98-8612-EDF54D1A7FA5}"/>
                  </a:ext>
                </a:extLst>
              </p:cNvPr>
              <p:cNvSpPr/>
              <p:nvPr/>
            </p:nvSpPr>
            <p:spPr>
              <a:xfrm>
                <a:off x="800213" y="1122363"/>
                <a:ext cx="2334900" cy="438900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8" name="Google Shape;736;p22">
                <a:extLst>
                  <a:ext uri="{FF2B5EF4-FFF2-40B4-BE49-F238E27FC236}">
                    <a16:creationId xmlns:a16="http://schemas.microsoft.com/office/drawing/2014/main" xmlns="" id="{CD0857B3-EA4B-4A02-BAF2-E82EDB88748B}"/>
                  </a:ext>
                </a:extLst>
              </p:cNvPr>
              <p:cNvSpPr/>
              <p:nvPr/>
            </p:nvSpPr>
            <p:spPr>
              <a:xfrm flipH="1">
                <a:off x="2607888" y="1002738"/>
                <a:ext cx="678076" cy="678146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6558" extrusionOk="0">
                    <a:moveTo>
                      <a:pt x="3279" y="1"/>
                    </a:moveTo>
                    <a:cubicBezTo>
                      <a:pt x="1469" y="1"/>
                      <a:pt x="1" y="1469"/>
                      <a:pt x="1" y="3280"/>
                    </a:cubicBezTo>
                    <a:cubicBezTo>
                      <a:pt x="1" y="5090"/>
                      <a:pt x="1469" y="6558"/>
                      <a:pt x="3279" y="6558"/>
                    </a:cubicBezTo>
                    <a:cubicBezTo>
                      <a:pt x="5089" y="6558"/>
                      <a:pt x="6557" y="5090"/>
                      <a:pt x="6557" y="3280"/>
                    </a:cubicBezTo>
                    <a:cubicBezTo>
                      <a:pt x="6557" y="1469"/>
                      <a:pt x="5089" y="1"/>
                      <a:pt x="3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56" name="Google Shape;737;p22">
              <a:extLst>
                <a:ext uri="{FF2B5EF4-FFF2-40B4-BE49-F238E27FC236}">
                  <a16:creationId xmlns:a16="http://schemas.microsoft.com/office/drawing/2014/main" xmlns="" id="{D4982E89-8327-4462-BAD6-B52DA4E0B2EF}"/>
                </a:ext>
              </a:extLst>
            </p:cNvPr>
            <p:cNvSpPr txBox="1"/>
            <p:nvPr/>
          </p:nvSpPr>
          <p:spPr>
            <a:xfrm>
              <a:off x="5929925" y="4100724"/>
              <a:ext cx="1733093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Волонтёрский центр студентов</a:t>
              </a:r>
              <a:endPara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9" name="Google Shape;754;p22">
            <a:extLst>
              <a:ext uri="{FF2B5EF4-FFF2-40B4-BE49-F238E27FC236}">
                <a16:creationId xmlns:a16="http://schemas.microsoft.com/office/drawing/2014/main" xmlns="" id="{9A0B4611-F8C8-4AD8-ADE2-4A503D2FDCB3}"/>
              </a:ext>
            </a:extLst>
          </p:cNvPr>
          <p:cNvGrpSpPr/>
          <p:nvPr/>
        </p:nvGrpSpPr>
        <p:grpSpPr>
          <a:xfrm>
            <a:off x="13450896" y="3039419"/>
            <a:ext cx="1743147" cy="1667287"/>
            <a:chOff x="3479930" y="1734747"/>
            <a:chExt cx="2178931" cy="2165258"/>
          </a:xfrm>
        </p:grpSpPr>
        <p:sp>
          <p:nvSpPr>
            <p:cNvPr id="60" name="Google Shape;755;p22">
              <a:extLst>
                <a:ext uri="{FF2B5EF4-FFF2-40B4-BE49-F238E27FC236}">
                  <a16:creationId xmlns:a16="http://schemas.microsoft.com/office/drawing/2014/main" xmlns="" id="{F02B8079-15F6-4094-BECD-26C5D4C2D140}"/>
                </a:ext>
              </a:extLst>
            </p:cNvPr>
            <p:cNvSpPr/>
            <p:nvPr/>
          </p:nvSpPr>
          <p:spPr>
            <a:xfrm>
              <a:off x="3479930" y="1734747"/>
              <a:ext cx="958505" cy="2151169"/>
            </a:xfrm>
            <a:custGeom>
              <a:avLst/>
              <a:gdLst/>
              <a:ahLst/>
              <a:cxnLst/>
              <a:rect l="l" t="t" r="r" b="b"/>
              <a:pathLst>
                <a:path w="12976" h="29122" fill="none" extrusionOk="0">
                  <a:moveTo>
                    <a:pt x="12976" y="29122"/>
                  </a:moveTo>
                  <a:cubicBezTo>
                    <a:pt x="5673" y="28288"/>
                    <a:pt x="1" y="22087"/>
                    <a:pt x="1" y="14561"/>
                  </a:cubicBezTo>
                  <a:cubicBezTo>
                    <a:pt x="1" y="7035"/>
                    <a:pt x="5673" y="834"/>
                    <a:pt x="12976" y="0"/>
                  </a:cubicBezTo>
                </a:path>
              </a:pathLst>
            </a:custGeom>
            <a:noFill/>
            <a:ln w="19050" cap="rnd" cmpd="sng">
              <a:solidFill>
                <a:srgbClr val="C6C6C6"/>
              </a:solidFill>
              <a:prstDash val="dot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Google Shape;756;p22">
              <a:extLst>
                <a:ext uri="{FF2B5EF4-FFF2-40B4-BE49-F238E27FC236}">
                  <a16:creationId xmlns:a16="http://schemas.microsoft.com/office/drawing/2014/main" xmlns="" id="{051763CF-219C-4453-A3D1-B392EABCD31B}"/>
                </a:ext>
              </a:extLst>
            </p:cNvPr>
            <p:cNvSpPr/>
            <p:nvPr/>
          </p:nvSpPr>
          <p:spPr>
            <a:xfrm>
              <a:off x="4422691" y="3871418"/>
              <a:ext cx="30138" cy="28587"/>
            </a:xfrm>
            <a:custGeom>
              <a:avLst/>
              <a:gdLst/>
              <a:ahLst/>
              <a:cxnLst/>
              <a:rect l="l" t="t" r="r" b="b"/>
              <a:pathLst>
                <a:path w="408" h="387" extrusionOk="0">
                  <a:moveTo>
                    <a:pt x="203" y="1"/>
                  </a:moveTo>
                  <a:cubicBezTo>
                    <a:pt x="106" y="1"/>
                    <a:pt x="23" y="73"/>
                    <a:pt x="11" y="171"/>
                  </a:cubicBezTo>
                  <a:cubicBezTo>
                    <a:pt x="0" y="278"/>
                    <a:pt x="76" y="374"/>
                    <a:pt x="182" y="385"/>
                  </a:cubicBezTo>
                  <a:cubicBezTo>
                    <a:pt x="189" y="386"/>
                    <a:pt x="197" y="386"/>
                    <a:pt x="204" y="386"/>
                  </a:cubicBezTo>
                  <a:cubicBezTo>
                    <a:pt x="301" y="386"/>
                    <a:pt x="384" y="314"/>
                    <a:pt x="396" y="216"/>
                  </a:cubicBezTo>
                  <a:cubicBezTo>
                    <a:pt x="408" y="110"/>
                    <a:pt x="332" y="14"/>
                    <a:pt x="225" y="2"/>
                  </a:cubicBezTo>
                  <a:cubicBezTo>
                    <a:pt x="217" y="1"/>
                    <a:pt x="210" y="1"/>
                    <a:pt x="203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Google Shape;757;p22">
              <a:extLst>
                <a:ext uri="{FF2B5EF4-FFF2-40B4-BE49-F238E27FC236}">
                  <a16:creationId xmlns:a16="http://schemas.microsoft.com/office/drawing/2014/main" xmlns="" id="{9E147854-3325-41DE-B32A-393B89007023}"/>
                </a:ext>
              </a:extLst>
            </p:cNvPr>
            <p:cNvSpPr/>
            <p:nvPr/>
          </p:nvSpPr>
          <p:spPr>
            <a:xfrm>
              <a:off x="4700357" y="1734747"/>
              <a:ext cx="958505" cy="2151169"/>
            </a:xfrm>
            <a:custGeom>
              <a:avLst/>
              <a:gdLst/>
              <a:ahLst/>
              <a:cxnLst/>
              <a:rect l="l" t="t" r="r" b="b"/>
              <a:pathLst>
                <a:path w="12976" h="29122" fill="none" extrusionOk="0">
                  <a:moveTo>
                    <a:pt x="1" y="29122"/>
                  </a:moveTo>
                  <a:cubicBezTo>
                    <a:pt x="7303" y="28288"/>
                    <a:pt x="12975" y="22087"/>
                    <a:pt x="12975" y="14561"/>
                  </a:cubicBezTo>
                  <a:cubicBezTo>
                    <a:pt x="12975" y="7035"/>
                    <a:pt x="7303" y="834"/>
                    <a:pt x="1" y="0"/>
                  </a:cubicBezTo>
                </a:path>
              </a:pathLst>
            </a:custGeom>
            <a:noFill/>
            <a:ln w="19050" cap="rnd" cmpd="sng">
              <a:solidFill>
                <a:srgbClr val="C6C6C6"/>
              </a:solidFill>
              <a:prstDash val="dot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Google Shape;758;p22">
              <a:extLst>
                <a:ext uri="{FF2B5EF4-FFF2-40B4-BE49-F238E27FC236}">
                  <a16:creationId xmlns:a16="http://schemas.microsoft.com/office/drawing/2014/main" xmlns="" id="{9C5076A9-E107-437D-A2F5-882EB48AE597}"/>
                </a:ext>
              </a:extLst>
            </p:cNvPr>
            <p:cNvSpPr/>
            <p:nvPr/>
          </p:nvSpPr>
          <p:spPr>
            <a:xfrm>
              <a:off x="4686026" y="3871418"/>
              <a:ext cx="30212" cy="28587"/>
            </a:xfrm>
            <a:custGeom>
              <a:avLst/>
              <a:gdLst/>
              <a:ahLst/>
              <a:cxnLst/>
              <a:rect l="l" t="t" r="r" b="b"/>
              <a:pathLst>
                <a:path w="409" h="387" extrusionOk="0">
                  <a:moveTo>
                    <a:pt x="205" y="1"/>
                  </a:moveTo>
                  <a:cubicBezTo>
                    <a:pt x="197" y="1"/>
                    <a:pt x="190" y="1"/>
                    <a:pt x="182" y="2"/>
                  </a:cubicBezTo>
                  <a:cubicBezTo>
                    <a:pt x="77" y="14"/>
                    <a:pt x="1" y="110"/>
                    <a:pt x="13" y="216"/>
                  </a:cubicBezTo>
                  <a:cubicBezTo>
                    <a:pt x="23" y="314"/>
                    <a:pt x="106" y="386"/>
                    <a:pt x="204" y="386"/>
                  </a:cubicBezTo>
                  <a:cubicBezTo>
                    <a:pt x="211" y="386"/>
                    <a:pt x="219" y="386"/>
                    <a:pt x="227" y="385"/>
                  </a:cubicBezTo>
                  <a:cubicBezTo>
                    <a:pt x="332" y="374"/>
                    <a:pt x="408" y="278"/>
                    <a:pt x="396" y="171"/>
                  </a:cubicBezTo>
                  <a:cubicBezTo>
                    <a:pt x="385" y="73"/>
                    <a:pt x="301" y="1"/>
                    <a:pt x="205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Google Shape;759;p22">
              <a:extLst>
                <a:ext uri="{FF2B5EF4-FFF2-40B4-BE49-F238E27FC236}">
                  <a16:creationId xmlns:a16="http://schemas.microsoft.com/office/drawing/2014/main" xmlns="" id="{C5EB113D-15FD-4638-8A93-CAF664512A43}"/>
                </a:ext>
              </a:extLst>
            </p:cNvPr>
            <p:cNvSpPr/>
            <p:nvPr/>
          </p:nvSpPr>
          <p:spPr>
            <a:xfrm>
              <a:off x="3619981" y="1854042"/>
              <a:ext cx="913593" cy="913593"/>
            </a:xfrm>
            <a:custGeom>
              <a:avLst/>
              <a:gdLst/>
              <a:ahLst/>
              <a:cxnLst/>
              <a:rect l="l" t="t" r="r" b="b"/>
              <a:pathLst>
                <a:path w="12368" h="12368" extrusionOk="0">
                  <a:moveTo>
                    <a:pt x="12368" y="0"/>
                  </a:moveTo>
                  <a:cubicBezTo>
                    <a:pt x="5670" y="294"/>
                    <a:pt x="294" y="5670"/>
                    <a:pt x="0" y="12368"/>
                  </a:cubicBezTo>
                  <a:lnTo>
                    <a:pt x="1707" y="12368"/>
                  </a:lnTo>
                  <a:cubicBezTo>
                    <a:pt x="1998" y="6613"/>
                    <a:pt x="6613" y="1998"/>
                    <a:pt x="12368" y="1707"/>
                  </a:cubicBezTo>
                  <a:lnTo>
                    <a:pt x="1236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Google Shape;760;p22">
              <a:extLst>
                <a:ext uri="{FF2B5EF4-FFF2-40B4-BE49-F238E27FC236}">
                  <a16:creationId xmlns:a16="http://schemas.microsoft.com/office/drawing/2014/main" xmlns="" id="{3C7CFBCE-983F-40E5-B1D6-72B16F01A53B}"/>
                </a:ext>
              </a:extLst>
            </p:cNvPr>
            <p:cNvSpPr/>
            <p:nvPr/>
          </p:nvSpPr>
          <p:spPr>
            <a:xfrm>
              <a:off x="4631070" y="1854633"/>
              <a:ext cx="901553" cy="913002"/>
            </a:xfrm>
            <a:custGeom>
              <a:avLst/>
              <a:gdLst/>
              <a:ahLst/>
              <a:cxnLst/>
              <a:rect l="l" t="t" r="r" b="b"/>
              <a:pathLst>
                <a:path w="12205" h="12360" extrusionOk="0">
                  <a:moveTo>
                    <a:pt x="1" y="0"/>
                  </a:moveTo>
                  <a:lnTo>
                    <a:pt x="1" y="1712"/>
                  </a:lnTo>
                  <a:cubicBezTo>
                    <a:pt x="5678" y="2082"/>
                    <a:pt x="10208" y="6661"/>
                    <a:pt x="10497" y="12360"/>
                  </a:cubicBezTo>
                  <a:lnTo>
                    <a:pt x="12204" y="12360"/>
                  </a:lnTo>
                  <a:cubicBezTo>
                    <a:pt x="11912" y="5718"/>
                    <a:pt x="6622" y="374"/>
                    <a:pt x="1" y="0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Google Shape;761;p22">
              <a:extLst>
                <a:ext uri="{FF2B5EF4-FFF2-40B4-BE49-F238E27FC236}">
                  <a16:creationId xmlns:a16="http://schemas.microsoft.com/office/drawing/2014/main" xmlns="" id="{5F032BA4-5206-49D4-8D5F-8FD7CA5FAE49}"/>
                </a:ext>
              </a:extLst>
            </p:cNvPr>
            <p:cNvSpPr/>
            <p:nvPr/>
          </p:nvSpPr>
          <p:spPr>
            <a:xfrm>
              <a:off x="4631070" y="2865131"/>
              <a:ext cx="900888" cy="900888"/>
            </a:xfrm>
            <a:custGeom>
              <a:avLst/>
              <a:gdLst/>
              <a:ahLst/>
              <a:cxnLst/>
              <a:rect l="l" t="t" r="r" b="b"/>
              <a:pathLst>
                <a:path w="12196" h="12196" extrusionOk="0">
                  <a:moveTo>
                    <a:pt x="10485" y="1"/>
                  </a:moveTo>
                  <a:cubicBezTo>
                    <a:pt x="10117" y="5624"/>
                    <a:pt x="5624" y="10118"/>
                    <a:pt x="1" y="10485"/>
                  </a:cubicBezTo>
                  <a:lnTo>
                    <a:pt x="1" y="12196"/>
                  </a:lnTo>
                  <a:cubicBezTo>
                    <a:pt x="6567" y="11825"/>
                    <a:pt x="11825" y="6567"/>
                    <a:pt x="12196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Google Shape;762;p22">
              <a:extLst>
                <a:ext uri="{FF2B5EF4-FFF2-40B4-BE49-F238E27FC236}">
                  <a16:creationId xmlns:a16="http://schemas.microsoft.com/office/drawing/2014/main" xmlns="" id="{63947F3D-0007-47EF-9439-FB1C0A295F42}"/>
                </a:ext>
              </a:extLst>
            </p:cNvPr>
            <p:cNvSpPr/>
            <p:nvPr/>
          </p:nvSpPr>
          <p:spPr>
            <a:xfrm>
              <a:off x="3620572" y="2865131"/>
              <a:ext cx="913002" cy="901553"/>
            </a:xfrm>
            <a:custGeom>
              <a:avLst/>
              <a:gdLst/>
              <a:ahLst/>
              <a:cxnLst/>
              <a:rect l="l" t="t" r="r" b="b"/>
              <a:pathLst>
                <a:path w="12360" h="12205" extrusionOk="0">
                  <a:moveTo>
                    <a:pt x="0" y="1"/>
                  </a:moveTo>
                  <a:cubicBezTo>
                    <a:pt x="374" y="6622"/>
                    <a:pt x="5717" y="11912"/>
                    <a:pt x="12360" y="12204"/>
                  </a:cubicBezTo>
                  <a:lnTo>
                    <a:pt x="12360" y="10497"/>
                  </a:lnTo>
                  <a:cubicBezTo>
                    <a:pt x="6661" y="10208"/>
                    <a:pt x="2082" y="5678"/>
                    <a:pt x="1712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Google Shape;763;p22">
              <a:extLst>
                <a:ext uri="{FF2B5EF4-FFF2-40B4-BE49-F238E27FC236}">
                  <a16:creationId xmlns:a16="http://schemas.microsoft.com/office/drawing/2014/main" xmlns="" id="{3F926C99-292F-4C6E-929A-95CC2BDF1D75}"/>
                </a:ext>
              </a:extLst>
            </p:cNvPr>
            <p:cNvSpPr/>
            <p:nvPr/>
          </p:nvSpPr>
          <p:spPr>
            <a:xfrm>
              <a:off x="3679222" y="1913357"/>
              <a:ext cx="1794020" cy="1793946"/>
            </a:xfrm>
            <a:custGeom>
              <a:avLst/>
              <a:gdLst/>
              <a:ahLst/>
              <a:cxnLst/>
              <a:rect l="l" t="t" r="r" b="b"/>
              <a:pathLst>
                <a:path w="24287" h="24286" fill="none" extrusionOk="0">
                  <a:moveTo>
                    <a:pt x="24287" y="12143"/>
                  </a:moveTo>
                  <a:cubicBezTo>
                    <a:pt x="24287" y="18850"/>
                    <a:pt x="18851" y="24286"/>
                    <a:pt x="12144" y="24286"/>
                  </a:cubicBezTo>
                  <a:cubicBezTo>
                    <a:pt x="5437" y="24286"/>
                    <a:pt x="0" y="18850"/>
                    <a:pt x="0" y="12143"/>
                  </a:cubicBezTo>
                  <a:cubicBezTo>
                    <a:pt x="0" y="5436"/>
                    <a:pt x="5437" y="0"/>
                    <a:pt x="12144" y="0"/>
                  </a:cubicBezTo>
                  <a:cubicBezTo>
                    <a:pt x="18851" y="0"/>
                    <a:pt x="24287" y="5436"/>
                    <a:pt x="24287" y="12143"/>
                  </a:cubicBezTo>
                  <a:close/>
                </a:path>
              </a:pathLst>
            </a:custGeom>
            <a:noFill/>
            <a:ln w="3100" cap="flat" cmpd="sng">
              <a:solidFill>
                <a:srgbClr val="FFFFFF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9" name="Google Shape;764;p22">
              <a:extLst>
                <a:ext uri="{FF2B5EF4-FFF2-40B4-BE49-F238E27FC236}">
                  <a16:creationId xmlns:a16="http://schemas.microsoft.com/office/drawing/2014/main" xmlns="" id="{1675797E-D0B0-453D-A9A3-6638DD6625B0}"/>
                </a:ext>
              </a:extLst>
            </p:cNvPr>
            <p:cNvSpPr/>
            <p:nvPr/>
          </p:nvSpPr>
          <p:spPr>
            <a:xfrm>
              <a:off x="4964135" y="3694434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1" y="0"/>
                  </a:moveTo>
                  <a:cubicBezTo>
                    <a:pt x="520" y="0"/>
                    <a:pt x="0" y="519"/>
                    <a:pt x="0" y="1160"/>
                  </a:cubicBezTo>
                  <a:cubicBezTo>
                    <a:pt x="0" y="1801"/>
                    <a:pt x="520" y="2321"/>
                    <a:pt x="1161" y="2321"/>
                  </a:cubicBezTo>
                  <a:cubicBezTo>
                    <a:pt x="1802" y="2321"/>
                    <a:pt x="2321" y="1801"/>
                    <a:pt x="2321" y="1160"/>
                  </a:cubicBezTo>
                  <a:cubicBezTo>
                    <a:pt x="2321" y="519"/>
                    <a:pt x="1802" y="0"/>
                    <a:pt x="11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0" name="Google Shape;765;p22">
              <a:extLst>
                <a:ext uri="{FF2B5EF4-FFF2-40B4-BE49-F238E27FC236}">
                  <a16:creationId xmlns:a16="http://schemas.microsoft.com/office/drawing/2014/main" xmlns="" id="{39EDEA84-69B9-41E6-A926-E8D81F80172A}"/>
                </a:ext>
              </a:extLst>
            </p:cNvPr>
            <p:cNvSpPr/>
            <p:nvPr/>
          </p:nvSpPr>
          <p:spPr>
            <a:xfrm>
              <a:off x="5460372" y="2232979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0" y="0"/>
                  </a:moveTo>
                  <a:cubicBezTo>
                    <a:pt x="519" y="0"/>
                    <a:pt x="0" y="519"/>
                    <a:pt x="0" y="1160"/>
                  </a:cubicBezTo>
                  <a:cubicBezTo>
                    <a:pt x="0" y="1801"/>
                    <a:pt x="519" y="2321"/>
                    <a:pt x="1160" y="2321"/>
                  </a:cubicBezTo>
                  <a:cubicBezTo>
                    <a:pt x="1801" y="2321"/>
                    <a:pt x="2321" y="1801"/>
                    <a:pt x="2321" y="1160"/>
                  </a:cubicBezTo>
                  <a:cubicBezTo>
                    <a:pt x="2321" y="519"/>
                    <a:pt x="1801" y="0"/>
                    <a:pt x="11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1" name="Google Shape;766;p22">
              <a:extLst>
                <a:ext uri="{FF2B5EF4-FFF2-40B4-BE49-F238E27FC236}">
                  <a16:creationId xmlns:a16="http://schemas.microsoft.com/office/drawing/2014/main" xmlns="" id="{9AEBB44A-EBFB-4B45-BA9E-E476334A5C2C}"/>
                </a:ext>
              </a:extLst>
            </p:cNvPr>
            <p:cNvSpPr/>
            <p:nvPr/>
          </p:nvSpPr>
          <p:spPr>
            <a:xfrm>
              <a:off x="4964135" y="1754765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1" y="0"/>
                  </a:moveTo>
                  <a:cubicBezTo>
                    <a:pt x="520" y="0"/>
                    <a:pt x="0" y="520"/>
                    <a:pt x="0" y="1160"/>
                  </a:cubicBezTo>
                  <a:cubicBezTo>
                    <a:pt x="0" y="1801"/>
                    <a:pt x="520" y="2321"/>
                    <a:pt x="1161" y="2321"/>
                  </a:cubicBezTo>
                  <a:cubicBezTo>
                    <a:pt x="1802" y="2321"/>
                    <a:pt x="2321" y="1801"/>
                    <a:pt x="2321" y="1160"/>
                  </a:cubicBezTo>
                  <a:cubicBezTo>
                    <a:pt x="2321" y="520"/>
                    <a:pt x="1802" y="0"/>
                    <a:pt x="11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2" name="Google Shape;767;p22">
              <a:extLst>
                <a:ext uri="{FF2B5EF4-FFF2-40B4-BE49-F238E27FC236}">
                  <a16:creationId xmlns:a16="http://schemas.microsoft.com/office/drawing/2014/main" xmlns="" id="{403E9F38-7D8B-4653-8397-E4120526BC6A}"/>
                </a:ext>
              </a:extLst>
            </p:cNvPr>
            <p:cNvSpPr/>
            <p:nvPr/>
          </p:nvSpPr>
          <p:spPr>
            <a:xfrm>
              <a:off x="5460372" y="3216220"/>
              <a:ext cx="171446" cy="171520"/>
            </a:xfrm>
            <a:custGeom>
              <a:avLst/>
              <a:gdLst/>
              <a:ahLst/>
              <a:cxnLst/>
              <a:rect l="l" t="t" r="r" b="b"/>
              <a:pathLst>
                <a:path w="2321" h="2322" extrusionOk="0">
                  <a:moveTo>
                    <a:pt x="1160" y="1"/>
                  </a:moveTo>
                  <a:cubicBezTo>
                    <a:pt x="519" y="1"/>
                    <a:pt x="0" y="521"/>
                    <a:pt x="0" y="1162"/>
                  </a:cubicBezTo>
                  <a:cubicBezTo>
                    <a:pt x="0" y="1803"/>
                    <a:pt x="519" y="2321"/>
                    <a:pt x="1160" y="2321"/>
                  </a:cubicBezTo>
                  <a:cubicBezTo>
                    <a:pt x="1801" y="2321"/>
                    <a:pt x="2321" y="1803"/>
                    <a:pt x="2321" y="1162"/>
                  </a:cubicBezTo>
                  <a:cubicBezTo>
                    <a:pt x="2321" y="521"/>
                    <a:pt x="1801" y="1"/>
                    <a:pt x="11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3" name="Google Shape;768;p22">
              <a:extLst>
                <a:ext uri="{FF2B5EF4-FFF2-40B4-BE49-F238E27FC236}">
                  <a16:creationId xmlns:a16="http://schemas.microsoft.com/office/drawing/2014/main" xmlns="" id="{F534A694-BFC4-4AF7-BF8F-C2A24CD2269E}"/>
                </a:ext>
              </a:extLst>
            </p:cNvPr>
            <p:cNvSpPr/>
            <p:nvPr/>
          </p:nvSpPr>
          <p:spPr>
            <a:xfrm>
              <a:off x="4008003" y="3694434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0" y="0"/>
                  </a:moveTo>
                  <a:cubicBezTo>
                    <a:pt x="519" y="0"/>
                    <a:pt x="0" y="519"/>
                    <a:pt x="0" y="1160"/>
                  </a:cubicBezTo>
                  <a:cubicBezTo>
                    <a:pt x="0" y="1801"/>
                    <a:pt x="519" y="2321"/>
                    <a:pt x="1160" y="2321"/>
                  </a:cubicBezTo>
                  <a:cubicBezTo>
                    <a:pt x="1801" y="2321"/>
                    <a:pt x="2321" y="1801"/>
                    <a:pt x="2321" y="1160"/>
                  </a:cubicBezTo>
                  <a:cubicBezTo>
                    <a:pt x="2321" y="519"/>
                    <a:pt x="1801" y="0"/>
                    <a:pt x="1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Google Shape;769;p22">
              <a:extLst>
                <a:ext uri="{FF2B5EF4-FFF2-40B4-BE49-F238E27FC236}">
                  <a16:creationId xmlns:a16="http://schemas.microsoft.com/office/drawing/2014/main" xmlns="" id="{AB933B26-26BC-42FA-BC2A-6A29FDD8F1AC}"/>
                </a:ext>
              </a:extLst>
            </p:cNvPr>
            <p:cNvSpPr/>
            <p:nvPr/>
          </p:nvSpPr>
          <p:spPr>
            <a:xfrm>
              <a:off x="3511766" y="2232979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1" y="0"/>
                  </a:moveTo>
                  <a:cubicBezTo>
                    <a:pt x="520" y="0"/>
                    <a:pt x="0" y="519"/>
                    <a:pt x="0" y="1160"/>
                  </a:cubicBezTo>
                  <a:cubicBezTo>
                    <a:pt x="0" y="1801"/>
                    <a:pt x="520" y="2321"/>
                    <a:pt x="1161" y="2321"/>
                  </a:cubicBezTo>
                  <a:cubicBezTo>
                    <a:pt x="1802" y="2321"/>
                    <a:pt x="2321" y="1801"/>
                    <a:pt x="2321" y="1160"/>
                  </a:cubicBezTo>
                  <a:cubicBezTo>
                    <a:pt x="2321" y="519"/>
                    <a:pt x="1802" y="0"/>
                    <a:pt x="1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5" name="Google Shape;770;p22">
              <a:extLst>
                <a:ext uri="{FF2B5EF4-FFF2-40B4-BE49-F238E27FC236}">
                  <a16:creationId xmlns:a16="http://schemas.microsoft.com/office/drawing/2014/main" xmlns="" id="{A1730288-B544-432A-9274-5EF2432DC727}"/>
                </a:ext>
              </a:extLst>
            </p:cNvPr>
            <p:cNvSpPr/>
            <p:nvPr/>
          </p:nvSpPr>
          <p:spPr>
            <a:xfrm>
              <a:off x="4008003" y="1754765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0" y="0"/>
                  </a:moveTo>
                  <a:cubicBezTo>
                    <a:pt x="519" y="0"/>
                    <a:pt x="0" y="520"/>
                    <a:pt x="0" y="1160"/>
                  </a:cubicBezTo>
                  <a:cubicBezTo>
                    <a:pt x="0" y="1801"/>
                    <a:pt x="519" y="2321"/>
                    <a:pt x="1160" y="2321"/>
                  </a:cubicBezTo>
                  <a:cubicBezTo>
                    <a:pt x="1801" y="2321"/>
                    <a:pt x="2321" y="1801"/>
                    <a:pt x="2321" y="1160"/>
                  </a:cubicBezTo>
                  <a:cubicBezTo>
                    <a:pt x="2321" y="520"/>
                    <a:pt x="1801" y="0"/>
                    <a:pt x="11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6" name="Google Shape;771;p22">
              <a:extLst>
                <a:ext uri="{FF2B5EF4-FFF2-40B4-BE49-F238E27FC236}">
                  <a16:creationId xmlns:a16="http://schemas.microsoft.com/office/drawing/2014/main" xmlns="" id="{59322157-6679-4928-A713-13CDA4AD03BC}"/>
                </a:ext>
              </a:extLst>
            </p:cNvPr>
            <p:cNvSpPr/>
            <p:nvPr/>
          </p:nvSpPr>
          <p:spPr>
            <a:xfrm>
              <a:off x="3511766" y="3216220"/>
              <a:ext cx="171446" cy="171520"/>
            </a:xfrm>
            <a:custGeom>
              <a:avLst/>
              <a:gdLst/>
              <a:ahLst/>
              <a:cxnLst/>
              <a:rect l="l" t="t" r="r" b="b"/>
              <a:pathLst>
                <a:path w="2321" h="2322" extrusionOk="0">
                  <a:moveTo>
                    <a:pt x="1161" y="1"/>
                  </a:moveTo>
                  <a:cubicBezTo>
                    <a:pt x="520" y="1"/>
                    <a:pt x="0" y="521"/>
                    <a:pt x="0" y="1162"/>
                  </a:cubicBezTo>
                  <a:cubicBezTo>
                    <a:pt x="0" y="1803"/>
                    <a:pt x="520" y="2321"/>
                    <a:pt x="1161" y="2321"/>
                  </a:cubicBezTo>
                  <a:cubicBezTo>
                    <a:pt x="1802" y="2321"/>
                    <a:pt x="2321" y="1803"/>
                    <a:pt x="2321" y="1162"/>
                  </a:cubicBezTo>
                  <a:cubicBezTo>
                    <a:pt x="2321" y="521"/>
                    <a:pt x="1802" y="1"/>
                    <a:pt x="11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7" name="Google Shape;794;p22">
            <a:extLst>
              <a:ext uri="{FF2B5EF4-FFF2-40B4-BE49-F238E27FC236}">
                <a16:creationId xmlns:a16="http://schemas.microsoft.com/office/drawing/2014/main" xmlns="" id="{B4BE371D-32D1-4F7A-9D65-440CB72A29E1}"/>
              </a:ext>
            </a:extLst>
          </p:cNvPr>
          <p:cNvGrpSpPr/>
          <p:nvPr/>
        </p:nvGrpSpPr>
        <p:grpSpPr>
          <a:xfrm>
            <a:off x="14277223" y="2538164"/>
            <a:ext cx="237088" cy="278590"/>
            <a:chOff x="6033071" y="1587084"/>
            <a:chExt cx="176472" cy="203493"/>
          </a:xfrm>
        </p:grpSpPr>
        <p:sp>
          <p:nvSpPr>
            <p:cNvPr id="78" name="Google Shape;795;p22">
              <a:extLst>
                <a:ext uri="{FF2B5EF4-FFF2-40B4-BE49-F238E27FC236}">
                  <a16:creationId xmlns:a16="http://schemas.microsoft.com/office/drawing/2014/main" xmlns="" id="{CAF4A01B-900E-4D6C-8140-5F3951632883}"/>
                </a:ext>
              </a:extLst>
            </p:cNvPr>
            <p:cNvSpPr/>
            <p:nvPr/>
          </p:nvSpPr>
          <p:spPr>
            <a:xfrm>
              <a:off x="6063580" y="1587084"/>
              <a:ext cx="115356" cy="203493"/>
            </a:xfrm>
            <a:custGeom>
              <a:avLst/>
              <a:gdLst/>
              <a:ahLst/>
              <a:cxnLst/>
              <a:rect l="l" t="t" r="r" b="b"/>
              <a:pathLst>
                <a:path w="1157" h="2041" extrusionOk="0">
                  <a:moveTo>
                    <a:pt x="493" y="422"/>
                  </a:moveTo>
                  <a:cubicBezTo>
                    <a:pt x="496" y="425"/>
                    <a:pt x="499" y="428"/>
                    <a:pt x="500" y="432"/>
                  </a:cubicBezTo>
                  <a:cubicBezTo>
                    <a:pt x="500" y="433"/>
                    <a:pt x="500" y="433"/>
                    <a:pt x="500" y="433"/>
                  </a:cubicBezTo>
                  <a:cubicBezTo>
                    <a:pt x="504" y="439"/>
                    <a:pt x="506" y="446"/>
                    <a:pt x="507" y="452"/>
                  </a:cubicBezTo>
                  <a:cubicBezTo>
                    <a:pt x="507" y="454"/>
                    <a:pt x="508" y="454"/>
                    <a:pt x="508" y="456"/>
                  </a:cubicBezTo>
                  <a:cubicBezTo>
                    <a:pt x="510" y="463"/>
                    <a:pt x="511" y="469"/>
                    <a:pt x="511" y="476"/>
                  </a:cubicBezTo>
                  <a:cubicBezTo>
                    <a:pt x="511" y="483"/>
                    <a:pt x="510" y="489"/>
                    <a:pt x="508" y="496"/>
                  </a:cubicBezTo>
                  <a:cubicBezTo>
                    <a:pt x="508" y="498"/>
                    <a:pt x="507" y="500"/>
                    <a:pt x="507" y="501"/>
                  </a:cubicBezTo>
                  <a:cubicBezTo>
                    <a:pt x="506" y="508"/>
                    <a:pt x="504" y="514"/>
                    <a:pt x="500" y="520"/>
                  </a:cubicBezTo>
                  <a:cubicBezTo>
                    <a:pt x="500" y="520"/>
                    <a:pt x="500" y="521"/>
                    <a:pt x="500" y="521"/>
                  </a:cubicBezTo>
                  <a:cubicBezTo>
                    <a:pt x="499" y="524"/>
                    <a:pt x="496" y="528"/>
                    <a:pt x="493" y="531"/>
                  </a:cubicBezTo>
                  <a:cubicBezTo>
                    <a:pt x="492" y="528"/>
                    <a:pt x="489" y="524"/>
                    <a:pt x="487" y="521"/>
                  </a:cubicBezTo>
                  <a:cubicBezTo>
                    <a:pt x="487" y="521"/>
                    <a:pt x="486" y="520"/>
                    <a:pt x="486" y="520"/>
                  </a:cubicBezTo>
                  <a:cubicBezTo>
                    <a:pt x="484" y="514"/>
                    <a:pt x="482" y="508"/>
                    <a:pt x="480" y="501"/>
                  </a:cubicBezTo>
                  <a:cubicBezTo>
                    <a:pt x="479" y="500"/>
                    <a:pt x="479" y="498"/>
                    <a:pt x="479" y="496"/>
                  </a:cubicBezTo>
                  <a:cubicBezTo>
                    <a:pt x="478" y="489"/>
                    <a:pt x="477" y="483"/>
                    <a:pt x="477" y="476"/>
                  </a:cubicBezTo>
                  <a:cubicBezTo>
                    <a:pt x="477" y="469"/>
                    <a:pt x="478" y="463"/>
                    <a:pt x="479" y="456"/>
                  </a:cubicBezTo>
                  <a:cubicBezTo>
                    <a:pt x="479" y="454"/>
                    <a:pt x="479" y="454"/>
                    <a:pt x="480" y="452"/>
                  </a:cubicBezTo>
                  <a:cubicBezTo>
                    <a:pt x="482" y="446"/>
                    <a:pt x="484" y="439"/>
                    <a:pt x="486" y="433"/>
                  </a:cubicBezTo>
                  <a:cubicBezTo>
                    <a:pt x="487" y="433"/>
                    <a:pt x="487" y="433"/>
                    <a:pt x="487" y="432"/>
                  </a:cubicBezTo>
                  <a:cubicBezTo>
                    <a:pt x="489" y="428"/>
                    <a:pt x="492" y="425"/>
                    <a:pt x="493" y="422"/>
                  </a:cubicBezTo>
                  <a:close/>
                  <a:moveTo>
                    <a:pt x="664" y="422"/>
                  </a:moveTo>
                  <a:cubicBezTo>
                    <a:pt x="666" y="425"/>
                    <a:pt x="668" y="428"/>
                    <a:pt x="670" y="432"/>
                  </a:cubicBezTo>
                  <a:cubicBezTo>
                    <a:pt x="671" y="433"/>
                    <a:pt x="671" y="433"/>
                    <a:pt x="671" y="433"/>
                  </a:cubicBezTo>
                  <a:cubicBezTo>
                    <a:pt x="674" y="439"/>
                    <a:pt x="676" y="446"/>
                    <a:pt x="678" y="452"/>
                  </a:cubicBezTo>
                  <a:cubicBezTo>
                    <a:pt x="678" y="454"/>
                    <a:pt x="679" y="454"/>
                    <a:pt x="679" y="456"/>
                  </a:cubicBezTo>
                  <a:cubicBezTo>
                    <a:pt x="680" y="463"/>
                    <a:pt x="681" y="469"/>
                    <a:pt x="681" y="476"/>
                  </a:cubicBezTo>
                  <a:cubicBezTo>
                    <a:pt x="681" y="483"/>
                    <a:pt x="680" y="489"/>
                    <a:pt x="679" y="496"/>
                  </a:cubicBezTo>
                  <a:cubicBezTo>
                    <a:pt x="679" y="498"/>
                    <a:pt x="678" y="500"/>
                    <a:pt x="678" y="501"/>
                  </a:cubicBezTo>
                  <a:cubicBezTo>
                    <a:pt x="676" y="508"/>
                    <a:pt x="674" y="514"/>
                    <a:pt x="671" y="520"/>
                  </a:cubicBezTo>
                  <a:cubicBezTo>
                    <a:pt x="671" y="520"/>
                    <a:pt x="671" y="521"/>
                    <a:pt x="670" y="521"/>
                  </a:cubicBezTo>
                  <a:cubicBezTo>
                    <a:pt x="668" y="524"/>
                    <a:pt x="666" y="528"/>
                    <a:pt x="664" y="531"/>
                  </a:cubicBezTo>
                  <a:cubicBezTo>
                    <a:pt x="662" y="528"/>
                    <a:pt x="659" y="524"/>
                    <a:pt x="658" y="521"/>
                  </a:cubicBezTo>
                  <a:cubicBezTo>
                    <a:pt x="658" y="521"/>
                    <a:pt x="657" y="520"/>
                    <a:pt x="657" y="520"/>
                  </a:cubicBezTo>
                  <a:cubicBezTo>
                    <a:pt x="654" y="514"/>
                    <a:pt x="651" y="508"/>
                    <a:pt x="651" y="501"/>
                  </a:cubicBezTo>
                  <a:cubicBezTo>
                    <a:pt x="650" y="500"/>
                    <a:pt x="650" y="498"/>
                    <a:pt x="649" y="496"/>
                  </a:cubicBezTo>
                  <a:cubicBezTo>
                    <a:pt x="648" y="489"/>
                    <a:pt x="647" y="483"/>
                    <a:pt x="647" y="476"/>
                  </a:cubicBezTo>
                  <a:cubicBezTo>
                    <a:pt x="647" y="469"/>
                    <a:pt x="648" y="463"/>
                    <a:pt x="649" y="456"/>
                  </a:cubicBezTo>
                  <a:cubicBezTo>
                    <a:pt x="650" y="454"/>
                    <a:pt x="650" y="454"/>
                    <a:pt x="651" y="452"/>
                  </a:cubicBezTo>
                  <a:cubicBezTo>
                    <a:pt x="651" y="446"/>
                    <a:pt x="654" y="439"/>
                    <a:pt x="657" y="433"/>
                  </a:cubicBezTo>
                  <a:cubicBezTo>
                    <a:pt x="657" y="433"/>
                    <a:pt x="658" y="433"/>
                    <a:pt x="658" y="432"/>
                  </a:cubicBezTo>
                  <a:cubicBezTo>
                    <a:pt x="659" y="428"/>
                    <a:pt x="662" y="425"/>
                    <a:pt x="664" y="422"/>
                  </a:cubicBezTo>
                  <a:close/>
                  <a:moveTo>
                    <a:pt x="749" y="374"/>
                  </a:moveTo>
                  <a:cubicBezTo>
                    <a:pt x="803" y="374"/>
                    <a:pt x="851" y="426"/>
                    <a:pt x="851" y="484"/>
                  </a:cubicBezTo>
                  <a:cubicBezTo>
                    <a:pt x="851" y="534"/>
                    <a:pt x="829" y="581"/>
                    <a:pt x="790" y="612"/>
                  </a:cubicBezTo>
                  <a:lnTo>
                    <a:pt x="659" y="722"/>
                  </a:lnTo>
                  <a:cubicBezTo>
                    <a:pt x="651" y="729"/>
                    <a:pt x="647" y="738"/>
                    <a:pt x="647" y="749"/>
                  </a:cubicBezTo>
                  <a:lnTo>
                    <a:pt x="647" y="986"/>
                  </a:lnTo>
                  <a:lnTo>
                    <a:pt x="511" y="986"/>
                  </a:lnTo>
                  <a:lnTo>
                    <a:pt x="511" y="749"/>
                  </a:lnTo>
                  <a:cubicBezTo>
                    <a:pt x="511" y="738"/>
                    <a:pt x="506" y="729"/>
                    <a:pt x="499" y="722"/>
                  </a:cubicBezTo>
                  <a:lnTo>
                    <a:pt x="367" y="612"/>
                  </a:lnTo>
                  <a:cubicBezTo>
                    <a:pt x="328" y="581"/>
                    <a:pt x="307" y="534"/>
                    <a:pt x="307" y="484"/>
                  </a:cubicBezTo>
                  <a:cubicBezTo>
                    <a:pt x="307" y="426"/>
                    <a:pt x="355" y="374"/>
                    <a:pt x="409" y="374"/>
                  </a:cubicBezTo>
                  <a:cubicBezTo>
                    <a:pt x="419" y="374"/>
                    <a:pt x="430" y="376"/>
                    <a:pt x="439" y="379"/>
                  </a:cubicBezTo>
                  <a:cubicBezTo>
                    <a:pt x="439" y="380"/>
                    <a:pt x="438" y="381"/>
                    <a:pt x="438" y="382"/>
                  </a:cubicBezTo>
                  <a:cubicBezTo>
                    <a:pt x="434" y="387"/>
                    <a:pt x="431" y="393"/>
                    <a:pt x="428" y="399"/>
                  </a:cubicBezTo>
                  <a:cubicBezTo>
                    <a:pt x="427" y="400"/>
                    <a:pt x="426" y="401"/>
                    <a:pt x="426" y="402"/>
                  </a:cubicBezTo>
                  <a:cubicBezTo>
                    <a:pt x="423" y="409"/>
                    <a:pt x="420" y="416"/>
                    <a:pt x="417" y="424"/>
                  </a:cubicBezTo>
                  <a:cubicBezTo>
                    <a:pt x="417" y="426"/>
                    <a:pt x="417" y="427"/>
                    <a:pt x="416" y="429"/>
                  </a:cubicBezTo>
                  <a:cubicBezTo>
                    <a:pt x="414" y="435"/>
                    <a:pt x="413" y="440"/>
                    <a:pt x="411" y="447"/>
                  </a:cubicBezTo>
                  <a:cubicBezTo>
                    <a:pt x="411" y="448"/>
                    <a:pt x="410" y="451"/>
                    <a:pt x="410" y="453"/>
                  </a:cubicBezTo>
                  <a:cubicBezTo>
                    <a:pt x="410" y="460"/>
                    <a:pt x="409" y="468"/>
                    <a:pt x="409" y="476"/>
                  </a:cubicBezTo>
                  <a:cubicBezTo>
                    <a:pt x="409" y="528"/>
                    <a:pt x="432" y="576"/>
                    <a:pt x="472" y="608"/>
                  </a:cubicBezTo>
                  <a:cubicBezTo>
                    <a:pt x="479" y="613"/>
                    <a:pt x="486" y="616"/>
                    <a:pt x="493" y="616"/>
                  </a:cubicBezTo>
                  <a:cubicBezTo>
                    <a:pt x="501" y="616"/>
                    <a:pt x="509" y="613"/>
                    <a:pt x="515" y="608"/>
                  </a:cubicBezTo>
                  <a:cubicBezTo>
                    <a:pt x="555" y="576"/>
                    <a:pt x="579" y="528"/>
                    <a:pt x="579" y="476"/>
                  </a:cubicBezTo>
                  <a:cubicBezTo>
                    <a:pt x="579" y="468"/>
                    <a:pt x="578" y="460"/>
                    <a:pt x="577" y="453"/>
                  </a:cubicBezTo>
                  <a:cubicBezTo>
                    <a:pt x="576" y="451"/>
                    <a:pt x="576" y="448"/>
                    <a:pt x="575" y="447"/>
                  </a:cubicBezTo>
                  <a:cubicBezTo>
                    <a:pt x="575" y="440"/>
                    <a:pt x="574" y="435"/>
                    <a:pt x="572" y="429"/>
                  </a:cubicBezTo>
                  <a:cubicBezTo>
                    <a:pt x="571" y="427"/>
                    <a:pt x="571" y="426"/>
                    <a:pt x="570" y="424"/>
                  </a:cubicBezTo>
                  <a:cubicBezTo>
                    <a:pt x="568" y="416"/>
                    <a:pt x="565" y="409"/>
                    <a:pt x="562" y="402"/>
                  </a:cubicBezTo>
                  <a:cubicBezTo>
                    <a:pt x="561" y="401"/>
                    <a:pt x="560" y="400"/>
                    <a:pt x="560" y="399"/>
                  </a:cubicBezTo>
                  <a:cubicBezTo>
                    <a:pt x="556" y="393"/>
                    <a:pt x="553" y="387"/>
                    <a:pt x="549" y="382"/>
                  </a:cubicBezTo>
                  <a:cubicBezTo>
                    <a:pt x="549" y="381"/>
                    <a:pt x="548" y="380"/>
                    <a:pt x="548" y="379"/>
                  </a:cubicBezTo>
                  <a:cubicBezTo>
                    <a:pt x="558" y="376"/>
                    <a:pt x="568" y="374"/>
                    <a:pt x="579" y="374"/>
                  </a:cubicBezTo>
                  <a:cubicBezTo>
                    <a:pt x="589" y="374"/>
                    <a:pt x="599" y="376"/>
                    <a:pt x="610" y="379"/>
                  </a:cubicBezTo>
                  <a:cubicBezTo>
                    <a:pt x="609" y="380"/>
                    <a:pt x="609" y="381"/>
                    <a:pt x="608" y="382"/>
                  </a:cubicBezTo>
                  <a:cubicBezTo>
                    <a:pt x="604" y="387"/>
                    <a:pt x="601" y="393"/>
                    <a:pt x="598" y="399"/>
                  </a:cubicBezTo>
                  <a:cubicBezTo>
                    <a:pt x="597" y="400"/>
                    <a:pt x="596" y="401"/>
                    <a:pt x="596" y="402"/>
                  </a:cubicBezTo>
                  <a:cubicBezTo>
                    <a:pt x="593" y="409"/>
                    <a:pt x="589" y="416"/>
                    <a:pt x="588" y="424"/>
                  </a:cubicBezTo>
                  <a:cubicBezTo>
                    <a:pt x="587" y="426"/>
                    <a:pt x="587" y="427"/>
                    <a:pt x="586" y="429"/>
                  </a:cubicBezTo>
                  <a:cubicBezTo>
                    <a:pt x="584" y="435"/>
                    <a:pt x="582" y="440"/>
                    <a:pt x="582" y="447"/>
                  </a:cubicBezTo>
                  <a:cubicBezTo>
                    <a:pt x="582" y="448"/>
                    <a:pt x="581" y="451"/>
                    <a:pt x="581" y="453"/>
                  </a:cubicBezTo>
                  <a:cubicBezTo>
                    <a:pt x="580" y="460"/>
                    <a:pt x="579" y="468"/>
                    <a:pt x="579" y="476"/>
                  </a:cubicBezTo>
                  <a:cubicBezTo>
                    <a:pt x="579" y="528"/>
                    <a:pt x="602" y="576"/>
                    <a:pt x="643" y="608"/>
                  </a:cubicBezTo>
                  <a:cubicBezTo>
                    <a:pt x="649" y="613"/>
                    <a:pt x="656" y="616"/>
                    <a:pt x="664" y="616"/>
                  </a:cubicBezTo>
                  <a:cubicBezTo>
                    <a:pt x="672" y="616"/>
                    <a:pt x="679" y="613"/>
                    <a:pt x="685" y="608"/>
                  </a:cubicBezTo>
                  <a:cubicBezTo>
                    <a:pt x="726" y="576"/>
                    <a:pt x="749" y="528"/>
                    <a:pt x="749" y="476"/>
                  </a:cubicBezTo>
                  <a:cubicBezTo>
                    <a:pt x="749" y="468"/>
                    <a:pt x="748" y="460"/>
                    <a:pt x="747" y="453"/>
                  </a:cubicBezTo>
                  <a:cubicBezTo>
                    <a:pt x="747" y="451"/>
                    <a:pt x="747" y="448"/>
                    <a:pt x="746" y="447"/>
                  </a:cubicBezTo>
                  <a:cubicBezTo>
                    <a:pt x="745" y="440"/>
                    <a:pt x="743" y="435"/>
                    <a:pt x="741" y="429"/>
                  </a:cubicBezTo>
                  <a:cubicBezTo>
                    <a:pt x="741" y="427"/>
                    <a:pt x="740" y="426"/>
                    <a:pt x="740" y="424"/>
                  </a:cubicBezTo>
                  <a:cubicBezTo>
                    <a:pt x="738" y="416"/>
                    <a:pt x="735" y="409"/>
                    <a:pt x="732" y="402"/>
                  </a:cubicBezTo>
                  <a:cubicBezTo>
                    <a:pt x="731" y="401"/>
                    <a:pt x="730" y="400"/>
                    <a:pt x="729" y="399"/>
                  </a:cubicBezTo>
                  <a:cubicBezTo>
                    <a:pt x="727" y="393"/>
                    <a:pt x="723" y="387"/>
                    <a:pt x="720" y="382"/>
                  </a:cubicBezTo>
                  <a:cubicBezTo>
                    <a:pt x="719" y="381"/>
                    <a:pt x="719" y="380"/>
                    <a:pt x="718" y="379"/>
                  </a:cubicBezTo>
                  <a:cubicBezTo>
                    <a:pt x="728" y="376"/>
                    <a:pt x="738" y="374"/>
                    <a:pt x="749" y="374"/>
                  </a:cubicBezTo>
                  <a:close/>
                  <a:moveTo>
                    <a:pt x="579" y="68"/>
                  </a:moveTo>
                  <a:cubicBezTo>
                    <a:pt x="860" y="68"/>
                    <a:pt x="1089" y="297"/>
                    <a:pt x="1089" y="578"/>
                  </a:cubicBezTo>
                  <a:cubicBezTo>
                    <a:pt x="1089" y="738"/>
                    <a:pt x="1013" y="890"/>
                    <a:pt x="884" y="986"/>
                  </a:cubicBezTo>
                  <a:lnTo>
                    <a:pt x="715" y="986"/>
                  </a:lnTo>
                  <a:lnTo>
                    <a:pt x="715" y="764"/>
                  </a:lnTo>
                  <a:lnTo>
                    <a:pt x="834" y="665"/>
                  </a:lnTo>
                  <a:cubicBezTo>
                    <a:pt x="888" y="620"/>
                    <a:pt x="919" y="554"/>
                    <a:pt x="919" y="484"/>
                  </a:cubicBezTo>
                  <a:cubicBezTo>
                    <a:pt x="919" y="387"/>
                    <a:pt x="841" y="306"/>
                    <a:pt x="749" y="306"/>
                  </a:cubicBezTo>
                  <a:cubicBezTo>
                    <a:pt x="719" y="306"/>
                    <a:pt x="690" y="315"/>
                    <a:pt x="664" y="330"/>
                  </a:cubicBezTo>
                  <a:cubicBezTo>
                    <a:pt x="637" y="315"/>
                    <a:pt x="608" y="307"/>
                    <a:pt x="579" y="307"/>
                  </a:cubicBezTo>
                  <a:cubicBezTo>
                    <a:pt x="550" y="307"/>
                    <a:pt x="520" y="315"/>
                    <a:pt x="494" y="330"/>
                  </a:cubicBezTo>
                  <a:cubicBezTo>
                    <a:pt x="468" y="315"/>
                    <a:pt x="439" y="306"/>
                    <a:pt x="409" y="306"/>
                  </a:cubicBezTo>
                  <a:cubicBezTo>
                    <a:pt x="316" y="306"/>
                    <a:pt x="238" y="387"/>
                    <a:pt x="238" y="484"/>
                  </a:cubicBezTo>
                  <a:cubicBezTo>
                    <a:pt x="238" y="554"/>
                    <a:pt x="270" y="620"/>
                    <a:pt x="323" y="665"/>
                  </a:cubicBezTo>
                  <a:lnTo>
                    <a:pt x="443" y="764"/>
                  </a:lnTo>
                  <a:lnTo>
                    <a:pt x="443" y="986"/>
                  </a:lnTo>
                  <a:lnTo>
                    <a:pt x="273" y="986"/>
                  </a:lnTo>
                  <a:cubicBezTo>
                    <a:pt x="145" y="890"/>
                    <a:pt x="68" y="738"/>
                    <a:pt x="68" y="578"/>
                  </a:cubicBezTo>
                  <a:cubicBezTo>
                    <a:pt x="68" y="297"/>
                    <a:pt x="298" y="68"/>
                    <a:pt x="579" y="68"/>
                  </a:cubicBezTo>
                  <a:close/>
                  <a:moveTo>
                    <a:pt x="885" y="1054"/>
                  </a:moveTo>
                  <a:cubicBezTo>
                    <a:pt x="904" y="1055"/>
                    <a:pt x="919" y="1070"/>
                    <a:pt x="919" y="1088"/>
                  </a:cubicBezTo>
                  <a:cubicBezTo>
                    <a:pt x="919" y="1107"/>
                    <a:pt x="904" y="1122"/>
                    <a:pt x="885" y="1122"/>
                  </a:cubicBezTo>
                  <a:lnTo>
                    <a:pt x="272" y="1122"/>
                  </a:lnTo>
                  <a:cubicBezTo>
                    <a:pt x="254" y="1122"/>
                    <a:pt x="238" y="1107"/>
                    <a:pt x="238" y="1088"/>
                  </a:cubicBezTo>
                  <a:cubicBezTo>
                    <a:pt x="238" y="1070"/>
                    <a:pt x="254" y="1054"/>
                    <a:pt x="272" y="1054"/>
                  </a:cubicBezTo>
                  <a:close/>
                  <a:moveTo>
                    <a:pt x="885" y="1190"/>
                  </a:moveTo>
                  <a:cubicBezTo>
                    <a:pt x="904" y="1190"/>
                    <a:pt x="919" y="1206"/>
                    <a:pt x="919" y="1224"/>
                  </a:cubicBezTo>
                  <a:cubicBezTo>
                    <a:pt x="919" y="1244"/>
                    <a:pt x="904" y="1259"/>
                    <a:pt x="885" y="1259"/>
                  </a:cubicBezTo>
                  <a:lnTo>
                    <a:pt x="272" y="1259"/>
                  </a:lnTo>
                  <a:cubicBezTo>
                    <a:pt x="254" y="1259"/>
                    <a:pt x="238" y="1244"/>
                    <a:pt x="238" y="1224"/>
                  </a:cubicBezTo>
                  <a:cubicBezTo>
                    <a:pt x="238" y="1206"/>
                    <a:pt x="254" y="1190"/>
                    <a:pt x="272" y="1190"/>
                  </a:cubicBezTo>
                  <a:close/>
                  <a:moveTo>
                    <a:pt x="885" y="1327"/>
                  </a:moveTo>
                  <a:cubicBezTo>
                    <a:pt x="904" y="1327"/>
                    <a:pt x="919" y="1341"/>
                    <a:pt x="919" y="1361"/>
                  </a:cubicBezTo>
                  <a:cubicBezTo>
                    <a:pt x="919" y="1379"/>
                    <a:pt x="904" y="1395"/>
                    <a:pt x="885" y="1395"/>
                  </a:cubicBezTo>
                  <a:lnTo>
                    <a:pt x="272" y="1395"/>
                  </a:lnTo>
                  <a:cubicBezTo>
                    <a:pt x="254" y="1395"/>
                    <a:pt x="238" y="1379"/>
                    <a:pt x="238" y="1361"/>
                  </a:cubicBezTo>
                  <a:cubicBezTo>
                    <a:pt x="238" y="1341"/>
                    <a:pt x="254" y="1327"/>
                    <a:pt x="272" y="1327"/>
                  </a:cubicBezTo>
                  <a:close/>
                  <a:moveTo>
                    <a:pt x="851" y="1463"/>
                  </a:moveTo>
                  <a:lnTo>
                    <a:pt x="851" y="1637"/>
                  </a:lnTo>
                  <a:lnTo>
                    <a:pt x="802" y="1604"/>
                  </a:lnTo>
                  <a:cubicBezTo>
                    <a:pt x="796" y="1600"/>
                    <a:pt x="789" y="1598"/>
                    <a:pt x="783" y="1598"/>
                  </a:cubicBezTo>
                  <a:cubicBezTo>
                    <a:pt x="776" y="1598"/>
                    <a:pt x="770" y="1600"/>
                    <a:pt x="764" y="1604"/>
                  </a:cubicBezTo>
                  <a:lnTo>
                    <a:pt x="681" y="1660"/>
                  </a:lnTo>
                  <a:lnTo>
                    <a:pt x="597" y="1604"/>
                  </a:lnTo>
                  <a:cubicBezTo>
                    <a:pt x="592" y="1600"/>
                    <a:pt x="585" y="1598"/>
                    <a:pt x="579" y="1598"/>
                  </a:cubicBezTo>
                  <a:cubicBezTo>
                    <a:pt x="572" y="1598"/>
                    <a:pt x="565" y="1600"/>
                    <a:pt x="560" y="1604"/>
                  </a:cubicBezTo>
                  <a:lnTo>
                    <a:pt x="477" y="1660"/>
                  </a:lnTo>
                  <a:lnTo>
                    <a:pt x="394" y="1604"/>
                  </a:lnTo>
                  <a:cubicBezTo>
                    <a:pt x="388" y="1600"/>
                    <a:pt x="382" y="1598"/>
                    <a:pt x="375" y="1598"/>
                  </a:cubicBezTo>
                  <a:cubicBezTo>
                    <a:pt x="368" y="1598"/>
                    <a:pt x="362" y="1600"/>
                    <a:pt x="355" y="1604"/>
                  </a:cubicBezTo>
                  <a:lnTo>
                    <a:pt x="307" y="1637"/>
                  </a:lnTo>
                  <a:lnTo>
                    <a:pt x="307" y="1463"/>
                  </a:lnTo>
                  <a:close/>
                  <a:moveTo>
                    <a:pt x="782" y="1673"/>
                  </a:moveTo>
                  <a:lnTo>
                    <a:pt x="831" y="1706"/>
                  </a:lnTo>
                  <a:lnTo>
                    <a:pt x="700" y="1837"/>
                  </a:lnTo>
                  <a:lnTo>
                    <a:pt x="457" y="1837"/>
                  </a:lnTo>
                  <a:lnTo>
                    <a:pt x="326" y="1706"/>
                  </a:lnTo>
                  <a:lnTo>
                    <a:pt x="375" y="1673"/>
                  </a:lnTo>
                  <a:lnTo>
                    <a:pt x="458" y="1729"/>
                  </a:lnTo>
                  <a:cubicBezTo>
                    <a:pt x="463" y="1733"/>
                    <a:pt x="470" y="1735"/>
                    <a:pt x="476" y="1735"/>
                  </a:cubicBezTo>
                  <a:cubicBezTo>
                    <a:pt x="483" y="1735"/>
                    <a:pt x="489" y="1733"/>
                    <a:pt x="495" y="1729"/>
                  </a:cubicBezTo>
                  <a:lnTo>
                    <a:pt x="579" y="1673"/>
                  </a:lnTo>
                  <a:lnTo>
                    <a:pt x="662" y="1729"/>
                  </a:lnTo>
                  <a:cubicBezTo>
                    <a:pt x="668" y="1733"/>
                    <a:pt x="674" y="1735"/>
                    <a:pt x="681" y="1735"/>
                  </a:cubicBezTo>
                  <a:cubicBezTo>
                    <a:pt x="687" y="1735"/>
                    <a:pt x="694" y="1733"/>
                    <a:pt x="699" y="1729"/>
                  </a:cubicBezTo>
                  <a:lnTo>
                    <a:pt x="782" y="1673"/>
                  </a:lnTo>
                  <a:close/>
                  <a:moveTo>
                    <a:pt x="633" y="1905"/>
                  </a:moveTo>
                  <a:lnTo>
                    <a:pt x="579" y="1959"/>
                  </a:lnTo>
                  <a:lnTo>
                    <a:pt x="525" y="1905"/>
                  </a:lnTo>
                  <a:close/>
                  <a:moveTo>
                    <a:pt x="579" y="0"/>
                  </a:moveTo>
                  <a:cubicBezTo>
                    <a:pt x="260" y="0"/>
                    <a:pt x="1" y="260"/>
                    <a:pt x="1" y="578"/>
                  </a:cubicBezTo>
                  <a:cubicBezTo>
                    <a:pt x="1" y="747"/>
                    <a:pt x="75" y="906"/>
                    <a:pt x="202" y="1016"/>
                  </a:cubicBezTo>
                  <a:cubicBezTo>
                    <a:pt x="183" y="1034"/>
                    <a:pt x="170" y="1060"/>
                    <a:pt x="170" y="1088"/>
                  </a:cubicBezTo>
                  <a:cubicBezTo>
                    <a:pt x="170" y="1114"/>
                    <a:pt x="181" y="1138"/>
                    <a:pt x="197" y="1156"/>
                  </a:cubicBezTo>
                  <a:cubicBezTo>
                    <a:pt x="181" y="1175"/>
                    <a:pt x="170" y="1198"/>
                    <a:pt x="170" y="1224"/>
                  </a:cubicBezTo>
                  <a:cubicBezTo>
                    <a:pt x="170" y="1251"/>
                    <a:pt x="181" y="1274"/>
                    <a:pt x="197" y="1293"/>
                  </a:cubicBezTo>
                  <a:cubicBezTo>
                    <a:pt x="181" y="1311"/>
                    <a:pt x="170" y="1335"/>
                    <a:pt x="170" y="1361"/>
                  </a:cubicBezTo>
                  <a:cubicBezTo>
                    <a:pt x="170" y="1405"/>
                    <a:pt x="199" y="1442"/>
                    <a:pt x="238" y="1457"/>
                  </a:cubicBezTo>
                  <a:lnTo>
                    <a:pt x="238" y="1700"/>
                  </a:lnTo>
                  <a:cubicBezTo>
                    <a:pt x="238" y="1710"/>
                    <a:pt x="242" y="1719"/>
                    <a:pt x="249" y="1725"/>
                  </a:cubicBezTo>
                  <a:lnTo>
                    <a:pt x="555" y="2031"/>
                  </a:lnTo>
                  <a:cubicBezTo>
                    <a:pt x="562" y="2037"/>
                    <a:pt x="570" y="2041"/>
                    <a:pt x="579" y="2041"/>
                  </a:cubicBezTo>
                  <a:cubicBezTo>
                    <a:pt x="588" y="2041"/>
                    <a:pt x="596" y="2037"/>
                    <a:pt x="603" y="2031"/>
                  </a:cubicBezTo>
                  <a:lnTo>
                    <a:pt x="909" y="1725"/>
                  </a:lnTo>
                  <a:cubicBezTo>
                    <a:pt x="915" y="1719"/>
                    <a:pt x="919" y="1710"/>
                    <a:pt x="919" y="1700"/>
                  </a:cubicBezTo>
                  <a:lnTo>
                    <a:pt x="919" y="1457"/>
                  </a:lnTo>
                  <a:cubicBezTo>
                    <a:pt x="959" y="1442"/>
                    <a:pt x="987" y="1405"/>
                    <a:pt x="987" y="1361"/>
                  </a:cubicBezTo>
                  <a:cubicBezTo>
                    <a:pt x="987" y="1335"/>
                    <a:pt x="976" y="1311"/>
                    <a:pt x="961" y="1293"/>
                  </a:cubicBezTo>
                  <a:cubicBezTo>
                    <a:pt x="977" y="1274"/>
                    <a:pt x="987" y="1251"/>
                    <a:pt x="987" y="1224"/>
                  </a:cubicBezTo>
                  <a:cubicBezTo>
                    <a:pt x="987" y="1198"/>
                    <a:pt x="976" y="1175"/>
                    <a:pt x="961" y="1156"/>
                  </a:cubicBezTo>
                  <a:cubicBezTo>
                    <a:pt x="977" y="1138"/>
                    <a:pt x="987" y="1114"/>
                    <a:pt x="987" y="1088"/>
                  </a:cubicBezTo>
                  <a:cubicBezTo>
                    <a:pt x="987" y="1060"/>
                    <a:pt x="975" y="1034"/>
                    <a:pt x="956" y="1016"/>
                  </a:cubicBezTo>
                  <a:cubicBezTo>
                    <a:pt x="1083" y="906"/>
                    <a:pt x="1157" y="747"/>
                    <a:pt x="1157" y="578"/>
                  </a:cubicBezTo>
                  <a:cubicBezTo>
                    <a:pt x="1157" y="260"/>
                    <a:pt x="898" y="0"/>
                    <a:pt x="579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Google Shape;796;p22">
              <a:extLst>
                <a:ext uri="{FF2B5EF4-FFF2-40B4-BE49-F238E27FC236}">
                  <a16:creationId xmlns:a16="http://schemas.microsoft.com/office/drawing/2014/main" xmlns="" id="{54DF1C15-E56E-4AF2-A2B9-329D81C342D4}"/>
                </a:ext>
              </a:extLst>
            </p:cNvPr>
            <p:cNvSpPr/>
            <p:nvPr/>
          </p:nvSpPr>
          <p:spPr>
            <a:xfrm>
              <a:off x="6173052" y="1587981"/>
              <a:ext cx="18445" cy="18545"/>
            </a:xfrm>
            <a:custGeom>
              <a:avLst/>
              <a:gdLst/>
              <a:ahLst/>
              <a:cxnLst/>
              <a:rect l="l" t="t" r="r" b="b"/>
              <a:pathLst>
                <a:path w="185" h="186" extrusionOk="0">
                  <a:moveTo>
                    <a:pt x="137" y="1"/>
                  </a:moveTo>
                  <a:lnTo>
                    <a:pt x="0" y="137"/>
                  </a:lnTo>
                  <a:lnTo>
                    <a:pt x="49" y="185"/>
                  </a:lnTo>
                  <a:lnTo>
                    <a:pt x="185" y="49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0" name="Google Shape;797;p22">
              <a:extLst>
                <a:ext uri="{FF2B5EF4-FFF2-40B4-BE49-F238E27FC236}">
                  <a16:creationId xmlns:a16="http://schemas.microsoft.com/office/drawing/2014/main" xmlns="" id="{2781B860-C702-403C-AF62-CC672CD183CA}"/>
                </a:ext>
              </a:extLst>
            </p:cNvPr>
            <p:cNvSpPr/>
            <p:nvPr/>
          </p:nvSpPr>
          <p:spPr>
            <a:xfrm>
              <a:off x="6173052" y="1682996"/>
              <a:ext cx="18445" cy="18445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49" y="1"/>
                  </a:moveTo>
                  <a:lnTo>
                    <a:pt x="0" y="49"/>
                  </a:lnTo>
                  <a:lnTo>
                    <a:pt x="137" y="185"/>
                  </a:lnTo>
                  <a:lnTo>
                    <a:pt x="185" y="137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1" name="Google Shape;798;p22">
              <a:extLst>
                <a:ext uri="{FF2B5EF4-FFF2-40B4-BE49-F238E27FC236}">
                  <a16:creationId xmlns:a16="http://schemas.microsoft.com/office/drawing/2014/main" xmlns="" id="{C4A6F01E-54A4-4576-B6DB-D5CCC5E62EE7}"/>
                </a:ext>
              </a:extLst>
            </p:cNvPr>
            <p:cNvSpPr/>
            <p:nvPr/>
          </p:nvSpPr>
          <p:spPr>
            <a:xfrm>
              <a:off x="6189104" y="1641321"/>
              <a:ext cx="20439" cy="6879"/>
            </a:xfrm>
            <a:custGeom>
              <a:avLst/>
              <a:gdLst/>
              <a:ahLst/>
              <a:cxnLst/>
              <a:rect l="l" t="t" r="r" b="b"/>
              <a:pathLst>
                <a:path w="205" h="69" extrusionOk="0">
                  <a:moveTo>
                    <a:pt x="0" y="0"/>
                  </a:moveTo>
                  <a:lnTo>
                    <a:pt x="0" y="68"/>
                  </a:lnTo>
                  <a:lnTo>
                    <a:pt x="204" y="68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2" name="Google Shape;799;p22">
              <a:extLst>
                <a:ext uri="{FF2B5EF4-FFF2-40B4-BE49-F238E27FC236}">
                  <a16:creationId xmlns:a16="http://schemas.microsoft.com/office/drawing/2014/main" xmlns="" id="{60A4B3C1-A0BF-4086-B642-F81761F4040B}"/>
                </a:ext>
              </a:extLst>
            </p:cNvPr>
            <p:cNvSpPr/>
            <p:nvPr/>
          </p:nvSpPr>
          <p:spPr>
            <a:xfrm>
              <a:off x="6051017" y="1587981"/>
              <a:ext cx="18445" cy="18545"/>
            </a:xfrm>
            <a:custGeom>
              <a:avLst/>
              <a:gdLst/>
              <a:ahLst/>
              <a:cxnLst/>
              <a:rect l="l" t="t" r="r" b="b"/>
              <a:pathLst>
                <a:path w="185" h="186" extrusionOk="0">
                  <a:moveTo>
                    <a:pt x="48" y="1"/>
                  </a:moveTo>
                  <a:lnTo>
                    <a:pt x="0" y="49"/>
                  </a:lnTo>
                  <a:lnTo>
                    <a:pt x="137" y="185"/>
                  </a:lnTo>
                  <a:lnTo>
                    <a:pt x="185" y="137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Google Shape;800;p22">
              <a:extLst>
                <a:ext uri="{FF2B5EF4-FFF2-40B4-BE49-F238E27FC236}">
                  <a16:creationId xmlns:a16="http://schemas.microsoft.com/office/drawing/2014/main" xmlns="" id="{756A6A6A-5478-4B8A-AFAF-C67C3696FF97}"/>
                </a:ext>
              </a:extLst>
            </p:cNvPr>
            <p:cNvSpPr/>
            <p:nvPr/>
          </p:nvSpPr>
          <p:spPr>
            <a:xfrm>
              <a:off x="6051017" y="1682996"/>
              <a:ext cx="18445" cy="18445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137" y="1"/>
                  </a:moveTo>
                  <a:lnTo>
                    <a:pt x="0" y="137"/>
                  </a:lnTo>
                  <a:lnTo>
                    <a:pt x="48" y="185"/>
                  </a:lnTo>
                  <a:lnTo>
                    <a:pt x="185" y="49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4" name="Google Shape;801;p22">
              <a:extLst>
                <a:ext uri="{FF2B5EF4-FFF2-40B4-BE49-F238E27FC236}">
                  <a16:creationId xmlns:a16="http://schemas.microsoft.com/office/drawing/2014/main" xmlns="" id="{D1942A59-86D0-49F2-BD78-B4768AC92A47}"/>
                </a:ext>
              </a:extLst>
            </p:cNvPr>
            <p:cNvSpPr/>
            <p:nvPr/>
          </p:nvSpPr>
          <p:spPr>
            <a:xfrm>
              <a:off x="6033071" y="1641321"/>
              <a:ext cx="20439" cy="6879"/>
            </a:xfrm>
            <a:custGeom>
              <a:avLst/>
              <a:gdLst/>
              <a:ahLst/>
              <a:cxnLst/>
              <a:rect l="l" t="t" r="r" b="b"/>
              <a:pathLst>
                <a:path w="205" h="69" extrusionOk="0">
                  <a:moveTo>
                    <a:pt x="0" y="0"/>
                  </a:moveTo>
                  <a:lnTo>
                    <a:pt x="0" y="68"/>
                  </a:lnTo>
                  <a:lnTo>
                    <a:pt x="205" y="68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5" name="Google Shape;802;p22">
              <a:extLst>
                <a:ext uri="{FF2B5EF4-FFF2-40B4-BE49-F238E27FC236}">
                  <a16:creationId xmlns:a16="http://schemas.microsoft.com/office/drawing/2014/main" xmlns="" id="{826A9CDF-D2C4-45E1-AE82-2A77364AD582}"/>
                </a:ext>
              </a:extLst>
            </p:cNvPr>
            <p:cNvSpPr/>
            <p:nvPr/>
          </p:nvSpPr>
          <p:spPr>
            <a:xfrm>
              <a:off x="6161885" y="1749895"/>
              <a:ext cx="6879" cy="6780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1" y="0"/>
                  </a:moveTo>
                  <a:lnTo>
                    <a:pt x="1" y="67"/>
                  </a:lnTo>
                  <a:lnTo>
                    <a:pt x="69" y="67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6" name="Google Shape;803;p22">
              <a:extLst>
                <a:ext uri="{FF2B5EF4-FFF2-40B4-BE49-F238E27FC236}">
                  <a16:creationId xmlns:a16="http://schemas.microsoft.com/office/drawing/2014/main" xmlns="" id="{76409052-CD46-4204-8772-6164A448B7BF}"/>
                </a:ext>
              </a:extLst>
            </p:cNvPr>
            <p:cNvSpPr/>
            <p:nvPr/>
          </p:nvSpPr>
          <p:spPr>
            <a:xfrm>
              <a:off x="6175445" y="1749895"/>
              <a:ext cx="6979" cy="6780"/>
            </a:xfrm>
            <a:custGeom>
              <a:avLst/>
              <a:gdLst/>
              <a:ahLst/>
              <a:cxnLst/>
              <a:rect l="l" t="t" r="r" b="b"/>
              <a:pathLst>
                <a:path w="70" h="68" extrusionOk="0">
                  <a:moveTo>
                    <a:pt x="1" y="0"/>
                  </a:moveTo>
                  <a:lnTo>
                    <a:pt x="1" y="67"/>
                  </a:lnTo>
                  <a:lnTo>
                    <a:pt x="69" y="67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7" name="Google Shape;804;p22">
              <a:extLst>
                <a:ext uri="{FF2B5EF4-FFF2-40B4-BE49-F238E27FC236}">
                  <a16:creationId xmlns:a16="http://schemas.microsoft.com/office/drawing/2014/main" xmlns="" id="{3446ABB1-2DB3-422E-A19E-942988900343}"/>
                </a:ext>
              </a:extLst>
            </p:cNvPr>
            <p:cNvSpPr/>
            <p:nvPr/>
          </p:nvSpPr>
          <p:spPr>
            <a:xfrm>
              <a:off x="6189104" y="1749895"/>
              <a:ext cx="6879" cy="6780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0" y="0"/>
                  </a:moveTo>
                  <a:lnTo>
                    <a:pt x="0" y="67"/>
                  </a:lnTo>
                  <a:lnTo>
                    <a:pt x="68" y="67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8" name="Google Shape;805;p22">
              <a:extLst>
                <a:ext uri="{FF2B5EF4-FFF2-40B4-BE49-F238E27FC236}">
                  <a16:creationId xmlns:a16="http://schemas.microsoft.com/office/drawing/2014/main" xmlns="" id="{891D1975-3D3A-4978-B241-81FB9F361FB8}"/>
                </a:ext>
              </a:extLst>
            </p:cNvPr>
            <p:cNvSpPr/>
            <p:nvPr/>
          </p:nvSpPr>
          <p:spPr>
            <a:xfrm>
              <a:off x="6046630" y="1749895"/>
              <a:ext cx="6879" cy="6780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1" y="0"/>
                  </a:moveTo>
                  <a:lnTo>
                    <a:pt x="1" y="67"/>
                  </a:lnTo>
                  <a:lnTo>
                    <a:pt x="69" y="67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Google Shape;806;p22">
              <a:extLst>
                <a:ext uri="{FF2B5EF4-FFF2-40B4-BE49-F238E27FC236}">
                  <a16:creationId xmlns:a16="http://schemas.microsoft.com/office/drawing/2014/main" xmlns="" id="{6364FB01-22AD-473E-B730-ABF98972C441}"/>
                </a:ext>
              </a:extLst>
            </p:cNvPr>
            <p:cNvSpPr/>
            <p:nvPr/>
          </p:nvSpPr>
          <p:spPr>
            <a:xfrm>
              <a:off x="6060190" y="1749895"/>
              <a:ext cx="6879" cy="6780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1" y="0"/>
                  </a:moveTo>
                  <a:lnTo>
                    <a:pt x="1" y="67"/>
                  </a:lnTo>
                  <a:lnTo>
                    <a:pt x="68" y="67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0" name="Google Shape;807;p22">
              <a:extLst>
                <a:ext uri="{FF2B5EF4-FFF2-40B4-BE49-F238E27FC236}">
                  <a16:creationId xmlns:a16="http://schemas.microsoft.com/office/drawing/2014/main" xmlns="" id="{09C5B61D-854D-4C5B-AE3F-E9BDAB079A0C}"/>
                </a:ext>
              </a:extLst>
            </p:cNvPr>
            <p:cNvSpPr/>
            <p:nvPr/>
          </p:nvSpPr>
          <p:spPr>
            <a:xfrm>
              <a:off x="6073749" y="1749895"/>
              <a:ext cx="6879" cy="6780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0" y="0"/>
                  </a:moveTo>
                  <a:lnTo>
                    <a:pt x="0" y="67"/>
                  </a:lnTo>
                  <a:lnTo>
                    <a:pt x="68" y="67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91" name="Google Shape;808;p22">
            <a:extLst>
              <a:ext uri="{FF2B5EF4-FFF2-40B4-BE49-F238E27FC236}">
                <a16:creationId xmlns:a16="http://schemas.microsoft.com/office/drawing/2014/main" xmlns="" id="{32E4507C-77F2-4DAB-A12A-9C12088B9F23}"/>
              </a:ext>
            </a:extLst>
          </p:cNvPr>
          <p:cNvGrpSpPr/>
          <p:nvPr/>
        </p:nvGrpSpPr>
        <p:grpSpPr>
          <a:xfrm>
            <a:off x="15369893" y="3127384"/>
            <a:ext cx="257582" cy="253621"/>
            <a:chOff x="6252315" y="2481197"/>
            <a:chExt cx="191727" cy="185245"/>
          </a:xfrm>
        </p:grpSpPr>
        <p:sp>
          <p:nvSpPr>
            <p:cNvPr id="92" name="Google Shape;809;p22">
              <a:extLst>
                <a:ext uri="{FF2B5EF4-FFF2-40B4-BE49-F238E27FC236}">
                  <a16:creationId xmlns:a16="http://schemas.microsoft.com/office/drawing/2014/main" xmlns="" id="{BFF42C2C-62E0-4534-8F7D-95FC8A992471}"/>
                </a:ext>
              </a:extLst>
            </p:cNvPr>
            <p:cNvSpPr/>
            <p:nvPr/>
          </p:nvSpPr>
          <p:spPr>
            <a:xfrm>
              <a:off x="6252315" y="2542014"/>
              <a:ext cx="165606" cy="82354"/>
            </a:xfrm>
            <a:custGeom>
              <a:avLst/>
              <a:gdLst/>
              <a:ahLst/>
              <a:cxnLst/>
              <a:rect l="l" t="t" r="r" b="b"/>
              <a:pathLst>
                <a:path w="1661" h="826" extrusionOk="0">
                  <a:moveTo>
                    <a:pt x="28" y="1"/>
                  </a:moveTo>
                  <a:cubicBezTo>
                    <a:pt x="13" y="1"/>
                    <a:pt x="1" y="13"/>
                    <a:pt x="1" y="28"/>
                  </a:cubicBezTo>
                  <a:lnTo>
                    <a:pt x="1" y="799"/>
                  </a:lnTo>
                  <a:cubicBezTo>
                    <a:pt x="1" y="814"/>
                    <a:pt x="13" y="826"/>
                    <a:pt x="28" y="826"/>
                  </a:cubicBezTo>
                  <a:lnTo>
                    <a:pt x="1119" y="826"/>
                  </a:lnTo>
                  <a:cubicBezTo>
                    <a:pt x="1135" y="826"/>
                    <a:pt x="1147" y="814"/>
                    <a:pt x="1147" y="799"/>
                  </a:cubicBezTo>
                  <a:cubicBezTo>
                    <a:pt x="1147" y="783"/>
                    <a:pt x="1135" y="771"/>
                    <a:pt x="1119" y="771"/>
                  </a:cubicBezTo>
                  <a:lnTo>
                    <a:pt x="56" y="771"/>
                  </a:lnTo>
                  <a:lnTo>
                    <a:pt x="56" y="56"/>
                  </a:lnTo>
                  <a:lnTo>
                    <a:pt x="1606" y="56"/>
                  </a:lnTo>
                  <a:lnTo>
                    <a:pt x="1606" y="125"/>
                  </a:lnTo>
                  <a:cubicBezTo>
                    <a:pt x="1606" y="139"/>
                    <a:pt x="1618" y="152"/>
                    <a:pt x="1634" y="152"/>
                  </a:cubicBezTo>
                  <a:cubicBezTo>
                    <a:pt x="1649" y="152"/>
                    <a:pt x="1661" y="139"/>
                    <a:pt x="1661" y="125"/>
                  </a:cubicBezTo>
                  <a:lnTo>
                    <a:pt x="1661" y="28"/>
                  </a:lnTo>
                  <a:cubicBezTo>
                    <a:pt x="1661" y="13"/>
                    <a:pt x="1649" y="1"/>
                    <a:pt x="1634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3" name="Google Shape;810;p22">
              <a:extLst>
                <a:ext uri="{FF2B5EF4-FFF2-40B4-BE49-F238E27FC236}">
                  <a16:creationId xmlns:a16="http://schemas.microsoft.com/office/drawing/2014/main" xmlns="" id="{B98A4785-56ED-499B-A0F7-9609DD858A21}"/>
                </a:ext>
              </a:extLst>
            </p:cNvPr>
            <p:cNvSpPr/>
            <p:nvPr/>
          </p:nvSpPr>
          <p:spPr>
            <a:xfrm>
              <a:off x="6258496" y="2500439"/>
              <a:ext cx="140281" cy="34397"/>
            </a:xfrm>
            <a:custGeom>
              <a:avLst/>
              <a:gdLst/>
              <a:ahLst/>
              <a:cxnLst/>
              <a:rect l="l" t="t" r="r" b="b"/>
              <a:pathLst>
                <a:path w="1407" h="345" extrusionOk="0">
                  <a:moveTo>
                    <a:pt x="94" y="0"/>
                  </a:moveTo>
                  <a:cubicBezTo>
                    <a:pt x="89" y="0"/>
                    <a:pt x="85" y="2"/>
                    <a:pt x="80" y="5"/>
                  </a:cubicBezTo>
                  <a:cubicBezTo>
                    <a:pt x="74" y="8"/>
                    <a:pt x="69" y="14"/>
                    <a:pt x="68" y="21"/>
                  </a:cubicBezTo>
                  <a:lnTo>
                    <a:pt x="4" y="310"/>
                  </a:lnTo>
                  <a:cubicBezTo>
                    <a:pt x="0" y="325"/>
                    <a:pt x="10" y="340"/>
                    <a:pt x="24" y="343"/>
                  </a:cubicBezTo>
                  <a:cubicBezTo>
                    <a:pt x="27" y="344"/>
                    <a:pt x="29" y="344"/>
                    <a:pt x="31" y="344"/>
                  </a:cubicBezTo>
                  <a:cubicBezTo>
                    <a:pt x="43" y="344"/>
                    <a:pt x="55" y="335"/>
                    <a:pt x="58" y="322"/>
                  </a:cubicBezTo>
                  <a:lnTo>
                    <a:pt x="115" y="61"/>
                  </a:lnTo>
                  <a:lnTo>
                    <a:pt x="1373" y="343"/>
                  </a:lnTo>
                  <a:cubicBezTo>
                    <a:pt x="1374" y="343"/>
                    <a:pt x="1377" y="344"/>
                    <a:pt x="1379" y="344"/>
                  </a:cubicBezTo>
                  <a:cubicBezTo>
                    <a:pt x="1394" y="344"/>
                    <a:pt x="1407" y="332"/>
                    <a:pt x="1407" y="316"/>
                  </a:cubicBezTo>
                  <a:cubicBezTo>
                    <a:pt x="1406" y="303"/>
                    <a:pt x="1397" y="293"/>
                    <a:pt x="1385" y="289"/>
                  </a:cubicBezTo>
                  <a:lnTo>
                    <a:pt x="100" y="1"/>
                  </a:lnTo>
                  <a:cubicBezTo>
                    <a:pt x="98" y="1"/>
                    <a:pt x="96" y="0"/>
                    <a:pt x="94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4" name="Google Shape;811;p22">
              <a:extLst>
                <a:ext uri="{FF2B5EF4-FFF2-40B4-BE49-F238E27FC236}">
                  <a16:creationId xmlns:a16="http://schemas.microsoft.com/office/drawing/2014/main" xmlns="" id="{55B9D05C-5EA4-4E3E-B7AB-73C24BCB80C1}"/>
                </a:ext>
              </a:extLst>
            </p:cNvPr>
            <p:cNvSpPr/>
            <p:nvPr/>
          </p:nvSpPr>
          <p:spPr>
            <a:xfrm>
              <a:off x="6293491" y="2481197"/>
              <a:ext cx="89633" cy="37588"/>
            </a:xfrm>
            <a:custGeom>
              <a:avLst/>
              <a:gdLst/>
              <a:ahLst/>
              <a:cxnLst/>
              <a:rect l="l" t="t" r="r" b="b"/>
              <a:pathLst>
                <a:path w="899" h="377" extrusionOk="0">
                  <a:moveTo>
                    <a:pt x="98" y="0"/>
                  </a:moveTo>
                  <a:cubicBezTo>
                    <a:pt x="87" y="0"/>
                    <a:pt x="77" y="6"/>
                    <a:pt x="72" y="16"/>
                  </a:cubicBezTo>
                  <a:lnTo>
                    <a:pt x="8" y="144"/>
                  </a:lnTo>
                  <a:cubicBezTo>
                    <a:pt x="1" y="157"/>
                    <a:pt x="5" y="174"/>
                    <a:pt x="19" y="181"/>
                  </a:cubicBezTo>
                  <a:cubicBezTo>
                    <a:pt x="23" y="184"/>
                    <a:pt x="28" y="185"/>
                    <a:pt x="32" y="185"/>
                  </a:cubicBezTo>
                  <a:cubicBezTo>
                    <a:pt x="42" y="185"/>
                    <a:pt x="51" y="179"/>
                    <a:pt x="57" y="171"/>
                  </a:cubicBezTo>
                  <a:cubicBezTo>
                    <a:pt x="57" y="170"/>
                    <a:pt x="57" y="169"/>
                    <a:pt x="58" y="169"/>
                  </a:cubicBezTo>
                  <a:lnTo>
                    <a:pt x="110" y="63"/>
                  </a:lnTo>
                  <a:lnTo>
                    <a:pt x="857" y="374"/>
                  </a:lnTo>
                  <a:cubicBezTo>
                    <a:pt x="860" y="376"/>
                    <a:pt x="864" y="376"/>
                    <a:pt x="868" y="376"/>
                  </a:cubicBezTo>
                  <a:cubicBezTo>
                    <a:pt x="878" y="376"/>
                    <a:pt x="888" y="370"/>
                    <a:pt x="892" y="359"/>
                  </a:cubicBezTo>
                  <a:cubicBezTo>
                    <a:pt x="898" y="345"/>
                    <a:pt x="891" y="330"/>
                    <a:pt x="878" y="323"/>
                  </a:cubicBezTo>
                  <a:lnTo>
                    <a:pt x="107" y="2"/>
                  </a:lnTo>
                  <a:cubicBezTo>
                    <a:pt x="104" y="1"/>
                    <a:pt x="101" y="0"/>
                    <a:pt x="98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Google Shape;812;p22">
              <a:extLst>
                <a:ext uri="{FF2B5EF4-FFF2-40B4-BE49-F238E27FC236}">
                  <a16:creationId xmlns:a16="http://schemas.microsoft.com/office/drawing/2014/main" xmlns="" id="{F2839699-2764-4457-938D-661A063AF181}"/>
                </a:ext>
              </a:extLst>
            </p:cNvPr>
            <p:cNvSpPr/>
            <p:nvPr/>
          </p:nvSpPr>
          <p:spPr>
            <a:xfrm>
              <a:off x="6354708" y="2554875"/>
              <a:ext cx="31007" cy="5583"/>
            </a:xfrm>
            <a:custGeom>
              <a:avLst/>
              <a:gdLst/>
              <a:ahLst/>
              <a:cxnLst/>
              <a:rect l="l" t="t" r="r" b="b"/>
              <a:pathLst>
                <a:path w="311" h="56" extrusionOk="0">
                  <a:moveTo>
                    <a:pt x="29" y="0"/>
                  </a:moveTo>
                  <a:cubicBezTo>
                    <a:pt x="13" y="0"/>
                    <a:pt x="1" y="12"/>
                    <a:pt x="1" y="27"/>
                  </a:cubicBezTo>
                  <a:cubicBezTo>
                    <a:pt x="1" y="43"/>
                    <a:pt x="13" y="55"/>
                    <a:pt x="29" y="55"/>
                  </a:cubicBezTo>
                  <a:lnTo>
                    <a:pt x="284" y="55"/>
                  </a:lnTo>
                  <a:cubicBezTo>
                    <a:pt x="298" y="55"/>
                    <a:pt x="311" y="43"/>
                    <a:pt x="311" y="27"/>
                  </a:cubicBezTo>
                  <a:cubicBezTo>
                    <a:pt x="311" y="12"/>
                    <a:pt x="298" y="0"/>
                    <a:pt x="284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6" name="Google Shape;813;p22">
              <a:extLst>
                <a:ext uri="{FF2B5EF4-FFF2-40B4-BE49-F238E27FC236}">
                  <a16:creationId xmlns:a16="http://schemas.microsoft.com/office/drawing/2014/main" xmlns="" id="{14438D76-010F-4111-8FB8-798805D4EA29}"/>
                </a:ext>
              </a:extLst>
            </p:cNvPr>
            <p:cNvSpPr/>
            <p:nvPr/>
          </p:nvSpPr>
          <p:spPr>
            <a:xfrm>
              <a:off x="6303761" y="2554975"/>
              <a:ext cx="56332" cy="56432"/>
            </a:xfrm>
            <a:custGeom>
              <a:avLst/>
              <a:gdLst/>
              <a:ahLst/>
              <a:cxnLst/>
              <a:rect l="l" t="t" r="r" b="b"/>
              <a:pathLst>
                <a:path w="565" h="566" extrusionOk="0">
                  <a:moveTo>
                    <a:pt x="283" y="52"/>
                  </a:moveTo>
                  <a:cubicBezTo>
                    <a:pt x="410" y="52"/>
                    <a:pt x="513" y="155"/>
                    <a:pt x="513" y="283"/>
                  </a:cubicBezTo>
                  <a:cubicBezTo>
                    <a:pt x="513" y="411"/>
                    <a:pt x="410" y="514"/>
                    <a:pt x="283" y="514"/>
                  </a:cubicBezTo>
                  <a:cubicBezTo>
                    <a:pt x="155" y="514"/>
                    <a:pt x="52" y="411"/>
                    <a:pt x="52" y="283"/>
                  </a:cubicBezTo>
                  <a:cubicBezTo>
                    <a:pt x="52" y="155"/>
                    <a:pt x="155" y="52"/>
                    <a:pt x="283" y="52"/>
                  </a:cubicBezTo>
                  <a:close/>
                  <a:moveTo>
                    <a:pt x="283" y="1"/>
                  </a:moveTo>
                  <a:cubicBezTo>
                    <a:pt x="127" y="1"/>
                    <a:pt x="0" y="127"/>
                    <a:pt x="0" y="283"/>
                  </a:cubicBezTo>
                  <a:cubicBezTo>
                    <a:pt x="0" y="439"/>
                    <a:pt x="127" y="566"/>
                    <a:pt x="283" y="566"/>
                  </a:cubicBezTo>
                  <a:cubicBezTo>
                    <a:pt x="438" y="566"/>
                    <a:pt x="565" y="439"/>
                    <a:pt x="565" y="283"/>
                  </a:cubicBezTo>
                  <a:cubicBezTo>
                    <a:pt x="565" y="127"/>
                    <a:pt x="438" y="1"/>
                    <a:pt x="283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7" name="Google Shape;814;p22">
              <a:extLst>
                <a:ext uri="{FF2B5EF4-FFF2-40B4-BE49-F238E27FC236}">
                  <a16:creationId xmlns:a16="http://schemas.microsoft.com/office/drawing/2014/main" xmlns="" id="{3F2F0313-EFF1-4E79-A1F1-D59D35629534}"/>
                </a:ext>
              </a:extLst>
            </p:cNvPr>
            <p:cNvSpPr/>
            <p:nvPr/>
          </p:nvSpPr>
          <p:spPr>
            <a:xfrm>
              <a:off x="6373552" y="2563948"/>
              <a:ext cx="70490" cy="102494"/>
            </a:xfrm>
            <a:custGeom>
              <a:avLst/>
              <a:gdLst/>
              <a:ahLst/>
              <a:cxnLst/>
              <a:rect l="l" t="t" r="r" b="b"/>
              <a:pathLst>
                <a:path w="707" h="1028" extrusionOk="0">
                  <a:moveTo>
                    <a:pt x="353" y="64"/>
                  </a:moveTo>
                  <a:cubicBezTo>
                    <a:pt x="539" y="64"/>
                    <a:pt x="636" y="111"/>
                    <a:pt x="642" y="129"/>
                  </a:cubicBezTo>
                  <a:cubicBezTo>
                    <a:pt x="636" y="147"/>
                    <a:pt x="539" y="193"/>
                    <a:pt x="353" y="193"/>
                  </a:cubicBezTo>
                  <a:cubicBezTo>
                    <a:pt x="165" y="193"/>
                    <a:pt x="69" y="146"/>
                    <a:pt x="64" y="130"/>
                  </a:cubicBezTo>
                  <a:lnTo>
                    <a:pt x="64" y="129"/>
                  </a:lnTo>
                  <a:cubicBezTo>
                    <a:pt x="69" y="112"/>
                    <a:pt x="165" y="64"/>
                    <a:pt x="353" y="64"/>
                  </a:cubicBezTo>
                  <a:close/>
                  <a:moveTo>
                    <a:pt x="642" y="207"/>
                  </a:moveTo>
                  <a:lnTo>
                    <a:pt x="642" y="257"/>
                  </a:lnTo>
                  <a:cubicBezTo>
                    <a:pt x="637" y="275"/>
                    <a:pt x="541" y="321"/>
                    <a:pt x="353" y="321"/>
                  </a:cubicBezTo>
                  <a:cubicBezTo>
                    <a:pt x="165" y="321"/>
                    <a:pt x="69" y="275"/>
                    <a:pt x="64" y="257"/>
                  </a:cubicBezTo>
                  <a:lnTo>
                    <a:pt x="64" y="207"/>
                  </a:lnTo>
                  <a:cubicBezTo>
                    <a:pt x="132" y="241"/>
                    <a:pt x="246" y="257"/>
                    <a:pt x="353" y="257"/>
                  </a:cubicBezTo>
                  <a:cubicBezTo>
                    <a:pt x="461" y="257"/>
                    <a:pt x="574" y="241"/>
                    <a:pt x="642" y="207"/>
                  </a:cubicBezTo>
                  <a:close/>
                  <a:moveTo>
                    <a:pt x="642" y="335"/>
                  </a:moveTo>
                  <a:lnTo>
                    <a:pt x="642" y="385"/>
                  </a:lnTo>
                  <a:cubicBezTo>
                    <a:pt x="637" y="403"/>
                    <a:pt x="541" y="450"/>
                    <a:pt x="353" y="450"/>
                  </a:cubicBezTo>
                  <a:cubicBezTo>
                    <a:pt x="165" y="450"/>
                    <a:pt x="69" y="403"/>
                    <a:pt x="64" y="386"/>
                  </a:cubicBezTo>
                  <a:lnTo>
                    <a:pt x="64" y="335"/>
                  </a:lnTo>
                  <a:cubicBezTo>
                    <a:pt x="132" y="369"/>
                    <a:pt x="246" y="386"/>
                    <a:pt x="353" y="386"/>
                  </a:cubicBezTo>
                  <a:cubicBezTo>
                    <a:pt x="461" y="386"/>
                    <a:pt x="574" y="369"/>
                    <a:pt x="642" y="335"/>
                  </a:cubicBezTo>
                  <a:close/>
                  <a:moveTo>
                    <a:pt x="642" y="463"/>
                  </a:moveTo>
                  <a:lnTo>
                    <a:pt x="642" y="514"/>
                  </a:lnTo>
                  <a:cubicBezTo>
                    <a:pt x="637" y="532"/>
                    <a:pt x="541" y="579"/>
                    <a:pt x="353" y="579"/>
                  </a:cubicBezTo>
                  <a:cubicBezTo>
                    <a:pt x="165" y="579"/>
                    <a:pt x="69" y="532"/>
                    <a:pt x="64" y="514"/>
                  </a:cubicBezTo>
                  <a:lnTo>
                    <a:pt x="64" y="463"/>
                  </a:lnTo>
                  <a:cubicBezTo>
                    <a:pt x="132" y="498"/>
                    <a:pt x="246" y="514"/>
                    <a:pt x="353" y="514"/>
                  </a:cubicBezTo>
                  <a:cubicBezTo>
                    <a:pt x="461" y="514"/>
                    <a:pt x="574" y="498"/>
                    <a:pt x="642" y="463"/>
                  </a:cubicBezTo>
                  <a:close/>
                  <a:moveTo>
                    <a:pt x="642" y="592"/>
                  </a:moveTo>
                  <a:lnTo>
                    <a:pt x="642" y="642"/>
                  </a:lnTo>
                  <a:cubicBezTo>
                    <a:pt x="637" y="660"/>
                    <a:pt x="541" y="707"/>
                    <a:pt x="353" y="707"/>
                  </a:cubicBezTo>
                  <a:cubicBezTo>
                    <a:pt x="165" y="707"/>
                    <a:pt x="69" y="660"/>
                    <a:pt x="64" y="642"/>
                  </a:cubicBezTo>
                  <a:lnTo>
                    <a:pt x="64" y="592"/>
                  </a:lnTo>
                  <a:cubicBezTo>
                    <a:pt x="132" y="627"/>
                    <a:pt x="246" y="642"/>
                    <a:pt x="353" y="642"/>
                  </a:cubicBezTo>
                  <a:cubicBezTo>
                    <a:pt x="461" y="642"/>
                    <a:pt x="574" y="627"/>
                    <a:pt x="642" y="592"/>
                  </a:cubicBezTo>
                  <a:close/>
                  <a:moveTo>
                    <a:pt x="642" y="720"/>
                  </a:moveTo>
                  <a:lnTo>
                    <a:pt x="642" y="771"/>
                  </a:lnTo>
                  <a:cubicBezTo>
                    <a:pt x="637" y="788"/>
                    <a:pt x="541" y="835"/>
                    <a:pt x="353" y="835"/>
                  </a:cubicBezTo>
                  <a:cubicBezTo>
                    <a:pt x="165" y="835"/>
                    <a:pt x="69" y="788"/>
                    <a:pt x="64" y="771"/>
                  </a:cubicBezTo>
                  <a:lnTo>
                    <a:pt x="64" y="720"/>
                  </a:lnTo>
                  <a:cubicBezTo>
                    <a:pt x="132" y="755"/>
                    <a:pt x="246" y="771"/>
                    <a:pt x="353" y="771"/>
                  </a:cubicBezTo>
                  <a:cubicBezTo>
                    <a:pt x="461" y="771"/>
                    <a:pt x="574" y="755"/>
                    <a:pt x="642" y="720"/>
                  </a:cubicBezTo>
                  <a:close/>
                  <a:moveTo>
                    <a:pt x="642" y="848"/>
                  </a:moveTo>
                  <a:lnTo>
                    <a:pt x="642" y="899"/>
                  </a:lnTo>
                  <a:cubicBezTo>
                    <a:pt x="637" y="917"/>
                    <a:pt x="541" y="964"/>
                    <a:pt x="353" y="964"/>
                  </a:cubicBezTo>
                  <a:cubicBezTo>
                    <a:pt x="165" y="964"/>
                    <a:pt x="69" y="917"/>
                    <a:pt x="64" y="899"/>
                  </a:cubicBezTo>
                  <a:lnTo>
                    <a:pt x="64" y="848"/>
                  </a:lnTo>
                  <a:cubicBezTo>
                    <a:pt x="132" y="883"/>
                    <a:pt x="246" y="899"/>
                    <a:pt x="353" y="899"/>
                  </a:cubicBezTo>
                  <a:cubicBezTo>
                    <a:pt x="461" y="899"/>
                    <a:pt x="574" y="883"/>
                    <a:pt x="642" y="848"/>
                  </a:cubicBezTo>
                  <a:close/>
                  <a:moveTo>
                    <a:pt x="353" y="1"/>
                  </a:moveTo>
                  <a:cubicBezTo>
                    <a:pt x="183" y="1"/>
                    <a:pt x="0" y="41"/>
                    <a:pt x="0" y="129"/>
                  </a:cubicBezTo>
                  <a:lnTo>
                    <a:pt x="0" y="899"/>
                  </a:lnTo>
                  <a:cubicBezTo>
                    <a:pt x="0" y="987"/>
                    <a:pt x="183" y="1027"/>
                    <a:pt x="353" y="1027"/>
                  </a:cubicBezTo>
                  <a:cubicBezTo>
                    <a:pt x="523" y="1027"/>
                    <a:pt x="707" y="987"/>
                    <a:pt x="707" y="899"/>
                  </a:cubicBezTo>
                  <a:lnTo>
                    <a:pt x="707" y="129"/>
                  </a:lnTo>
                  <a:cubicBezTo>
                    <a:pt x="707" y="41"/>
                    <a:pt x="523" y="1"/>
                    <a:pt x="353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8" name="Google Shape;815;p22">
              <a:extLst>
                <a:ext uri="{FF2B5EF4-FFF2-40B4-BE49-F238E27FC236}">
                  <a16:creationId xmlns:a16="http://schemas.microsoft.com/office/drawing/2014/main" xmlns="" id="{306AB1A4-EC7A-479A-A056-C360F01E18E6}"/>
                </a:ext>
              </a:extLst>
            </p:cNvPr>
            <p:cNvSpPr/>
            <p:nvPr/>
          </p:nvSpPr>
          <p:spPr>
            <a:xfrm>
              <a:off x="6265176" y="2554875"/>
              <a:ext cx="43969" cy="56731"/>
            </a:xfrm>
            <a:custGeom>
              <a:avLst/>
              <a:gdLst/>
              <a:ahLst/>
              <a:cxnLst/>
              <a:rect l="l" t="t" r="r" b="b"/>
              <a:pathLst>
                <a:path w="441" h="569" extrusionOk="0">
                  <a:moveTo>
                    <a:pt x="171" y="0"/>
                  </a:moveTo>
                  <a:cubicBezTo>
                    <a:pt x="164" y="0"/>
                    <a:pt x="157" y="3"/>
                    <a:pt x="152" y="8"/>
                  </a:cubicBezTo>
                  <a:lnTo>
                    <a:pt x="8" y="148"/>
                  </a:lnTo>
                  <a:cubicBezTo>
                    <a:pt x="3" y="154"/>
                    <a:pt x="0" y="162"/>
                    <a:pt x="0" y="170"/>
                  </a:cubicBezTo>
                  <a:lnTo>
                    <a:pt x="0" y="398"/>
                  </a:lnTo>
                  <a:cubicBezTo>
                    <a:pt x="0" y="405"/>
                    <a:pt x="3" y="412"/>
                    <a:pt x="7" y="416"/>
                  </a:cubicBezTo>
                  <a:lnTo>
                    <a:pt x="138" y="560"/>
                  </a:lnTo>
                  <a:cubicBezTo>
                    <a:pt x="143" y="565"/>
                    <a:pt x="150" y="568"/>
                    <a:pt x="158" y="568"/>
                  </a:cubicBezTo>
                  <a:lnTo>
                    <a:pt x="413" y="568"/>
                  </a:lnTo>
                  <a:cubicBezTo>
                    <a:pt x="428" y="568"/>
                    <a:pt x="440" y="556"/>
                    <a:pt x="440" y="541"/>
                  </a:cubicBezTo>
                  <a:cubicBezTo>
                    <a:pt x="440" y="526"/>
                    <a:pt x="428" y="513"/>
                    <a:pt x="413" y="513"/>
                  </a:cubicBezTo>
                  <a:lnTo>
                    <a:pt x="171" y="513"/>
                  </a:lnTo>
                  <a:lnTo>
                    <a:pt x="55" y="388"/>
                  </a:lnTo>
                  <a:lnTo>
                    <a:pt x="55" y="179"/>
                  </a:lnTo>
                  <a:lnTo>
                    <a:pt x="182" y="55"/>
                  </a:lnTo>
                  <a:lnTo>
                    <a:pt x="413" y="55"/>
                  </a:lnTo>
                  <a:cubicBezTo>
                    <a:pt x="428" y="55"/>
                    <a:pt x="440" y="43"/>
                    <a:pt x="440" y="27"/>
                  </a:cubicBezTo>
                  <a:cubicBezTo>
                    <a:pt x="440" y="12"/>
                    <a:pt x="428" y="0"/>
                    <a:pt x="413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9" name="Google Shape;816;p22">
              <a:extLst>
                <a:ext uri="{FF2B5EF4-FFF2-40B4-BE49-F238E27FC236}">
                  <a16:creationId xmlns:a16="http://schemas.microsoft.com/office/drawing/2014/main" xmlns="" id="{76A8C86B-0081-4CE2-B71F-40510B4EF662}"/>
                </a:ext>
              </a:extLst>
            </p:cNvPr>
            <p:cNvSpPr/>
            <p:nvPr/>
          </p:nvSpPr>
          <p:spPr>
            <a:xfrm>
              <a:off x="6322305" y="2568734"/>
              <a:ext cx="19243" cy="28914"/>
            </a:xfrm>
            <a:custGeom>
              <a:avLst/>
              <a:gdLst/>
              <a:ahLst/>
              <a:cxnLst/>
              <a:rect l="l" t="t" r="r" b="b"/>
              <a:pathLst>
                <a:path w="193" h="290" extrusionOk="0">
                  <a:moveTo>
                    <a:pt x="97" y="1"/>
                  </a:moveTo>
                  <a:cubicBezTo>
                    <a:pt x="79" y="1"/>
                    <a:pt x="65" y="15"/>
                    <a:pt x="65" y="33"/>
                  </a:cubicBezTo>
                  <a:lnTo>
                    <a:pt x="65" y="34"/>
                  </a:lnTo>
                  <a:cubicBezTo>
                    <a:pt x="29" y="39"/>
                    <a:pt x="2" y="69"/>
                    <a:pt x="0" y="105"/>
                  </a:cubicBezTo>
                  <a:cubicBezTo>
                    <a:pt x="3" y="146"/>
                    <a:pt x="36" y="177"/>
                    <a:pt x="76" y="177"/>
                  </a:cubicBezTo>
                  <a:cubicBezTo>
                    <a:pt x="77" y="177"/>
                    <a:pt x="79" y="177"/>
                    <a:pt x="80" y="177"/>
                  </a:cubicBezTo>
                  <a:lnTo>
                    <a:pt x="113" y="177"/>
                  </a:lnTo>
                  <a:cubicBezTo>
                    <a:pt x="123" y="177"/>
                    <a:pt x="129" y="183"/>
                    <a:pt x="129" y="185"/>
                  </a:cubicBezTo>
                  <a:cubicBezTo>
                    <a:pt x="129" y="188"/>
                    <a:pt x="123" y="194"/>
                    <a:pt x="113" y="194"/>
                  </a:cubicBezTo>
                  <a:lnTo>
                    <a:pt x="32" y="194"/>
                  </a:lnTo>
                  <a:cubicBezTo>
                    <a:pt x="15" y="194"/>
                    <a:pt x="0" y="208"/>
                    <a:pt x="0" y="225"/>
                  </a:cubicBezTo>
                  <a:cubicBezTo>
                    <a:pt x="0" y="243"/>
                    <a:pt x="15" y="257"/>
                    <a:pt x="32" y="257"/>
                  </a:cubicBezTo>
                  <a:lnTo>
                    <a:pt x="65" y="257"/>
                  </a:lnTo>
                  <a:cubicBezTo>
                    <a:pt x="65" y="275"/>
                    <a:pt x="79" y="290"/>
                    <a:pt x="97" y="290"/>
                  </a:cubicBezTo>
                  <a:cubicBezTo>
                    <a:pt x="114" y="290"/>
                    <a:pt x="129" y="275"/>
                    <a:pt x="129" y="257"/>
                  </a:cubicBezTo>
                  <a:lnTo>
                    <a:pt x="129" y="256"/>
                  </a:lnTo>
                  <a:cubicBezTo>
                    <a:pt x="164" y="251"/>
                    <a:pt x="191" y="222"/>
                    <a:pt x="193" y="186"/>
                  </a:cubicBezTo>
                  <a:cubicBezTo>
                    <a:pt x="190" y="145"/>
                    <a:pt x="157" y="113"/>
                    <a:pt x="117" y="113"/>
                  </a:cubicBezTo>
                  <a:cubicBezTo>
                    <a:pt x="116" y="113"/>
                    <a:pt x="114" y="113"/>
                    <a:pt x="113" y="113"/>
                  </a:cubicBezTo>
                  <a:lnTo>
                    <a:pt x="80" y="113"/>
                  </a:lnTo>
                  <a:cubicBezTo>
                    <a:pt x="71" y="113"/>
                    <a:pt x="65" y="107"/>
                    <a:pt x="65" y="105"/>
                  </a:cubicBezTo>
                  <a:cubicBezTo>
                    <a:pt x="65" y="103"/>
                    <a:pt x="71" y="97"/>
                    <a:pt x="80" y="97"/>
                  </a:cubicBezTo>
                  <a:lnTo>
                    <a:pt x="161" y="97"/>
                  </a:lnTo>
                  <a:cubicBezTo>
                    <a:pt x="179" y="97"/>
                    <a:pt x="193" y="83"/>
                    <a:pt x="193" y="65"/>
                  </a:cubicBezTo>
                  <a:cubicBezTo>
                    <a:pt x="193" y="47"/>
                    <a:pt x="179" y="33"/>
                    <a:pt x="161" y="33"/>
                  </a:cubicBezTo>
                  <a:lnTo>
                    <a:pt x="129" y="33"/>
                  </a:lnTo>
                  <a:cubicBezTo>
                    <a:pt x="129" y="15"/>
                    <a:pt x="114" y="1"/>
                    <a:pt x="97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0" name="Google Shape;817;p22">
            <a:extLst>
              <a:ext uri="{FF2B5EF4-FFF2-40B4-BE49-F238E27FC236}">
                <a16:creationId xmlns:a16="http://schemas.microsoft.com/office/drawing/2014/main" xmlns="" id="{51A26332-085E-42CB-A22A-779C5078E450}"/>
              </a:ext>
            </a:extLst>
          </p:cNvPr>
          <p:cNvGrpSpPr/>
          <p:nvPr/>
        </p:nvGrpSpPr>
        <p:grpSpPr>
          <a:xfrm>
            <a:off x="15209486" y="4489374"/>
            <a:ext cx="231329" cy="235600"/>
            <a:chOff x="6265375" y="3369328"/>
            <a:chExt cx="172186" cy="172087"/>
          </a:xfrm>
        </p:grpSpPr>
        <p:sp>
          <p:nvSpPr>
            <p:cNvPr id="101" name="Google Shape;818;p22">
              <a:extLst>
                <a:ext uri="{FF2B5EF4-FFF2-40B4-BE49-F238E27FC236}">
                  <a16:creationId xmlns:a16="http://schemas.microsoft.com/office/drawing/2014/main" xmlns="" id="{8DB42669-7DCF-47DF-8F2D-7C6C7B3238F6}"/>
                </a:ext>
              </a:extLst>
            </p:cNvPr>
            <p:cNvSpPr/>
            <p:nvPr/>
          </p:nvSpPr>
          <p:spPr>
            <a:xfrm>
              <a:off x="6265375" y="3369328"/>
              <a:ext cx="172186" cy="172087"/>
            </a:xfrm>
            <a:custGeom>
              <a:avLst/>
              <a:gdLst/>
              <a:ahLst/>
              <a:cxnLst/>
              <a:rect l="l" t="t" r="r" b="b"/>
              <a:pathLst>
                <a:path w="1727" h="1726" extrusionOk="0">
                  <a:moveTo>
                    <a:pt x="979" y="172"/>
                  </a:moveTo>
                  <a:lnTo>
                    <a:pt x="979" y="287"/>
                  </a:lnTo>
                  <a:lnTo>
                    <a:pt x="691" y="287"/>
                  </a:lnTo>
                  <a:lnTo>
                    <a:pt x="691" y="172"/>
                  </a:lnTo>
                  <a:close/>
                  <a:moveTo>
                    <a:pt x="1008" y="58"/>
                  </a:moveTo>
                  <a:cubicBezTo>
                    <a:pt x="1055" y="58"/>
                    <a:pt x="1094" y="96"/>
                    <a:pt x="1094" y="144"/>
                  </a:cubicBezTo>
                  <a:lnTo>
                    <a:pt x="1094" y="287"/>
                  </a:lnTo>
                  <a:lnTo>
                    <a:pt x="1036" y="287"/>
                  </a:lnTo>
                  <a:lnTo>
                    <a:pt x="1036" y="144"/>
                  </a:lnTo>
                  <a:cubicBezTo>
                    <a:pt x="1036" y="128"/>
                    <a:pt x="1023" y="115"/>
                    <a:pt x="1008" y="115"/>
                  </a:cubicBezTo>
                  <a:lnTo>
                    <a:pt x="662" y="115"/>
                  </a:lnTo>
                  <a:cubicBezTo>
                    <a:pt x="646" y="115"/>
                    <a:pt x="634" y="128"/>
                    <a:pt x="634" y="144"/>
                  </a:cubicBezTo>
                  <a:lnTo>
                    <a:pt x="634" y="287"/>
                  </a:lnTo>
                  <a:lnTo>
                    <a:pt x="576" y="287"/>
                  </a:lnTo>
                  <a:lnTo>
                    <a:pt x="576" y="144"/>
                  </a:lnTo>
                  <a:cubicBezTo>
                    <a:pt x="576" y="96"/>
                    <a:pt x="615" y="58"/>
                    <a:pt x="662" y="58"/>
                  </a:cubicBezTo>
                  <a:close/>
                  <a:moveTo>
                    <a:pt x="950" y="834"/>
                  </a:moveTo>
                  <a:lnTo>
                    <a:pt x="950" y="892"/>
                  </a:lnTo>
                  <a:lnTo>
                    <a:pt x="719" y="892"/>
                  </a:lnTo>
                  <a:lnTo>
                    <a:pt x="719" y="834"/>
                  </a:lnTo>
                  <a:close/>
                  <a:moveTo>
                    <a:pt x="1525" y="345"/>
                  </a:moveTo>
                  <a:cubicBezTo>
                    <a:pt x="1573" y="345"/>
                    <a:pt x="1611" y="383"/>
                    <a:pt x="1611" y="431"/>
                  </a:cubicBezTo>
                  <a:lnTo>
                    <a:pt x="1611" y="575"/>
                  </a:lnTo>
                  <a:lnTo>
                    <a:pt x="1611" y="747"/>
                  </a:lnTo>
                  <a:cubicBezTo>
                    <a:pt x="1611" y="827"/>
                    <a:pt x="1547" y="892"/>
                    <a:pt x="1468" y="892"/>
                  </a:cubicBezTo>
                  <a:lnTo>
                    <a:pt x="1449" y="892"/>
                  </a:lnTo>
                  <a:cubicBezTo>
                    <a:pt x="1401" y="873"/>
                    <a:pt x="1349" y="863"/>
                    <a:pt x="1295" y="863"/>
                  </a:cubicBezTo>
                  <a:cubicBezTo>
                    <a:pt x="1241" y="863"/>
                    <a:pt x="1189" y="873"/>
                    <a:pt x="1141" y="892"/>
                  </a:cubicBezTo>
                  <a:lnTo>
                    <a:pt x="1008" y="892"/>
                  </a:lnTo>
                  <a:lnTo>
                    <a:pt x="1008" y="805"/>
                  </a:lnTo>
                  <a:cubicBezTo>
                    <a:pt x="1008" y="789"/>
                    <a:pt x="994" y="776"/>
                    <a:pt x="979" y="776"/>
                  </a:cubicBezTo>
                  <a:lnTo>
                    <a:pt x="691" y="776"/>
                  </a:lnTo>
                  <a:cubicBezTo>
                    <a:pt x="675" y="776"/>
                    <a:pt x="662" y="789"/>
                    <a:pt x="662" y="805"/>
                  </a:cubicBezTo>
                  <a:lnTo>
                    <a:pt x="662" y="892"/>
                  </a:lnTo>
                  <a:lnTo>
                    <a:pt x="202" y="892"/>
                  </a:lnTo>
                  <a:cubicBezTo>
                    <a:pt x="123" y="892"/>
                    <a:pt x="58" y="827"/>
                    <a:pt x="58" y="747"/>
                  </a:cubicBezTo>
                  <a:lnTo>
                    <a:pt x="58" y="489"/>
                  </a:lnTo>
                  <a:lnTo>
                    <a:pt x="58" y="431"/>
                  </a:lnTo>
                  <a:cubicBezTo>
                    <a:pt x="58" y="383"/>
                    <a:pt x="97" y="345"/>
                    <a:pt x="145" y="345"/>
                  </a:cubicBezTo>
                  <a:close/>
                  <a:moveTo>
                    <a:pt x="1611" y="888"/>
                  </a:moveTo>
                  <a:lnTo>
                    <a:pt x="1611" y="1002"/>
                  </a:lnTo>
                  <a:cubicBezTo>
                    <a:pt x="1589" y="977"/>
                    <a:pt x="1564" y="955"/>
                    <a:pt x="1536" y="937"/>
                  </a:cubicBezTo>
                  <a:cubicBezTo>
                    <a:pt x="1565" y="926"/>
                    <a:pt x="1591" y="910"/>
                    <a:pt x="1611" y="888"/>
                  </a:cubicBezTo>
                  <a:close/>
                  <a:moveTo>
                    <a:pt x="346" y="949"/>
                  </a:moveTo>
                  <a:lnTo>
                    <a:pt x="346" y="1036"/>
                  </a:lnTo>
                  <a:lnTo>
                    <a:pt x="259" y="1036"/>
                  </a:lnTo>
                  <a:lnTo>
                    <a:pt x="259" y="949"/>
                  </a:lnTo>
                  <a:close/>
                  <a:moveTo>
                    <a:pt x="58" y="888"/>
                  </a:moveTo>
                  <a:cubicBezTo>
                    <a:pt x="95" y="926"/>
                    <a:pt x="146" y="949"/>
                    <a:pt x="202" y="949"/>
                  </a:cubicBezTo>
                  <a:lnTo>
                    <a:pt x="202" y="1064"/>
                  </a:lnTo>
                  <a:cubicBezTo>
                    <a:pt x="202" y="1080"/>
                    <a:pt x="215" y="1093"/>
                    <a:pt x="231" y="1093"/>
                  </a:cubicBezTo>
                  <a:lnTo>
                    <a:pt x="375" y="1093"/>
                  </a:lnTo>
                  <a:cubicBezTo>
                    <a:pt x="390" y="1093"/>
                    <a:pt x="403" y="1080"/>
                    <a:pt x="403" y="1064"/>
                  </a:cubicBezTo>
                  <a:lnTo>
                    <a:pt x="403" y="949"/>
                  </a:lnTo>
                  <a:lnTo>
                    <a:pt x="1037" y="949"/>
                  </a:lnTo>
                  <a:cubicBezTo>
                    <a:pt x="932" y="1028"/>
                    <a:pt x="864" y="1153"/>
                    <a:pt x="864" y="1294"/>
                  </a:cubicBezTo>
                  <a:cubicBezTo>
                    <a:pt x="864" y="1379"/>
                    <a:pt x="889" y="1457"/>
                    <a:pt x="931" y="1525"/>
                  </a:cubicBezTo>
                  <a:lnTo>
                    <a:pt x="145" y="1525"/>
                  </a:lnTo>
                  <a:cubicBezTo>
                    <a:pt x="97" y="1525"/>
                    <a:pt x="58" y="1485"/>
                    <a:pt x="58" y="1438"/>
                  </a:cubicBezTo>
                  <a:lnTo>
                    <a:pt x="58" y="888"/>
                  </a:lnTo>
                  <a:close/>
                  <a:moveTo>
                    <a:pt x="1324" y="922"/>
                  </a:moveTo>
                  <a:cubicBezTo>
                    <a:pt x="1507" y="936"/>
                    <a:pt x="1654" y="1082"/>
                    <a:pt x="1668" y="1265"/>
                  </a:cubicBezTo>
                  <a:lnTo>
                    <a:pt x="1611" y="1265"/>
                  </a:lnTo>
                  <a:lnTo>
                    <a:pt x="1611" y="1323"/>
                  </a:lnTo>
                  <a:lnTo>
                    <a:pt x="1668" y="1323"/>
                  </a:lnTo>
                  <a:cubicBezTo>
                    <a:pt x="1654" y="1506"/>
                    <a:pt x="1507" y="1653"/>
                    <a:pt x="1324" y="1667"/>
                  </a:cubicBezTo>
                  <a:lnTo>
                    <a:pt x="1324" y="1610"/>
                  </a:lnTo>
                  <a:lnTo>
                    <a:pt x="1266" y="1610"/>
                  </a:lnTo>
                  <a:lnTo>
                    <a:pt x="1266" y="1667"/>
                  </a:lnTo>
                  <a:cubicBezTo>
                    <a:pt x="1162" y="1659"/>
                    <a:pt x="1070" y="1608"/>
                    <a:pt x="1008" y="1532"/>
                  </a:cubicBezTo>
                  <a:lnTo>
                    <a:pt x="1008" y="1525"/>
                  </a:lnTo>
                  <a:lnTo>
                    <a:pt x="1001" y="1525"/>
                  </a:lnTo>
                  <a:cubicBezTo>
                    <a:pt x="957" y="1468"/>
                    <a:pt x="928" y="1399"/>
                    <a:pt x="923" y="1323"/>
                  </a:cubicBezTo>
                  <a:lnTo>
                    <a:pt x="979" y="1323"/>
                  </a:lnTo>
                  <a:lnTo>
                    <a:pt x="979" y="1265"/>
                  </a:lnTo>
                  <a:lnTo>
                    <a:pt x="923" y="1265"/>
                  </a:lnTo>
                  <a:cubicBezTo>
                    <a:pt x="937" y="1082"/>
                    <a:pt x="1083" y="936"/>
                    <a:pt x="1266" y="922"/>
                  </a:cubicBezTo>
                  <a:lnTo>
                    <a:pt x="1266" y="978"/>
                  </a:lnTo>
                  <a:lnTo>
                    <a:pt x="1324" y="978"/>
                  </a:lnTo>
                  <a:lnTo>
                    <a:pt x="1324" y="922"/>
                  </a:lnTo>
                  <a:close/>
                  <a:moveTo>
                    <a:pt x="662" y="0"/>
                  </a:moveTo>
                  <a:cubicBezTo>
                    <a:pt x="583" y="0"/>
                    <a:pt x="519" y="65"/>
                    <a:pt x="519" y="144"/>
                  </a:cubicBezTo>
                  <a:lnTo>
                    <a:pt x="519" y="287"/>
                  </a:lnTo>
                  <a:lnTo>
                    <a:pt x="145" y="287"/>
                  </a:lnTo>
                  <a:cubicBezTo>
                    <a:pt x="65" y="287"/>
                    <a:pt x="1" y="352"/>
                    <a:pt x="1" y="431"/>
                  </a:cubicBezTo>
                  <a:lnTo>
                    <a:pt x="1" y="489"/>
                  </a:lnTo>
                  <a:lnTo>
                    <a:pt x="1" y="747"/>
                  </a:lnTo>
                  <a:lnTo>
                    <a:pt x="1" y="1438"/>
                  </a:lnTo>
                  <a:cubicBezTo>
                    <a:pt x="1" y="1518"/>
                    <a:pt x="65" y="1582"/>
                    <a:pt x="145" y="1582"/>
                  </a:cubicBezTo>
                  <a:lnTo>
                    <a:pt x="974" y="1582"/>
                  </a:lnTo>
                  <a:cubicBezTo>
                    <a:pt x="1053" y="1670"/>
                    <a:pt x="1167" y="1725"/>
                    <a:pt x="1295" y="1725"/>
                  </a:cubicBezTo>
                  <a:cubicBezTo>
                    <a:pt x="1533" y="1725"/>
                    <a:pt x="1726" y="1532"/>
                    <a:pt x="1726" y="1294"/>
                  </a:cubicBezTo>
                  <a:cubicBezTo>
                    <a:pt x="1726" y="1216"/>
                    <a:pt x="1705" y="1143"/>
                    <a:pt x="1669" y="1080"/>
                  </a:cubicBezTo>
                  <a:lnTo>
                    <a:pt x="1669" y="747"/>
                  </a:lnTo>
                  <a:lnTo>
                    <a:pt x="1669" y="575"/>
                  </a:lnTo>
                  <a:lnTo>
                    <a:pt x="1669" y="431"/>
                  </a:lnTo>
                  <a:cubicBezTo>
                    <a:pt x="1669" y="352"/>
                    <a:pt x="1604" y="287"/>
                    <a:pt x="1525" y="287"/>
                  </a:cubicBezTo>
                  <a:lnTo>
                    <a:pt x="1151" y="287"/>
                  </a:lnTo>
                  <a:lnTo>
                    <a:pt x="1151" y="144"/>
                  </a:lnTo>
                  <a:cubicBezTo>
                    <a:pt x="1151" y="65"/>
                    <a:pt x="1087" y="0"/>
                    <a:pt x="1008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2" name="Google Shape;819;p22">
              <a:extLst>
                <a:ext uri="{FF2B5EF4-FFF2-40B4-BE49-F238E27FC236}">
                  <a16:creationId xmlns:a16="http://schemas.microsoft.com/office/drawing/2014/main" xmlns="" id="{4096DEC7-CFC2-41BE-90F1-1677D627090B}"/>
                </a:ext>
              </a:extLst>
            </p:cNvPr>
            <p:cNvSpPr/>
            <p:nvPr/>
          </p:nvSpPr>
          <p:spPr>
            <a:xfrm>
              <a:off x="6391598" y="3472518"/>
              <a:ext cx="22134" cy="45165"/>
            </a:xfrm>
            <a:custGeom>
              <a:avLst/>
              <a:gdLst/>
              <a:ahLst/>
              <a:cxnLst/>
              <a:rect l="l" t="t" r="r" b="b"/>
              <a:pathLst>
                <a:path w="222" h="453" extrusionOk="0">
                  <a:moveTo>
                    <a:pt x="0" y="1"/>
                  </a:moveTo>
                  <a:lnTo>
                    <a:pt x="0" y="259"/>
                  </a:lnTo>
                  <a:cubicBezTo>
                    <a:pt x="0" y="267"/>
                    <a:pt x="4" y="274"/>
                    <a:pt x="9" y="279"/>
                  </a:cubicBezTo>
                  <a:lnTo>
                    <a:pt x="181" y="452"/>
                  </a:lnTo>
                  <a:lnTo>
                    <a:pt x="222" y="411"/>
                  </a:lnTo>
                  <a:lnTo>
                    <a:pt x="58" y="247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3" name="Google Shape;820;p22">
              <a:extLst>
                <a:ext uri="{FF2B5EF4-FFF2-40B4-BE49-F238E27FC236}">
                  <a16:creationId xmlns:a16="http://schemas.microsoft.com/office/drawing/2014/main" xmlns="" id="{460AD4B3-3C50-4753-881C-42911BB2EBD4}"/>
                </a:ext>
              </a:extLst>
            </p:cNvPr>
            <p:cNvSpPr/>
            <p:nvPr/>
          </p:nvSpPr>
          <p:spPr>
            <a:xfrm>
              <a:off x="6391598" y="3443804"/>
              <a:ext cx="5783" cy="5882"/>
            </a:xfrm>
            <a:custGeom>
              <a:avLst/>
              <a:gdLst/>
              <a:ahLst/>
              <a:cxnLst/>
              <a:rect l="l" t="t" r="r" b="b"/>
              <a:pathLst>
                <a:path w="58" h="59" extrusionOk="0">
                  <a:moveTo>
                    <a:pt x="0" y="0"/>
                  </a:moveTo>
                  <a:lnTo>
                    <a:pt x="0" y="58"/>
                  </a:lnTo>
                  <a:lnTo>
                    <a:pt x="58" y="58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4" name="Google Shape;821;p22">
              <a:extLst>
                <a:ext uri="{FF2B5EF4-FFF2-40B4-BE49-F238E27FC236}">
                  <a16:creationId xmlns:a16="http://schemas.microsoft.com/office/drawing/2014/main" xmlns="" id="{620C961C-35AE-457A-A733-2D4587417BF1}"/>
                </a:ext>
              </a:extLst>
            </p:cNvPr>
            <p:cNvSpPr/>
            <p:nvPr/>
          </p:nvSpPr>
          <p:spPr>
            <a:xfrm>
              <a:off x="6403063" y="3443804"/>
              <a:ext cx="5783" cy="5882"/>
            </a:xfrm>
            <a:custGeom>
              <a:avLst/>
              <a:gdLst/>
              <a:ahLst/>
              <a:cxnLst/>
              <a:rect l="l" t="t" r="r" b="b"/>
              <a:pathLst>
                <a:path w="58" h="59" extrusionOk="0">
                  <a:moveTo>
                    <a:pt x="0" y="0"/>
                  </a:moveTo>
                  <a:lnTo>
                    <a:pt x="0" y="58"/>
                  </a:lnTo>
                  <a:lnTo>
                    <a:pt x="58" y="58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5" name="Google Shape;822;p22">
              <a:extLst>
                <a:ext uri="{FF2B5EF4-FFF2-40B4-BE49-F238E27FC236}">
                  <a16:creationId xmlns:a16="http://schemas.microsoft.com/office/drawing/2014/main" xmlns="" id="{F940B475-4D21-4512-9192-B59A257FB77F}"/>
                </a:ext>
              </a:extLst>
            </p:cNvPr>
            <p:cNvSpPr/>
            <p:nvPr/>
          </p:nvSpPr>
          <p:spPr>
            <a:xfrm>
              <a:off x="6380032" y="3443804"/>
              <a:ext cx="5882" cy="5882"/>
            </a:xfrm>
            <a:custGeom>
              <a:avLst/>
              <a:gdLst/>
              <a:ahLst/>
              <a:cxnLst/>
              <a:rect l="l" t="t" r="r" b="b"/>
              <a:pathLst>
                <a:path w="59" h="59" extrusionOk="0">
                  <a:moveTo>
                    <a:pt x="1" y="0"/>
                  </a:moveTo>
                  <a:lnTo>
                    <a:pt x="1" y="58"/>
                  </a:lnTo>
                  <a:lnTo>
                    <a:pt x="58" y="58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6" name="Google Shape;823;p22">
            <a:extLst>
              <a:ext uri="{FF2B5EF4-FFF2-40B4-BE49-F238E27FC236}">
                <a16:creationId xmlns:a16="http://schemas.microsoft.com/office/drawing/2014/main" xmlns="" id="{552C4F81-1146-4DCC-B9B7-DB0ED21A3008}"/>
              </a:ext>
            </a:extLst>
          </p:cNvPr>
          <p:cNvGrpSpPr/>
          <p:nvPr/>
        </p:nvGrpSpPr>
        <p:grpSpPr>
          <a:xfrm>
            <a:off x="14477147" y="5054580"/>
            <a:ext cx="176738" cy="257317"/>
            <a:chOff x="6064477" y="4246093"/>
            <a:chExt cx="108576" cy="155137"/>
          </a:xfrm>
        </p:grpSpPr>
        <p:sp>
          <p:nvSpPr>
            <p:cNvPr id="107" name="Google Shape;824;p22">
              <a:extLst>
                <a:ext uri="{FF2B5EF4-FFF2-40B4-BE49-F238E27FC236}">
                  <a16:creationId xmlns:a16="http://schemas.microsoft.com/office/drawing/2014/main" xmlns="" id="{3DAB57AC-9036-4595-A2BF-F0392F08857F}"/>
                </a:ext>
              </a:extLst>
            </p:cNvPr>
            <p:cNvSpPr/>
            <p:nvPr/>
          </p:nvSpPr>
          <p:spPr>
            <a:xfrm>
              <a:off x="6064477" y="4246093"/>
              <a:ext cx="108576" cy="155137"/>
            </a:xfrm>
            <a:custGeom>
              <a:avLst/>
              <a:gdLst/>
              <a:ahLst/>
              <a:cxnLst/>
              <a:rect l="l" t="t" r="r" b="b"/>
              <a:pathLst>
                <a:path w="1089" h="1556" extrusionOk="0">
                  <a:moveTo>
                    <a:pt x="959" y="53"/>
                  </a:moveTo>
                  <a:cubicBezTo>
                    <a:pt x="1002" y="53"/>
                    <a:pt x="1037" y="88"/>
                    <a:pt x="1037" y="130"/>
                  </a:cubicBezTo>
                  <a:lnTo>
                    <a:pt x="1037" y="156"/>
                  </a:lnTo>
                  <a:lnTo>
                    <a:pt x="52" y="156"/>
                  </a:lnTo>
                  <a:lnTo>
                    <a:pt x="52" y="130"/>
                  </a:lnTo>
                  <a:cubicBezTo>
                    <a:pt x="52" y="88"/>
                    <a:pt x="87" y="53"/>
                    <a:pt x="130" y="53"/>
                  </a:cubicBezTo>
                  <a:close/>
                  <a:moveTo>
                    <a:pt x="1037" y="208"/>
                  </a:moveTo>
                  <a:lnTo>
                    <a:pt x="1037" y="1296"/>
                  </a:lnTo>
                  <a:lnTo>
                    <a:pt x="52" y="1296"/>
                  </a:lnTo>
                  <a:lnTo>
                    <a:pt x="52" y="208"/>
                  </a:lnTo>
                  <a:close/>
                  <a:moveTo>
                    <a:pt x="1037" y="1348"/>
                  </a:moveTo>
                  <a:lnTo>
                    <a:pt x="1037" y="1426"/>
                  </a:lnTo>
                  <a:cubicBezTo>
                    <a:pt x="1037" y="1469"/>
                    <a:pt x="1002" y="1504"/>
                    <a:pt x="959" y="1504"/>
                  </a:cubicBezTo>
                  <a:lnTo>
                    <a:pt x="130" y="1504"/>
                  </a:lnTo>
                  <a:cubicBezTo>
                    <a:pt x="87" y="1504"/>
                    <a:pt x="52" y="1469"/>
                    <a:pt x="52" y="1426"/>
                  </a:cubicBezTo>
                  <a:lnTo>
                    <a:pt x="52" y="1348"/>
                  </a:lnTo>
                  <a:close/>
                  <a:moveTo>
                    <a:pt x="130" y="0"/>
                  </a:moveTo>
                  <a:cubicBezTo>
                    <a:pt x="58" y="0"/>
                    <a:pt x="1" y="59"/>
                    <a:pt x="1" y="130"/>
                  </a:cubicBezTo>
                  <a:lnTo>
                    <a:pt x="1" y="1426"/>
                  </a:lnTo>
                  <a:cubicBezTo>
                    <a:pt x="1" y="1498"/>
                    <a:pt x="58" y="1555"/>
                    <a:pt x="130" y="1555"/>
                  </a:cubicBezTo>
                  <a:lnTo>
                    <a:pt x="959" y="1555"/>
                  </a:lnTo>
                  <a:cubicBezTo>
                    <a:pt x="1031" y="1555"/>
                    <a:pt x="1089" y="1498"/>
                    <a:pt x="1089" y="1426"/>
                  </a:cubicBezTo>
                  <a:lnTo>
                    <a:pt x="1089" y="130"/>
                  </a:lnTo>
                  <a:cubicBezTo>
                    <a:pt x="1089" y="59"/>
                    <a:pt x="1031" y="0"/>
                    <a:pt x="959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8" name="Google Shape;825;p22">
              <a:extLst>
                <a:ext uri="{FF2B5EF4-FFF2-40B4-BE49-F238E27FC236}">
                  <a16:creationId xmlns:a16="http://schemas.microsoft.com/office/drawing/2014/main" xmlns="" id="{0C73A9DF-640A-4B50-A2C4-3F86C23B2868}"/>
                </a:ext>
              </a:extLst>
            </p:cNvPr>
            <p:cNvSpPr/>
            <p:nvPr/>
          </p:nvSpPr>
          <p:spPr>
            <a:xfrm>
              <a:off x="6078036" y="4277499"/>
              <a:ext cx="80360" cy="77269"/>
            </a:xfrm>
            <a:custGeom>
              <a:avLst/>
              <a:gdLst/>
              <a:ahLst/>
              <a:cxnLst/>
              <a:rect l="l" t="t" r="r" b="b"/>
              <a:pathLst>
                <a:path w="806" h="775" extrusionOk="0">
                  <a:moveTo>
                    <a:pt x="197" y="52"/>
                  </a:moveTo>
                  <a:cubicBezTo>
                    <a:pt x="204" y="52"/>
                    <a:pt x="210" y="55"/>
                    <a:pt x="215" y="60"/>
                  </a:cubicBezTo>
                  <a:lnTo>
                    <a:pt x="216" y="60"/>
                  </a:lnTo>
                  <a:lnTo>
                    <a:pt x="298" y="142"/>
                  </a:lnTo>
                  <a:cubicBezTo>
                    <a:pt x="307" y="152"/>
                    <a:pt x="307" y="168"/>
                    <a:pt x="298" y="179"/>
                  </a:cubicBezTo>
                  <a:lnTo>
                    <a:pt x="231" y="245"/>
                  </a:lnTo>
                  <a:cubicBezTo>
                    <a:pt x="225" y="250"/>
                    <a:pt x="223" y="257"/>
                    <a:pt x="223" y="263"/>
                  </a:cubicBezTo>
                  <a:cubicBezTo>
                    <a:pt x="223" y="270"/>
                    <a:pt x="225" y="277"/>
                    <a:pt x="231" y="282"/>
                  </a:cubicBezTo>
                  <a:lnTo>
                    <a:pt x="515" y="567"/>
                  </a:lnTo>
                  <a:cubicBezTo>
                    <a:pt x="520" y="572"/>
                    <a:pt x="527" y="575"/>
                    <a:pt x="534" y="575"/>
                  </a:cubicBezTo>
                  <a:cubicBezTo>
                    <a:pt x="540" y="575"/>
                    <a:pt x="547" y="572"/>
                    <a:pt x="552" y="567"/>
                  </a:cubicBezTo>
                  <a:lnTo>
                    <a:pt x="619" y="500"/>
                  </a:lnTo>
                  <a:cubicBezTo>
                    <a:pt x="624" y="495"/>
                    <a:pt x="631" y="493"/>
                    <a:pt x="637" y="493"/>
                  </a:cubicBezTo>
                  <a:cubicBezTo>
                    <a:pt x="644" y="493"/>
                    <a:pt x="651" y="495"/>
                    <a:pt x="656" y="500"/>
                  </a:cubicBezTo>
                  <a:lnTo>
                    <a:pt x="738" y="582"/>
                  </a:lnTo>
                  <a:cubicBezTo>
                    <a:pt x="748" y="592"/>
                    <a:pt x="748" y="609"/>
                    <a:pt x="738" y="619"/>
                  </a:cubicBezTo>
                  <a:lnTo>
                    <a:pt x="688" y="669"/>
                  </a:lnTo>
                  <a:cubicBezTo>
                    <a:pt x="654" y="703"/>
                    <a:pt x="609" y="722"/>
                    <a:pt x="560" y="722"/>
                  </a:cubicBezTo>
                  <a:cubicBezTo>
                    <a:pt x="512" y="722"/>
                    <a:pt x="465" y="703"/>
                    <a:pt x="431" y="669"/>
                  </a:cubicBezTo>
                  <a:lnTo>
                    <a:pt x="128" y="366"/>
                  </a:lnTo>
                  <a:cubicBezTo>
                    <a:pt x="58" y="296"/>
                    <a:pt x="58" y="180"/>
                    <a:pt x="128" y="110"/>
                  </a:cubicBezTo>
                  <a:lnTo>
                    <a:pt x="179" y="60"/>
                  </a:lnTo>
                  <a:cubicBezTo>
                    <a:pt x="183" y="55"/>
                    <a:pt x="190" y="52"/>
                    <a:pt x="197" y="52"/>
                  </a:cubicBezTo>
                  <a:close/>
                  <a:moveTo>
                    <a:pt x="197" y="1"/>
                  </a:moveTo>
                  <a:cubicBezTo>
                    <a:pt x="177" y="1"/>
                    <a:pt x="157" y="8"/>
                    <a:pt x="142" y="23"/>
                  </a:cubicBezTo>
                  <a:lnTo>
                    <a:pt x="92" y="73"/>
                  </a:lnTo>
                  <a:cubicBezTo>
                    <a:pt x="1" y="164"/>
                    <a:pt x="1" y="312"/>
                    <a:pt x="92" y="403"/>
                  </a:cubicBezTo>
                  <a:lnTo>
                    <a:pt x="395" y="706"/>
                  </a:lnTo>
                  <a:cubicBezTo>
                    <a:pt x="439" y="750"/>
                    <a:pt x="498" y="774"/>
                    <a:pt x="560" y="774"/>
                  </a:cubicBezTo>
                  <a:cubicBezTo>
                    <a:pt x="622" y="774"/>
                    <a:pt x="681" y="750"/>
                    <a:pt x="725" y="706"/>
                  </a:cubicBezTo>
                  <a:lnTo>
                    <a:pt x="774" y="655"/>
                  </a:lnTo>
                  <a:cubicBezTo>
                    <a:pt x="805" y="626"/>
                    <a:pt x="805" y="576"/>
                    <a:pt x="774" y="545"/>
                  </a:cubicBezTo>
                  <a:lnTo>
                    <a:pt x="692" y="463"/>
                  </a:lnTo>
                  <a:cubicBezTo>
                    <a:pt x="678" y="449"/>
                    <a:pt x="658" y="442"/>
                    <a:pt x="638" y="442"/>
                  </a:cubicBezTo>
                  <a:cubicBezTo>
                    <a:pt x="618" y="442"/>
                    <a:pt x="597" y="449"/>
                    <a:pt x="582" y="463"/>
                  </a:cubicBezTo>
                  <a:lnTo>
                    <a:pt x="534" y="512"/>
                  </a:lnTo>
                  <a:lnTo>
                    <a:pt x="286" y="263"/>
                  </a:lnTo>
                  <a:lnTo>
                    <a:pt x="334" y="215"/>
                  </a:lnTo>
                  <a:cubicBezTo>
                    <a:pt x="364" y="185"/>
                    <a:pt x="364" y="136"/>
                    <a:pt x="334" y="105"/>
                  </a:cubicBezTo>
                  <a:lnTo>
                    <a:pt x="251" y="23"/>
                  </a:lnTo>
                  <a:cubicBezTo>
                    <a:pt x="237" y="8"/>
                    <a:pt x="217" y="1"/>
                    <a:pt x="197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9" name="Google Shape;826;p22">
              <a:extLst>
                <a:ext uri="{FF2B5EF4-FFF2-40B4-BE49-F238E27FC236}">
                  <a16:creationId xmlns:a16="http://schemas.microsoft.com/office/drawing/2014/main" xmlns="" id="{503E5557-7F13-4694-B7AA-20AF61008A4F}"/>
                </a:ext>
              </a:extLst>
            </p:cNvPr>
            <p:cNvSpPr/>
            <p:nvPr/>
          </p:nvSpPr>
          <p:spPr>
            <a:xfrm>
              <a:off x="6116122" y="4359751"/>
              <a:ext cx="5284" cy="5284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0" y="1"/>
                  </a:moveTo>
                  <a:lnTo>
                    <a:pt x="0" y="53"/>
                  </a:lnTo>
                  <a:lnTo>
                    <a:pt x="53" y="53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0" name="Google Shape;827;p22">
              <a:extLst>
                <a:ext uri="{FF2B5EF4-FFF2-40B4-BE49-F238E27FC236}">
                  <a16:creationId xmlns:a16="http://schemas.microsoft.com/office/drawing/2014/main" xmlns="" id="{FBA8DA4A-2DB1-4D72-A6AF-C079B153E473}"/>
                </a:ext>
              </a:extLst>
            </p:cNvPr>
            <p:cNvSpPr/>
            <p:nvPr/>
          </p:nvSpPr>
          <p:spPr>
            <a:xfrm>
              <a:off x="6105853" y="4359751"/>
              <a:ext cx="5185" cy="5284"/>
            </a:xfrm>
            <a:custGeom>
              <a:avLst/>
              <a:gdLst/>
              <a:ahLst/>
              <a:cxnLst/>
              <a:rect l="l" t="t" r="r" b="b"/>
              <a:pathLst>
                <a:path w="52" h="53" extrusionOk="0">
                  <a:moveTo>
                    <a:pt x="0" y="1"/>
                  </a:moveTo>
                  <a:lnTo>
                    <a:pt x="0" y="53"/>
                  </a:lnTo>
                  <a:lnTo>
                    <a:pt x="52" y="53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1" name="Google Shape;828;p22">
              <a:extLst>
                <a:ext uri="{FF2B5EF4-FFF2-40B4-BE49-F238E27FC236}">
                  <a16:creationId xmlns:a16="http://schemas.microsoft.com/office/drawing/2014/main" xmlns="" id="{F57525F8-31FE-4097-8266-E4777FD9E34E}"/>
                </a:ext>
              </a:extLst>
            </p:cNvPr>
            <p:cNvSpPr/>
            <p:nvPr/>
          </p:nvSpPr>
          <p:spPr>
            <a:xfrm>
              <a:off x="6126491" y="4359751"/>
              <a:ext cx="5284" cy="5284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0" y="1"/>
                  </a:moveTo>
                  <a:lnTo>
                    <a:pt x="0" y="53"/>
                  </a:lnTo>
                  <a:lnTo>
                    <a:pt x="53" y="53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2" name="Google Shape;829;p22">
              <a:extLst>
                <a:ext uri="{FF2B5EF4-FFF2-40B4-BE49-F238E27FC236}">
                  <a16:creationId xmlns:a16="http://schemas.microsoft.com/office/drawing/2014/main" xmlns="" id="{AC85F477-B61B-4597-9DA9-0EF2F1B6487D}"/>
                </a:ext>
              </a:extLst>
            </p:cNvPr>
            <p:cNvSpPr/>
            <p:nvPr/>
          </p:nvSpPr>
          <p:spPr>
            <a:xfrm>
              <a:off x="6118714" y="4302922"/>
              <a:ext cx="12961" cy="13061"/>
            </a:xfrm>
            <a:custGeom>
              <a:avLst/>
              <a:gdLst/>
              <a:ahLst/>
              <a:cxnLst/>
              <a:rect l="l" t="t" r="r" b="b"/>
              <a:pathLst>
                <a:path w="130" h="131" extrusionOk="0">
                  <a:moveTo>
                    <a:pt x="1" y="0"/>
                  </a:moveTo>
                  <a:lnTo>
                    <a:pt x="1" y="53"/>
                  </a:lnTo>
                  <a:cubicBezTo>
                    <a:pt x="43" y="53"/>
                    <a:pt x="78" y="88"/>
                    <a:pt x="78" y="131"/>
                  </a:cubicBezTo>
                  <a:lnTo>
                    <a:pt x="130" y="131"/>
                  </a:lnTo>
                  <a:cubicBezTo>
                    <a:pt x="130" y="59"/>
                    <a:pt x="72" y="0"/>
                    <a:pt x="1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3" name="Google Shape;830;p22">
              <a:extLst>
                <a:ext uri="{FF2B5EF4-FFF2-40B4-BE49-F238E27FC236}">
                  <a16:creationId xmlns:a16="http://schemas.microsoft.com/office/drawing/2014/main" xmlns="" id="{1E603AA1-9DCB-4064-881A-D0FED40D8C27}"/>
                </a:ext>
              </a:extLst>
            </p:cNvPr>
            <p:cNvSpPr/>
            <p:nvPr/>
          </p:nvSpPr>
          <p:spPr>
            <a:xfrm>
              <a:off x="6118714" y="4292553"/>
              <a:ext cx="23330" cy="23430"/>
            </a:xfrm>
            <a:custGeom>
              <a:avLst/>
              <a:gdLst/>
              <a:ahLst/>
              <a:cxnLst/>
              <a:rect l="l" t="t" r="r" b="b"/>
              <a:pathLst>
                <a:path w="234" h="235" extrusionOk="0">
                  <a:moveTo>
                    <a:pt x="1" y="1"/>
                  </a:moveTo>
                  <a:lnTo>
                    <a:pt x="1" y="53"/>
                  </a:lnTo>
                  <a:cubicBezTo>
                    <a:pt x="101" y="53"/>
                    <a:pt x="182" y="134"/>
                    <a:pt x="182" y="235"/>
                  </a:cubicBezTo>
                  <a:lnTo>
                    <a:pt x="234" y="235"/>
                  </a:lnTo>
                  <a:cubicBezTo>
                    <a:pt x="234" y="105"/>
                    <a:pt x="129" y="1"/>
                    <a:pt x="1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4" name="Google Shape;831;p22">
              <a:extLst>
                <a:ext uri="{FF2B5EF4-FFF2-40B4-BE49-F238E27FC236}">
                  <a16:creationId xmlns:a16="http://schemas.microsoft.com/office/drawing/2014/main" xmlns="" id="{052BFD62-9E6B-48B1-80B4-2EDFF6EF15B7}"/>
                </a:ext>
              </a:extLst>
            </p:cNvPr>
            <p:cNvSpPr/>
            <p:nvPr/>
          </p:nvSpPr>
          <p:spPr>
            <a:xfrm>
              <a:off x="6118714" y="4282284"/>
              <a:ext cx="33699" cy="33699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1" y="1"/>
                  </a:moveTo>
                  <a:lnTo>
                    <a:pt x="1" y="52"/>
                  </a:lnTo>
                  <a:cubicBezTo>
                    <a:pt x="158" y="52"/>
                    <a:pt x="286" y="180"/>
                    <a:pt x="286" y="338"/>
                  </a:cubicBezTo>
                  <a:lnTo>
                    <a:pt x="338" y="338"/>
                  </a:lnTo>
                  <a:cubicBezTo>
                    <a:pt x="338" y="152"/>
                    <a:pt x="187" y="1"/>
                    <a:pt x="1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5" name="Google Shape;718;p22">
            <a:extLst>
              <a:ext uri="{FF2B5EF4-FFF2-40B4-BE49-F238E27FC236}">
                <a16:creationId xmlns:a16="http://schemas.microsoft.com/office/drawing/2014/main" xmlns="" id="{1323C327-D6F2-4402-803B-D5251D50B1BD}"/>
              </a:ext>
            </a:extLst>
          </p:cNvPr>
          <p:cNvGrpSpPr/>
          <p:nvPr/>
        </p:nvGrpSpPr>
        <p:grpSpPr>
          <a:xfrm>
            <a:off x="15328551" y="3590463"/>
            <a:ext cx="2672099" cy="742876"/>
            <a:chOff x="5941100" y="2054463"/>
            <a:chExt cx="2485751" cy="678146"/>
          </a:xfrm>
        </p:grpSpPr>
        <p:grpSp>
          <p:nvGrpSpPr>
            <p:cNvPr id="116" name="Google Shape;719;p22">
              <a:extLst>
                <a:ext uri="{FF2B5EF4-FFF2-40B4-BE49-F238E27FC236}">
                  <a16:creationId xmlns:a16="http://schemas.microsoft.com/office/drawing/2014/main" xmlns="" id="{C9603178-D671-4346-8740-03BAAE1E9D9A}"/>
                </a:ext>
              </a:extLst>
            </p:cNvPr>
            <p:cNvGrpSpPr/>
            <p:nvPr/>
          </p:nvGrpSpPr>
          <p:grpSpPr>
            <a:xfrm flipH="1">
              <a:off x="5941100" y="2054463"/>
              <a:ext cx="2485751" cy="678146"/>
              <a:chOff x="800213" y="1002738"/>
              <a:chExt cx="2485751" cy="678146"/>
            </a:xfrm>
          </p:grpSpPr>
          <p:sp>
            <p:nvSpPr>
              <p:cNvPr id="118" name="Google Shape;720;p22">
                <a:extLst>
                  <a:ext uri="{FF2B5EF4-FFF2-40B4-BE49-F238E27FC236}">
                    <a16:creationId xmlns:a16="http://schemas.microsoft.com/office/drawing/2014/main" xmlns="" id="{E0F86E45-337B-47EA-B4BE-C18D4C0FB696}"/>
                  </a:ext>
                </a:extLst>
              </p:cNvPr>
              <p:cNvSpPr/>
              <p:nvPr/>
            </p:nvSpPr>
            <p:spPr>
              <a:xfrm>
                <a:off x="800213" y="1122363"/>
                <a:ext cx="2334900" cy="438900"/>
              </a:xfrm>
              <a:prstGeom prst="roundRect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9" name="Google Shape;721;p22">
                <a:extLst>
                  <a:ext uri="{FF2B5EF4-FFF2-40B4-BE49-F238E27FC236}">
                    <a16:creationId xmlns:a16="http://schemas.microsoft.com/office/drawing/2014/main" xmlns="" id="{285E9FE5-2493-4483-9C21-C8CA9603F9D3}"/>
                  </a:ext>
                </a:extLst>
              </p:cNvPr>
              <p:cNvSpPr/>
              <p:nvPr/>
            </p:nvSpPr>
            <p:spPr>
              <a:xfrm flipH="1">
                <a:off x="2607888" y="1002738"/>
                <a:ext cx="678076" cy="678146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6558" extrusionOk="0">
                    <a:moveTo>
                      <a:pt x="3279" y="1"/>
                    </a:moveTo>
                    <a:cubicBezTo>
                      <a:pt x="1469" y="1"/>
                      <a:pt x="1" y="1469"/>
                      <a:pt x="1" y="3280"/>
                    </a:cubicBezTo>
                    <a:cubicBezTo>
                      <a:pt x="1" y="5090"/>
                      <a:pt x="1469" y="6558"/>
                      <a:pt x="3279" y="6558"/>
                    </a:cubicBezTo>
                    <a:cubicBezTo>
                      <a:pt x="5089" y="6558"/>
                      <a:pt x="6557" y="5090"/>
                      <a:pt x="6557" y="3280"/>
                    </a:cubicBezTo>
                    <a:cubicBezTo>
                      <a:pt x="6557" y="1469"/>
                      <a:pt x="5089" y="1"/>
                      <a:pt x="3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17" name="Google Shape;722;p22">
              <a:extLst>
                <a:ext uri="{FF2B5EF4-FFF2-40B4-BE49-F238E27FC236}">
                  <a16:creationId xmlns:a16="http://schemas.microsoft.com/office/drawing/2014/main" xmlns="" id="{C242FB7A-3111-4CC2-8120-70565669FD3B}"/>
                </a:ext>
              </a:extLst>
            </p:cNvPr>
            <p:cNvSpPr txBox="1"/>
            <p:nvPr/>
          </p:nvSpPr>
          <p:spPr>
            <a:xfrm>
              <a:off x="6569231" y="2168351"/>
              <a:ext cx="1770502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“</a:t>
              </a:r>
              <a:r>
                <a:rPr kumimoji="0" lang="ru-RU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Центр социально- психологического обслуживания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”</a:t>
              </a:r>
              <a:endPara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" name="Google Shape;808;p22">
            <a:extLst>
              <a:ext uri="{FF2B5EF4-FFF2-40B4-BE49-F238E27FC236}">
                <a16:creationId xmlns:a16="http://schemas.microsoft.com/office/drawing/2014/main" xmlns="" id="{E22CB298-8D82-4220-ABEF-8C0DCE579E29}"/>
              </a:ext>
            </a:extLst>
          </p:cNvPr>
          <p:cNvGrpSpPr/>
          <p:nvPr/>
        </p:nvGrpSpPr>
        <p:grpSpPr>
          <a:xfrm>
            <a:off x="15587875" y="3842053"/>
            <a:ext cx="257582" cy="253621"/>
            <a:chOff x="6252315" y="2481197"/>
            <a:chExt cx="191727" cy="185245"/>
          </a:xfrm>
        </p:grpSpPr>
        <p:sp>
          <p:nvSpPr>
            <p:cNvPr id="121" name="Google Shape;809;p22">
              <a:extLst>
                <a:ext uri="{FF2B5EF4-FFF2-40B4-BE49-F238E27FC236}">
                  <a16:creationId xmlns:a16="http://schemas.microsoft.com/office/drawing/2014/main" xmlns="" id="{416DBE45-D1FD-498E-A042-52895D760246}"/>
                </a:ext>
              </a:extLst>
            </p:cNvPr>
            <p:cNvSpPr/>
            <p:nvPr/>
          </p:nvSpPr>
          <p:spPr>
            <a:xfrm>
              <a:off x="6252315" y="2542014"/>
              <a:ext cx="165606" cy="82354"/>
            </a:xfrm>
            <a:custGeom>
              <a:avLst/>
              <a:gdLst/>
              <a:ahLst/>
              <a:cxnLst/>
              <a:rect l="l" t="t" r="r" b="b"/>
              <a:pathLst>
                <a:path w="1661" h="826" extrusionOk="0">
                  <a:moveTo>
                    <a:pt x="28" y="1"/>
                  </a:moveTo>
                  <a:cubicBezTo>
                    <a:pt x="13" y="1"/>
                    <a:pt x="1" y="13"/>
                    <a:pt x="1" y="28"/>
                  </a:cubicBezTo>
                  <a:lnTo>
                    <a:pt x="1" y="799"/>
                  </a:lnTo>
                  <a:cubicBezTo>
                    <a:pt x="1" y="814"/>
                    <a:pt x="13" y="826"/>
                    <a:pt x="28" y="826"/>
                  </a:cubicBezTo>
                  <a:lnTo>
                    <a:pt x="1119" y="826"/>
                  </a:lnTo>
                  <a:cubicBezTo>
                    <a:pt x="1135" y="826"/>
                    <a:pt x="1147" y="814"/>
                    <a:pt x="1147" y="799"/>
                  </a:cubicBezTo>
                  <a:cubicBezTo>
                    <a:pt x="1147" y="783"/>
                    <a:pt x="1135" y="771"/>
                    <a:pt x="1119" y="771"/>
                  </a:cubicBezTo>
                  <a:lnTo>
                    <a:pt x="56" y="771"/>
                  </a:lnTo>
                  <a:lnTo>
                    <a:pt x="56" y="56"/>
                  </a:lnTo>
                  <a:lnTo>
                    <a:pt x="1606" y="56"/>
                  </a:lnTo>
                  <a:lnTo>
                    <a:pt x="1606" y="125"/>
                  </a:lnTo>
                  <a:cubicBezTo>
                    <a:pt x="1606" y="139"/>
                    <a:pt x="1618" y="152"/>
                    <a:pt x="1634" y="152"/>
                  </a:cubicBezTo>
                  <a:cubicBezTo>
                    <a:pt x="1649" y="152"/>
                    <a:pt x="1661" y="139"/>
                    <a:pt x="1661" y="125"/>
                  </a:cubicBezTo>
                  <a:lnTo>
                    <a:pt x="1661" y="28"/>
                  </a:lnTo>
                  <a:cubicBezTo>
                    <a:pt x="1661" y="13"/>
                    <a:pt x="1649" y="1"/>
                    <a:pt x="1634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2" name="Google Shape;810;p22">
              <a:extLst>
                <a:ext uri="{FF2B5EF4-FFF2-40B4-BE49-F238E27FC236}">
                  <a16:creationId xmlns:a16="http://schemas.microsoft.com/office/drawing/2014/main" xmlns="" id="{341289A0-413F-4590-BE88-7737C1488F0D}"/>
                </a:ext>
              </a:extLst>
            </p:cNvPr>
            <p:cNvSpPr/>
            <p:nvPr/>
          </p:nvSpPr>
          <p:spPr>
            <a:xfrm>
              <a:off x="6258496" y="2500439"/>
              <a:ext cx="140281" cy="34397"/>
            </a:xfrm>
            <a:custGeom>
              <a:avLst/>
              <a:gdLst/>
              <a:ahLst/>
              <a:cxnLst/>
              <a:rect l="l" t="t" r="r" b="b"/>
              <a:pathLst>
                <a:path w="1407" h="345" extrusionOk="0">
                  <a:moveTo>
                    <a:pt x="94" y="0"/>
                  </a:moveTo>
                  <a:cubicBezTo>
                    <a:pt x="89" y="0"/>
                    <a:pt x="85" y="2"/>
                    <a:pt x="80" y="5"/>
                  </a:cubicBezTo>
                  <a:cubicBezTo>
                    <a:pt x="74" y="8"/>
                    <a:pt x="69" y="14"/>
                    <a:pt x="68" y="21"/>
                  </a:cubicBezTo>
                  <a:lnTo>
                    <a:pt x="4" y="310"/>
                  </a:lnTo>
                  <a:cubicBezTo>
                    <a:pt x="0" y="325"/>
                    <a:pt x="10" y="340"/>
                    <a:pt x="24" y="343"/>
                  </a:cubicBezTo>
                  <a:cubicBezTo>
                    <a:pt x="27" y="344"/>
                    <a:pt x="29" y="344"/>
                    <a:pt x="31" y="344"/>
                  </a:cubicBezTo>
                  <a:cubicBezTo>
                    <a:pt x="43" y="344"/>
                    <a:pt x="55" y="335"/>
                    <a:pt x="58" y="322"/>
                  </a:cubicBezTo>
                  <a:lnTo>
                    <a:pt x="115" y="61"/>
                  </a:lnTo>
                  <a:lnTo>
                    <a:pt x="1373" y="343"/>
                  </a:lnTo>
                  <a:cubicBezTo>
                    <a:pt x="1374" y="343"/>
                    <a:pt x="1377" y="344"/>
                    <a:pt x="1379" y="344"/>
                  </a:cubicBezTo>
                  <a:cubicBezTo>
                    <a:pt x="1394" y="344"/>
                    <a:pt x="1407" y="332"/>
                    <a:pt x="1407" y="316"/>
                  </a:cubicBezTo>
                  <a:cubicBezTo>
                    <a:pt x="1406" y="303"/>
                    <a:pt x="1397" y="293"/>
                    <a:pt x="1385" y="289"/>
                  </a:cubicBezTo>
                  <a:lnTo>
                    <a:pt x="100" y="1"/>
                  </a:lnTo>
                  <a:cubicBezTo>
                    <a:pt x="98" y="1"/>
                    <a:pt x="96" y="0"/>
                    <a:pt x="94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3" name="Google Shape;811;p22">
              <a:extLst>
                <a:ext uri="{FF2B5EF4-FFF2-40B4-BE49-F238E27FC236}">
                  <a16:creationId xmlns:a16="http://schemas.microsoft.com/office/drawing/2014/main" xmlns="" id="{478DB6DB-5B2D-4A9E-960E-26472A6676EE}"/>
                </a:ext>
              </a:extLst>
            </p:cNvPr>
            <p:cNvSpPr/>
            <p:nvPr/>
          </p:nvSpPr>
          <p:spPr>
            <a:xfrm>
              <a:off x="6293491" y="2481197"/>
              <a:ext cx="89633" cy="37588"/>
            </a:xfrm>
            <a:custGeom>
              <a:avLst/>
              <a:gdLst/>
              <a:ahLst/>
              <a:cxnLst/>
              <a:rect l="l" t="t" r="r" b="b"/>
              <a:pathLst>
                <a:path w="899" h="377" extrusionOk="0">
                  <a:moveTo>
                    <a:pt x="98" y="0"/>
                  </a:moveTo>
                  <a:cubicBezTo>
                    <a:pt x="87" y="0"/>
                    <a:pt x="77" y="6"/>
                    <a:pt x="72" y="16"/>
                  </a:cubicBezTo>
                  <a:lnTo>
                    <a:pt x="8" y="144"/>
                  </a:lnTo>
                  <a:cubicBezTo>
                    <a:pt x="1" y="157"/>
                    <a:pt x="5" y="174"/>
                    <a:pt x="19" y="181"/>
                  </a:cubicBezTo>
                  <a:cubicBezTo>
                    <a:pt x="23" y="184"/>
                    <a:pt x="28" y="185"/>
                    <a:pt x="32" y="185"/>
                  </a:cubicBezTo>
                  <a:cubicBezTo>
                    <a:pt x="42" y="185"/>
                    <a:pt x="51" y="179"/>
                    <a:pt x="57" y="171"/>
                  </a:cubicBezTo>
                  <a:cubicBezTo>
                    <a:pt x="57" y="170"/>
                    <a:pt x="57" y="169"/>
                    <a:pt x="58" y="169"/>
                  </a:cubicBezTo>
                  <a:lnTo>
                    <a:pt x="110" y="63"/>
                  </a:lnTo>
                  <a:lnTo>
                    <a:pt x="857" y="374"/>
                  </a:lnTo>
                  <a:cubicBezTo>
                    <a:pt x="860" y="376"/>
                    <a:pt x="864" y="376"/>
                    <a:pt x="868" y="376"/>
                  </a:cubicBezTo>
                  <a:cubicBezTo>
                    <a:pt x="878" y="376"/>
                    <a:pt x="888" y="370"/>
                    <a:pt x="892" y="359"/>
                  </a:cubicBezTo>
                  <a:cubicBezTo>
                    <a:pt x="898" y="345"/>
                    <a:pt x="891" y="330"/>
                    <a:pt x="878" y="323"/>
                  </a:cubicBezTo>
                  <a:lnTo>
                    <a:pt x="107" y="2"/>
                  </a:lnTo>
                  <a:cubicBezTo>
                    <a:pt x="104" y="1"/>
                    <a:pt x="101" y="0"/>
                    <a:pt x="98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4" name="Google Shape;812;p22">
              <a:extLst>
                <a:ext uri="{FF2B5EF4-FFF2-40B4-BE49-F238E27FC236}">
                  <a16:creationId xmlns:a16="http://schemas.microsoft.com/office/drawing/2014/main" xmlns="" id="{B3AA854D-3DE2-4019-ADFD-CB94AB5BC1E2}"/>
                </a:ext>
              </a:extLst>
            </p:cNvPr>
            <p:cNvSpPr/>
            <p:nvPr/>
          </p:nvSpPr>
          <p:spPr>
            <a:xfrm>
              <a:off x="6354708" y="2554875"/>
              <a:ext cx="31007" cy="5583"/>
            </a:xfrm>
            <a:custGeom>
              <a:avLst/>
              <a:gdLst/>
              <a:ahLst/>
              <a:cxnLst/>
              <a:rect l="l" t="t" r="r" b="b"/>
              <a:pathLst>
                <a:path w="311" h="56" extrusionOk="0">
                  <a:moveTo>
                    <a:pt x="29" y="0"/>
                  </a:moveTo>
                  <a:cubicBezTo>
                    <a:pt x="13" y="0"/>
                    <a:pt x="1" y="12"/>
                    <a:pt x="1" y="27"/>
                  </a:cubicBezTo>
                  <a:cubicBezTo>
                    <a:pt x="1" y="43"/>
                    <a:pt x="13" y="55"/>
                    <a:pt x="29" y="55"/>
                  </a:cubicBezTo>
                  <a:lnTo>
                    <a:pt x="284" y="55"/>
                  </a:lnTo>
                  <a:cubicBezTo>
                    <a:pt x="298" y="55"/>
                    <a:pt x="311" y="43"/>
                    <a:pt x="311" y="27"/>
                  </a:cubicBezTo>
                  <a:cubicBezTo>
                    <a:pt x="311" y="12"/>
                    <a:pt x="298" y="0"/>
                    <a:pt x="284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5" name="Google Shape;813;p22">
              <a:extLst>
                <a:ext uri="{FF2B5EF4-FFF2-40B4-BE49-F238E27FC236}">
                  <a16:creationId xmlns:a16="http://schemas.microsoft.com/office/drawing/2014/main" xmlns="" id="{30FB1D2D-BDDE-4EC9-B89B-F5B617D44B25}"/>
                </a:ext>
              </a:extLst>
            </p:cNvPr>
            <p:cNvSpPr/>
            <p:nvPr/>
          </p:nvSpPr>
          <p:spPr>
            <a:xfrm>
              <a:off x="6303761" y="2554975"/>
              <a:ext cx="56332" cy="56432"/>
            </a:xfrm>
            <a:custGeom>
              <a:avLst/>
              <a:gdLst/>
              <a:ahLst/>
              <a:cxnLst/>
              <a:rect l="l" t="t" r="r" b="b"/>
              <a:pathLst>
                <a:path w="565" h="566" extrusionOk="0">
                  <a:moveTo>
                    <a:pt x="283" y="52"/>
                  </a:moveTo>
                  <a:cubicBezTo>
                    <a:pt x="410" y="52"/>
                    <a:pt x="513" y="155"/>
                    <a:pt x="513" y="283"/>
                  </a:cubicBezTo>
                  <a:cubicBezTo>
                    <a:pt x="513" y="411"/>
                    <a:pt x="410" y="514"/>
                    <a:pt x="283" y="514"/>
                  </a:cubicBezTo>
                  <a:cubicBezTo>
                    <a:pt x="155" y="514"/>
                    <a:pt x="52" y="411"/>
                    <a:pt x="52" y="283"/>
                  </a:cubicBezTo>
                  <a:cubicBezTo>
                    <a:pt x="52" y="155"/>
                    <a:pt x="155" y="52"/>
                    <a:pt x="283" y="52"/>
                  </a:cubicBezTo>
                  <a:close/>
                  <a:moveTo>
                    <a:pt x="283" y="1"/>
                  </a:moveTo>
                  <a:cubicBezTo>
                    <a:pt x="127" y="1"/>
                    <a:pt x="0" y="127"/>
                    <a:pt x="0" y="283"/>
                  </a:cubicBezTo>
                  <a:cubicBezTo>
                    <a:pt x="0" y="439"/>
                    <a:pt x="127" y="566"/>
                    <a:pt x="283" y="566"/>
                  </a:cubicBezTo>
                  <a:cubicBezTo>
                    <a:pt x="438" y="566"/>
                    <a:pt x="565" y="439"/>
                    <a:pt x="565" y="283"/>
                  </a:cubicBezTo>
                  <a:cubicBezTo>
                    <a:pt x="565" y="127"/>
                    <a:pt x="438" y="1"/>
                    <a:pt x="283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6" name="Google Shape;814;p22">
              <a:extLst>
                <a:ext uri="{FF2B5EF4-FFF2-40B4-BE49-F238E27FC236}">
                  <a16:creationId xmlns:a16="http://schemas.microsoft.com/office/drawing/2014/main" xmlns="" id="{F6DCC974-3466-4B71-A9EB-F2CA0315222A}"/>
                </a:ext>
              </a:extLst>
            </p:cNvPr>
            <p:cNvSpPr/>
            <p:nvPr/>
          </p:nvSpPr>
          <p:spPr>
            <a:xfrm>
              <a:off x="6373552" y="2563948"/>
              <a:ext cx="70490" cy="102494"/>
            </a:xfrm>
            <a:custGeom>
              <a:avLst/>
              <a:gdLst/>
              <a:ahLst/>
              <a:cxnLst/>
              <a:rect l="l" t="t" r="r" b="b"/>
              <a:pathLst>
                <a:path w="707" h="1028" extrusionOk="0">
                  <a:moveTo>
                    <a:pt x="353" y="64"/>
                  </a:moveTo>
                  <a:cubicBezTo>
                    <a:pt x="539" y="64"/>
                    <a:pt x="636" y="111"/>
                    <a:pt x="642" y="129"/>
                  </a:cubicBezTo>
                  <a:cubicBezTo>
                    <a:pt x="636" y="147"/>
                    <a:pt x="539" y="193"/>
                    <a:pt x="353" y="193"/>
                  </a:cubicBezTo>
                  <a:cubicBezTo>
                    <a:pt x="165" y="193"/>
                    <a:pt x="69" y="146"/>
                    <a:pt x="64" y="130"/>
                  </a:cubicBezTo>
                  <a:lnTo>
                    <a:pt x="64" y="129"/>
                  </a:lnTo>
                  <a:cubicBezTo>
                    <a:pt x="69" y="112"/>
                    <a:pt x="165" y="64"/>
                    <a:pt x="353" y="64"/>
                  </a:cubicBezTo>
                  <a:close/>
                  <a:moveTo>
                    <a:pt x="642" y="207"/>
                  </a:moveTo>
                  <a:lnTo>
                    <a:pt x="642" y="257"/>
                  </a:lnTo>
                  <a:cubicBezTo>
                    <a:pt x="637" y="275"/>
                    <a:pt x="541" y="321"/>
                    <a:pt x="353" y="321"/>
                  </a:cubicBezTo>
                  <a:cubicBezTo>
                    <a:pt x="165" y="321"/>
                    <a:pt x="69" y="275"/>
                    <a:pt x="64" y="257"/>
                  </a:cubicBezTo>
                  <a:lnTo>
                    <a:pt x="64" y="207"/>
                  </a:lnTo>
                  <a:cubicBezTo>
                    <a:pt x="132" y="241"/>
                    <a:pt x="246" y="257"/>
                    <a:pt x="353" y="257"/>
                  </a:cubicBezTo>
                  <a:cubicBezTo>
                    <a:pt x="461" y="257"/>
                    <a:pt x="574" y="241"/>
                    <a:pt x="642" y="207"/>
                  </a:cubicBezTo>
                  <a:close/>
                  <a:moveTo>
                    <a:pt x="642" y="335"/>
                  </a:moveTo>
                  <a:lnTo>
                    <a:pt x="642" y="385"/>
                  </a:lnTo>
                  <a:cubicBezTo>
                    <a:pt x="637" y="403"/>
                    <a:pt x="541" y="450"/>
                    <a:pt x="353" y="450"/>
                  </a:cubicBezTo>
                  <a:cubicBezTo>
                    <a:pt x="165" y="450"/>
                    <a:pt x="69" y="403"/>
                    <a:pt x="64" y="386"/>
                  </a:cubicBezTo>
                  <a:lnTo>
                    <a:pt x="64" y="335"/>
                  </a:lnTo>
                  <a:cubicBezTo>
                    <a:pt x="132" y="369"/>
                    <a:pt x="246" y="386"/>
                    <a:pt x="353" y="386"/>
                  </a:cubicBezTo>
                  <a:cubicBezTo>
                    <a:pt x="461" y="386"/>
                    <a:pt x="574" y="369"/>
                    <a:pt x="642" y="335"/>
                  </a:cubicBezTo>
                  <a:close/>
                  <a:moveTo>
                    <a:pt x="642" y="463"/>
                  </a:moveTo>
                  <a:lnTo>
                    <a:pt x="642" y="514"/>
                  </a:lnTo>
                  <a:cubicBezTo>
                    <a:pt x="637" y="532"/>
                    <a:pt x="541" y="579"/>
                    <a:pt x="353" y="579"/>
                  </a:cubicBezTo>
                  <a:cubicBezTo>
                    <a:pt x="165" y="579"/>
                    <a:pt x="69" y="532"/>
                    <a:pt x="64" y="514"/>
                  </a:cubicBezTo>
                  <a:lnTo>
                    <a:pt x="64" y="463"/>
                  </a:lnTo>
                  <a:cubicBezTo>
                    <a:pt x="132" y="498"/>
                    <a:pt x="246" y="514"/>
                    <a:pt x="353" y="514"/>
                  </a:cubicBezTo>
                  <a:cubicBezTo>
                    <a:pt x="461" y="514"/>
                    <a:pt x="574" y="498"/>
                    <a:pt x="642" y="463"/>
                  </a:cubicBezTo>
                  <a:close/>
                  <a:moveTo>
                    <a:pt x="642" y="592"/>
                  </a:moveTo>
                  <a:lnTo>
                    <a:pt x="642" y="642"/>
                  </a:lnTo>
                  <a:cubicBezTo>
                    <a:pt x="637" y="660"/>
                    <a:pt x="541" y="707"/>
                    <a:pt x="353" y="707"/>
                  </a:cubicBezTo>
                  <a:cubicBezTo>
                    <a:pt x="165" y="707"/>
                    <a:pt x="69" y="660"/>
                    <a:pt x="64" y="642"/>
                  </a:cubicBezTo>
                  <a:lnTo>
                    <a:pt x="64" y="592"/>
                  </a:lnTo>
                  <a:cubicBezTo>
                    <a:pt x="132" y="627"/>
                    <a:pt x="246" y="642"/>
                    <a:pt x="353" y="642"/>
                  </a:cubicBezTo>
                  <a:cubicBezTo>
                    <a:pt x="461" y="642"/>
                    <a:pt x="574" y="627"/>
                    <a:pt x="642" y="592"/>
                  </a:cubicBezTo>
                  <a:close/>
                  <a:moveTo>
                    <a:pt x="642" y="720"/>
                  </a:moveTo>
                  <a:lnTo>
                    <a:pt x="642" y="771"/>
                  </a:lnTo>
                  <a:cubicBezTo>
                    <a:pt x="637" y="788"/>
                    <a:pt x="541" y="835"/>
                    <a:pt x="353" y="835"/>
                  </a:cubicBezTo>
                  <a:cubicBezTo>
                    <a:pt x="165" y="835"/>
                    <a:pt x="69" y="788"/>
                    <a:pt x="64" y="771"/>
                  </a:cubicBezTo>
                  <a:lnTo>
                    <a:pt x="64" y="720"/>
                  </a:lnTo>
                  <a:cubicBezTo>
                    <a:pt x="132" y="755"/>
                    <a:pt x="246" y="771"/>
                    <a:pt x="353" y="771"/>
                  </a:cubicBezTo>
                  <a:cubicBezTo>
                    <a:pt x="461" y="771"/>
                    <a:pt x="574" y="755"/>
                    <a:pt x="642" y="720"/>
                  </a:cubicBezTo>
                  <a:close/>
                  <a:moveTo>
                    <a:pt x="642" y="848"/>
                  </a:moveTo>
                  <a:lnTo>
                    <a:pt x="642" y="899"/>
                  </a:lnTo>
                  <a:cubicBezTo>
                    <a:pt x="637" y="917"/>
                    <a:pt x="541" y="964"/>
                    <a:pt x="353" y="964"/>
                  </a:cubicBezTo>
                  <a:cubicBezTo>
                    <a:pt x="165" y="964"/>
                    <a:pt x="69" y="917"/>
                    <a:pt x="64" y="899"/>
                  </a:cubicBezTo>
                  <a:lnTo>
                    <a:pt x="64" y="848"/>
                  </a:lnTo>
                  <a:cubicBezTo>
                    <a:pt x="132" y="883"/>
                    <a:pt x="246" y="899"/>
                    <a:pt x="353" y="899"/>
                  </a:cubicBezTo>
                  <a:cubicBezTo>
                    <a:pt x="461" y="899"/>
                    <a:pt x="574" y="883"/>
                    <a:pt x="642" y="848"/>
                  </a:cubicBezTo>
                  <a:close/>
                  <a:moveTo>
                    <a:pt x="353" y="1"/>
                  </a:moveTo>
                  <a:cubicBezTo>
                    <a:pt x="183" y="1"/>
                    <a:pt x="0" y="41"/>
                    <a:pt x="0" y="129"/>
                  </a:cubicBezTo>
                  <a:lnTo>
                    <a:pt x="0" y="899"/>
                  </a:lnTo>
                  <a:cubicBezTo>
                    <a:pt x="0" y="987"/>
                    <a:pt x="183" y="1027"/>
                    <a:pt x="353" y="1027"/>
                  </a:cubicBezTo>
                  <a:cubicBezTo>
                    <a:pt x="523" y="1027"/>
                    <a:pt x="707" y="987"/>
                    <a:pt x="707" y="899"/>
                  </a:cubicBezTo>
                  <a:lnTo>
                    <a:pt x="707" y="129"/>
                  </a:lnTo>
                  <a:cubicBezTo>
                    <a:pt x="707" y="41"/>
                    <a:pt x="523" y="1"/>
                    <a:pt x="353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7" name="Google Shape;815;p22">
              <a:extLst>
                <a:ext uri="{FF2B5EF4-FFF2-40B4-BE49-F238E27FC236}">
                  <a16:creationId xmlns:a16="http://schemas.microsoft.com/office/drawing/2014/main" xmlns="" id="{3DFBCAA8-27EB-4ABF-B7B6-A4020887B9C5}"/>
                </a:ext>
              </a:extLst>
            </p:cNvPr>
            <p:cNvSpPr/>
            <p:nvPr/>
          </p:nvSpPr>
          <p:spPr>
            <a:xfrm>
              <a:off x="6265176" y="2554875"/>
              <a:ext cx="43969" cy="56731"/>
            </a:xfrm>
            <a:custGeom>
              <a:avLst/>
              <a:gdLst/>
              <a:ahLst/>
              <a:cxnLst/>
              <a:rect l="l" t="t" r="r" b="b"/>
              <a:pathLst>
                <a:path w="441" h="569" extrusionOk="0">
                  <a:moveTo>
                    <a:pt x="171" y="0"/>
                  </a:moveTo>
                  <a:cubicBezTo>
                    <a:pt x="164" y="0"/>
                    <a:pt x="157" y="3"/>
                    <a:pt x="152" y="8"/>
                  </a:cubicBezTo>
                  <a:lnTo>
                    <a:pt x="8" y="148"/>
                  </a:lnTo>
                  <a:cubicBezTo>
                    <a:pt x="3" y="154"/>
                    <a:pt x="0" y="162"/>
                    <a:pt x="0" y="170"/>
                  </a:cubicBezTo>
                  <a:lnTo>
                    <a:pt x="0" y="398"/>
                  </a:lnTo>
                  <a:cubicBezTo>
                    <a:pt x="0" y="405"/>
                    <a:pt x="3" y="412"/>
                    <a:pt x="7" y="416"/>
                  </a:cubicBezTo>
                  <a:lnTo>
                    <a:pt x="138" y="560"/>
                  </a:lnTo>
                  <a:cubicBezTo>
                    <a:pt x="143" y="565"/>
                    <a:pt x="150" y="568"/>
                    <a:pt x="158" y="568"/>
                  </a:cubicBezTo>
                  <a:lnTo>
                    <a:pt x="413" y="568"/>
                  </a:lnTo>
                  <a:cubicBezTo>
                    <a:pt x="428" y="568"/>
                    <a:pt x="440" y="556"/>
                    <a:pt x="440" y="541"/>
                  </a:cubicBezTo>
                  <a:cubicBezTo>
                    <a:pt x="440" y="526"/>
                    <a:pt x="428" y="513"/>
                    <a:pt x="413" y="513"/>
                  </a:cubicBezTo>
                  <a:lnTo>
                    <a:pt x="171" y="513"/>
                  </a:lnTo>
                  <a:lnTo>
                    <a:pt x="55" y="388"/>
                  </a:lnTo>
                  <a:lnTo>
                    <a:pt x="55" y="179"/>
                  </a:lnTo>
                  <a:lnTo>
                    <a:pt x="182" y="55"/>
                  </a:lnTo>
                  <a:lnTo>
                    <a:pt x="413" y="55"/>
                  </a:lnTo>
                  <a:cubicBezTo>
                    <a:pt x="428" y="55"/>
                    <a:pt x="440" y="43"/>
                    <a:pt x="440" y="27"/>
                  </a:cubicBezTo>
                  <a:cubicBezTo>
                    <a:pt x="440" y="12"/>
                    <a:pt x="428" y="0"/>
                    <a:pt x="413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8" name="Google Shape;816;p22">
              <a:extLst>
                <a:ext uri="{FF2B5EF4-FFF2-40B4-BE49-F238E27FC236}">
                  <a16:creationId xmlns:a16="http://schemas.microsoft.com/office/drawing/2014/main" xmlns="" id="{00A41AA8-9176-4048-8D1B-AC50660B00F4}"/>
                </a:ext>
              </a:extLst>
            </p:cNvPr>
            <p:cNvSpPr/>
            <p:nvPr/>
          </p:nvSpPr>
          <p:spPr>
            <a:xfrm>
              <a:off x="6322305" y="2568734"/>
              <a:ext cx="19243" cy="28914"/>
            </a:xfrm>
            <a:custGeom>
              <a:avLst/>
              <a:gdLst/>
              <a:ahLst/>
              <a:cxnLst/>
              <a:rect l="l" t="t" r="r" b="b"/>
              <a:pathLst>
                <a:path w="193" h="290" extrusionOk="0">
                  <a:moveTo>
                    <a:pt x="97" y="1"/>
                  </a:moveTo>
                  <a:cubicBezTo>
                    <a:pt x="79" y="1"/>
                    <a:pt x="65" y="15"/>
                    <a:pt x="65" y="33"/>
                  </a:cubicBezTo>
                  <a:lnTo>
                    <a:pt x="65" y="34"/>
                  </a:lnTo>
                  <a:cubicBezTo>
                    <a:pt x="29" y="39"/>
                    <a:pt x="2" y="69"/>
                    <a:pt x="0" y="105"/>
                  </a:cubicBezTo>
                  <a:cubicBezTo>
                    <a:pt x="3" y="146"/>
                    <a:pt x="36" y="177"/>
                    <a:pt x="76" y="177"/>
                  </a:cubicBezTo>
                  <a:cubicBezTo>
                    <a:pt x="77" y="177"/>
                    <a:pt x="79" y="177"/>
                    <a:pt x="80" y="177"/>
                  </a:cubicBezTo>
                  <a:lnTo>
                    <a:pt x="113" y="177"/>
                  </a:lnTo>
                  <a:cubicBezTo>
                    <a:pt x="123" y="177"/>
                    <a:pt x="129" y="183"/>
                    <a:pt x="129" y="185"/>
                  </a:cubicBezTo>
                  <a:cubicBezTo>
                    <a:pt x="129" y="188"/>
                    <a:pt x="123" y="194"/>
                    <a:pt x="113" y="194"/>
                  </a:cubicBezTo>
                  <a:lnTo>
                    <a:pt x="32" y="194"/>
                  </a:lnTo>
                  <a:cubicBezTo>
                    <a:pt x="15" y="194"/>
                    <a:pt x="0" y="208"/>
                    <a:pt x="0" y="225"/>
                  </a:cubicBezTo>
                  <a:cubicBezTo>
                    <a:pt x="0" y="243"/>
                    <a:pt x="15" y="257"/>
                    <a:pt x="32" y="257"/>
                  </a:cubicBezTo>
                  <a:lnTo>
                    <a:pt x="65" y="257"/>
                  </a:lnTo>
                  <a:cubicBezTo>
                    <a:pt x="65" y="275"/>
                    <a:pt x="79" y="290"/>
                    <a:pt x="97" y="290"/>
                  </a:cubicBezTo>
                  <a:cubicBezTo>
                    <a:pt x="114" y="290"/>
                    <a:pt x="129" y="275"/>
                    <a:pt x="129" y="257"/>
                  </a:cubicBezTo>
                  <a:lnTo>
                    <a:pt x="129" y="256"/>
                  </a:lnTo>
                  <a:cubicBezTo>
                    <a:pt x="164" y="251"/>
                    <a:pt x="191" y="222"/>
                    <a:pt x="193" y="186"/>
                  </a:cubicBezTo>
                  <a:cubicBezTo>
                    <a:pt x="190" y="145"/>
                    <a:pt x="157" y="113"/>
                    <a:pt x="117" y="113"/>
                  </a:cubicBezTo>
                  <a:cubicBezTo>
                    <a:pt x="116" y="113"/>
                    <a:pt x="114" y="113"/>
                    <a:pt x="113" y="113"/>
                  </a:cubicBezTo>
                  <a:lnTo>
                    <a:pt x="80" y="113"/>
                  </a:lnTo>
                  <a:cubicBezTo>
                    <a:pt x="71" y="113"/>
                    <a:pt x="65" y="107"/>
                    <a:pt x="65" y="105"/>
                  </a:cubicBezTo>
                  <a:cubicBezTo>
                    <a:pt x="65" y="103"/>
                    <a:pt x="71" y="97"/>
                    <a:pt x="80" y="97"/>
                  </a:cubicBezTo>
                  <a:lnTo>
                    <a:pt x="161" y="97"/>
                  </a:lnTo>
                  <a:cubicBezTo>
                    <a:pt x="179" y="97"/>
                    <a:pt x="193" y="83"/>
                    <a:pt x="193" y="65"/>
                  </a:cubicBezTo>
                  <a:cubicBezTo>
                    <a:pt x="193" y="47"/>
                    <a:pt x="179" y="33"/>
                    <a:pt x="161" y="33"/>
                  </a:cubicBezTo>
                  <a:lnTo>
                    <a:pt x="129" y="33"/>
                  </a:lnTo>
                  <a:cubicBezTo>
                    <a:pt x="129" y="15"/>
                    <a:pt x="114" y="1"/>
                    <a:pt x="97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29" name="Google Shape;737;p22">
            <a:extLst>
              <a:ext uri="{FF2B5EF4-FFF2-40B4-BE49-F238E27FC236}">
                <a16:creationId xmlns:a16="http://schemas.microsoft.com/office/drawing/2014/main" xmlns="" id="{DA736F8D-AF30-47EC-ACA8-C0530635F99B}"/>
              </a:ext>
            </a:extLst>
          </p:cNvPr>
          <p:cNvSpPr txBox="1"/>
          <p:nvPr/>
        </p:nvSpPr>
        <p:spPr>
          <a:xfrm>
            <a:off x="13547473" y="3574487"/>
            <a:ext cx="1541475" cy="51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Roboto"/>
                <a:cs typeface="Roboto"/>
                <a:sym typeface="Roboto"/>
              </a:rPr>
              <a:t>“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Roboto"/>
                <a:cs typeface="Roboto"/>
                <a:sym typeface="Roboto"/>
              </a:rPr>
              <a:t>Кластер стратегии развития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Roboto"/>
                <a:cs typeface="Roboto"/>
                <a:sym typeface="Roboto"/>
              </a:rPr>
              <a:t>”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xmlns="" id="{5F2459D8-4F6C-4332-B5F0-B472F1D3EEA5}"/>
              </a:ext>
            </a:extLst>
          </p:cNvPr>
          <p:cNvSpPr txBox="1"/>
          <p:nvPr/>
        </p:nvSpPr>
        <p:spPr>
          <a:xfrm>
            <a:off x="13203531" y="1538864"/>
            <a:ext cx="3913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ДУХОВНО-ПРОСВЕТИТЕЛЬСКАЯ РАБОТА</a:t>
            </a:r>
            <a:endParaRPr kumimoji="0" lang="uz-Cyrl-UZ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xmlns="" id="{D4B4C1EA-2C01-4650-81D3-EA55A83B47A8}"/>
              </a:ext>
            </a:extLst>
          </p:cNvPr>
          <p:cNvSpPr txBox="1"/>
          <p:nvPr/>
        </p:nvSpPr>
        <p:spPr>
          <a:xfrm>
            <a:off x="12639342" y="1810862"/>
            <a:ext cx="5051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“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Клубы и кружки, организуемые в рамках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/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“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СТРАТЕГИИ РАЗВИТИЯ КЛАСТЕРА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”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.</a:t>
            </a:r>
            <a:endParaRPr kumimoji="0" lang="uz-Cyrl-UZ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xmlns="" id="{4BDDA4AB-4FF7-4832-8405-56A22984868F}"/>
              </a:ext>
            </a:extLst>
          </p:cNvPr>
          <p:cNvSpPr txBox="1"/>
          <p:nvPr/>
        </p:nvSpPr>
        <p:spPr>
          <a:xfrm>
            <a:off x="13544943" y="5746943"/>
            <a:ext cx="4847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ПОВЫШЕНИЕ АКТИВНОСТИ СТУДЕНТОК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charset="0"/>
              <a:ea typeface="+mn-ea"/>
              <a:cs typeface="+mn-cs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xmlns="" id="{1175C718-D5FC-4F1F-AFEE-818DA6F84B1A}"/>
              </a:ext>
            </a:extLst>
          </p:cNvPr>
          <p:cNvSpPr/>
          <p:nvPr/>
        </p:nvSpPr>
        <p:spPr>
          <a:xfrm>
            <a:off x="12984300" y="6204703"/>
            <a:ext cx="2344597" cy="240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Crimson Pro Semi Bold" pitchFamily="34" charset="-122"/>
                <a:cs typeface="Crimson Pro Semi Bold" pitchFamily="34" charset="-120"/>
              </a:rPr>
              <a:t>“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Crimson Pro Semi Bold" pitchFamily="34" charset="-122"/>
                <a:cs typeface="Crimson Pro Semi Bold" pitchFamily="34" charset="-120"/>
              </a:rPr>
              <a:t>Ансамбль студенток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Crimson Pro Semi Bold" pitchFamily="34" charset="-122"/>
                <a:cs typeface="Crimson Pro Semi Bold" pitchFamily="34" charset="-120"/>
              </a:rPr>
              <a:t>”</a:t>
            </a:r>
            <a:endParaRPr kumimoji="0" lang="uz-Cyrl-UZ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Text 0">
            <a:extLst>
              <a:ext uri="{FF2B5EF4-FFF2-40B4-BE49-F238E27FC236}">
                <a16:creationId xmlns:a16="http://schemas.microsoft.com/office/drawing/2014/main" xmlns="" id="{9A4B9E74-C0C5-42BB-9413-72B644D4E502}"/>
              </a:ext>
            </a:extLst>
          </p:cNvPr>
          <p:cNvSpPr/>
          <p:nvPr/>
        </p:nvSpPr>
        <p:spPr>
          <a:xfrm>
            <a:off x="12978552" y="6614940"/>
            <a:ext cx="4847369" cy="240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Учреждение специального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нагрудного значка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“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Гордость университета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”</a:t>
            </a:r>
            <a:endParaRPr kumimoji="0" lang="uz-Cyrl-UZ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Text 0">
            <a:extLst>
              <a:ext uri="{FF2B5EF4-FFF2-40B4-BE49-F238E27FC236}">
                <a16:creationId xmlns:a16="http://schemas.microsoft.com/office/drawing/2014/main" xmlns="" id="{2C680DDB-AFE2-42F4-8935-A611F6F2EBDE}"/>
              </a:ext>
            </a:extLst>
          </p:cNvPr>
          <p:cNvSpPr/>
          <p:nvPr/>
        </p:nvSpPr>
        <p:spPr>
          <a:xfrm>
            <a:off x="13012128" y="7046320"/>
            <a:ext cx="4715530" cy="240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Кружок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“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Шитья и дизайна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”</a:t>
            </a:r>
            <a:endParaRPr kumimoji="0" lang="uz-Cyrl-UZ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Text 0">
            <a:extLst>
              <a:ext uri="{FF2B5EF4-FFF2-40B4-BE49-F238E27FC236}">
                <a16:creationId xmlns:a16="http://schemas.microsoft.com/office/drawing/2014/main" xmlns="" id="{8D50556A-3781-4D3D-9A73-1BBED6105FFC}"/>
              </a:ext>
            </a:extLst>
          </p:cNvPr>
          <p:cNvSpPr/>
          <p:nvPr/>
        </p:nvSpPr>
        <p:spPr>
          <a:xfrm>
            <a:off x="12996806" y="7506285"/>
            <a:ext cx="4823990" cy="240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Организация деятельности  клуба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“</a:t>
            </a:r>
            <a:r>
              <a:rPr kumimoji="0" lang="ru-RU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Последователти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 </a:t>
            </a:r>
            <a:r>
              <a:rPr kumimoji="0" lang="ru-RU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Зульфияхогним</a:t>
            </a:r>
            <a:endParaRPr kumimoji="0" lang="uz-Cyrl-UZ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xmlns="" id="{9CCE0E6A-517D-41D5-B4B8-1C5775CDA010}"/>
              </a:ext>
            </a:extLst>
          </p:cNvPr>
          <p:cNvSpPr txBox="1"/>
          <p:nvPr/>
        </p:nvSpPr>
        <p:spPr>
          <a:xfrm>
            <a:off x="12861144" y="8066600"/>
            <a:ext cx="49764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Оргазицая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 деятельности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“</a:t>
            </a:r>
            <a:r>
              <a:rPr kumimoji="0" lang="ru-R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Студенсческого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 медиа центра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charset="0"/>
                <a:ea typeface="+mn-ea"/>
                <a:cs typeface="+mn-cs"/>
              </a:rPr>
              <a:t>” </a:t>
            </a:r>
          </a:p>
        </p:txBody>
      </p:sp>
      <p:sp>
        <p:nvSpPr>
          <p:cNvPr id="138" name="Text 0">
            <a:extLst>
              <a:ext uri="{FF2B5EF4-FFF2-40B4-BE49-F238E27FC236}">
                <a16:creationId xmlns:a16="http://schemas.microsoft.com/office/drawing/2014/main" xmlns="" id="{5AE3D51E-AD4E-4C77-9634-2D73653B4435}"/>
              </a:ext>
            </a:extLst>
          </p:cNvPr>
          <p:cNvSpPr/>
          <p:nvPr/>
        </p:nvSpPr>
        <p:spPr>
          <a:xfrm>
            <a:off x="11864548" y="8827683"/>
            <a:ext cx="1409027" cy="240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rimson Pro Semi Bold" pitchFamily="34" charset="-122"/>
                <a:cs typeface="+mn-cs"/>
              </a:rPr>
              <a:t>Пресс-клуб студентов</a:t>
            </a:r>
            <a:endParaRPr kumimoji="0" lang="uz-Cyrl-UZ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Text 0">
            <a:extLst>
              <a:ext uri="{FF2B5EF4-FFF2-40B4-BE49-F238E27FC236}">
                <a16:creationId xmlns:a16="http://schemas.microsoft.com/office/drawing/2014/main" xmlns="" id="{EBC4EDD9-4065-4B85-8CFC-0E424114B243}"/>
              </a:ext>
            </a:extLst>
          </p:cNvPr>
          <p:cNvSpPr/>
          <p:nvPr/>
        </p:nvSpPr>
        <p:spPr>
          <a:xfrm>
            <a:off x="12064403" y="9558406"/>
            <a:ext cx="1251183" cy="19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Графический дизайн</a:t>
            </a:r>
          </a:p>
        </p:txBody>
      </p:sp>
      <p:sp>
        <p:nvSpPr>
          <p:cNvPr id="140" name="Text 0">
            <a:extLst>
              <a:ext uri="{FF2B5EF4-FFF2-40B4-BE49-F238E27FC236}">
                <a16:creationId xmlns:a16="http://schemas.microsoft.com/office/drawing/2014/main" xmlns="" id="{AAB3EE3C-8261-4DAE-9DF0-1DCE3D73EF57}"/>
              </a:ext>
            </a:extLst>
          </p:cNvPr>
          <p:cNvSpPr/>
          <p:nvPr/>
        </p:nvSpPr>
        <p:spPr>
          <a:xfrm>
            <a:off x="14643750" y="8834964"/>
            <a:ext cx="843837" cy="19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rimson Pro Semi Bold" pitchFamily="34" charset="-122"/>
                <a:cs typeface="+mn-cs"/>
              </a:rPr>
              <a:t>Телестудия</a:t>
            </a:r>
            <a:endParaRPr kumimoji="0" lang="uz-Cyrl-UZ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Text 0">
            <a:extLst>
              <a:ext uri="{FF2B5EF4-FFF2-40B4-BE49-F238E27FC236}">
                <a16:creationId xmlns:a16="http://schemas.microsoft.com/office/drawing/2014/main" xmlns="" id="{CB18E556-7D75-48FC-917F-607B90B79D02}"/>
              </a:ext>
            </a:extLst>
          </p:cNvPr>
          <p:cNvSpPr/>
          <p:nvPr/>
        </p:nvSpPr>
        <p:spPr>
          <a:xfrm>
            <a:off x="14630027" y="9558100"/>
            <a:ext cx="683337" cy="19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Медиапульт</a:t>
            </a:r>
          </a:p>
        </p:txBody>
      </p:sp>
      <p:sp>
        <p:nvSpPr>
          <p:cNvPr id="142" name="Text 0">
            <a:extLst>
              <a:ext uri="{FF2B5EF4-FFF2-40B4-BE49-F238E27FC236}">
                <a16:creationId xmlns:a16="http://schemas.microsoft.com/office/drawing/2014/main" xmlns="" id="{ABFA676E-4510-46C0-ABE4-339E8615CC11}"/>
              </a:ext>
            </a:extLst>
          </p:cNvPr>
          <p:cNvSpPr/>
          <p:nvPr/>
        </p:nvSpPr>
        <p:spPr>
          <a:xfrm>
            <a:off x="16566550" y="8807768"/>
            <a:ext cx="843837" cy="19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Мобилография</a:t>
            </a:r>
            <a:endParaRPr kumimoji="0" lang="uz-Cyrl-UZ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" name="Text 0">
            <a:extLst>
              <a:ext uri="{FF2B5EF4-FFF2-40B4-BE49-F238E27FC236}">
                <a16:creationId xmlns:a16="http://schemas.microsoft.com/office/drawing/2014/main" xmlns="" id="{C60B4A63-6652-4D58-A091-B4F8C1C836B6}"/>
              </a:ext>
            </a:extLst>
          </p:cNvPr>
          <p:cNvSpPr/>
          <p:nvPr/>
        </p:nvSpPr>
        <p:spPr>
          <a:xfrm>
            <a:off x="16582046" y="9562794"/>
            <a:ext cx="683337" cy="19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СММ менеджер</a:t>
            </a:r>
            <a:endParaRPr kumimoji="0" lang="uz-Cyrl-UZ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4" name="Рисунок 143" descr="Расширение бизнеса со сплошной заливкой">
            <a:extLst>
              <a:ext uri="{FF2B5EF4-FFF2-40B4-BE49-F238E27FC236}">
                <a16:creationId xmlns:a16="http://schemas.microsoft.com/office/drawing/2014/main" xmlns="" id="{BE8AB87C-A131-4A48-B88E-988E53A15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571028" y="6568096"/>
            <a:ext cx="292783" cy="292783"/>
          </a:xfrm>
          <a:prstGeom prst="rect">
            <a:avLst/>
          </a:prstGeom>
        </p:spPr>
      </p:pic>
      <p:pic>
        <p:nvPicPr>
          <p:cNvPr id="145" name="Рисунок 144" descr="Группа женщин со сплошной заливкой">
            <a:extLst>
              <a:ext uri="{FF2B5EF4-FFF2-40B4-BE49-F238E27FC236}">
                <a16:creationId xmlns:a16="http://schemas.microsoft.com/office/drawing/2014/main" xmlns="" id="{61AA1059-B735-4646-8559-0704F6FDA4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2597897" y="7474552"/>
            <a:ext cx="292783" cy="292783"/>
          </a:xfrm>
          <a:prstGeom prst="rect">
            <a:avLst/>
          </a:prstGeom>
        </p:spPr>
      </p:pic>
      <p:pic>
        <p:nvPicPr>
          <p:cNvPr id="146" name="Рисунок 145" descr="Маркетинг со сплошной заливкой">
            <a:extLst>
              <a:ext uri="{FF2B5EF4-FFF2-40B4-BE49-F238E27FC236}">
                <a16:creationId xmlns:a16="http://schemas.microsoft.com/office/drawing/2014/main" xmlns="" id="{2C240DAC-6B67-4F8B-85E1-01D8706592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4101798" y="9454268"/>
            <a:ext cx="339776" cy="339776"/>
          </a:xfrm>
          <a:prstGeom prst="rect">
            <a:avLst/>
          </a:prstGeom>
        </p:spPr>
      </p:pic>
      <p:pic>
        <p:nvPicPr>
          <p:cNvPr id="147" name="Рисунок 146" descr="Собрание со сплошной заливкой">
            <a:extLst>
              <a:ext uri="{FF2B5EF4-FFF2-40B4-BE49-F238E27FC236}">
                <a16:creationId xmlns:a16="http://schemas.microsoft.com/office/drawing/2014/main" xmlns="" id="{4E747502-4284-4547-B409-77D0640CF8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1430001" y="8717502"/>
            <a:ext cx="381868" cy="381868"/>
          </a:xfrm>
          <a:prstGeom prst="rect">
            <a:avLst/>
          </a:prstGeom>
        </p:spPr>
      </p:pic>
      <p:pic>
        <p:nvPicPr>
          <p:cNvPr id="148" name="Рисунок 147" descr="Музыкальные ноты со сплошной заливкой">
            <a:extLst>
              <a:ext uri="{FF2B5EF4-FFF2-40B4-BE49-F238E27FC236}">
                <a16:creationId xmlns:a16="http://schemas.microsoft.com/office/drawing/2014/main" xmlns="" id="{5B433DB4-587C-4513-931F-D3E59045AB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2568145" y="6094121"/>
            <a:ext cx="352288" cy="352288"/>
          </a:xfrm>
          <a:prstGeom prst="rect">
            <a:avLst/>
          </a:prstGeom>
        </p:spPr>
      </p:pic>
      <p:pic>
        <p:nvPicPr>
          <p:cNvPr id="149" name="Рисунок 148" descr="Пьедестал со сплошной заливкой">
            <a:extLst>
              <a:ext uri="{FF2B5EF4-FFF2-40B4-BE49-F238E27FC236}">
                <a16:creationId xmlns:a16="http://schemas.microsoft.com/office/drawing/2014/main" xmlns="" id="{EED30707-C165-4DC0-86D6-0AF3519DAF1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2589327" y="7002100"/>
            <a:ext cx="329033" cy="329033"/>
          </a:xfrm>
          <a:prstGeom prst="rect">
            <a:avLst/>
          </a:prstGeom>
        </p:spPr>
      </p:pic>
      <p:pic>
        <p:nvPicPr>
          <p:cNvPr id="150" name="Рисунок 149" descr="Преподаватель со сплошной заливкой">
            <a:extLst>
              <a:ext uri="{FF2B5EF4-FFF2-40B4-BE49-F238E27FC236}">
                <a16:creationId xmlns:a16="http://schemas.microsoft.com/office/drawing/2014/main" xmlns="" id="{BDDD6BF2-10D2-4B54-AB89-C76F7F9807D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11450573" y="9486900"/>
            <a:ext cx="319205" cy="319205"/>
          </a:xfrm>
          <a:prstGeom prst="rect">
            <a:avLst/>
          </a:prstGeom>
        </p:spPr>
      </p:pic>
      <p:pic>
        <p:nvPicPr>
          <p:cNvPr id="151" name="Рисунок 150">
            <a:extLst>
              <a:ext uri="{FF2B5EF4-FFF2-40B4-BE49-F238E27FC236}">
                <a16:creationId xmlns:a16="http://schemas.microsoft.com/office/drawing/2014/main" xmlns="" id="{82F13651-865A-458C-92EF-C351FEF19D97}"/>
              </a:ext>
            </a:extLst>
          </p:cNvPr>
          <p:cNvPicPr>
            <a:picLocks noChangeAspect="1"/>
          </p:cNvPicPr>
          <p:nvPr/>
        </p:nvPicPr>
        <p:blipFill>
          <a:blip r:embed="rId1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10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02967" y="8705931"/>
            <a:ext cx="339777" cy="339777"/>
          </a:xfrm>
          <a:prstGeom prst="rect">
            <a:avLst/>
          </a:prstGeom>
          <a:noFill/>
          <a:effectLst>
            <a:glow>
              <a:schemeClr val="bg1">
                <a:alpha val="40000"/>
              </a:schemeClr>
            </a:glow>
          </a:effectLst>
        </p:spPr>
      </p:pic>
      <p:pic>
        <p:nvPicPr>
          <p:cNvPr id="152" name="Picture 6" descr="Manager, person, profession, smm icon - Download on Iconfinder">
            <a:extLst>
              <a:ext uri="{FF2B5EF4-FFF2-40B4-BE49-F238E27FC236}">
                <a16:creationId xmlns:a16="http://schemas.microsoft.com/office/drawing/2014/main" xmlns="" id="{A34AAA17-0E06-4C61-8F4A-5E8AC8E63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8367" y="9504662"/>
            <a:ext cx="278435" cy="27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Рисунок 152" descr="Диаграмма с подъемом со сплошной заливкой">
            <a:extLst>
              <a:ext uri="{FF2B5EF4-FFF2-40B4-BE49-F238E27FC236}">
                <a16:creationId xmlns:a16="http://schemas.microsoft.com/office/drawing/2014/main" xmlns="" id="{F8A61731-326F-4935-B654-C39159D9741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23"/>
              </a:ext>
            </a:extLst>
          </a:blip>
          <a:stretch>
            <a:fillRect/>
          </a:stretch>
        </p:blipFill>
        <p:spPr>
          <a:xfrm>
            <a:off x="6888915" y="6781664"/>
            <a:ext cx="466060" cy="466060"/>
          </a:xfrm>
          <a:prstGeom prst="rect">
            <a:avLst/>
          </a:prstGeom>
        </p:spPr>
      </p:pic>
      <p:pic>
        <p:nvPicPr>
          <p:cNvPr id="154" name="Рисунок 153" descr="Расширение бизнеса со сплошной заливкой">
            <a:extLst>
              <a:ext uri="{FF2B5EF4-FFF2-40B4-BE49-F238E27FC236}">
                <a16:creationId xmlns:a16="http://schemas.microsoft.com/office/drawing/2014/main" xmlns="" id="{DDA2708E-A880-49F9-BF91-455EB538EEA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xmlns="" r:embed="rId25"/>
              </a:ext>
            </a:extLst>
          </a:blip>
          <a:stretch>
            <a:fillRect/>
          </a:stretch>
        </p:blipFill>
        <p:spPr>
          <a:xfrm>
            <a:off x="543006" y="7276341"/>
            <a:ext cx="677581" cy="677581"/>
          </a:xfrm>
          <a:prstGeom prst="rect">
            <a:avLst/>
          </a:prstGeom>
        </p:spPr>
      </p:pic>
      <p:pic>
        <p:nvPicPr>
          <p:cNvPr id="155" name="Рисунок 154" descr="Школьный класс со сплошной заливкой">
            <a:extLst>
              <a:ext uri="{FF2B5EF4-FFF2-40B4-BE49-F238E27FC236}">
                <a16:creationId xmlns:a16="http://schemas.microsoft.com/office/drawing/2014/main" xmlns="" id="{BAABFB42-D1AD-4DF2-B3F8-136F14C4463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xmlns="" r:embed="rId27"/>
              </a:ext>
            </a:extLst>
          </a:blip>
          <a:stretch>
            <a:fillRect/>
          </a:stretch>
        </p:blipFill>
        <p:spPr>
          <a:xfrm>
            <a:off x="789382" y="1388288"/>
            <a:ext cx="519460" cy="519460"/>
          </a:xfrm>
          <a:prstGeom prst="rect">
            <a:avLst/>
          </a:prstGeom>
        </p:spPr>
      </p:pic>
      <p:pic>
        <p:nvPicPr>
          <p:cNvPr id="156" name="Рисунок 155" descr="Танец со сплошной заливкой">
            <a:extLst>
              <a:ext uri="{FF2B5EF4-FFF2-40B4-BE49-F238E27FC236}">
                <a16:creationId xmlns:a16="http://schemas.microsoft.com/office/drawing/2014/main" xmlns="" id="{350EFF04-E3F4-47B5-A773-D2D3445C7C1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xmlns="" r:embed="rId29"/>
              </a:ext>
            </a:extLst>
          </a:blip>
          <a:stretch>
            <a:fillRect/>
          </a:stretch>
        </p:blipFill>
        <p:spPr>
          <a:xfrm flipH="1">
            <a:off x="652248" y="3358535"/>
            <a:ext cx="592035" cy="592035"/>
          </a:xfrm>
          <a:prstGeom prst="rect">
            <a:avLst/>
          </a:prstGeom>
        </p:spPr>
      </p:pic>
      <p:pic>
        <p:nvPicPr>
          <p:cNvPr id="157" name="Рисунок 156" descr="Группа женщин со сплошной заливкой">
            <a:extLst>
              <a:ext uri="{FF2B5EF4-FFF2-40B4-BE49-F238E27FC236}">
                <a16:creationId xmlns:a16="http://schemas.microsoft.com/office/drawing/2014/main" xmlns="" id="{361816CE-FBE4-40C4-9364-BF74BD2C13F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xmlns="" r:embed="rId31"/>
              </a:ext>
            </a:extLst>
          </a:blip>
          <a:stretch>
            <a:fillRect/>
          </a:stretch>
        </p:blipFill>
        <p:spPr>
          <a:xfrm>
            <a:off x="652248" y="5478754"/>
            <a:ext cx="527565" cy="519460"/>
          </a:xfrm>
          <a:prstGeom prst="rect">
            <a:avLst/>
          </a:prstGeom>
        </p:spPr>
      </p:pic>
      <p:pic>
        <p:nvPicPr>
          <p:cNvPr id="158" name="Рисунок 157" descr="Презентация с круговой диаграммой со сплошной заливкой">
            <a:extLst>
              <a:ext uri="{FF2B5EF4-FFF2-40B4-BE49-F238E27FC236}">
                <a16:creationId xmlns:a16="http://schemas.microsoft.com/office/drawing/2014/main" xmlns="" id="{A6E82D6C-D20C-464F-B813-AF20154B47C0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xmlns="" r:embed="rId33"/>
              </a:ext>
            </a:extLst>
          </a:blip>
          <a:stretch>
            <a:fillRect/>
          </a:stretch>
        </p:blipFill>
        <p:spPr>
          <a:xfrm>
            <a:off x="12883270" y="1461022"/>
            <a:ext cx="519459" cy="519459"/>
          </a:xfrm>
          <a:prstGeom prst="rect">
            <a:avLst/>
          </a:prstGeom>
        </p:spPr>
      </p:pic>
      <p:pic>
        <p:nvPicPr>
          <p:cNvPr id="159" name="Рисунок 158" descr="Футбольный мяч со сплошной заливкой">
            <a:extLst>
              <a:ext uri="{FF2B5EF4-FFF2-40B4-BE49-F238E27FC236}">
                <a16:creationId xmlns:a16="http://schemas.microsoft.com/office/drawing/2014/main" xmlns="" id="{A339FA93-A080-427C-986D-D5B2DBFF715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xmlns="" r:embed="rId35"/>
              </a:ext>
            </a:extLst>
          </a:blip>
          <a:stretch>
            <a:fillRect/>
          </a:stretch>
        </p:blipFill>
        <p:spPr>
          <a:xfrm>
            <a:off x="6630463" y="1423060"/>
            <a:ext cx="519460" cy="519460"/>
          </a:xfrm>
          <a:prstGeom prst="rect">
            <a:avLst/>
          </a:prstGeom>
        </p:spPr>
      </p:pic>
      <p:pic>
        <p:nvPicPr>
          <p:cNvPr id="160" name="Рисунок 159" descr="Смартфон со сплошной заливкой">
            <a:extLst>
              <a:ext uri="{FF2B5EF4-FFF2-40B4-BE49-F238E27FC236}">
                <a16:creationId xmlns:a16="http://schemas.microsoft.com/office/drawing/2014/main" xmlns="" id="{D05E857B-C716-43EF-BDFB-E9D560923504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96DAC541-7B7A-43D3-8B79-37D633B846F1}">
                <asvg:svgBlip xmlns:asvg="http://schemas.microsoft.com/office/drawing/2016/SVG/main" xmlns="" r:embed="rId37"/>
              </a:ext>
            </a:extLst>
          </a:blip>
          <a:srcRect l="19190" r="16313"/>
          <a:stretch/>
        </p:blipFill>
        <p:spPr>
          <a:xfrm>
            <a:off x="16148367" y="8759601"/>
            <a:ext cx="200435" cy="310770"/>
          </a:xfrm>
          <a:prstGeom prst="rect">
            <a:avLst/>
          </a:prstGeom>
        </p:spPr>
      </p:pic>
      <p:sp>
        <p:nvSpPr>
          <p:cNvPr id="161" name="AutoShape 2">
            <a:extLst>
              <a:ext uri="{FF2B5EF4-FFF2-40B4-BE49-F238E27FC236}">
                <a16:creationId xmlns:a16="http://schemas.microsoft.com/office/drawing/2014/main" xmlns="" id="{1528C03D-8065-4F4B-8C03-F52EC047BC02}"/>
              </a:ext>
            </a:extLst>
          </p:cNvPr>
          <p:cNvSpPr/>
          <p:nvPr/>
        </p:nvSpPr>
        <p:spPr>
          <a:xfrm>
            <a:off x="6309965" y="2900811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2" name="AutoShape 2">
            <a:extLst>
              <a:ext uri="{FF2B5EF4-FFF2-40B4-BE49-F238E27FC236}">
                <a16:creationId xmlns:a16="http://schemas.microsoft.com/office/drawing/2014/main" xmlns="" id="{0ED83AF6-0509-4989-8743-752EB0F77F93}"/>
              </a:ext>
            </a:extLst>
          </p:cNvPr>
          <p:cNvSpPr/>
          <p:nvPr/>
        </p:nvSpPr>
        <p:spPr>
          <a:xfrm>
            <a:off x="12344400" y="2919806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7">
            <a:extLst>
              <a:ext uri="{FF2B5EF4-FFF2-40B4-BE49-F238E27FC236}">
                <a16:creationId xmlns:a16="http://schemas.microsoft.com/office/drawing/2014/main" xmlns="" id="{927E3E1E-3981-4DF5-BBB2-5CDDBAD9B6CA}"/>
              </a:ext>
            </a:extLst>
          </p:cNvPr>
          <p:cNvSpPr/>
          <p:nvPr/>
        </p:nvSpPr>
        <p:spPr>
          <a:xfrm rot="5113615">
            <a:off x="-5193126" y="3168351"/>
            <a:ext cx="7086596" cy="7086596"/>
          </a:xfrm>
          <a:custGeom>
            <a:avLst/>
            <a:gdLst/>
            <a:ahLst/>
            <a:cxnLst/>
            <a:rect l="l" t="t" r="r" b="b"/>
            <a:pathLst>
              <a:path w="7086596" h="7086596">
                <a:moveTo>
                  <a:pt x="0" y="0"/>
                </a:moveTo>
                <a:lnTo>
                  <a:pt x="7086596" y="0"/>
                </a:lnTo>
                <a:lnTo>
                  <a:pt x="7086596" y="7086596"/>
                </a:lnTo>
                <a:lnTo>
                  <a:pt x="0" y="7086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xmlns="" id="{18A9ACDA-0D5F-43A1-A43D-49C108CE1A83}"/>
              </a:ext>
            </a:extLst>
          </p:cNvPr>
          <p:cNvSpPr/>
          <p:nvPr/>
        </p:nvSpPr>
        <p:spPr>
          <a:xfrm rot="10436461">
            <a:off x="14152110" y="-4118246"/>
            <a:ext cx="6566182" cy="6566182"/>
          </a:xfrm>
          <a:custGeom>
            <a:avLst/>
            <a:gdLst/>
            <a:ahLst/>
            <a:cxnLst/>
            <a:rect l="l" t="t" r="r" b="b"/>
            <a:pathLst>
              <a:path w="6566182" h="6566182">
                <a:moveTo>
                  <a:pt x="0" y="0"/>
                </a:moveTo>
                <a:lnTo>
                  <a:pt x="6566182" y="0"/>
                </a:lnTo>
                <a:lnTo>
                  <a:pt x="6566182" y="6566183"/>
                </a:lnTo>
                <a:lnTo>
                  <a:pt x="0" y="65661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xmlns="" id="{4A478BD6-224B-435F-B052-1A9FA5474C1E}"/>
              </a:ext>
            </a:extLst>
          </p:cNvPr>
          <p:cNvSpPr/>
          <p:nvPr/>
        </p:nvSpPr>
        <p:spPr>
          <a:xfrm>
            <a:off x="6737291" y="2654564"/>
            <a:ext cx="1320170" cy="1223630"/>
          </a:xfrm>
          <a:custGeom>
            <a:avLst/>
            <a:gdLst/>
            <a:ahLst/>
            <a:cxnLst/>
            <a:rect l="l" t="t" r="r" b="b"/>
            <a:pathLst>
              <a:path w="933584" h="933584">
                <a:moveTo>
                  <a:pt x="0" y="0"/>
                </a:moveTo>
                <a:lnTo>
                  <a:pt x="933584" y="0"/>
                </a:lnTo>
                <a:lnTo>
                  <a:pt x="933584" y="933584"/>
                </a:lnTo>
                <a:lnTo>
                  <a:pt x="0" y="933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059" name="Freeform 8">
            <a:extLst>
              <a:ext uri="{FF2B5EF4-FFF2-40B4-BE49-F238E27FC236}">
                <a16:creationId xmlns:a16="http://schemas.microsoft.com/office/drawing/2014/main" xmlns="" id="{A4C67A5C-AE2F-4BC8-B163-FAA376E6AA7B}"/>
              </a:ext>
            </a:extLst>
          </p:cNvPr>
          <p:cNvSpPr>
            <a:spLocks/>
          </p:cNvSpPr>
          <p:nvPr/>
        </p:nvSpPr>
        <p:spPr bwMode="auto">
          <a:xfrm>
            <a:off x="7113588" y="2946400"/>
            <a:ext cx="612775" cy="655638"/>
          </a:xfrm>
          <a:custGeom>
            <a:avLst/>
            <a:gdLst>
              <a:gd name="T0" fmla="*/ 0 w 434033"/>
              <a:gd name="T1" fmla="*/ 0 h 500652"/>
              <a:gd name="T2" fmla="*/ 434034 w 434033"/>
              <a:gd name="T3" fmla="*/ 0 h 500652"/>
              <a:gd name="T4" fmla="*/ 434034 w 434033"/>
              <a:gd name="T5" fmla="*/ 500652 h 500652"/>
              <a:gd name="T6" fmla="*/ 0 w 434033"/>
              <a:gd name="T7" fmla="*/ 500652 h 500652"/>
              <a:gd name="T8" fmla="*/ 0 w 434033"/>
              <a:gd name="T9" fmla="*/ 0 h 500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4033" h="500652">
                <a:moveTo>
                  <a:pt x="0" y="0"/>
                </a:moveTo>
                <a:lnTo>
                  <a:pt x="434034" y="0"/>
                </a:lnTo>
                <a:lnTo>
                  <a:pt x="434034" y="500652"/>
                </a:lnTo>
                <a:lnTo>
                  <a:pt x="0" y="50065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0" name="Freeform 34">
            <a:extLst>
              <a:ext uri="{FF2B5EF4-FFF2-40B4-BE49-F238E27FC236}">
                <a16:creationId xmlns:a16="http://schemas.microsoft.com/office/drawing/2014/main" xmlns="" id="{9FD5EA59-AB0D-4519-98E8-7EF4B63F28B0}"/>
              </a:ext>
            </a:extLst>
          </p:cNvPr>
          <p:cNvSpPr/>
          <p:nvPr/>
        </p:nvSpPr>
        <p:spPr>
          <a:xfrm>
            <a:off x="10092470" y="2487052"/>
            <a:ext cx="1440000" cy="1440000"/>
          </a:xfrm>
          <a:custGeom>
            <a:avLst/>
            <a:gdLst/>
            <a:ahLst/>
            <a:cxnLst/>
            <a:rect l="l" t="t" r="r" b="b"/>
            <a:pathLst>
              <a:path w="729587" h="722954">
                <a:moveTo>
                  <a:pt x="0" y="0"/>
                </a:moveTo>
                <a:lnTo>
                  <a:pt x="729587" y="0"/>
                </a:lnTo>
                <a:lnTo>
                  <a:pt x="729587" y="722954"/>
                </a:lnTo>
                <a:lnTo>
                  <a:pt x="0" y="7229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1" name="Freeform 35">
            <a:extLst>
              <a:ext uri="{FF2B5EF4-FFF2-40B4-BE49-F238E27FC236}">
                <a16:creationId xmlns:a16="http://schemas.microsoft.com/office/drawing/2014/main" xmlns="" id="{7AF1915E-2524-447F-A186-53E04D6A6709}"/>
              </a:ext>
            </a:extLst>
          </p:cNvPr>
          <p:cNvSpPr/>
          <p:nvPr/>
        </p:nvSpPr>
        <p:spPr>
          <a:xfrm>
            <a:off x="15925800" y="4008763"/>
            <a:ext cx="250177" cy="518501"/>
          </a:xfrm>
          <a:custGeom>
            <a:avLst/>
            <a:gdLst/>
            <a:ahLst/>
            <a:cxnLst/>
            <a:rect l="l" t="t" r="r" b="b"/>
            <a:pathLst>
              <a:path w="170125" h="352590">
                <a:moveTo>
                  <a:pt x="0" y="0"/>
                </a:moveTo>
                <a:lnTo>
                  <a:pt x="170125" y="0"/>
                </a:lnTo>
                <a:lnTo>
                  <a:pt x="170125" y="352590"/>
                </a:lnTo>
                <a:lnTo>
                  <a:pt x="0" y="3525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2" name="Freeform 36">
            <a:extLst>
              <a:ext uri="{FF2B5EF4-FFF2-40B4-BE49-F238E27FC236}">
                <a16:creationId xmlns:a16="http://schemas.microsoft.com/office/drawing/2014/main" xmlns="" id="{1F327690-59E9-4B1E-9E4A-BEE2ECC4D554}"/>
              </a:ext>
            </a:extLst>
          </p:cNvPr>
          <p:cNvSpPr/>
          <p:nvPr/>
        </p:nvSpPr>
        <p:spPr>
          <a:xfrm>
            <a:off x="14508731" y="4000500"/>
            <a:ext cx="274069" cy="526763"/>
          </a:xfrm>
          <a:custGeom>
            <a:avLst/>
            <a:gdLst/>
            <a:ahLst/>
            <a:cxnLst/>
            <a:rect l="l" t="t" r="r" b="b"/>
            <a:pathLst>
              <a:path w="186372" h="343544">
                <a:moveTo>
                  <a:pt x="0" y="0"/>
                </a:moveTo>
                <a:lnTo>
                  <a:pt x="186373" y="0"/>
                </a:lnTo>
                <a:lnTo>
                  <a:pt x="186373" y="343543"/>
                </a:lnTo>
                <a:lnTo>
                  <a:pt x="0" y="3435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69" name="TextBox 41">
            <a:extLst>
              <a:ext uri="{FF2B5EF4-FFF2-40B4-BE49-F238E27FC236}">
                <a16:creationId xmlns:a16="http://schemas.microsoft.com/office/drawing/2014/main" xmlns="" id="{81C1D743-531B-457F-A987-7C76C6768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825" y="868363"/>
            <a:ext cx="8388350" cy="377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Lora Bold" panose="020B0604020202020204" charset="-52"/>
              </a:rPr>
              <a:t>ОБЩИЙ ПОКАЗАТЕЛЬ</a:t>
            </a:r>
            <a:endParaRPr kumimoji="0" lang="en-US" altLang="ru-RU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Lora Bold" panose="020B0604020202020204" charset="-52"/>
            </a:endParaRPr>
          </a:p>
        </p:txBody>
      </p:sp>
      <p:sp>
        <p:nvSpPr>
          <p:cNvPr id="2070" name="TextBox 42">
            <a:extLst>
              <a:ext uri="{FF2B5EF4-FFF2-40B4-BE49-F238E27FC236}">
                <a16:creationId xmlns:a16="http://schemas.microsoft.com/office/drawing/2014/main" xmlns="" id="{EC42BBC2-F404-47FE-BC24-85060A60F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5113" y="2017713"/>
            <a:ext cx="27622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1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+mn-cs"/>
                <a:sym typeface="Lora Bold" panose="020B0604020202020204" charset="-52"/>
              </a:rPr>
              <a:t>ОСНОВНЫЕ ПОКАЗАТЕЛИ</a:t>
            </a:r>
            <a:endParaRPr kumimoji="0" lang="en-US" altLang="ru-RU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+mn-cs"/>
              <a:sym typeface="Lora Bold" panose="020B0604020202020204" charset="-52"/>
            </a:endParaRPr>
          </a:p>
        </p:txBody>
      </p:sp>
      <p:sp>
        <p:nvSpPr>
          <p:cNvPr id="2071" name="TextBox 43">
            <a:extLst>
              <a:ext uri="{FF2B5EF4-FFF2-40B4-BE49-F238E27FC236}">
                <a16:creationId xmlns:a16="http://schemas.microsoft.com/office/drawing/2014/main" xmlns="" id="{B19A471A-1625-40EC-9889-4BF454D63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0" y="1952625"/>
            <a:ext cx="3890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1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УЧЕБНО-МЕТОДИЧЕСКОЕ ОБЕСПИЧЕНИЕ</a:t>
            </a:r>
            <a:endParaRPr kumimoji="0" lang="en-US" altLang="ru-RU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2072" name="TextBox 44">
            <a:extLst>
              <a:ext uri="{FF2B5EF4-FFF2-40B4-BE49-F238E27FC236}">
                <a16:creationId xmlns:a16="http://schemas.microsoft.com/office/drawing/2014/main" xmlns="" id="{D0AE09E0-70B1-4E7E-8448-A9436E48F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3313" y="1876425"/>
            <a:ext cx="74612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1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+mn-cs"/>
                <a:sym typeface="Lora Bold" panose="020B0604020202020204" charset="-52"/>
              </a:rPr>
              <a:t>НАУЧНЫЙ ПОТЕНЦИАЛ ПРОФЕССОРСКО-ПРЕПОДАВАТЕЛЬСКОГО СОСТАВА</a:t>
            </a:r>
            <a:endParaRPr kumimoji="0" lang="en-US" altLang="ru-RU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+mn-cs"/>
              <a:sym typeface="Lora Bold" panose="020B0604020202020204" charset="-52"/>
            </a:endParaRPr>
          </a:p>
        </p:txBody>
      </p:sp>
      <p:sp>
        <p:nvSpPr>
          <p:cNvPr id="2073" name="TextBox 45">
            <a:extLst>
              <a:ext uri="{FF2B5EF4-FFF2-40B4-BE49-F238E27FC236}">
                <a16:creationId xmlns:a16="http://schemas.microsoft.com/office/drawing/2014/main" xmlns="" id="{8E16E6EE-007E-4FC1-BC6A-EAAC4EBA8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2487613"/>
            <a:ext cx="2865437" cy="19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209550" indent="-1047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09550" marR="0" lvl="1" indent="-104775" algn="l" defTabSz="914400" rtl="0" eaLnBrk="1" fontAlgn="base" latinLnBrk="0" hangingPunct="1">
              <a:lnSpc>
                <a:spcPts val="13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Количество факультетов</a:t>
            </a:r>
            <a:endParaRPr kumimoji="0" lang="en-US" altLang="ru-RU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2074" name="TextBox 46">
            <a:extLst>
              <a:ext uri="{FF2B5EF4-FFF2-40B4-BE49-F238E27FC236}">
                <a16:creationId xmlns:a16="http://schemas.microsoft.com/office/drawing/2014/main" xmlns="" id="{F2DE0DBE-5EA5-4769-97C2-EDF138E86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2860626"/>
            <a:ext cx="2947987" cy="190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209550" indent="-1047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09550" marR="0" lvl="1" indent="-104775" algn="l" defTabSz="914400" rtl="0" eaLnBrk="1" fontAlgn="base" latinLnBrk="0" hangingPunct="1">
              <a:lnSpc>
                <a:spcPts val="13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Количество кафедр</a:t>
            </a:r>
            <a:endParaRPr kumimoji="0" lang="en-US" altLang="ru-RU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2075" name="TextBox 47">
            <a:extLst>
              <a:ext uri="{FF2B5EF4-FFF2-40B4-BE49-F238E27FC236}">
                <a16:creationId xmlns:a16="http://schemas.microsoft.com/office/drawing/2014/main" xmlns="" id="{E37CC5BE-66B8-471C-B583-B75F69A09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3233639"/>
            <a:ext cx="3133725" cy="37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209550" indent="-1047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09550" marR="0" lvl="1" indent="-104775" algn="l" defTabSz="914400" rtl="0" eaLnBrk="1" fontAlgn="base" latinLnBrk="0" hangingPunct="1">
              <a:lnSpc>
                <a:spcPts val="13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Направление образования бакалавриата </a:t>
            </a:r>
            <a:endParaRPr kumimoji="0" lang="en-US" altLang="ru-RU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2076" name="TextBox 48">
            <a:extLst>
              <a:ext uri="{FF2B5EF4-FFF2-40B4-BE49-F238E27FC236}">
                <a16:creationId xmlns:a16="http://schemas.microsoft.com/office/drawing/2014/main" xmlns="" id="{FC4C423A-D706-4F32-A541-0720F67F0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3786188"/>
            <a:ext cx="29352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209550" indent="-1047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09550" marR="0" lvl="1" indent="-104775" algn="l" defTabSz="914400" rtl="0" eaLnBrk="1" fontAlgn="base" latinLnBrk="0" hangingPunct="1">
              <a:lnSpc>
                <a:spcPts val="13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Специальность магистратуры</a:t>
            </a:r>
            <a:endParaRPr kumimoji="0" lang="en-US" altLang="ru-RU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2077" name="TextBox 49">
            <a:extLst>
              <a:ext uri="{FF2B5EF4-FFF2-40B4-BE49-F238E27FC236}">
                <a16:creationId xmlns:a16="http://schemas.microsoft.com/office/drawing/2014/main" xmlns="" id="{F8C80D3D-5652-484C-BB69-FF1BF8F42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0736" y="2505075"/>
            <a:ext cx="730250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3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3 </a:t>
            </a:r>
          </a:p>
        </p:txBody>
      </p:sp>
      <p:sp>
        <p:nvSpPr>
          <p:cNvPr id="2078" name="TextBox 50">
            <a:extLst>
              <a:ext uri="{FF2B5EF4-FFF2-40B4-BE49-F238E27FC236}">
                <a16:creationId xmlns:a16="http://schemas.microsoft.com/office/drawing/2014/main" xmlns="" id="{BFEE6104-E159-46F7-B3F9-20B2FD498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642" y="2887390"/>
            <a:ext cx="1020763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3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16 </a:t>
            </a:r>
          </a:p>
        </p:txBody>
      </p:sp>
      <p:sp>
        <p:nvSpPr>
          <p:cNvPr id="2079" name="TextBox 51">
            <a:extLst>
              <a:ext uri="{FF2B5EF4-FFF2-40B4-BE49-F238E27FC236}">
                <a16:creationId xmlns:a16="http://schemas.microsoft.com/office/drawing/2014/main" xmlns="" id="{7FF53318-E6A0-4B21-BF42-0EC32DCDB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0787" y="3274219"/>
            <a:ext cx="91757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3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28 </a:t>
            </a:r>
          </a:p>
        </p:txBody>
      </p:sp>
      <p:sp>
        <p:nvSpPr>
          <p:cNvPr id="2080" name="TextBox 52">
            <a:extLst>
              <a:ext uri="{FF2B5EF4-FFF2-40B4-BE49-F238E27FC236}">
                <a16:creationId xmlns:a16="http://schemas.microsoft.com/office/drawing/2014/main" xmlns="" id="{605B2806-C42C-4755-B667-222442E53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0728" y="3881190"/>
            <a:ext cx="1095375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3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13 </a:t>
            </a:r>
          </a:p>
        </p:txBody>
      </p:sp>
      <p:sp>
        <p:nvSpPr>
          <p:cNvPr id="2081" name="TextBox 53">
            <a:extLst>
              <a:ext uri="{FF2B5EF4-FFF2-40B4-BE49-F238E27FC236}">
                <a16:creationId xmlns:a16="http://schemas.microsoft.com/office/drawing/2014/main" xmlns="" id="{908D6E31-E30D-4026-BC91-FD8754D4F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75" y="3511550"/>
            <a:ext cx="1995488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3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Монография</a:t>
            </a:r>
            <a:endParaRPr kumimoji="0" lang="en-US" altLang="ru-RU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2082" name="TextBox 54">
            <a:extLst>
              <a:ext uri="{FF2B5EF4-FFF2-40B4-BE49-F238E27FC236}">
                <a16:creationId xmlns:a16="http://schemas.microsoft.com/office/drawing/2014/main" xmlns="" id="{8E1BCF96-F187-4BEA-9A38-A7E097DC3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6588" y="2590800"/>
            <a:ext cx="25241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3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Учебное </a:t>
            </a:r>
          </a:p>
          <a:p>
            <a:pPr marL="0" marR="0" lvl="0" indent="0" algn="l" defTabSz="914400" rtl="0" eaLnBrk="1" fontAlgn="base" latinLnBrk="0" hangingPunct="1">
              <a:lnSpc>
                <a:spcPts val="13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пособие</a:t>
            </a:r>
            <a:r>
              <a:rPr kumimoji="0" lang="en-US" altLang="ru-RU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 </a:t>
            </a:r>
          </a:p>
        </p:txBody>
      </p:sp>
      <p:sp>
        <p:nvSpPr>
          <p:cNvPr id="2083" name="TextBox 55">
            <a:extLst>
              <a:ext uri="{FF2B5EF4-FFF2-40B4-BE49-F238E27FC236}">
                <a16:creationId xmlns:a16="http://schemas.microsoft.com/office/drawing/2014/main" xmlns="" id="{4ED18798-FDED-4221-ADBA-83636D0EC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8950" y="2709863"/>
            <a:ext cx="159067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3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Учебник</a:t>
            </a:r>
            <a:endParaRPr kumimoji="0" lang="en-US" altLang="ru-RU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2084" name="TextBox 56">
            <a:extLst>
              <a:ext uri="{FF2B5EF4-FFF2-40B4-BE49-F238E27FC236}">
                <a16:creationId xmlns:a16="http://schemas.microsoft.com/office/drawing/2014/main" xmlns="" id="{D64E813B-5CD3-48D0-987F-422978BFC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6575" y="3190875"/>
            <a:ext cx="197643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3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Учебно-методическое пособие</a:t>
            </a:r>
            <a:endParaRPr kumimoji="0" lang="en-US" altLang="ru-RU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grpSp>
        <p:nvGrpSpPr>
          <p:cNvPr id="2085" name="Группа 28">
            <a:extLst>
              <a:ext uri="{FF2B5EF4-FFF2-40B4-BE49-F238E27FC236}">
                <a16:creationId xmlns:a16="http://schemas.microsoft.com/office/drawing/2014/main" xmlns="" id="{DBEEA106-3CAB-4CC9-B03F-375A0884C75A}"/>
              </a:ext>
            </a:extLst>
          </p:cNvPr>
          <p:cNvGrpSpPr>
            <a:grpSpLocks/>
          </p:cNvGrpSpPr>
          <p:nvPr/>
        </p:nvGrpSpPr>
        <p:grpSpPr bwMode="auto">
          <a:xfrm>
            <a:off x="9945688" y="5868988"/>
            <a:ext cx="7842250" cy="3689350"/>
            <a:chOff x="10340648" y="6043938"/>
            <a:chExt cx="7841696" cy="3687821"/>
          </a:xfrm>
        </p:grpSpPr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xmlns="" id="{21CBD0A7-139D-490E-AE5C-2A08E74899B8}"/>
                </a:ext>
              </a:extLst>
            </p:cNvPr>
            <p:cNvSpPr/>
            <p:nvPr/>
          </p:nvSpPr>
          <p:spPr>
            <a:xfrm>
              <a:off x="11052711" y="6587944"/>
              <a:ext cx="5181150" cy="2668292"/>
            </a:xfrm>
            <a:custGeom>
              <a:avLst/>
              <a:gdLst/>
              <a:ahLst/>
              <a:cxnLst/>
              <a:rect l="l" t="t" r="r" b="b"/>
              <a:pathLst>
                <a:path w="4000227" h="2060117">
                  <a:moveTo>
                    <a:pt x="0" y="0"/>
                  </a:moveTo>
                  <a:lnTo>
                    <a:pt x="4000227" y="0"/>
                  </a:lnTo>
                  <a:lnTo>
                    <a:pt x="4000227" y="2060117"/>
                  </a:lnTo>
                  <a:lnTo>
                    <a:pt x="0" y="20601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grpSp>
          <p:nvGrpSpPr>
            <p:cNvPr id="2165" name="Group 15">
              <a:extLst>
                <a:ext uri="{FF2B5EF4-FFF2-40B4-BE49-F238E27FC236}">
                  <a16:creationId xmlns:a16="http://schemas.microsoft.com/office/drawing/2014/main" xmlns="" id="{0486C549-8A6F-47B7-8B70-2269000790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784854" y="8947217"/>
              <a:ext cx="526870" cy="526870"/>
              <a:chOff x="0" y="0"/>
              <a:chExt cx="812800" cy="812800"/>
            </a:xfrm>
          </p:grpSpPr>
          <p:sp>
            <p:nvSpPr>
              <p:cNvPr id="42" name="Freeform 16">
                <a:extLst>
                  <a:ext uri="{FF2B5EF4-FFF2-40B4-BE49-F238E27FC236}">
                    <a16:creationId xmlns:a16="http://schemas.microsoft.com/office/drawing/2014/main" xmlns="" id="{8A5B8F6B-A390-4E03-B272-2C0F00E503F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50502" r="-50502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2166" name="Group 17">
              <a:extLst>
                <a:ext uri="{FF2B5EF4-FFF2-40B4-BE49-F238E27FC236}">
                  <a16:creationId xmlns:a16="http://schemas.microsoft.com/office/drawing/2014/main" xmlns="" id="{824EFD52-5B79-464F-8A12-FB1E832EF1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16254" y="8982153"/>
              <a:ext cx="526870" cy="526870"/>
              <a:chOff x="0" y="0"/>
              <a:chExt cx="812800" cy="812800"/>
            </a:xfrm>
          </p:grpSpPr>
          <p:sp>
            <p:nvSpPr>
              <p:cNvPr id="44" name="Freeform 18">
                <a:extLst>
                  <a:ext uri="{FF2B5EF4-FFF2-40B4-BE49-F238E27FC236}">
                    <a16:creationId xmlns:a16="http://schemas.microsoft.com/office/drawing/2014/main" xmlns="" id="{7A7A157E-1F27-4428-9B10-19EAC414AF0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-25046" r="-2504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2167" name="Group 19">
              <a:extLst>
                <a:ext uri="{FF2B5EF4-FFF2-40B4-BE49-F238E27FC236}">
                  <a16:creationId xmlns:a16="http://schemas.microsoft.com/office/drawing/2014/main" xmlns="" id="{2E0822AF-CFA4-426C-9F3C-8C69862A3B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99878" y="8760751"/>
              <a:ext cx="526870" cy="526870"/>
              <a:chOff x="0" y="0"/>
              <a:chExt cx="812800" cy="812800"/>
            </a:xfrm>
          </p:grpSpPr>
          <p:sp>
            <p:nvSpPr>
              <p:cNvPr id="46" name="Freeform 20">
                <a:extLst>
                  <a:ext uri="{FF2B5EF4-FFF2-40B4-BE49-F238E27FC236}">
                    <a16:creationId xmlns:a16="http://schemas.microsoft.com/office/drawing/2014/main" xmlns="" id="{66BD1C14-0B6D-4834-BFB7-6C64D064309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1"/>
                <a:stretch>
                  <a:fillRect r="-6666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2168" name="Group 21">
              <a:extLst>
                <a:ext uri="{FF2B5EF4-FFF2-40B4-BE49-F238E27FC236}">
                  <a16:creationId xmlns:a16="http://schemas.microsoft.com/office/drawing/2014/main" xmlns="" id="{8223A866-7D1D-4D7E-ABDA-75D043450A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19391" y="8947217"/>
              <a:ext cx="526870" cy="526870"/>
              <a:chOff x="0" y="0"/>
              <a:chExt cx="812800" cy="812800"/>
            </a:xfrm>
          </p:grpSpPr>
          <p:sp>
            <p:nvSpPr>
              <p:cNvPr id="48" name="Freeform 22">
                <a:extLst>
                  <a:ext uri="{FF2B5EF4-FFF2-40B4-BE49-F238E27FC236}">
                    <a16:creationId xmlns:a16="http://schemas.microsoft.com/office/drawing/2014/main" xmlns="" id="{EADB5DA3-39C7-463C-AC7C-85C4B03E9D0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 l="-25046" r="-2504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2169" name="Group 23">
              <a:extLst>
                <a:ext uri="{FF2B5EF4-FFF2-40B4-BE49-F238E27FC236}">
                  <a16:creationId xmlns:a16="http://schemas.microsoft.com/office/drawing/2014/main" xmlns="" id="{24046E4C-9F3F-4736-A5FD-CD26654761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57462" y="8795965"/>
              <a:ext cx="526870" cy="526870"/>
              <a:chOff x="0" y="0"/>
              <a:chExt cx="812800" cy="812800"/>
            </a:xfrm>
          </p:grpSpPr>
          <p:sp>
            <p:nvSpPr>
              <p:cNvPr id="50" name="Freeform 24">
                <a:extLst>
                  <a:ext uri="{FF2B5EF4-FFF2-40B4-BE49-F238E27FC236}">
                    <a16:creationId xmlns:a16="http://schemas.microsoft.com/office/drawing/2014/main" xmlns="" id="{B9BAF664-0FF9-45FA-8DFE-047BCFD60ED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3"/>
                <a:stretch>
                  <a:fillRect l="-25046" r="-2504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2170" name="Group 25">
              <a:extLst>
                <a:ext uri="{FF2B5EF4-FFF2-40B4-BE49-F238E27FC236}">
                  <a16:creationId xmlns:a16="http://schemas.microsoft.com/office/drawing/2014/main" xmlns="" id="{0D8B7D4A-7502-48DF-BB59-5E85DBFECA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50073" y="7920880"/>
              <a:ext cx="526870" cy="526870"/>
              <a:chOff x="0" y="0"/>
              <a:chExt cx="812800" cy="812800"/>
            </a:xfrm>
          </p:grpSpPr>
          <p:sp>
            <p:nvSpPr>
              <p:cNvPr id="52" name="Freeform 26">
                <a:extLst>
                  <a:ext uri="{FF2B5EF4-FFF2-40B4-BE49-F238E27FC236}">
                    <a16:creationId xmlns:a16="http://schemas.microsoft.com/office/drawing/2014/main" xmlns="" id="{3C08DFD2-2584-4783-A4CC-1D10DB44C78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4"/>
                <a:stretch>
                  <a:fillRect r="-100000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2171" name="Group 27">
              <a:extLst>
                <a:ext uri="{FF2B5EF4-FFF2-40B4-BE49-F238E27FC236}">
                  <a16:creationId xmlns:a16="http://schemas.microsoft.com/office/drawing/2014/main" xmlns="" id="{BF3479F7-CC5D-47D0-9E00-099D1A4926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42168" y="7019580"/>
              <a:ext cx="526870" cy="526870"/>
              <a:chOff x="0" y="0"/>
              <a:chExt cx="812800" cy="812800"/>
            </a:xfrm>
          </p:grpSpPr>
          <p:sp>
            <p:nvSpPr>
              <p:cNvPr id="54" name="Freeform 28">
                <a:extLst>
                  <a:ext uri="{FF2B5EF4-FFF2-40B4-BE49-F238E27FC236}">
                    <a16:creationId xmlns:a16="http://schemas.microsoft.com/office/drawing/2014/main" xmlns="" id="{1D3E5196-E79A-4678-BB4B-B028B3BCC92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5"/>
                <a:stretch>
                  <a:fillRect l="-31799" r="-31799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2172" name="Group 29">
              <a:extLst>
                <a:ext uri="{FF2B5EF4-FFF2-40B4-BE49-F238E27FC236}">
                  <a16:creationId xmlns:a16="http://schemas.microsoft.com/office/drawing/2014/main" xmlns="" id="{FC6472A0-6D20-4707-B99C-82FAA004E5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55269" y="7930043"/>
              <a:ext cx="609295" cy="526870"/>
              <a:chOff x="0" y="0"/>
              <a:chExt cx="812800" cy="812800"/>
            </a:xfrm>
          </p:grpSpPr>
          <p:sp>
            <p:nvSpPr>
              <p:cNvPr id="56" name="Freeform 30">
                <a:extLst>
                  <a:ext uri="{FF2B5EF4-FFF2-40B4-BE49-F238E27FC236}">
                    <a16:creationId xmlns:a16="http://schemas.microsoft.com/office/drawing/2014/main" xmlns="" id="{3E14F08F-0DAE-453E-8421-4DAC98D8BEC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6"/>
                <a:stretch>
                  <a:fillRect l="-25046" r="-2504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2173" name="Group 31">
              <a:extLst>
                <a:ext uri="{FF2B5EF4-FFF2-40B4-BE49-F238E27FC236}">
                  <a16:creationId xmlns:a16="http://schemas.microsoft.com/office/drawing/2014/main" xmlns="" id="{9C0C8FF0-F93B-42D3-B35A-0BCE774CBA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03973" y="7063502"/>
              <a:ext cx="526870" cy="526870"/>
              <a:chOff x="0" y="0"/>
              <a:chExt cx="812800" cy="812800"/>
            </a:xfrm>
          </p:grpSpPr>
          <p:sp>
            <p:nvSpPr>
              <p:cNvPr id="58" name="Freeform 32">
                <a:extLst>
                  <a:ext uri="{FF2B5EF4-FFF2-40B4-BE49-F238E27FC236}">
                    <a16:creationId xmlns:a16="http://schemas.microsoft.com/office/drawing/2014/main" xmlns="" id="{0DBDB219-F15E-4E0A-BCAB-8F8FA5851A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7"/>
                <a:stretch>
                  <a:fillRect l="-25046" r="-2504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id="2174" name="TextBox 58">
              <a:extLst>
                <a:ext uri="{FF2B5EF4-FFF2-40B4-BE49-F238E27FC236}">
                  <a16:creationId xmlns:a16="http://schemas.microsoft.com/office/drawing/2014/main" xmlns="" id="{09644F0F-2441-431D-9EBC-9FDCF65DA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6082" y="6043938"/>
              <a:ext cx="6392336" cy="231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82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МЕЖДУНАРОДНОЕ СОТРУДНИЧЕСТВО УНИВЕРСИТЕТА</a:t>
              </a:r>
              <a:endParaRPr kumimoji="0" lang="en-US" altLang="ru-RU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2175" name="TextBox 82">
              <a:extLst>
                <a:ext uri="{FF2B5EF4-FFF2-40B4-BE49-F238E27FC236}">
                  <a16:creationId xmlns:a16="http://schemas.microsoft.com/office/drawing/2014/main" xmlns="" id="{873ED139-B189-4A23-AD6D-47977BD753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40648" y="7640228"/>
              <a:ext cx="1567213" cy="154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Казахстан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2176" name="TextBox 83">
              <a:extLst>
                <a:ext uri="{FF2B5EF4-FFF2-40B4-BE49-F238E27FC236}">
                  <a16:creationId xmlns:a16="http://schemas.microsoft.com/office/drawing/2014/main" xmlns="" id="{767E97AA-2119-4B33-913D-B26E71465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69014" y="8618757"/>
              <a:ext cx="1579272" cy="157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Россия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2177" name="TextBox 84">
              <a:extLst>
                <a:ext uri="{FF2B5EF4-FFF2-40B4-BE49-F238E27FC236}">
                  <a16:creationId xmlns:a16="http://schemas.microsoft.com/office/drawing/2014/main" xmlns="" id="{0E72FA06-725B-4CF2-8F28-DB938076C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2657" y="9555846"/>
              <a:ext cx="1529772" cy="154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Таджикистан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2178" name="TextBox 85">
              <a:extLst>
                <a:ext uri="{FF2B5EF4-FFF2-40B4-BE49-F238E27FC236}">
                  <a16:creationId xmlns:a16="http://schemas.microsoft.com/office/drawing/2014/main" xmlns="" id="{E974E509-6BBC-49A0-BD5D-FCF20002E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25268" y="9547916"/>
              <a:ext cx="1550683" cy="157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Япония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2179" name="TextBox 86">
              <a:extLst>
                <a:ext uri="{FF2B5EF4-FFF2-40B4-BE49-F238E27FC236}">
                  <a16:creationId xmlns:a16="http://schemas.microsoft.com/office/drawing/2014/main" xmlns="" id="{3EE1ADF6-4DC9-4148-AECD-613AFAD59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3452" y="9370056"/>
              <a:ext cx="1211968" cy="157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Китай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2180" name="TextBox 87">
              <a:extLst>
                <a:ext uri="{FF2B5EF4-FFF2-40B4-BE49-F238E27FC236}">
                  <a16:creationId xmlns:a16="http://schemas.microsoft.com/office/drawing/2014/main" xmlns="" id="{0CE78C6E-225C-47D8-8E9C-7772CD886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71644" y="9574665"/>
              <a:ext cx="1448231" cy="157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Индия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2181" name="TextBox 88">
              <a:extLst>
                <a:ext uri="{FF2B5EF4-FFF2-40B4-BE49-F238E27FC236}">
                  <a16:creationId xmlns:a16="http://schemas.microsoft.com/office/drawing/2014/main" xmlns="" id="{CB0694B5-07A9-4CF3-9EF7-567108B09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38615" y="9431919"/>
              <a:ext cx="1943729" cy="157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Чехия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2182" name="TextBox 89">
              <a:extLst>
                <a:ext uri="{FF2B5EF4-FFF2-40B4-BE49-F238E27FC236}">
                  <a16:creationId xmlns:a16="http://schemas.microsoft.com/office/drawing/2014/main" xmlns="" id="{E901CBC7-9C9F-490D-ACF3-698D87634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22486" y="8556587"/>
              <a:ext cx="1365728" cy="154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Малайзия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2183" name="TextBox 90">
              <a:extLst>
                <a:ext uri="{FF2B5EF4-FFF2-40B4-BE49-F238E27FC236}">
                  <a16:creationId xmlns:a16="http://schemas.microsoft.com/office/drawing/2014/main" xmlns="" id="{76CA921A-EC15-4FEC-AD1A-D12D0C434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8292" y="7646315"/>
              <a:ext cx="1112079" cy="154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11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Турция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</p:grpSp>
      <p:sp>
        <p:nvSpPr>
          <p:cNvPr id="2086" name="TextBox 91">
            <a:extLst>
              <a:ext uri="{FF2B5EF4-FFF2-40B4-BE49-F238E27FC236}">
                <a16:creationId xmlns:a16="http://schemas.microsoft.com/office/drawing/2014/main" xmlns="" id="{C8F9BF1F-6C4F-45F0-9BDC-000516D5A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1962" y="2931736"/>
            <a:ext cx="238125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88913" indent="-936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88913" marR="0" lvl="1" indent="-93663" algn="l" defTabSz="914400" rtl="0" eaLnBrk="1" fontAlgn="base" latinLnBrk="0" hangingPunct="1">
              <a:lnSpc>
                <a:spcPts val="12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" pitchFamily="2" charset="-52"/>
                <a:sym typeface="Lora" pitchFamily="2" charset="-52"/>
              </a:rPr>
              <a:t>Доктор наук</a:t>
            </a:r>
            <a:r>
              <a:rPr kumimoji="0" lang="en-US" altLang="ru-RU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" pitchFamily="2" charset="-52"/>
                <a:sym typeface="Lora" pitchFamily="2" charset="-52"/>
              </a:rPr>
              <a:t>, (DSc)</a:t>
            </a:r>
          </a:p>
        </p:txBody>
      </p:sp>
      <p:sp>
        <p:nvSpPr>
          <p:cNvPr id="2087" name="TextBox 92">
            <a:extLst>
              <a:ext uri="{FF2B5EF4-FFF2-40B4-BE49-F238E27FC236}">
                <a16:creationId xmlns:a16="http://schemas.microsoft.com/office/drawing/2014/main" xmlns="" id="{079BAE48-7292-47F8-9F05-5CF613AB1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1962" y="3273335"/>
            <a:ext cx="245745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88913" indent="-936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88913" marR="0" lvl="1" indent="-93663" algn="l" defTabSz="914400" rtl="0" eaLnBrk="1" fontAlgn="base" latinLnBrk="0" hangingPunct="1">
              <a:lnSpc>
                <a:spcPts val="12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" pitchFamily="2" charset="-52"/>
                <a:sym typeface="Lora" pitchFamily="2" charset="-52"/>
              </a:rPr>
              <a:t>Кандидат наук</a:t>
            </a:r>
            <a:r>
              <a:rPr kumimoji="0" lang="en-US" altLang="ru-RU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" pitchFamily="2" charset="-52"/>
                <a:sym typeface="Lora" pitchFamily="2" charset="-52"/>
              </a:rPr>
              <a:t>, PhD</a:t>
            </a:r>
          </a:p>
        </p:txBody>
      </p:sp>
      <p:sp>
        <p:nvSpPr>
          <p:cNvPr id="2088" name="TextBox 93">
            <a:extLst>
              <a:ext uri="{FF2B5EF4-FFF2-40B4-BE49-F238E27FC236}">
                <a16:creationId xmlns:a16="http://schemas.microsoft.com/office/drawing/2014/main" xmlns="" id="{E0ABAC36-248A-4289-964B-908D24C13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1962" y="3614933"/>
            <a:ext cx="3057525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88913" indent="-936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88913" marR="0" lvl="1" indent="-93663" algn="l" defTabSz="914400" rtl="0" eaLnBrk="1" fontAlgn="base" latinLnBrk="0" hangingPunct="1">
              <a:lnSpc>
                <a:spcPts val="12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" pitchFamily="2" charset="-52"/>
                <a:sym typeface="Lora" pitchFamily="2" charset="-52"/>
              </a:rPr>
              <a:t>Преподаватели, не имеющие учёной степени</a:t>
            </a: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" panose="020B0604020202020204" charset="0"/>
              <a:ea typeface="+mn-ea"/>
              <a:cs typeface="Lora" pitchFamily="2" charset="-52"/>
              <a:sym typeface="Lora" pitchFamily="2" charset="-52"/>
            </a:endParaRPr>
          </a:p>
        </p:txBody>
      </p:sp>
      <p:sp>
        <p:nvSpPr>
          <p:cNvPr id="2089" name="TextBox 94">
            <a:extLst>
              <a:ext uri="{FF2B5EF4-FFF2-40B4-BE49-F238E27FC236}">
                <a16:creationId xmlns:a16="http://schemas.microsoft.com/office/drawing/2014/main" xmlns="" id="{B9E200F8-4F4E-4955-AE1E-C2B5BC45D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1962" y="2437008"/>
            <a:ext cx="3182937" cy="318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2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+mn-cs"/>
                <a:sym typeface="Lora Bold" panose="020B0604020202020204" charset="-52"/>
              </a:rPr>
              <a:t>Общие количество профессорско-преподавательского состава</a:t>
            </a:r>
            <a:endParaRPr kumimoji="0" lang="en-US" altLang="ru-RU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+mn-cs"/>
              <a:sym typeface="Lora Bold" panose="020B0604020202020204" charset="-52"/>
            </a:endParaRPr>
          </a:p>
        </p:txBody>
      </p:sp>
      <p:sp>
        <p:nvSpPr>
          <p:cNvPr id="2090" name="TextBox 95">
            <a:extLst>
              <a:ext uri="{FF2B5EF4-FFF2-40B4-BE49-F238E27FC236}">
                <a16:creationId xmlns:a16="http://schemas.microsoft.com/office/drawing/2014/main" xmlns="" id="{0022E8DC-2491-4FDC-92A2-608758B37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0000" y="2527496"/>
            <a:ext cx="957263" cy="16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2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281 </a:t>
            </a:r>
          </a:p>
        </p:txBody>
      </p:sp>
      <p:sp>
        <p:nvSpPr>
          <p:cNvPr id="2091" name="TextBox 96">
            <a:extLst>
              <a:ext uri="{FF2B5EF4-FFF2-40B4-BE49-F238E27FC236}">
                <a16:creationId xmlns:a16="http://schemas.microsoft.com/office/drawing/2014/main" xmlns="" id="{4C6D993D-012E-4F9A-9173-1BE99823C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0000" y="2930746"/>
            <a:ext cx="1662113" cy="16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2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" pitchFamily="2" charset="-52"/>
                <a:sym typeface="Lora" pitchFamily="2" charset="-52"/>
              </a:rPr>
              <a:t>10 </a:t>
            </a:r>
          </a:p>
        </p:txBody>
      </p:sp>
      <p:sp>
        <p:nvSpPr>
          <p:cNvPr id="2092" name="TextBox 97">
            <a:extLst>
              <a:ext uri="{FF2B5EF4-FFF2-40B4-BE49-F238E27FC236}">
                <a16:creationId xmlns:a16="http://schemas.microsoft.com/office/drawing/2014/main" xmlns="" id="{30112C82-90E3-4C87-9CC8-EAFEBAA45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0000" y="3268454"/>
            <a:ext cx="1485900" cy="16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2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" pitchFamily="2" charset="-52"/>
                <a:sym typeface="Lora" pitchFamily="2" charset="-52"/>
              </a:rPr>
              <a:t>111 </a:t>
            </a:r>
          </a:p>
        </p:txBody>
      </p:sp>
      <p:sp>
        <p:nvSpPr>
          <p:cNvPr id="2093" name="TextBox 98">
            <a:extLst>
              <a:ext uri="{FF2B5EF4-FFF2-40B4-BE49-F238E27FC236}">
                <a16:creationId xmlns:a16="http://schemas.microsoft.com/office/drawing/2014/main" xmlns="" id="{C5AB41C7-1003-4C13-86EA-6312189D5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0312" y="3630808"/>
            <a:ext cx="1770063" cy="16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2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" pitchFamily="2" charset="-52"/>
                <a:sym typeface="Lora" pitchFamily="2" charset="-52"/>
              </a:rPr>
              <a:t>160 </a:t>
            </a:r>
          </a:p>
        </p:txBody>
      </p:sp>
      <p:sp>
        <p:nvSpPr>
          <p:cNvPr id="2094" name="TextBox 99">
            <a:extLst>
              <a:ext uri="{FF2B5EF4-FFF2-40B4-BE49-F238E27FC236}">
                <a16:creationId xmlns:a16="http://schemas.microsoft.com/office/drawing/2014/main" xmlns="" id="{5ECAB9E0-633F-4A66-B999-5749BD583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3313" y="2844800"/>
            <a:ext cx="16652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42,6%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Научный потенциал</a:t>
            </a:r>
            <a:endParaRPr kumimoji="0" lang="en-US" altLang="ru-RU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2095" name="TextBox 100">
            <a:extLst>
              <a:ext uri="{FF2B5EF4-FFF2-40B4-BE49-F238E27FC236}">
                <a16:creationId xmlns:a16="http://schemas.microsoft.com/office/drawing/2014/main" xmlns="" id="{8D6AE2B3-6CC7-4675-9D15-D2CA95480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22663" y="4183063"/>
            <a:ext cx="1335087" cy="16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2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133 </a:t>
            </a:r>
          </a:p>
        </p:txBody>
      </p:sp>
      <p:sp>
        <p:nvSpPr>
          <p:cNvPr id="2096" name="TextBox 101">
            <a:extLst>
              <a:ext uri="{FF2B5EF4-FFF2-40B4-BE49-F238E27FC236}">
                <a16:creationId xmlns:a16="http://schemas.microsoft.com/office/drawing/2014/main" xmlns="" id="{D37AFA2A-CF75-4FD2-B5CD-612EF2C2B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12963" y="4178300"/>
            <a:ext cx="1112837" cy="16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2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148</a:t>
            </a:r>
          </a:p>
        </p:txBody>
      </p:sp>
      <p:sp>
        <p:nvSpPr>
          <p:cNvPr id="2097" name="TextBox 102">
            <a:extLst>
              <a:ext uri="{FF2B5EF4-FFF2-40B4-BE49-F238E27FC236}">
                <a16:creationId xmlns:a16="http://schemas.microsoft.com/office/drawing/2014/main" xmlns="" id="{1D0E652C-8480-48DB-A1A0-330F7F06E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7750" y="4398963"/>
            <a:ext cx="1236663" cy="16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2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47,33%</a:t>
            </a:r>
          </a:p>
        </p:txBody>
      </p:sp>
      <p:sp>
        <p:nvSpPr>
          <p:cNvPr id="2098" name="TextBox 103">
            <a:extLst>
              <a:ext uri="{FF2B5EF4-FFF2-40B4-BE49-F238E27FC236}">
                <a16:creationId xmlns:a16="http://schemas.microsoft.com/office/drawing/2014/main" xmlns="" id="{0564F7ED-7750-4B2D-8A97-340D63411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9000" y="4410075"/>
            <a:ext cx="1168400" cy="16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2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52,67%</a:t>
            </a:r>
          </a:p>
        </p:txBody>
      </p:sp>
      <p:sp>
        <p:nvSpPr>
          <p:cNvPr id="131" name="TextBox 105">
            <a:extLst>
              <a:ext uri="{FF2B5EF4-FFF2-40B4-BE49-F238E27FC236}">
                <a16:creationId xmlns:a16="http://schemas.microsoft.com/office/drawing/2014/main" xmlns="" id="{EE3CE346-5D0A-4295-9B45-3446108B8FE6}"/>
              </a:ext>
            </a:extLst>
          </p:cNvPr>
          <p:cNvSpPr txBox="1"/>
          <p:nvPr/>
        </p:nvSpPr>
        <p:spPr>
          <a:xfrm>
            <a:off x="10815638" y="4187825"/>
            <a:ext cx="339725" cy="11906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ora Bold Italics"/>
                <a:ea typeface="Lora Bold Italics"/>
                <a:cs typeface="Lora Bold Italics"/>
                <a:sym typeface="Lora Bold Italics"/>
              </a:rPr>
              <a:t>3,55%</a:t>
            </a:r>
          </a:p>
        </p:txBody>
      </p:sp>
      <p:sp>
        <p:nvSpPr>
          <p:cNvPr id="134" name="TextBox 108">
            <a:extLst>
              <a:ext uri="{FF2B5EF4-FFF2-40B4-BE49-F238E27FC236}">
                <a16:creationId xmlns:a16="http://schemas.microsoft.com/office/drawing/2014/main" xmlns="" id="{615C9C58-404C-47B1-BE2B-FC30482893A9}"/>
              </a:ext>
            </a:extLst>
          </p:cNvPr>
          <p:cNvSpPr txBox="1"/>
          <p:nvPr/>
        </p:nvSpPr>
        <p:spPr>
          <a:xfrm>
            <a:off x="10818813" y="4610100"/>
            <a:ext cx="331787" cy="11747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ora Bold Italics"/>
                <a:ea typeface="Lora Bold Italics"/>
                <a:cs typeface="Lora Bold Italics"/>
                <a:sym typeface="Lora Bold Italics"/>
              </a:rPr>
              <a:t>39,5%</a:t>
            </a:r>
          </a:p>
        </p:txBody>
      </p:sp>
      <p:sp>
        <p:nvSpPr>
          <p:cNvPr id="2101" name="TextBox 112">
            <a:extLst>
              <a:ext uri="{FF2B5EF4-FFF2-40B4-BE49-F238E27FC236}">
                <a16:creationId xmlns:a16="http://schemas.microsoft.com/office/drawing/2014/main" xmlns="" id="{3082A71F-6C2D-4886-802E-24716F1F2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1150" y="2513013"/>
            <a:ext cx="54610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 Italics" panose="020B0604020202020204" charset="0"/>
                <a:sym typeface="Lora Bold Italics" panose="020B0604020202020204" charset="0"/>
              </a:rPr>
              <a:t>14</a:t>
            </a:r>
          </a:p>
        </p:txBody>
      </p:sp>
      <p:sp>
        <p:nvSpPr>
          <p:cNvPr id="2102" name="TextBox 113">
            <a:extLst>
              <a:ext uri="{FF2B5EF4-FFF2-40B4-BE49-F238E27FC236}">
                <a16:creationId xmlns:a16="http://schemas.microsoft.com/office/drawing/2014/main" xmlns="" id="{9B345D32-0823-447F-9A98-BC02A77A2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163" y="3819525"/>
            <a:ext cx="560387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 Italics" panose="020B0604020202020204" charset="0"/>
                <a:sym typeface="Lora Bold Italics" panose="020B0604020202020204" charset="0"/>
              </a:rPr>
              <a:t>62</a:t>
            </a:r>
          </a:p>
        </p:txBody>
      </p:sp>
      <p:sp>
        <p:nvSpPr>
          <p:cNvPr id="2103" name="TextBox 114">
            <a:extLst>
              <a:ext uri="{FF2B5EF4-FFF2-40B4-BE49-F238E27FC236}">
                <a16:creationId xmlns:a16="http://schemas.microsoft.com/office/drawing/2014/main" xmlns="" id="{EEDC8940-43E9-405F-88A6-537F743B6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7513" y="3792538"/>
            <a:ext cx="255587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 Italics" panose="020B0604020202020204" charset="0"/>
                <a:sym typeface="Lora Bold Italics" panose="020B0604020202020204" charset="0"/>
              </a:rPr>
              <a:t>55</a:t>
            </a:r>
          </a:p>
        </p:txBody>
      </p:sp>
      <p:sp>
        <p:nvSpPr>
          <p:cNvPr id="2104" name="TextBox 115">
            <a:extLst>
              <a:ext uri="{FF2B5EF4-FFF2-40B4-BE49-F238E27FC236}">
                <a16:creationId xmlns:a16="http://schemas.microsoft.com/office/drawing/2014/main" xmlns="" id="{D1774D74-5514-43A9-A499-6D9DB43B9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7963" y="2517775"/>
            <a:ext cx="7413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1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 Italics" panose="020B0604020202020204" charset="0"/>
                <a:sym typeface="Lora Bold Italics" panose="020B0604020202020204" charset="0"/>
              </a:rPr>
              <a:t>26</a:t>
            </a:r>
          </a:p>
        </p:txBody>
      </p:sp>
      <p:grpSp>
        <p:nvGrpSpPr>
          <p:cNvPr id="2105" name="Группа 24">
            <a:extLst>
              <a:ext uri="{FF2B5EF4-FFF2-40B4-BE49-F238E27FC236}">
                <a16:creationId xmlns:a16="http://schemas.microsoft.com/office/drawing/2014/main" xmlns="" id="{9B1DCC20-1830-4FBB-8E1D-27F5E914C66E}"/>
              </a:ext>
            </a:extLst>
          </p:cNvPr>
          <p:cNvGrpSpPr>
            <a:grpSpLocks/>
          </p:cNvGrpSpPr>
          <p:nvPr/>
        </p:nvGrpSpPr>
        <p:grpSpPr bwMode="auto">
          <a:xfrm>
            <a:off x="1535113" y="4522788"/>
            <a:ext cx="9163050" cy="5232400"/>
            <a:chOff x="23694" y="4998681"/>
            <a:chExt cx="9162640" cy="5232406"/>
          </a:xfrm>
        </p:grpSpPr>
        <p:pic>
          <p:nvPicPr>
            <p:cNvPr id="2146" name="Рисунок 63">
              <a:extLst>
                <a:ext uri="{FF2B5EF4-FFF2-40B4-BE49-F238E27FC236}">
                  <a16:creationId xmlns:a16="http://schemas.microsoft.com/office/drawing/2014/main" xmlns="" id="{817658F7-3C1A-4A54-8635-9725F2FD91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94" y="4998681"/>
              <a:ext cx="8661278" cy="5232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47" name="TextBox 57">
              <a:extLst>
                <a:ext uri="{FF2B5EF4-FFF2-40B4-BE49-F238E27FC236}">
                  <a16:creationId xmlns:a16="http://schemas.microsoft.com/office/drawing/2014/main" xmlns="" id="{43DDD66D-76B2-487D-8E6E-BD05E5B82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5926" y="5086604"/>
              <a:ext cx="6150408" cy="231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82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Численность студентов по областям</a:t>
              </a:r>
              <a:endParaRPr kumimoji="0" lang="en-US" altLang="ru-RU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95" name="TextBox 69">
              <a:extLst>
                <a:ext uri="{FF2B5EF4-FFF2-40B4-BE49-F238E27FC236}">
                  <a16:creationId xmlns:a16="http://schemas.microsoft.com/office/drawing/2014/main" xmlns="" id="{CA236FFD-E0A6-4E49-BD43-06D6F4C7D604}"/>
                </a:ext>
              </a:extLst>
            </p:cNvPr>
            <p:cNvSpPr txBox="1"/>
            <p:nvPr/>
          </p:nvSpPr>
          <p:spPr>
            <a:xfrm>
              <a:off x="1219028" y="6275032"/>
              <a:ext cx="131757" cy="16192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DM Sans Bold" pitchFamily="2" charset="0"/>
                  <a:ea typeface="Lora Bold"/>
                  <a:cs typeface="Lora Bold"/>
                  <a:sym typeface="Lora Bold"/>
                </a:rPr>
                <a:t>7 </a:t>
              </a:r>
            </a:p>
          </p:txBody>
        </p:sp>
        <p:sp>
          <p:nvSpPr>
            <p:cNvPr id="96" name="TextBox 70">
              <a:extLst>
                <a:ext uri="{FF2B5EF4-FFF2-40B4-BE49-F238E27FC236}">
                  <a16:creationId xmlns:a16="http://schemas.microsoft.com/office/drawing/2014/main" xmlns="" id="{53BAA5A6-3B15-456E-8386-2BDC8C45D28D}"/>
                </a:ext>
              </a:extLst>
            </p:cNvPr>
            <p:cNvSpPr txBox="1"/>
            <p:nvPr/>
          </p:nvSpPr>
          <p:spPr>
            <a:xfrm>
              <a:off x="2422299" y="7176733"/>
              <a:ext cx="173030" cy="16192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DM Sans Bold" pitchFamily="2" charset="0"/>
                  <a:ea typeface="Lora Bold"/>
                  <a:cs typeface="Lora Bold"/>
                  <a:sym typeface="Lora Bold"/>
                </a:rPr>
                <a:t>13</a:t>
              </a:r>
            </a:p>
          </p:txBody>
        </p:sp>
        <p:sp>
          <p:nvSpPr>
            <p:cNvPr id="97" name="TextBox 71">
              <a:extLst>
                <a:ext uri="{FF2B5EF4-FFF2-40B4-BE49-F238E27FC236}">
                  <a16:creationId xmlns:a16="http://schemas.microsoft.com/office/drawing/2014/main" xmlns="" id="{613C7C0E-0DA0-4AC8-AEED-B96715A185DC}"/>
                </a:ext>
              </a:extLst>
            </p:cNvPr>
            <p:cNvSpPr txBox="1"/>
            <p:nvPr/>
          </p:nvSpPr>
          <p:spPr>
            <a:xfrm>
              <a:off x="3917657" y="7270396"/>
              <a:ext cx="103183" cy="16192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DM Sans Bold" pitchFamily="2" charset="0"/>
                  <a:ea typeface="Lora Bold"/>
                  <a:cs typeface="Lora Bold"/>
                  <a:sym typeface="Lora Bold"/>
                </a:rPr>
                <a:t>9</a:t>
              </a:r>
            </a:p>
          </p:txBody>
        </p:sp>
        <p:sp>
          <p:nvSpPr>
            <p:cNvPr id="98" name="TextBox 72">
              <a:extLst>
                <a:ext uri="{FF2B5EF4-FFF2-40B4-BE49-F238E27FC236}">
                  <a16:creationId xmlns:a16="http://schemas.microsoft.com/office/drawing/2014/main" xmlns="" id="{CDFFFE9B-713B-49D5-ADB1-95F50166F109}"/>
                </a:ext>
              </a:extLst>
            </p:cNvPr>
            <p:cNvSpPr txBox="1"/>
            <p:nvPr/>
          </p:nvSpPr>
          <p:spPr>
            <a:xfrm>
              <a:off x="3836698" y="8216547"/>
              <a:ext cx="209541" cy="16192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DM Sans Bold" pitchFamily="2" charset="0"/>
                  <a:ea typeface="Lora Bold"/>
                  <a:cs typeface="Lora Bold"/>
                  <a:sym typeface="Lora Bold"/>
                </a:rPr>
                <a:t>20</a:t>
              </a:r>
            </a:p>
          </p:txBody>
        </p:sp>
        <p:sp>
          <p:nvSpPr>
            <p:cNvPr id="99" name="TextBox 73">
              <a:extLst>
                <a:ext uri="{FF2B5EF4-FFF2-40B4-BE49-F238E27FC236}">
                  <a16:creationId xmlns:a16="http://schemas.microsoft.com/office/drawing/2014/main" xmlns="" id="{C32A2FC3-8275-4D37-AA7A-AD5ECC37B316}"/>
                </a:ext>
              </a:extLst>
            </p:cNvPr>
            <p:cNvSpPr txBox="1"/>
            <p:nvPr/>
          </p:nvSpPr>
          <p:spPr>
            <a:xfrm>
              <a:off x="5030445" y="8911872"/>
              <a:ext cx="173029" cy="160338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DM Sans Bold" pitchFamily="2" charset="0"/>
                  <a:ea typeface="Lora Bold"/>
                  <a:cs typeface="Lora Bold"/>
                  <a:sym typeface="Lora Bold"/>
                </a:rPr>
                <a:t>66</a:t>
              </a:r>
            </a:p>
          </p:txBody>
        </p:sp>
        <p:sp>
          <p:nvSpPr>
            <p:cNvPr id="100" name="TextBox 74">
              <a:extLst>
                <a:ext uri="{FF2B5EF4-FFF2-40B4-BE49-F238E27FC236}">
                  <a16:creationId xmlns:a16="http://schemas.microsoft.com/office/drawing/2014/main" xmlns="" id="{5478DF51-4265-4383-AF48-639BF6DE3624}"/>
                </a:ext>
              </a:extLst>
            </p:cNvPr>
            <p:cNvSpPr txBox="1"/>
            <p:nvPr/>
          </p:nvSpPr>
          <p:spPr>
            <a:xfrm>
              <a:off x="5011396" y="8341960"/>
              <a:ext cx="211128" cy="16192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DM Sans Bold" pitchFamily="2" charset="0"/>
                  <a:ea typeface="Lora Bold"/>
                  <a:cs typeface="Lora Bold"/>
                  <a:sym typeface="Lora Bold"/>
                </a:rPr>
                <a:t>50</a:t>
              </a:r>
            </a:p>
          </p:txBody>
        </p:sp>
        <p:sp>
          <p:nvSpPr>
            <p:cNvPr id="101" name="TextBox 75">
              <a:extLst>
                <a:ext uri="{FF2B5EF4-FFF2-40B4-BE49-F238E27FC236}">
                  <a16:creationId xmlns:a16="http://schemas.microsoft.com/office/drawing/2014/main" xmlns="" id="{7FE84D57-AB7C-4486-B5D0-0C413E0E6C79}"/>
                </a:ext>
              </a:extLst>
            </p:cNvPr>
            <p:cNvSpPr txBox="1"/>
            <p:nvPr/>
          </p:nvSpPr>
          <p:spPr>
            <a:xfrm>
              <a:off x="5517785" y="8075260"/>
              <a:ext cx="198429" cy="16192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DM Sans Bold" pitchFamily="2" charset="0"/>
                  <a:ea typeface="Lora Bold"/>
                  <a:cs typeface="Lora Bold"/>
                  <a:sym typeface="Lora Bold"/>
                </a:rPr>
                <a:t>29</a:t>
              </a:r>
            </a:p>
          </p:txBody>
        </p:sp>
        <p:sp>
          <p:nvSpPr>
            <p:cNvPr id="102" name="TextBox 76">
              <a:extLst>
                <a:ext uri="{FF2B5EF4-FFF2-40B4-BE49-F238E27FC236}">
                  <a16:creationId xmlns:a16="http://schemas.microsoft.com/office/drawing/2014/main" xmlns="" id="{90CC5C6A-80B4-4113-B091-6A5458C7D6EB}"/>
                </a:ext>
              </a:extLst>
            </p:cNvPr>
            <p:cNvSpPr txBox="1"/>
            <p:nvPr/>
          </p:nvSpPr>
          <p:spPr>
            <a:xfrm>
              <a:off x="5900356" y="7889521"/>
              <a:ext cx="176204" cy="16192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DM Sans Bold" pitchFamily="2" charset="0"/>
                  <a:ea typeface="Lora Bold"/>
                  <a:cs typeface="Lora Bold"/>
                  <a:sym typeface="Lora Bold"/>
                </a:rPr>
                <a:t>15</a:t>
              </a:r>
            </a:p>
          </p:txBody>
        </p:sp>
        <p:sp>
          <p:nvSpPr>
            <p:cNvPr id="103" name="TextBox 77">
              <a:extLst>
                <a:ext uri="{FF2B5EF4-FFF2-40B4-BE49-F238E27FC236}">
                  <a16:creationId xmlns:a16="http://schemas.microsoft.com/office/drawing/2014/main" xmlns="" id="{95E37ECE-8981-4E14-864B-5FFA43225698}"/>
                </a:ext>
              </a:extLst>
            </p:cNvPr>
            <p:cNvSpPr txBox="1"/>
            <p:nvPr/>
          </p:nvSpPr>
          <p:spPr>
            <a:xfrm>
              <a:off x="6506754" y="7235471"/>
              <a:ext cx="271450" cy="16192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DM Sans Bold" pitchFamily="2" charset="0"/>
                  <a:ea typeface="Lora Bold"/>
                  <a:cs typeface="Lora Bold"/>
                  <a:sym typeface="Lora Bold"/>
                </a:rPr>
                <a:t>126</a:t>
              </a:r>
            </a:p>
          </p:txBody>
        </p:sp>
        <p:sp>
          <p:nvSpPr>
            <p:cNvPr id="104" name="TextBox 78">
              <a:extLst>
                <a:ext uri="{FF2B5EF4-FFF2-40B4-BE49-F238E27FC236}">
                  <a16:creationId xmlns:a16="http://schemas.microsoft.com/office/drawing/2014/main" xmlns="" id="{050B29C6-9C01-42D0-85BF-2A32AB0E643C}"/>
                </a:ext>
              </a:extLst>
            </p:cNvPr>
            <p:cNvSpPr txBox="1"/>
            <p:nvPr/>
          </p:nvSpPr>
          <p:spPr>
            <a:xfrm>
              <a:off x="6459131" y="7600596"/>
              <a:ext cx="182554" cy="160338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DM Sans Bold" pitchFamily="2" charset="0"/>
                  <a:ea typeface="Lora Bold"/>
                  <a:cs typeface="Lora Bold"/>
                  <a:sym typeface="Lora Bold"/>
                </a:rPr>
                <a:t>47</a:t>
              </a:r>
            </a:p>
          </p:txBody>
        </p:sp>
        <p:sp>
          <p:nvSpPr>
            <p:cNvPr id="105" name="TextBox 79">
              <a:extLst>
                <a:ext uri="{FF2B5EF4-FFF2-40B4-BE49-F238E27FC236}">
                  <a16:creationId xmlns:a16="http://schemas.microsoft.com/office/drawing/2014/main" xmlns="" id="{03EFFCD1-98EA-4F74-829A-F25AAA3FBCD4}"/>
                </a:ext>
              </a:extLst>
            </p:cNvPr>
            <p:cNvSpPr txBox="1"/>
            <p:nvPr/>
          </p:nvSpPr>
          <p:spPr>
            <a:xfrm>
              <a:off x="7179824" y="7491059"/>
              <a:ext cx="203191" cy="16192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DM Sans Bold" pitchFamily="2" charset="0"/>
                  <a:ea typeface="Lora Bold"/>
                  <a:cs typeface="Lora Bold"/>
                  <a:sym typeface="Lora Bold"/>
                </a:rPr>
                <a:t>38</a:t>
              </a:r>
            </a:p>
          </p:txBody>
        </p:sp>
        <p:sp>
          <p:nvSpPr>
            <p:cNvPr id="106" name="TextBox 80">
              <a:extLst>
                <a:ext uri="{FF2B5EF4-FFF2-40B4-BE49-F238E27FC236}">
                  <a16:creationId xmlns:a16="http://schemas.microsoft.com/office/drawing/2014/main" xmlns="" id="{7E7933A2-9C80-4769-875C-C46A9AF1FB97}"/>
                </a:ext>
              </a:extLst>
            </p:cNvPr>
            <p:cNvSpPr txBox="1"/>
            <p:nvPr/>
          </p:nvSpPr>
          <p:spPr>
            <a:xfrm>
              <a:off x="7678276" y="7497409"/>
              <a:ext cx="203191" cy="16192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DM Sans Bold" pitchFamily="2" charset="0"/>
                  <a:ea typeface="Lora Bold"/>
                  <a:cs typeface="Lora Bold"/>
                  <a:sym typeface="Lora Bold"/>
                </a:rPr>
                <a:t>63</a:t>
              </a:r>
            </a:p>
          </p:txBody>
        </p:sp>
        <p:sp>
          <p:nvSpPr>
            <p:cNvPr id="107" name="TextBox 81">
              <a:extLst>
                <a:ext uri="{FF2B5EF4-FFF2-40B4-BE49-F238E27FC236}">
                  <a16:creationId xmlns:a16="http://schemas.microsoft.com/office/drawing/2014/main" xmlns="" id="{5375D68D-78EA-4FDD-AD42-0C12FAD07CE0}"/>
                </a:ext>
              </a:extLst>
            </p:cNvPr>
            <p:cNvSpPr txBox="1"/>
            <p:nvPr/>
          </p:nvSpPr>
          <p:spPr>
            <a:xfrm>
              <a:off x="7289356" y="7722834"/>
              <a:ext cx="195254" cy="160337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DM Sans Bold" pitchFamily="2" charset="0"/>
                  <a:ea typeface="Lora Bold"/>
                  <a:cs typeface="Lora Bold"/>
                  <a:sym typeface="Lora Bold"/>
                </a:rPr>
                <a:t>32</a:t>
              </a:r>
            </a:p>
          </p:txBody>
        </p:sp>
        <p:sp>
          <p:nvSpPr>
            <p:cNvPr id="142" name="TextBox 116">
              <a:extLst>
                <a:ext uri="{FF2B5EF4-FFF2-40B4-BE49-F238E27FC236}">
                  <a16:creationId xmlns:a16="http://schemas.microsoft.com/office/drawing/2014/main" xmlns="" id="{C6D56CC7-7A0A-491C-8187-35FBEF96DC52}"/>
                </a:ext>
              </a:extLst>
            </p:cNvPr>
            <p:cNvSpPr txBox="1"/>
            <p:nvPr/>
          </p:nvSpPr>
          <p:spPr>
            <a:xfrm>
              <a:off x="5398728" y="9419873"/>
              <a:ext cx="485753" cy="15557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11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 Bold"/>
                  <a:ea typeface="Lora Bold"/>
                  <a:cs typeface="Lora Bold"/>
                  <a:sym typeface="Lora Bold"/>
                </a:rPr>
                <a:t>22702</a:t>
              </a:r>
            </a:p>
          </p:txBody>
        </p:sp>
      </p:grp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xmlns="" id="{094ADBD1-7166-4397-8D92-050918E35506}"/>
              </a:ext>
            </a:extLst>
          </p:cNvPr>
          <p:cNvSpPr/>
          <p:nvPr/>
        </p:nvSpPr>
        <p:spPr>
          <a:xfrm>
            <a:off x="10194925" y="4360863"/>
            <a:ext cx="1852613" cy="349250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Доктор наук</a:t>
            </a:r>
            <a:r>
              <a: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, DSc</a:t>
            </a:r>
          </a:p>
        </p:txBody>
      </p:sp>
      <p:sp>
        <p:nvSpPr>
          <p:cNvPr id="143" name="Прямоугольник: скругленные углы 142">
            <a:extLst>
              <a:ext uri="{FF2B5EF4-FFF2-40B4-BE49-F238E27FC236}">
                <a16:creationId xmlns:a16="http://schemas.microsoft.com/office/drawing/2014/main" xmlns="" id="{B49D029B-F3F4-40DC-86EA-91F16C422D1D}"/>
              </a:ext>
            </a:extLst>
          </p:cNvPr>
          <p:cNvSpPr/>
          <p:nvPr/>
        </p:nvSpPr>
        <p:spPr>
          <a:xfrm>
            <a:off x="10591800" y="4121150"/>
            <a:ext cx="1022350" cy="271463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 Bold Italics"/>
                <a:ea typeface="Lora Bold Italics"/>
                <a:cs typeface="Lora Bold Italics"/>
                <a:sym typeface="Lora Bold Italics"/>
              </a:rPr>
              <a:t>3,55%</a:t>
            </a:r>
          </a:p>
        </p:txBody>
      </p:sp>
      <p:sp>
        <p:nvSpPr>
          <p:cNvPr id="144" name="Прямоугольник: скругленные углы 143">
            <a:extLst>
              <a:ext uri="{FF2B5EF4-FFF2-40B4-BE49-F238E27FC236}">
                <a16:creationId xmlns:a16="http://schemas.microsoft.com/office/drawing/2014/main" xmlns="" id="{935D0505-FE78-4EA3-A072-68247E4E78E5}"/>
              </a:ext>
            </a:extLst>
          </p:cNvPr>
          <p:cNvSpPr/>
          <p:nvPr/>
        </p:nvSpPr>
        <p:spPr>
          <a:xfrm rot="10800000" flipH="1" flipV="1">
            <a:off x="10204450" y="4922838"/>
            <a:ext cx="1854200" cy="349250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Кандидат наук</a:t>
            </a:r>
            <a:r>
              <a:rPr kumimoji="0" lang="en-US" alt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, PhD</a:t>
            </a:r>
          </a:p>
        </p:txBody>
      </p:sp>
      <p:sp>
        <p:nvSpPr>
          <p:cNvPr id="145" name="Прямоугольник: скругленные углы 144">
            <a:extLst>
              <a:ext uri="{FF2B5EF4-FFF2-40B4-BE49-F238E27FC236}">
                <a16:creationId xmlns:a16="http://schemas.microsoft.com/office/drawing/2014/main" xmlns="" id="{E52F1749-E18A-4FA5-AB8D-C7AE56E0D65A}"/>
              </a:ext>
            </a:extLst>
          </p:cNvPr>
          <p:cNvSpPr/>
          <p:nvPr/>
        </p:nvSpPr>
        <p:spPr>
          <a:xfrm rot="10800000" flipH="1" flipV="1">
            <a:off x="10553700" y="5389563"/>
            <a:ext cx="1022350" cy="269875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</a:rPr>
              <a:t>39,5%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6" name="Прямоугольник: скругленные углы 145">
            <a:extLst>
              <a:ext uri="{FF2B5EF4-FFF2-40B4-BE49-F238E27FC236}">
                <a16:creationId xmlns:a16="http://schemas.microsoft.com/office/drawing/2014/main" xmlns="" id="{686EE786-6FDF-4131-BD98-BA1053956EFA}"/>
              </a:ext>
            </a:extLst>
          </p:cNvPr>
          <p:cNvSpPr/>
          <p:nvPr/>
        </p:nvSpPr>
        <p:spPr>
          <a:xfrm>
            <a:off x="12309475" y="4341813"/>
            <a:ext cx="1852613" cy="349250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Средний возраст</a:t>
            </a:r>
            <a:endParaRPr kumimoji="0" lang="en-US" altLang="ru-RU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147" name="Прямоугольник: скругленные углы 146">
            <a:extLst>
              <a:ext uri="{FF2B5EF4-FFF2-40B4-BE49-F238E27FC236}">
                <a16:creationId xmlns:a16="http://schemas.microsoft.com/office/drawing/2014/main" xmlns="" id="{7C7A2F27-380D-40BC-B020-9CEAFD05E859}"/>
              </a:ext>
            </a:extLst>
          </p:cNvPr>
          <p:cNvSpPr/>
          <p:nvPr/>
        </p:nvSpPr>
        <p:spPr>
          <a:xfrm>
            <a:off x="12706350" y="4102100"/>
            <a:ext cx="1022350" cy="271463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 Bold Italics"/>
                <a:ea typeface="Lora Bold Italics"/>
                <a:cs typeface="Lora Bold Italics"/>
                <a:sym typeface="Lora Bold Italics"/>
              </a:rPr>
              <a:t>37</a:t>
            </a:r>
          </a:p>
        </p:txBody>
      </p:sp>
      <p:sp>
        <p:nvSpPr>
          <p:cNvPr id="148" name="Прямоугольник: скругленные углы 147">
            <a:extLst>
              <a:ext uri="{FF2B5EF4-FFF2-40B4-BE49-F238E27FC236}">
                <a16:creationId xmlns:a16="http://schemas.microsoft.com/office/drawing/2014/main" xmlns="" id="{B8E35065-A445-49FE-A271-B398FC178D9D}"/>
              </a:ext>
            </a:extLst>
          </p:cNvPr>
          <p:cNvSpPr/>
          <p:nvPr/>
        </p:nvSpPr>
        <p:spPr>
          <a:xfrm rot="10800000" flipH="1" flipV="1">
            <a:off x="12319000" y="4903788"/>
            <a:ext cx="1843088" cy="349250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Научный потенциал</a:t>
            </a:r>
            <a:endParaRPr kumimoji="0" lang="en-US" altLang="ru-RU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149" name="Прямоугольник: скругленные углы 148">
            <a:extLst>
              <a:ext uri="{FF2B5EF4-FFF2-40B4-BE49-F238E27FC236}">
                <a16:creationId xmlns:a16="http://schemas.microsoft.com/office/drawing/2014/main" xmlns="" id="{0F4A8BD6-D217-4843-8AA4-2EFAD187BF05}"/>
              </a:ext>
            </a:extLst>
          </p:cNvPr>
          <p:cNvSpPr/>
          <p:nvPr/>
        </p:nvSpPr>
        <p:spPr>
          <a:xfrm rot="10800000" flipH="1" flipV="1">
            <a:off x="12674600" y="5322888"/>
            <a:ext cx="1022350" cy="271462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itchFamily="2" charset="0"/>
                <a:ea typeface="Lora Bold Italics"/>
                <a:cs typeface="Lora Bold Italics"/>
                <a:sym typeface="Lora Bold Italics"/>
              </a:rPr>
              <a:t>42,6%</a:t>
            </a:r>
          </a:p>
        </p:txBody>
      </p:sp>
      <p:pic>
        <p:nvPicPr>
          <p:cNvPr id="2114" name="Рисунок 6">
            <a:extLst>
              <a:ext uri="{FF2B5EF4-FFF2-40B4-BE49-F238E27FC236}">
                <a16:creationId xmlns:a16="http://schemas.microsoft.com/office/drawing/2014/main" xmlns="" id="{E27DF42E-198E-42BE-996C-E22B8434B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42" t="2147" r="17477" b="1675"/>
          <a:stretch>
            <a:fillRect/>
          </a:stretch>
        </p:blipFill>
        <p:spPr bwMode="auto">
          <a:xfrm>
            <a:off x="11658600" y="2505075"/>
            <a:ext cx="15113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" name="TextBox 92">
            <a:extLst>
              <a:ext uri="{FF2B5EF4-FFF2-40B4-BE49-F238E27FC236}">
                <a16:creationId xmlns:a16="http://schemas.microsoft.com/office/drawing/2014/main" xmlns="" id="{249938A5-8F4B-4303-A68D-0D81995126E2}"/>
              </a:ext>
            </a:extLst>
          </p:cNvPr>
          <p:cNvSpPr txBox="1"/>
          <p:nvPr/>
        </p:nvSpPr>
        <p:spPr>
          <a:xfrm>
            <a:off x="12125325" y="2368550"/>
            <a:ext cx="360363" cy="1460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94852" marR="0" lvl="1" indent="0" algn="l" defTabSz="914400" rtl="0" eaLnBrk="1" fontAlgn="auto" latinLnBrk="0" hangingPunct="1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DM Sans" pitchFamily="2" charset="0"/>
                <a:ea typeface="Lora"/>
                <a:cs typeface="Lora"/>
                <a:sym typeface="Lora"/>
              </a:rPr>
              <a:t>3,6%</a:t>
            </a:r>
          </a:p>
        </p:txBody>
      </p:sp>
      <p:sp>
        <p:nvSpPr>
          <p:cNvPr id="151" name="TextBox 92">
            <a:extLst>
              <a:ext uri="{FF2B5EF4-FFF2-40B4-BE49-F238E27FC236}">
                <a16:creationId xmlns:a16="http://schemas.microsoft.com/office/drawing/2014/main" xmlns="" id="{44B7969A-5EC6-4DB5-9DA1-C9A77BEE66A7}"/>
              </a:ext>
            </a:extLst>
          </p:cNvPr>
          <p:cNvSpPr txBox="1"/>
          <p:nvPr/>
        </p:nvSpPr>
        <p:spPr>
          <a:xfrm>
            <a:off x="12515850" y="3054350"/>
            <a:ext cx="514350" cy="1460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94852" marR="0" lvl="1" indent="0" algn="l" defTabSz="914400" rtl="0" eaLnBrk="1" fontAlgn="auto" latinLnBrk="0" hangingPunct="1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92D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DM Sans" pitchFamily="2" charset="0"/>
                <a:ea typeface="Lora"/>
                <a:cs typeface="Lora"/>
                <a:sym typeface="Lora"/>
              </a:rPr>
              <a:t>39,5%</a:t>
            </a:r>
          </a:p>
        </p:txBody>
      </p:sp>
      <p:sp>
        <p:nvSpPr>
          <p:cNvPr id="152" name="TextBox 92">
            <a:extLst>
              <a:ext uri="{FF2B5EF4-FFF2-40B4-BE49-F238E27FC236}">
                <a16:creationId xmlns:a16="http://schemas.microsoft.com/office/drawing/2014/main" xmlns="" id="{B841B5E7-4A09-4CAD-9755-BEECE2242080}"/>
              </a:ext>
            </a:extLst>
          </p:cNvPr>
          <p:cNvSpPr txBox="1"/>
          <p:nvPr/>
        </p:nvSpPr>
        <p:spPr>
          <a:xfrm>
            <a:off x="11953875" y="3359150"/>
            <a:ext cx="476250" cy="1460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94852" marR="0" lvl="1" indent="0" algn="l" defTabSz="914400" rtl="0" eaLnBrk="1" fontAlgn="auto" latinLnBrk="0" hangingPunct="1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92D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DM Sans" pitchFamily="2" charset="0"/>
                <a:ea typeface="Lora"/>
                <a:cs typeface="Lora"/>
                <a:sym typeface="Lora"/>
              </a:rPr>
              <a:t>56,9%</a:t>
            </a:r>
          </a:p>
        </p:txBody>
      </p:sp>
      <p:grpSp>
        <p:nvGrpSpPr>
          <p:cNvPr id="2118" name="Группа 5">
            <a:extLst>
              <a:ext uri="{FF2B5EF4-FFF2-40B4-BE49-F238E27FC236}">
                <a16:creationId xmlns:a16="http://schemas.microsoft.com/office/drawing/2014/main" xmlns="" id="{B852EDAB-E056-4802-AA3B-C31B77D2B9EB}"/>
              </a:ext>
            </a:extLst>
          </p:cNvPr>
          <p:cNvGrpSpPr>
            <a:grpSpLocks/>
          </p:cNvGrpSpPr>
          <p:nvPr/>
        </p:nvGrpSpPr>
        <p:grpSpPr bwMode="auto">
          <a:xfrm>
            <a:off x="1095375" y="7743825"/>
            <a:ext cx="3481388" cy="1704975"/>
            <a:chOff x="6653078" y="8316244"/>
            <a:chExt cx="3481522" cy="1705070"/>
          </a:xfrm>
        </p:grpSpPr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xmlns="" id="{62FE3C40-67B9-4B34-8893-6A43711E643E}"/>
                </a:ext>
              </a:extLst>
            </p:cNvPr>
            <p:cNvSpPr/>
            <p:nvPr/>
          </p:nvSpPr>
          <p:spPr>
            <a:xfrm>
              <a:off x="6653078" y="9021357"/>
              <a:ext cx="389736" cy="301478"/>
            </a:xfrm>
            <a:custGeom>
              <a:avLst/>
              <a:gdLst/>
              <a:ahLst/>
              <a:cxnLst/>
              <a:rect l="l" t="t" r="r" b="b"/>
              <a:pathLst>
                <a:path w="209789" h="132954">
                  <a:moveTo>
                    <a:pt x="0" y="0"/>
                  </a:moveTo>
                  <a:lnTo>
                    <a:pt x="209789" y="0"/>
                  </a:lnTo>
                  <a:lnTo>
                    <a:pt x="209789" y="132954"/>
                  </a:lnTo>
                  <a:lnTo>
                    <a:pt x="0" y="132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xmlns="" id="{8203D397-B794-4B40-82B7-1B030C004D95}"/>
                </a:ext>
              </a:extLst>
            </p:cNvPr>
            <p:cNvSpPr/>
            <p:nvPr/>
          </p:nvSpPr>
          <p:spPr>
            <a:xfrm>
              <a:off x="6653078" y="8708790"/>
              <a:ext cx="368856" cy="246312"/>
            </a:xfrm>
            <a:custGeom>
              <a:avLst/>
              <a:gdLst/>
              <a:ahLst/>
              <a:cxnLst/>
              <a:rect l="l" t="t" r="r" b="b"/>
              <a:pathLst>
                <a:path w="201473" h="134987">
                  <a:moveTo>
                    <a:pt x="0" y="0"/>
                  </a:moveTo>
                  <a:lnTo>
                    <a:pt x="201473" y="0"/>
                  </a:lnTo>
                  <a:lnTo>
                    <a:pt x="201473" y="134987"/>
                  </a:lnTo>
                  <a:lnTo>
                    <a:pt x="0" y="134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xmlns="" id="{A8385C74-0C85-4055-918E-685216F160B5}"/>
                </a:ext>
              </a:extLst>
            </p:cNvPr>
            <p:cNvSpPr/>
            <p:nvPr/>
          </p:nvSpPr>
          <p:spPr>
            <a:xfrm>
              <a:off x="6653078" y="9380243"/>
              <a:ext cx="271871" cy="279370"/>
            </a:xfrm>
            <a:custGeom>
              <a:avLst/>
              <a:gdLst/>
              <a:ahLst/>
              <a:cxnLst/>
              <a:rect l="l" t="t" r="r" b="b"/>
              <a:pathLst>
                <a:path w="141589" h="155379">
                  <a:moveTo>
                    <a:pt x="0" y="0"/>
                  </a:moveTo>
                  <a:lnTo>
                    <a:pt x="141589" y="0"/>
                  </a:lnTo>
                  <a:lnTo>
                    <a:pt x="141589" y="155379"/>
                  </a:lnTo>
                  <a:lnTo>
                    <a:pt x="0" y="155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xmlns="" id="{30994FFD-1196-48F0-8D05-8AC4E30520CD}"/>
                </a:ext>
              </a:extLst>
            </p:cNvPr>
            <p:cNvSpPr/>
            <p:nvPr/>
          </p:nvSpPr>
          <p:spPr>
            <a:xfrm>
              <a:off x="6653078" y="9741944"/>
              <a:ext cx="257680" cy="279370"/>
            </a:xfrm>
            <a:custGeom>
              <a:avLst/>
              <a:gdLst/>
              <a:ahLst/>
              <a:cxnLst/>
              <a:rect l="l" t="t" r="r" b="b"/>
              <a:pathLst>
                <a:path w="124631" h="164530">
                  <a:moveTo>
                    <a:pt x="0" y="0"/>
                  </a:moveTo>
                  <a:lnTo>
                    <a:pt x="124631" y="0"/>
                  </a:lnTo>
                  <a:lnTo>
                    <a:pt x="124631" y="164529"/>
                  </a:lnTo>
                  <a:lnTo>
                    <a:pt x="0" y="164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</p:sp>
        <p:sp>
          <p:nvSpPr>
            <p:cNvPr id="2133" name="TextBox 59">
              <a:extLst>
                <a:ext uri="{FF2B5EF4-FFF2-40B4-BE49-F238E27FC236}">
                  <a16:creationId xmlns:a16="http://schemas.microsoft.com/office/drawing/2014/main" xmlns="" id="{6486B70F-5EDC-406E-B74D-7A1E24395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9881" y="8374260"/>
              <a:ext cx="2671619" cy="336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2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 Bold" panose="020B0604020202020204" charset="-52"/>
                  <a:ea typeface="+mn-ea"/>
                  <a:cs typeface="Lora Bold" panose="020B0604020202020204" charset="-52"/>
                  <a:sym typeface="Lora Bold" panose="020B0604020202020204" charset="-52"/>
                </a:rPr>
                <a:t>ОБЩЕЕ КОЛИЧЕСТВО СТУДЕНТОВ</a:t>
              </a:r>
              <a:endParaRPr kumimoji="0" lang="en-US" alt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 Bold" panose="020B0604020202020204" charset="-52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2134" name="TextBox 60">
              <a:extLst>
                <a:ext uri="{FF2B5EF4-FFF2-40B4-BE49-F238E27FC236}">
                  <a16:creationId xmlns:a16="http://schemas.microsoft.com/office/drawing/2014/main" xmlns="" id="{3AEF3619-E1E6-4C9E-A154-FBC84A6E2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9862" y="8870966"/>
              <a:ext cx="1553152" cy="179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3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 Bold" panose="020B0604020202020204" charset="-52"/>
                  <a:ea typeface="+mn-ea"/>
                  <a:cs typeface="+mn-cs"/>
                  <a:sym typeface="Lora Bold" panose="020B0604020202020204" charset="-52"/>
                </a:rPr>
                <a:t>МАГИСТРАТУРА</a:t>
              </a:r>
              <a:endParaRPr kumimoji="0" lang="en-US" alt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 Bold" panose="020B0604020202020204" charset="-52"/>
                <a:ea typeface="+mn-ea"/>
                <a:cs typeface="+mn-cs"/>
                <a:sym typeface="Lora Bold" panose="020B0604020202020204" charset="-52"/>
              </a:endParaRPr>
            </a:p>
          </p:txBody>
        </p:sp>
        <p:sp>
          <p:nvSpPr>
            <p:cNvPr id="2135" name="TextBox 61">
              <a:extLst>
                <a:ext uri="{FF2B5EF4-FFF2-40B4-BE49-F238E27FC236}">
                  <a16:creationId xmlns:a16="http://schemas.microsoft.com/office/drawing/2014/main" xmlns="" id="{7F4C45F2-F6FB-4675-B932-13C8272221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9425" y="9220635"/>
              <a:ext cx="1460589" cy="179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3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 Bold" panose="020B0604020202020204" charset="-52"/>
                  <a:ea typeface="+mn-ea"/>
                  <a:cs typeface="+mn-cs"/>
                  <a:sym typeface="Lora Bold" panose="020B0604020202020204" charset="-52"/>
                </a:rPr>
                <a:t>БАКАЛВРИАТ</a:t>
              </a:r>
              <a:endParaRPr kumimoji="0" lang="en-US" alt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 Bold" panose="020B0604020202020204" charset="-52"/>
                <a:ea typeface="+mn-ea"/>
                <a:cs typeface="+mn-cs"/>
                <a:sym typeface="Lora Bold" panose="020B0604020202020204" charset="-52"/>
              </a:endParaRPr>
            </a:p>
          </p:txBody>
        </p:sp>
        <p:sp>
          <p:nvSpPr>
            <p:cNvPr id="2136" name="TextBox 62">
              <a:extLst>
                <a:ext uri="{FF2B5EF4-FFF2-40B4-BE49-F238E27FC236}">
                  <a16:creationId xmlns:a16="http://schemas.microsoft.com/office/drawing/2014/main" xmlns="" id="{F664F286-D485-46BD-8C77-0BC60689D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0372" y="9524859"/>
              <a:ext cx="1198319" cy="179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3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 Bold" panose="020B0604020202020204" charset="-52"/>
                  <a:ea typeface="+mn-ea"/>
                  <a:cs typeface="+mn-cs"/>
                  <a:sym typeface="Lora Bold" panose="020B0604020202020204" charset="-52"/>
                </a:rPr>
                <a:t>МУЖЧИНЫ</a:t>
              </a:r>
              <a:r>
                <a:rPr kumimoji="0" lang="en-US" alt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 Bold" panose="020B0604020202020204" charset="-52"/>
                  <a:ea typeface="+mn-ea"/>
                  <a:cs typeface="+mn-cs"/>
                  <a:sym typeface="Lora Bold" panose="020B0604020202020204" charset="-52"/>
                </a:rPr>
                <a:t> </a:t>
              </a:r>
            </a:p>
          </p:txBody>
        </p:sp>
        <p:sp>
          <p:nvSpPr>
            <p:cNvPr id="2137" name="TextBox 63">
              <a:extLst>
                <a:ext uri="{FF2B5EF4-FFF2-40B4-BE49-F238E27FC236}">
                  <a16:creationId xmlns:a16="http://schemas.microsoft.com/office/drawing/2014/main" xmlns="" id="{0B7ECA91-C10C-4954-9BFC-E187891E36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9881" y="9818299"/>
              <a:ext cx="1206163" cy="179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3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 Bold" panose="020B0604020202020204" charset="-52"/>
                  <a:ea typeface="+mn-ea"/>
                  <a:cs typeface="+mn-cs"/>
                  <a:sym typeface="Lora Bold" panose="020B0604020202020204" charset="-52"/>
                </a:rPr>
                <a:t>ДЕВУШКИ</a:t>
              </a:r>
              <a:endParaRPr kumimoji="0" lang="en-US" alt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 Bold" panose="020B0604020202020204" charset="-52"/>
                <a:ea typeface="+mn-ea"/>
                <a:cs typeface="+mn-cs"/>
                <a:sym typeface="Lora Bold" panose="020B0604020202020204" charset="-52"/>
              </a:endParaRPr>
            </a:p>
          </p:txBody>
        </p:sp>
        <p:sp>
          <p:nvSpPr>
            <p:cNvPr id="2138" name="TextBox 64">
              <a:extLst>
                <a:ext uri="{FF2B5EF4-FFF2-40B4-BE49-F238E27FC236}">
                  <a16:creationId xmlns:a16="http://schemas.microsoft.com/office/drawing/2014/main" xmlns="" id="{DC2D35A8-3378-440E-9BE5-4B260F89D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000" y="8374260"/>
              <a:ext cx="559699" cy="171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2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 Bold" panose="020B0604020202020204" charset="-52"/>
                  <a:ea typeface="+mn-ea"/>
                  <a:cs typeface="Lora Bold" panose="020B0604020202020204" charset="-52"/>
                  <a:sym typeface="Lora Bold" panose="020B0604020202020204" charset="-52"/>
                </a:rPr>
                <a:t>23684</a:t>
              </a:r>
            </a:p>
          </p:txBody>
        </p:sp>
        <p:sp>
          <p:nvSpPr>
            <p:cNvPr id="2139" name="TextBox 65">
              <a:extLst>
                <a:ext uri="{FF2B5EF4-FFF2-40B4-BE49-F238E27FC236}">
                  <a16:creationId xmlns:a16="http://schemas.microsoft.com/office/drawing/2014/main" xmlns="" id="{69CB7FBF-871B-4201-B819-14D944AC2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20464" y="8724900"/>
              <a:ext cx="285536" cy="171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2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 Bold" panose="020B0604020202020204" charset="-52"/>
                  <a:ea typeface="+mn-ea"/>
                  <a:cs typeface="Lora Bold" panose="020B0604020202020204" charset="-52"/>
                  <a:sym typeface="Lora Bold" panose="020B0604020202020204" charset="-52"/>
                </a:rPr>
                <a:t>467</a:t>
              </a:r>
            </a:p>
          </p:txBody>
        </p:sp>
        <p:sp>
          <p:nvSpPr>
            <p:cNvPr id="2140" name="TextBox 66">
              <a:extLst>
                <a:ext uri="{FF2B5EF4-FFF2-40B4-BE49-F238E27FC236}">
                  <a16:creationId xmlns:a16="http://schemas.microsoft.com/office/drawing/2014/main" xmlns="" id="{951DEC3E-4275-459A-A3C2-65A4195319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000" y="9105900"/>
              <a:ext cx="559699" cy="171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2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 Bold" panose="020B0604020202020204" charset="-52"/>
                  <a:ea typeface="+mn-ea"/>
                  <a:cs typeface="+mn-cs"/>
                  <a:sym typeface="Lora Bold" panose="020B0604020202020204" charset="-52"/>
                </a:rPr>
                <a:t>23217</a:t>
              </a:r>
            </a:p>
          </p:txBody>
        </p:sp>
        <p:sp>
          <p:nvSpPr>
            <p:cNvPr id="2141" name="TextBox 67">
              <a:extLst>
                <a:ext uri="{FF2B5EF4-FFF2-40B4-BE49-F238E27FC236}">
                  <a16:creationId xmlns:a16="http://schemas.microsoft.com/office/drawing/2014/main" xmlns="" id="{F145CA94-5316-4C6F-A590-8022154C2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74901" y="9489096"/>
              <a:ext cx="559699" cy="171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2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 Bold" panose="020B0604020202020204" charset="-52"/>
                  <a:ea typeface="+mn-ea"/>
                  <a:cs typeface="+mn-cs"/>
                  <a:sym typeface="Lora Bold" panose="020B0604020202020204" charset="-52"/>
                </a:rPr>
                <a:t>7475</a:t>
              </a:r>
            </a:p>
          </p:txBody>
        </p:sp>
        <p:sp>
          <p:nvSpPr>
            <p:cNvPr id="2142" name="TextBox 68">
              <a:extLst>
                <a:ext uri="{FF2B5EF4-FFF2-40B4-BE49-F238E27FC236}">
                  <a16:creationId xmlns:a16="http://schemas.microsoft.com/office/drawing/2014/main" xmlns="" id="{6BF9F48D-820C-4A53-9E55-2406D92A4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000" y="9841689"/>
              <a:ext cx="559699" cy="171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2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 Bold" panose="020B0604020202020204" charset="-52"/>
                  <a:ea typeface="+mn-ea"/>
                  <a:cs typeface="+mn-cs"/>
                  <a:sym typeface="Lora Bold" panose="020B0604020202020204" charset="-52"/>
                </a:rPr>
                <a:t>16209</a:t>
              </a:r>
            </a:p>
          </p:txBody>
        </p:sp>
        <p:sp>
          <p:nvSpPr>
            <p:cNvPr id="154" name="Freeform 9">
              <a:extLst>
                <a:ext uri="{FF2B5EF4-FFF2-40B4-BE49-F238E27FC236}">
                  <a16:creationId xmlns:a16="http://schemas.microsoft.com/office/drawing/2014/main" xmlns="" id="{D874C8CF-C67E-4A63-B34C-4CCCD87161DC}"/>
                </a:ext>
              </a:extLst>
            </p:cNvPr>
            <p:cNvSpPr/>
            <p:nvPr/>
          </p:nvSpPr>
          <p:spPr>
            <a:xfrm>
              <a:off x="6653078" y="8316244"/>
              <a:ext cx="369140" cy="275931"/>
            </a:xfrm>
            <a:custGeom>
              <a:avLst/>
              <a:gdLst/>
              <a:ahLst/>
              <a:cxnLst/>
              <a:rect l="l" t="t" r="r" b="b"/>
              <a:pathLst>
                <a:path w="160350" h="119861">
                  <a:moveTo>
                    <a:pt x="0" y="0"/>
                  </a:moveTo>
                  <a:lnTo>
                    <a:pt x="160349" y="0"/>
                  </a:lnTo>
                  <a:lnTo>
                    <a:pt x="160349" y="119861"/>
                  </a:lnTo>
                  <a:lnTo>
                    <a:pt x="0" y="119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</p:sp>
      </p:grpSp>
      <p:sp>
        <p:nvSpPr>
          <p:cNvPr id="120" name="TextBox 41">
            <a:extLst>
              <a:ext uri="{FF2B5EF4-FFF2-40B4-BE49-F238E27FC236}">
                <a16:creationId xmlns:a16="http://schemas.microsoft.com/office/drawing/2014/main" xmlns="" id="{D3FD9494-B88D-4D3E-A121-F7379C622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2995" y="134258"/>
            <a:ext cx="12422009" cy="388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Lora Bold" panose="020B0604020202020204" charset="-52"/>
              </a:rPr>
              <a:t>МЕЖДУНАРОДНОЕ СОТРУДНИЧЕСТВО УНИВЕРСИТЕТА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3">
            <a:extLst>
              <a:ext uri="{FF2B5EF4-FFF2-40B4-BE49-F238E27FC236}">
                <a16:creationId xmlns:a16="http://schemas.microsoft.com/office/drawing/2014/main" xmlns="" id="{22755B57-FBC8-4F73-95AE-E94522075856}"/>
              </a:ext>
            </a:extLst>
          </p:cNvPr>
          <p:cNvGrpSpPr>
            <a:grpSpLocks/>
          </p:cNvGrpSpPr>
          <p:nvPr/>
        </p:nvGrpSpPr>
        <p:grpSpPr bwMode="auto">
          <a:xfrm>
            <a:off x="-228600" y="-30163"/>
            <a:ext cx="19210338" cy="1327151"/>
            <a:chOff x="0" y="0"/>
            <a:chExt cx="5059561" cy="1172906"/>
          </a:xfrm>
        </p:grpSpPr>
        <p:sp>
          <p:nvSpPr>
            <p:cNvPr id="3173" name="Freeform 24">
              <a:extLst>
                <a:ext uri="{FF2B5EF4-FFF2-40B4-BE49-F238E27FC236}">
                  <a16:creationId xmlns:a16="http://schemas.microsoft.com/office/drawing/2014/main" xmlns="" id="{8ADBA2D3-8539-4D1A-9FC1-C500920D4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5059561" cy="1172906"/>
            </a:xfrm>
            <a:custGeom>
              <a:avLst/>
              <a:gdLst>
                <a:gd name="T0" fmla="*/ 0 w 5059561"/>
                <a:gd name="T1" fmla="*/ 0 h 1172906"/>
                <a:gd name="T2" fmla="*/ 5059561 w 5059561"/>
                <a:gd name="T3" fmla="*/ 0 h 1172906"/>
                <a:gd name="T4" fmla="*/ 5059561 w 5059561"/>
                <a:gd name="T5" fmla="*/ 1172906 h 1172906"/>
                <a:gd name="T6" fmla="*/ 0 w 5059561"/>
                <a:gd name="T7" fmla="*/ 1172906 h 1172906"/>
                <a:gd name="T8" fmla="*/ 0 w 5059561"/>
                <a:gd name="T9" fmla="*/ 0 h 1172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59561" h="1172906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1D40"/>
            </a:solidFill>
            <a:ln w="38100" cap="sq">
              <a:solidFill>
                <a:srgbClr val="56AE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3174" name="TextBox 25">
              <a:extLst>
                <a:ext uri="{FF2B5EF4-FFF2-40B4-BE49-F238E27FC236}">
                  <a16:creationId xmlns:a16="http://schemas.microsoft.com/office/drawing/2014/main" xmlns="" id="{0579F44D-BF29-418E-83C5-F594C48750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-38100"/>
              <a:ext cx="5059561" cy="1211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rIns="50800" bIns="5080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ts val="2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alt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3" name="Freeform 33">
            <a:extLst>
              <a:ext uri="{FF2B5EF4-FFF2-40B4-BE49-F238E27FC236}">
                <a16:creationId xmlns:a16="http://schemas.microsoft.com/office/drawing/2014/main" xmlns="" id="{4EE97488-7593-410C-A5E6-CACDC30F3FD1}"/>
              </a:ext>
            </a:extLst>
          </p:cNvPr>
          <p:cNvSpPr/>
          <p:nvPr/>
        </p:nvSpPr>
        <p:spPr>
          <a:xfrm>
            <a:off x="16695052" y="9129133"/>
            <a:ext cx="1715127" cy="1715127"/>
          </a:xfrm>
          <a:custGeom>
            <a:avLst/>
            <a:gdLst/>
            <a:ahLst/>
            <a:cxnLst/>
            <a:rect l="l" t="t" r="r" b="b"/>
            <a:pathLst>
              <a:path w="1715127" h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293DCA6C-1C17-4AF8-A763-4C1E61B5431E}"/>
              </a:ext>
            </a:extLst>
          </p:cNvPr>
          <p:cNvSpPr/>
          <p:nvPr/>
        </p:nvSpPr>
        <p:spPr>
          <a:xfrm>
            <a:off x="-363441" y="-390286"/>
            <a:ext cx="1715127" cy="1715127"/>
          </a:xfrm>
          <a:custGeom>
            <a:avLst/>
            <a:gdLst/>
            <a:ahLst/>
            <a:cxnLst/>
            <a:rect l="l" t="t" r="r" b="b"/>
            <a:pathLst>
              <a:path w="1715127" h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xmlns="" id="{FE303EBE-BC02-485B-BA1F-B90817C6854B}"/>
              </a:ext>
            </a:extLst>
          </p:cNvPr>
          <p:cNvSpPr/>
          <p:nvPr/>
        </p:nvSpPr>
        <p:spPr>
          <a:xfrm>
            <a:off x="14398071" y="-136788"/>
            <a:ext cx="2988937" cy="570615"/>
          </a:xfrm>
          <a:custGeom>
            <a:avLst/>
            <a:gdLst/>
            <a:ahLst/>
            <a:cxnLst/>
            <a:rect l="l" t="t" r="r" b="b"/>
            <a:pathLst>
              <a:path w="2988937" h="570615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xmlns="" id="{E4663BC0-7472-4A81-B191-B01630C5C9AE}"/>
              </a:ext>
            </a:extLst>
          </p:cNvPr>
          <p:cNvSpPr/>
          <p:nvPr/>
        </p:nvSpPr>
        <p:spPr>
          <a:xfrm>
            <a:off x="900991" y="9922935"/>
            <a:ext cx="2988937" cy="570615"/>
          </a:xfrm>
          <a:custGeom>
            <a:avLst/>
            <a:gdLst/>
            <a:ahLst/>
            <a:cxnLst/>
            <a:rect l="l" t="t" r="r" b="b"/>
            <a:pathLst>
              <a:path w="2988937" h="570615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087" name="TextBox 41">
            <a:extLst>
              <a:ext uri="{FF2B5EF4-FFF2-40B4-BE49-F238E27FC236}">
                <a16:creationId xmlns:a16="http://schemas.microsoft.com/office/drawing/2014/main" xmlns="" id="{1DA22B5C-784A-411D-8F43-A9AD2A822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263" y="573088"/>
            <a:ext cx="13193712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w Bold" panose="020B0604020202020204" charset="0"/>
                <a:ea typeface="+mn-ea"/>
                <a:cs typeface="+mn-cs"/>
                <a:sym typeface="Lora Bold" panose="020B0604020202020204" charset="-52"/>
              </a:rPr>
              <a:t> </a:t>
            </a:r>
            <a:r>
              <a:rPr kumimoji="0" lang="ru-RU" altLang="ru-RU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w Bold" panose="020B0604020202020204" charset="0"/>
                <a:ea typeface="+mn-ea"/>
                <a:cs typeface="+mn-cs"/>
                <a:sym typeface="Lora Bold" panose="020B0604020202020204" charset="-52"/>
              </a:rPr>
              <a:t>СТРАТЕГИЯ РАЗВИТИЯ УЧЕБНО-МЕТОДИЧЕСКОГО ОБЕСПЕЧЕНИЯ</a:t>
            </a:r>
            <a:endParaRPr kumimoji="0" lang="en-US" altLang="ru-RU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w Bold" panose="020B0604020202020204" charset="0"/>
              <a:ea typeface="+mn-ea"/>
              <a:cs typeface="+mn-cs"/>
              <a:sym typeface="Lora Bold" panose="020B0604020202020204" charset="-52"/>
            </a:endParaRPr>
          </a:p>
        </p:txBody>
      </p:sp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xmlns="" id="{D522416D-7883-4EEA-BFA5-5A64B73A961B}"/>
              </a:ext>
            </a:extLst>
          </p:cNvPr>
          <p:cNvGraphicFramePr>
            <a:graphicFrameLocks noGrp="1"/>
          </p:cNvGraphicFramePr>
          <p:nvPr/>
        </p:nvGraphicFramePr>
        <p:xfrm>
          <a:off x="9675813" y="5251450"/>
          <a:ext cx="7392987" cy="26035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180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584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165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74330">
                <a:tc rowSpan="2">
                  <a:txBody>
                    <a:bodyPr/>
                    <a:lstStyle/>
                    <a:p>
                      <a:pPr algn="ctr">
                        <a:lnSpc>
                          <a:spcPts val="527"/>
                        </a:lnSpc>
                        <a:defRPr/>
                      </a:pPr>
                      <a:endParaRPr lang="en-US" sz="1100" dirty="0"/>
                    </a:p>
                  </a:txBody>
                  <a:tcPr marL="161942" marR="161942" marT="162015" marB="16201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387"/>
                        </a:lnSpc>
                        <a:defRPr/>
                      </a:pPr>
                      <a:endParaRPr lang="en-US" sz="1100"/>
                    </a:p>
                  </a:txBody>
                  <a:tcPr marL="161942" marR="161942" marT="162015" marB="16201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87"/>
                        </a:lnSpc>
                        <a:defRPr/>
                      </a:pPr>
                      <a:endParaRPr lang="en-US" sz="1100"/>
                    </a:p>
                  </a:txBody>
                  <a:tcPr marL="161925" marR="161925" marT="161925" marB="161925" anchor="ctr">
                    <a:lnL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4407">
                <a:tc vMerge="1">
                  <a:txBody>
                    <a:bodyPr/>
                    <a:lstStyle/>
                    <a:p>
                      <a:pPr algn="ctr">
                        <a:lnSpc>
                          <a:spcPts val="527"/>
                        </a:lnSpc>
                        <a:defRPr/>
                      </a:pPr>
                      <a:endParaRPr lang="en-US" sz="1100"/>
                    </a:p>
                  </a:txBody>
                  <a:tcPr marL="161925" marR="161925" marT="161925" marB="161925" anchor="ctr">
                    <a:lnL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9"/>
                        </a:lnSpc>
                        <a:defRPr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sym typeface="Lora Bold"/>
                        </a:rPr>
                        <a:t>Года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61942" marR="161942" marT="162015" marB="16201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9"/>
                        </a:lnSpc>
                        <a:defRPr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sym typeface="Lora Bold"/>
                        </a:rPr>
                        <a:t>Сумма (</a:t>
                      </a:r>
                      <a:r>
                        <a:rPr lang="ru-RU" sz="1400" b="1" dirty="0" err="1">
                          <a:solidFill>
                            <a:schemeClr val="bg1"/>
                          </a:solidFill>
                          <a:sym typeface="Lora Bold"/>
                        </a:rPr>
                        <a:t>млн.сум</a:t>
                      </a:r>
                      <a:r>
                        <a:rPr lang="ru-RU" sz="1400" b="1" dirty="0">
                          <a:solidFill>
                            <a:schemeClr val="bg1"/>
                          </a:solidFill>
                          <a:sym typeface="Lora Bold"/>
                        </a:rPr>
                        <a:t>)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61942" marR="161942" marT="162015" marB="16201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51009">
                <a:tc>
                  <a:txBody>
                    <a:bodyPr/>
                    <a:lstStyle/>
                    <a:p>
                      <a:pPr algn="ctr">
                        <a:lnSpc>
                          <a:spcPts val="1399"/>
                        </a:lnSpc>
                        <a:defRPr/>
                      </a:pPr>
                      <a:endParaRPr lang="en-US" sz="1100" dirty="0"/>
                    </a:p>
                  </a:txBody>
                  <a:tcPr marL="161942" marR="161942" marT="162015" marB="16201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9"/>
                        </a:lnSpc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sym typeface="Lora Bold"/>
                        </a:rPr>
                        <a:t>2022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61942" marR="161942" marT="162015" marB="16201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7"/>
                        </a:lnSpc>
                        <a:defRPr/>
                      </a:pPr>
                      <a:endParaRPr lang="en-US" sz="1400" dirty="0"/>
                    </a:p>
                  </a:txBody>
                  <a:tcPr marL="161942" marR="161942" marT="162015" marB="16201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73754">
                <a:tc>
                  <a:txBody>
                    <a:bodyPr/>
                    <a:lstStyle/>
                    <a:p>
                      <a:pPr algn="ctr">
                        <a:lnSpc>
                          <a:spcPts val="387"/>
                        </a:lnSpc>
                        <a:defRPr/>
                      </a:pPr>
                      <a:endParaRPr lang="en-US" sz="1100" dirty="0"/>
                    </a:p>
                  </a:txBody>
                  <a:tcPr marL="161942" marR="161942" marT="162015" marB="16201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9"/>
                        </a:lnSpc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sym typeface="Lora Bold"/>
                        </a:rPr>
                        <a:t>2026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61942" marR="161942" marT="162015" marB="16201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7"/>
                        </a:lnSpc>
                        <a:defRPr/>
                      </a:pPr>
                      <a:endParaRPr lang="en-US" sz="1400" dirty="0"/>
                    </a:p>
                  </a:txBody>
                  <a:tcPr marL="161942" marR="161942" marT="162015" marB="16201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56" name="Freeform 21">
            <a:extLst>
              <a:ext uri="{FF2B5EF4-FFF2-40B4-BE49-F238E27FC236}">
                <a16:creationId xmlns:a16="http://schemas.microsoft.com/office/drawing/2014/main" xmlns="" id="{915F75BA-5B60-4A06-85D5-E296CE0F6259}"/>
              </a:ext>
            </a:extLst>
          </p:cNvPr>
          <p:cNvSpPr/>
          <p:nvPr/>
        </p:nvSpPr>
        <p:spPr>
          <a:xfrm>
            <a:off x="1872780" y="6033700"/>
            <a:ext cx="4650122" cy="3341680"/>
          </a:xfrm>
          <a:custGeom>
            <a:avLst/>
            <a:gdLst/>
            <a:ahLst/>
            <a:cxnLst/>
            <a:rect l="l" t="t" r="r" b="b"/>
            <a:pathLst>
              <a:path w="2898120" h="2212232">
                <a:moveTo>
                  <a:pt x="0" y="0"/>
                </a:moveTo>
                <a:lnTo>
                  <a:pt x="2898120" y="0"/>
                </a:lnTo>
                <a:lnTo>
                  <a:pt x="2898120" y="2212232"/>
                </a:lnTo>
                <a:lnTo>
                  <a:pt x="0" y="2212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111" name="TextBox 23">
            <a:extLst>
              <a:ext uri="{FF2B5EF4-FFF2-40B4-BE49-F238E27FC236}">
                <a16:creationId xmlns:a16="http://schemas.microsoft.com/office/drawing/2014/main" xmlns="" id="{704DCFE0-6048-480A-B1B3-1522CE7CC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1622425"/>
            <a:ext cx="7920038" cy="43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67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ОРГАНИЗАЦИЯ НЕПРЕРЫВНОГО ПРОФЕССИОНАЛЬНОГО РАЗВИТИЯ ПЕДАГОГИЧЕСКИХ КАДРОВ</a:t>
            </a:r>
            <a:endParaRPr kumimoji="0" lang="en-US" altLang="ru-RU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3112" name="TextBox 25">
            <a:extLst>
              <a:ext uri="{FF2B5EF4-FFF2-40B4-BE49-F238E27FC236}">
                <a16:creationId xmlns:a16="http://schemas.microsoft.com/office/drawing/2014/main" xmlns="" id="{F89FBEA5-A709-4D70-8FB3-42C71736F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7200" y="4743450"/>
            <a:ext cx="37877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1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Методическая и техническая поддержка</a:t>
            </a:r>
            <a:endParaRPr kumimoji="0" lang="en-US" altLang="ru-RU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3113" name="TextBox 31">
            <a:extLst>
              <a:ext uri="{FF2B5EF4-FFF2-40B4-BE49-F238E27FC236}">
                <a16:creationId xmlns:a16="http://schemas.microsoft.com/office/drawing/2014/main" xmlns="" id="{70BC563D-1326-4B15-87D7-4F441B1AD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763" y="3506788"/>
            <a:ext cx="7011987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1538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РАЗВИТИЕ ДЕЯТЕЛЬНОСТИ «ЯЗЫКОВОГО ЦЕНТРА» В УНИВЕРСИТЕТЕ</a:t>
            </a:r>
            <a:endParaRPr kumimoji="0" lang="en-US" altLang="ru-RU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3114" name="TextBox 32">
            <a:extLst>
              <a:ext uri="{FF2B5EF4-FFF2-40B4-BE49-F238E27FC236}">
                <a16:creationId xmlns:a16="http://schemas.microsoft.com/office/drawing/2014/main" xmlns="" id="{6ACECC54-6A66-438C-A1E1-FD2CAF79C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5692775"/>
            <a:ext cx="7588250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1538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ПОСТОЯННОЕ ПРИВЛЕЧЕНИЕ ПРЕПОДАВАТЕЛЕЙ И СТУДЕНТОВ В ЯЗЫКОВОМ ЦЕНТРЕ</a:t>
            </a:r>
            <a:endParaRPr kumimoji="0" lang="en-US" altLang="ru-RU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3115" name="TextBox 33">
            <a:extLst>
              <a:ext uri="{FF2B5EF4-FFF2-40B4-BE49-F238E27FC236}">
                <a16:creationId xmlns:a16="http://schemas.microsoft.com/office/drawing/2014/main" xmlns="" id="{C374516D-EFE1-4C4D-9F47-0CA677CA4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6526213"/>
            <a:ext cx="19875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«Рейтинг профессора-преподавателя» по итогам учебного года</a:t>
            </a:r>
            <a:endParaRPr kumimoji="0" lang="en-US" altLang="ru-RU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3116" name="TextBox 34">
            <a:extLst>
              <a:ext uri="{FF2B5EF4-FFF2-40B4-BE49-F238E27FC236}">
                <a16:creationId xmlns:a16="http://schemas.microsoft.com/office/drawing/2014/main" xmlns="" id="{44F51180-16FF-4C70-B4CA-86A593131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2039938"/>
            <a:ext cx="6351587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215900" indent="-1079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15900" marR="0" lvl="1" indent="-107950" algn="just" defTabSz="914400" rtl="0" eaLnBrk="1" fontAlgn="base" latinLnBrk="0" hangingPunct="1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altLang="ru-RU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  <a:p>
            <a:pPr marL="215900" marR="0" lvl="1" indent="-107950" algn="just" defTabSz="914400" rtl="0" eaLnBrk="1" fontAlgn="base" latinLnBrk="0" hangingPunct="1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Курсы повышения квалификации за рубежом по основным профессиональным компетенциям</a:t>
            </a:r>
            <a:endParaRPr kumimoji="0" lang="en-US" altLang="ru-RU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3117" name="TextBox 35">
            <a:extLst>
              <a:ext uri="{FF2B5EF4-FFF2-40B4-BE49-F238E27FC236}">
                <a16:creationId xmlns:a16="http://schemas.microsoft.com/office/drawing/2014/main" xmlns="" id="{262E1E70-5928-41E9-99A7-B16E5E077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063" y="2693988"/>
            <a:ext cx="6351587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215900" indent="-1079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15900" marR="0" lvl="1" indent="-107950" algn="just" defTabSz="914400" rtl="0" eaLnBrk="1" fontAlgn="base" latinLnBrk="0" hangingPunct="1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Разработка и реализация программы «Молодой кадровый резерв» (грант, проект, переподготовка, стажировка, пакет научно-исследовательской поддержки на основе отбора и т.д.)</a:t>
            </a:r>
            <a:endParaRPr kumimoji="0" lang="en-US" altLang="ru-RU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grpSp>
        <p:nvGrpSpPr>
          <p:cNvPr id="3118" name="Группа 99">
            <a:extLst>
              <a:ext uri="{FF2B5EF4-FFF2-40B4-BE49-F238E27FC236}">
                <a16:creationId xmlns:a16="http://schemas.microsoft.com/office/drawing/2014/main" xmlns="" id="{6D406886-4085-42BF-9D9C-E66D5E5A5888}"/>
              </a:ext>
            </a:extLst>
          </p:cNvPr>
          <p:cNvGrpSpPr>
            <a:grpSpLocks/>
          </p:cNvGrpSpPr>
          <p:nvPr/>
        </p:nvGrpSpPr>
        <p:grpSpPr bwMode="auto">
          <a:xfrm>
            <a:off x="2193925" y="3965575"/>
            <a:ext cx="4679950" cy="1422400"/>
            <a:chOff x="3557745" y="5450431"/>
            <a:chExt cx="2285308" cy="1037957"/>
          </a:xfrm>
        </p:grpSpPr>
        <p:sp>
          <p:nvSpPr>
            <p:cNvPr id="38" name="Freeform 3">
              <a:extLst>
                <a:ext uri="{FF2B5EF4-FFF2-40B4-BE49-F238E27FC236}">
                  <a16:creationId xmlns:a16="http://schemas.microsoft.com/office/drawing/2014/main" xmlns="" id="{F703D4F8-AED1-4EBC-8DEA-9C2324FDC3CE}"/>
                </a:ext>
              </a:extLst>
            </p:cNvPr>
            <p:cNvSpPr/>
            <p:nvPr/>
          </p:nvSpPr>
          <p:spPr>
            <a:xfrm>
              <a:off x="3699734" y="5669744"/>
              <a:ext cx="1909359" cy="582354"/>
            </a:xfrm>
            <a:custGeom>
              <a:avLst/>
              <a:gdLst/>
              <a:ahLst/>
              <a:cxnLst/>
              <a:rect l="l" t="t" r="r" b="b"/>
              <a:pathLst>
                <a:path w="1909359" h="582354">
                  <a:moveTo>
                    <a:pt x="0" y="0"/>
                  </a:moveTo>
                  <a:lnTo>
                    <a:pt x="1909359" y="0"/>
                  </a:lnTo>
                  <a:lnTo>
                    <a:pt x="1909359" y="582355"/>
                  </a:lnTo>
                  <a:lnTo>
                    <a:pt x="0" y="582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3169" name="TextBox 36">
              <a:extLst>
                <a:ext uri="{FF2B5EF4-FFF2-40B4-BE49-F238E27FC236}">
                  <a16:creationId xmlns:a16="http://schemas.microsoft.com/office/drawing/2014/main" xmlns="" id="{72080967-A417-454E-87A8-B58AB7FC18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745" y="5450431"/>
              <a:ext cx="739022" cy="283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538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srgbClr val="F4B6C0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Английский язык</a:t>
              </a:r>
              <a:r>
                <a:rPr kumimoji="0" lang="en-US" altLang="ru-RU" sz="1400" b="1" i="0" u="none" strike="noStrike" kern="1200" cap="none" spc="0" normalizeH="0" baseline="0" noProof="0">
                  <a:ln>
                    <a:noFill/>
                  </a:ln>
                  <a:solidFill>
                    <a:srgbClr val="F4B6C0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i</a:t>
              </a:r>
            </a:p>
          </p:txBody>
        </p:sp>
        <p:sp>
          <p:nvSpPr>
            <p:cNvPr id="3170" name="TextBox 37">
              <a:extLst>
                <a:ext uri="{FF2B5EF4-FFF2-40B4-BE49-F238E27FC236}">
                  <a16:creationId xmlns:a16="http://schemas.microsoft.com/office/drawing/2014/main" xmlns="" id="{5FA25216-D7AA-43C2-9239-941C29C37A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1064" y="5450431"/>
              <a:ext cx="739022" cy="141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538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srgbClr val="EC695B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Русский язык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srgbClr val="EC695B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3171" name="TextBox 38">
              <a:extLst>
                <a:ext uri="{FF2B5EF4-FFF2-40B4-BE49-F238E27FC236}">
                  <a16:creationId xmlns:a16="http://schemas.microsoft.com/office/drawing/2014/main" xmlns="" id="{01C27142-1A27-45E6-BD0A-C543E02303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6430" y="6347349"/>
              <a:ext cx="739022" cy="141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538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srgbClr val="5BC5B8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Немецкий язык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srgbClr val="5BC5B8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3172" name="TextBox 39">
              <a:extLst>
                <a:ext uri="{FF2B5EF4-FFF2-40B4-BE49-F238E27FC236}">
                  <a16:creationId xmlns:a16="http://schemas.microsoft.com/office/drawing/2014/main" xmlns="" id="{6EDF16ED-657D-4510-B77D-643BD1445F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4031" y="6347349"/>
              <a:ext cx="739022" cy="141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538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srgbClr val="F4C142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Турецкий язык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srgbClr val="F4C142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</p:grpSp>
      <p:sp>
        <p:nvSpPr>
          <p:cNvPr id="3119" name="TextBox 40">
            <a:extLst>
              <a:ext uri="{FF2B5EF4-FFF2-40B4-BE49-F238E27FC236}">
                <a16:creationId xmlns:a16="http://schemas.microsoft.com/office/drawing/2014/main" xmlns="" id="{7F7484D9-1242-4789-AE17-ECDCDBE51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8325" y="6272213"/>
            <a:ext cx="2066925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Поощрение студентов сертификатами (Зарубежная стажировка)</a:t>
            </a:r>
            <a:endParaRPr kumimoji="0" lang="en-US" altLang="ru-RU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3120" name="TextBox 41">
            <a:extLst>
              <a:ext uri="{FF2B5EF4-FFF2-40B4-BE49-F238E27FC236}">
                <a16:creationId xmlns:a16="http://schemas.microsoft.com/office/drawing/2014/main" xmlns="" id="{38FDECE0-287C-40CA-856E-105AFE623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338" y="8018463"/>
            <a:ext cx="2038350" cy="129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Расширение курсов других иностранных языков (китайского, японского, корейского, испанского, французского)</a:t>
            </a:r>
            <a:endParaRPr kumimoji="0" lang="en-US" altLang="ru-RU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3121" name="TextBox 42">
            <a:extLst>
              <a:ext uri="{FF2B5EF4-FFF2-40B4-BE49-F238E27FC236}">
                <a16:creationId xmlns:a16="http://schemas.microsoft.com/office/drawing/2014/main" xmlns="" id="{5C6E8A7F-2B98-493F-B2CC-F047DD9E8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3425" y="8307388"/>
            <a:ext cx="19446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Установление уровня владения языком и выдача сертификата</a:t>
            </a:r>
            <a:endParaRPr kumimoji="0" lang="en-US" altLang="ru-RU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3122" name="TextBox 50">
            <a:extLst>
              <a:ext uri="{FF2B5EF4-FFF2-40B4-BE49-F238E27FC236}">
                <a16:creationId xmlns:a16="http://schemas.microsoft.com/office/drawing/2014/main" xmlns="" id="{242BE71A-BA5E-45C3-9A7C-11266006A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3263" y="6165850"/>
            <a:ext cx="319563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Обеспечение информационно-ресурсного центра современной библиографической и информационной системой.</a:t>
            </a:r>
            <a:endParaRPr kumimoji="0" lang="en-US" altLang="ru-RU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3123" name="TextBox 51">
            <a:extLst>
              <a:ext uri="{FF2B5EF4-FFF2-40B4-BE49-F238E27FC236}">
                <a16:creationId xmlns:a16="http://schemas.microsoft.com/office/drawing/2014/main" xmlns="" id="{020794C1-8C84-4709-BF1E-78749FB7B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5200" y="7192963"/>
            <a:ext cx="287178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Организация университетской типографии</a:t>
            </a:r>
            <a:endParaRPr kumimoji="0" lang="en-US" altLang="ru-RU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3124" name="TextBox 52">
            <a:extLst>
              <a:ext uri="{FF2B5EF4-FFF2-40B4-BE49-F238E27FC236}">
                <a16:creationId xmlns:a16="http://schemas.microsoft.com/office/drawing/2014/main" xmlns="" id="{01CCB5EE-8C2F-4F97-8167-748BAAA94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4300" y="5643563"/>
            <a:ext cx="2217738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Меры</a:t>
            </a:r>
            <a:endParaRPr kumimoji="0" lang="en-US" altLang="ru-RU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sp>
        <p:nvSpPr>
          <p:cNvPr id="3125" name="TextBox 53">
            <a:extLst>
              <a:ext uri="{FF2B5EF4-FFF2-40B4-BE49-F238E27FC236}">
                <a16:creationId xmlns:a16="http://schemas.microsoft.com/office/drawing/2014/main" xmlns="" id="{114440F3-CD7C-45D7-A009-19FFCCE3D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0" y="5332413"/>
            <a:ext cx="2217738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rPr>
              <a:t>Финансирование</a:t>
            </a:r>
            <a:endParaRPr kumimoji="0" lang="en-US" altLang="ru-RU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+mn-ea"/>
              <a:cs typeface="Lora Bold" panose="020B0604020202020204" charset="-52"/>
              <a:sym typeface="Lora Bold" panose="020B0604020202020204" charset="-52"/>
            </a:endParaRPr>
          </a:p>
        </p:txBody>
      </p:sp>
      <p:grpSp>
        <p:nvGrpSpPr>
          <p:cNvPr id="3126" name="Группа 100">
            <a:extLst>
              <a:ext uri="{FF2B5EF4-FFF2-40B4-BE49-F238E27FC236}">
                <a16:creationId xmlns:a16="http://schemas.microsoft.com/office/drawing/2014/main" xmlns="" id="{B784F44F-BAA6-4E8E-9F4C-9C889FCA68E9}"/>
              </a:ext>
            </a:extLst>
          </p:cNvPr>
          <p:cNvGrpSpPr>
            <a:grpSpLocks/>
          </p:cNvGrpSpPr>
          <p:nvPr/>
        </p:nvGrpSpPr>
        <p:grpSpPr bwMode="auto">
          <a:xfrm>
            <a:off x="8746160" y="1530755"/>
            <a:ext cx="9049714" cy="2998382"/>
            <a:chOff x="6587002" y="1910876"/>
            <a:chExt cx="4981952" cy="1687918"/>
          </a:xfrm>
        </p:grpSpPr>
        <p:sp>
          <p:nvSpPr>
            <p:cNvPr id="39" name="Freeform 4">
              <a:extLst>
                <a:ext uri="{FF2B5EF4-FFF2-40B4-BE49-F238E27FC236}">
                  <a16:creationId xmlns:a16="http://schemas.microsoft.com/office/drawing/2014/main" xmlns="" id="{406F7F1A-2B5B-4E38-9F50-AE60C5C63DB9}"/>
                </a:ext>
              </a:extLst>
            </p:cNvPr>
            <p:cNvSpPr/>
            <p:nvPr/>
          </p:nvSpPr>
          <p:spPr>
            <a:xfrm>
              <a:off x="6698277" y="2151737"/>
              <a:ext cx="4870677" cy="1447057"/>
            </a:xfrm>
            <a:custGeom>
              <a:avLst/>
              <a:gdLst/>
              <a:ahLst/>
              <a:cxnLst/>
              <a:rect l="l" t="t" r="r" b="b"/>
              <a:pathLst>
                <a:path w="4870677" h="1447057">
                  <a:moveTo>
                    <a:pt x="0" y="0"/>
                  </a:moveTo>
                  <a:lnTo>
                    <a:pt x="4870677" y="0"/>
                  </a:lnTo>
                  <a:lnTo>
                    <a:pt x="4870677" y="1447057"/>
                  </a:lnTo>
                  <a:lnTo>
                    <a:pt x="0" y="144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6" r="-166" b="-8912"/>
              </a:stretch>
            </a:blipFill>
          </p:spPr>
        </p:sp>
        <p:sp>
          <p:nvSpPr>
            <p:cNvPr id="3160" name="TextBox 24">
              <a:extLst>
                <a:ext uri="{FF2B5EF4-FFF2-40B4-BE49-F238E27FC236}">
                  <a16:creationId xmlns:a16="http://schemas.microsoft.com/office/drawing/2014/main" xmlns="" id="{AEC28311-9B32-48EC-AE95-E0F02C1C0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7002" y="1910876"/>
              <a:ext cx="4929731" cy="208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ts val="1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ВНЕДРЕНИЕ НОВОЙ МОДЕЛИ ПЕДАГОГИЧЕСКОГО ОБРАЗОВАНИЯ И НАУЧНЫХ НАПРАВЛЕНИЙ</a:t>
              </a:r>
              <a:endParaRPr kumimoji="0" lang="en-US" alt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3161" name="TextBox 62">
              <a:extLst>
                <a:ext uri="{FF2B5EF4-FFF2-40B4-BE49-F238E27FC236}">
                  <a16:creationId xmlns:a16="http://schemas.microsoft.com/office/drawing/2014/main" xmlns="" id="{0EC91668-0CE7-4ED8-BD14-B92FF5F239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0012" y="2679758"/>
              <a:ext cx="764205" cy="84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Обучение самостоятельному освоению знаний и инновационных предложений в ходе занятий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3162" name="TextBox 63">
              <a:extLst>
                <a:ext uri="{FF2B5EF4-FFF2-40B4-BE49-F238E27FC236}">
                  <a16:creationId xmlns:a16="http://schemas.microsoft.com/office/drawing/2014/main" xmlns="" id="{420E9A19-C9BA-4AD4-8D4D-4A833BD44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1259" y="2928314"/>
              <a:ext cx="764205" cy="363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Обеспечение учебных материалов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3163" name="TextBox 64">
              <a:extLst>
                <a:ext uri="{FF2B5EF4-FFF2-40B4-BE49-F238E27FC236}">
                  <a16:creationId xmlns:a16="http://schemas.microsoft.com/office/drawing/2014/main" xmlns="" id="{45BC41E8-ED28-4281-BCA4-15A2BE3BAA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4254" y="2783370"/>
              <a:ext cx="750284" cy="667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Внедрять системный анализ, самостоятельное принятие решений в содержание курсовых работ и проектов.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3164" name="TextBox 65">
              <a:extLst>
                <a:ext uri="{FF2B5EF4-FFF2-40B4-BE49-F238E27FC236}">
                  <a16:creationId xmlns:a16="http://schemas.microsoft.com/office/drawing/2014/main" xmlns="" id="{DB91F891-0295-404F-A5B0-7B269BE74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78851" y="2783570"/>
              <a:ext cx="851898" cy="485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Работа над реальными проблемами на тренингах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3165" name="TextBox 66">
              <a:extLst>
                <a:ext uri="{FF2B5EF4-FFF2-40B4-BE49-F238E27FC236}">
                  <a16:creationId xmlns:a16="http://schemas.microsoft.com/office/drawing/2014/main" xmlns="" id="{518D4118-4286-4F3A-9AB6-220F41A14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58103" y="2719004"/>
              <a:ext cx="801214" cy="748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indent="-3238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-32385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Оценка результата образовательного процесса на основе уровня практических навыков и профессиональной компетентности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</p:grpSp>
      <p:grpSp>
        <p:nvGrpSpPr>
          <p:cNvPr id="3127" name="Группа 101">
            <a:extLst>
              <a:ext uri="{FF2B5EF4-FFF2-40B4-BE49-F238E27FC236}">
                <a16:creationId xmlns:a16="http://schemas.microsoft.com/office/drawing/2014/main" xmlns="" id="{DA61B912-17EB-4415-A70B-C866E7E87EB1}"/>
              </a:ext>
            </a:extLst>
          </p:cNvPr>
          <p:cNvGrpSpPr>
            <a:grpSpLocks/>
          </p:cNvGrpSpPr>
          <p:nvPr/>
        </p:nvGrpSpPr>
        <p:grpSpPr bwMode="auto">
          <a:xfrm>
            <a:off x="7775575" y="8037513"/>
            <a:ext cx="10233025" cy="2028825"/>
            <a:chOff x="10361753" y="7396105"/>
            <a:chExt cx="6271004" cy="2029018"/>
          </a:xfrm>
        </p:grpSpPr>
        <p:grpSp>
          <p:nvGrpSpPr>
            <p:cNvPr id="3128" name="Group 6">
              <a:extLst>
                <a:ext uri="{FF2B5EF4-FFF2-40B4-BE49-F238E27FC236}">
                  <a16:creationId xmlns:a16="http://schemas.microsoft.com/office/drawing/2014/main" xmlns="" id="{93B47865-2204-43AF-964D-EE179995E1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86513" y="8076386"/>
              <a:ext cx="985487" cy="285750"/>
              <a:chOff x="0" y="0"/>
              <a:chExt cx="353176" cy="102406"/>
            </a:xfrm>
          </p:grpSpPr>
          <p:sp>
            <p:nvSpPr>
              <p:cNvPr id="3155" name="Freeform 7">
                <a:extLst>
                  <a:ext uri="{FF2B5EF4-FFF2-40B4-BE49-F238E27FC236}">
                    <a16:creationId xmlns:a16="http://schemas.microsoft.com/office/drawing/2014/main" xmlns="" id="{C513D4FC-02E5-4C95-883F-39FA7D9349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53176" cy="102406"/>
              </a:xfrm>
              <a:custGeom>
                <a:avLst/>
                <a:gdLst>
                  <a:gd name="T0" fmla="*/ 51203 w 353176"/>
                  <a:gd name="T1" fmla="*/ 0 h 102406"/>
                  <a:gd name="T2" fmla="*/ 301973 w 353176"/>
                  <a:gd name="T3" fmla="*/ 0 h 102406"/>
                  <a:gd name="T4" fmla="*/ 353176 w 353176"/>
                  <a:gd name="T5" fmla="*/ 51203 h 102406"/>
                  <a:gd name="T6" fmla="*/ 353176 w 353176"/>
                  <a:gd name="T7" fmla="*/ 51203 h 102406"/>
                  <a:gd name="T8" fmla="*/ 338179 w 353176"/>
                  <a:gd name="T9" fmla="*/ 87409 h 102406"/>
                  <a:gd name="T10" fmla="*/ 301973 w 353176"/>
                  <a:gd name="T11" fmla="*/ 102406 h 102406"/>
                  <a:gd name="T12" fmla="*/ 51203 w 353176"/>
                  <a:gd name="T13" fmla="*/ 102406 h 102406"/>
                  <a:gd name="T14" fmla="*/ 14997 w 353176"/>
                  <a:gd name="T15" fmla="*/ 87409 h 102406"/>
                  <a:gd name="T16" fmla="*/ 0 w 353176"/>
                  <a:gd name="T17" fmla="*/ 51203 h 102406"/>
                  <a:gd name="T18" fmla="*/ 0 w 353176"/>
                  <a:gd name="T19" fmla="*/ 51203 h 102406"/>
                  <a:gd name="T20" fmla="*/ 14997 w 353176"/>
                  <a:gd name="T21" fmla="*/ 14997 h 102406"/>
                  <a:gd name="T22" fmla="*/ 51203 w 353176"/>
                  <a:gd name="T23" fmla="*/ 0 h 102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56" name="TextBox 8">
                <a:extLst>
                  <a:ext uri="{FF2B5EF4-FFF2-40B4-BE49-F238E27FC236}">
                    <a16:creationId xmlns:a16="http://schemas.microsoft.com/office/drawing/2014/main" xmlns="" id="{82B25245-915F-40B9-99A3-E63FB0ADEB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-9525"/>
                <a:ext cx="353176" cy="1119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ts val="14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altLang="ru-RU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51D40"/>
                    </a:solidFill>
                    <a:effectLst/>
                    <a:uLnTx/>
                    <a:uFillTx/>
                    <a:latin typeface="DM Sans Bold" panose="020B0604020202020204" charset="0"/>
                    <a:ea typeface="+mn-ea"/>
                    <a:cs typeface="Lora Bold" panose="020B0604020202020204" charset="-52"/>
                    <a:sym typeface="Lora Bold" panose="020B0604020202020204" charset="-52"/>
                  </a:rPr>
                  <a:t>Математика</a:t>
                </a:r>
                <a:endParaRPr kumimoji="0" lang="en-US" altLang="ru-RU" sz="1400" b="1" i="0" u="none" strike="noStrike" kern="1200" cap="none" spc="0" normalizeH="0" baseline="0" noProof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endParaRPr>
              </a:p>
            </p:txBody>
          </p:sp>
        </p:grpSp>
        <p:grpSp>
          <p:nvGrpSpPr>
            <p:cNvPr id="3129" name="Group 9">
              <a:extLst>
                <a:ext uri="{FF2B5EF4-FFF2-40B4-BE49-F238E27FC236}">
                  <a16:creationId xmlns:a16="http://schemas.microsoft.com/office/drawing/2014/main" xmlns="" id="{F17EE32F-3F55-4F32-81AF-3B7139E8BD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10100" y="8076386"/>
              <a:ext cx="985487" cy="285750"/>
              <a:chOff x="0" y="0"/>
              <a:chExt cx="353176" cy="102406"/>
            </a:xfrm>
          </p:grpSpPr>
          <p:sp>
            <p:nvSpPr>
              <p:cNvPr id="3153" name="Freeform 10">
                <a:extLst>
                  <a:ext uri="{FF2B5EF4-FFF2-40B4-BE49-F238E27FC236}">
                    <a16:creationId xmlns:a16="http://schemas.microsoft.com/office/drawing/2014/main" xmlns="" id="{5A29CB4A-44BA-4B49-BCB7-09062C3AF6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53176" cy="102406"/>
              </a:xfrm>
              <a:custGeom>
                <a:avLst/>
                <a:gdLst>
                  <a:gd name="T0" fmla="*/ 51203 w 353176"/>
                  <a:gd name="T1" fmla="*/ 0 h 102406"/>
                  <a:gd name="T2" fmla="*/ 301973 w 353176"/>
                  <a:gd name="T3" fmla="*/ 0 h 102406"/>
                  <a:gd name="T4" fmla="*/ 353176 w 353176"/>
                  <a:gd name="T5" fmla="*/ 51203 h 102406"/>
                  <a:gd name="T6" fmla="*/ 353176 w 353176"/>
                  <a:gd name="T7" fmla="*/ 51203 h 102406"/>
                  <a:gd name="T8" fmla="*/ 338179 w 353176"/>
                  <a:gd name="T9" fmla="*/ 87409 h 102406"/>
                  <a:gd name="T10" fmla="*/ 301973 w 353176"/>
                  <a:gd name="T11" fmla="*/ 102406 h 102406"/>
                  <a:gd name="T12" fmla="*/ 51203 w 353176"/>
                  <a:gd name="T13" fmla="*/ 102406 h 102406"/>
                  <a:gd name="T14" fmla="*/ 14997 w 353176"/>
                  <a:gd name="T15" fmla="*/ 87409 h 102406"/>
                  <a:gd name="T16" fmla="*/ 0 w 353176"/>
                  <a:gd name="T17" fmla="*/ 51203 h 102406"/>
                  <a:gd name="T18" fmla="*/ 0 w 353176"/>
                  <a:gd name="T19" fmla="*/ 51203 h 102406"/>
                  <a:gd name="T20" fmla="*/ 14997 w 353176"/>
                  <a:gd name="T21" fmla="*/ 14997 h 102406"/>
                  <a:gd name="T22" fmla="*/ 51203 w 353176"/>
                  <a:gd name="T23" fmla="*/ 0 h 102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54" name="TextBox 11">
                <a:extLst>
                  <a:ext uri="{FF2B5EF4-FFF2-40B4-BE49-F238E27FC236}">
                    <a16:creationId xmlns:a16="http://schemas.microsoft.com/office/drawing/2014/main" xmlns="" id="{79BB0152-0F90-472D-89EE-D50587624E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-9525"/>
                <a:ext cx="353176" cy="1119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ts val="14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altLang="ru-RU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51D40"/>
                    </a:solidFill>
                    <a:effectLst/>
                    <a:uLnTx/>
                    <a:uFillTx/>
                    <a:latin typeface="DM Sans Bold" panose="020B0604020202020204" charset="0"/>
                    <a:ea typeface="+mn-ea"/>
                    <a:cs typeface="Lora Bold" panose="020B0604020202020204" charset="-52"/>
                    <a:sym typeface="Lora Bold" panose="020B0604020202020204" charset="-52"/>
                  </a:rPr>
                  <a:t>Физика</a:t>
                </a:r>
                <a:endParaRPr kumimoji="0" lang="en-US" altLang="ru-RU" sz="1400" b="1" i="0" u="none" strike="noStrike" kern="1200" cap="none" spc="0" normalizeH="0" baseline="0" noProof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endParaRPr>
              </a:p>
            </p:txBody>
          </p:sp>
        </p:grpSp>
        <p:grpSp>
          <p:nvGrpSpPr>
            <p:cNvPr id="3130" name="Group 12">
              <a:extLst>
                <a:ext uri="{FF2B5EF4-FFF2-40B4-BE49-F238E27FC236}">
                  <a16:creationId xmlns:a16="http://schemas.microsoft.com/office/drawing/2014/main" xmlns="" id="{BDF60DE1-6642-4674-8632-5C2C182A5D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30509" y="8091341"/>
              <a:ext cx="985487" cy="285750"/>
              <a:chOff x="0" y="0"/>
              <a:chExt cx="353176" cy="102406"/>
            </a:xfrm>
          </p:grpSpPr>
          <p:sp>
            <p:nvSpPr>
              <p:cNvPr id="3151" name="Freeform 13">
                <a:extLst>
                  <a:ext uri="{FF2B5EF4-FFF2-40B4-BE49-F238E27FC236}">
                    <a16:creationId xmlns:a16="http://schemas.microsoft.com/office/drawing/2014/main" xmlns="" id="{52E568B8-21AC-461F-9DD3-36A423EA53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53176" cy="102406"/>
              </a:xfrm>
              <a:custGeom>
                <a:avLst/>
                <a:gdLst>
                  <a:gd name="T0" fmla="*/ 51203 w 353176"/>
                  <a:gd name="T1" fmla="*/ 0 h 102406"/>
                  <a:gd name="T2" fmla="*/ 301973 w 353176"/>
                  <a:gd name="T3" fmla="*/ 0 h 102406"/>
                  <a:gd name="T4" fmla="*/ 353176 w 353176"/>
                  <a:gd name="T5" fmla="*/ 51203 h 102406"/>
                  <a:gd name="T6" fmla="*/ 353176 w 353176"/>
                  <a:gd name="T7" fmla="*/ 51203 h 102406"/>
                  <a:gd name="T8" fmla="*/ 338179 w 353176"/>
                  <a:gd name="T9" fmla="*/ 87409 h 102406"/>
                  <a:gd name="T10" fmla="*/ 301973 w 353176"/>
                  <a:gd name="T11" fmla="*/ 102406 h 102406"/>
                  <a:gd name="T12" fmla="*/ 51203 w 353176"/>
                  <a:gd name="T13" fmla="*/ 102406 h 102406"/>
                  <a:gd name="T14" fmla="*/ 14997 w 353176"/>
                  <a:gd name="T15" fmla="*/ 87409 h 102406"/>
                  <a:gd name="T16" fmla="*/ 0 w 353176"/>
                  <a:gd name="T17" fmla="*/ 51203 h 102406"/>
                  <a:gd name="T18" fmla="*/ 0 w 353176"/>
                  <a:gd name="T19" fmla="*/ 51203 h 102406"/>
                  <a:gd name="T20" fmla="*/ 14997 w 353176"/>
                  <a:gd name="T21" fmla="*/ 14997 h 102406"/>
                  <a:gd name="T22" fmla="*/ 51203 w 353176"/>
                  <a:gd name="T23" fmla="*/ 0 h 102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52" name="TextBox 14">
                <a:extLst>
                  <a:ext uri="{FF2B5EF4-FFF2-40B4-BE49-F238E27FC236}">
                    <a16:creationId xmlns:a16="http://schemas.microsoft.com/office/drawing/2014/main" xmlns="" id="{788F3943-E609-4095-BA5A-F5E35059EC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-9525"/>
                <a:ext cx="353176" cy="1119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ts val="14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altLang="ru-RU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51D40"/>
                    </a:solidFill>
                    <a:effectLst/>
                    <a:uLnTx/>
                    <a:uFillTx/>
                    <a:latin typeface="DM Sans Bold" panose="020B0604020202020204" charset="0"/>
                    <a:ea typeface="+mn-ea"/>
                    <a:cs typeface="Lora Bold" panose="020B0604020202020204" charset="-52"/>
                    <a:sym typeface="Lora Bold" panose="020B0604020202020204" charset="-52"/>
                  </a:rPr>
                  <a:t>Информатика</a:t>
                </a:r>
                <a:endParaRPr kumimoji="0" lang="en-US" altLang="ru-RU" sz="1400" b="1" i="0" u="none" strike="noStrike" kern="1200" cap="none" spc="0" normalizeH="0" baseline="0" noProof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endParaRPr>
              </a:p>
            </p:txBody>
          </p:sp>
        </p:grpSp>
        <p:grpSp>
          <p:nvGrpSpPr>
            <p:cNvPr id="3131" name="Group 15">
              <a:extLst>
                <a:ext uri="{FF2B5EF4-FFF2-40B4-BE49-F238E27FC236}">
                  <a16:creationId xmlns:a16="http://schemas.microsoft.com/office/drawing/2014/main" xmlns="" id="{61F9F11B-154F-46D6-99F3-0D165CA732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50916" y="8075742"/>
              <a:ext cx="1047048" cy="312328"/>
              <a:chOff x="-7967" y="-231"/>
              <a:chExt cx="375238" cy="111931"/>
            </a:xfrm>
          </p:grpSpPr>
          <p:sp>
            <p:nvSpPr>
              <p:cNvPr id="3149" name="Freeform 16">
                <a:extLst>
                  <a:ext uri="{FF2B5EF4-FFF2-40B4-BE49-F238E27FC236}">
                    <a16:creationId xmlns:a16="http://schemas.microsoft.com/office/drawing/2014/main" xmlns="" id="{0A251A4E-E6AD-4EC6-9FAF-F0DF4A648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53176" cy="102406"/>
              </a:xfrm>
              <a:custGeom>
                <a:avLst/>
                <a:gdLst>
                  <a:gd name="T0" fmla="*/ 51203 w 353176"/>
                  <a:gd name="T1" fmla="*/ 0 h 102406"/>
                  <a:gd name="T2" fmla="*/ 301973 w 353176"/>
                  <a:gd name="T3" fmla="*/ 0 h 102406"/>
                  <a:gd name="T4" fmla="*/ 353176 w 353176"/>
                  <a:gd name="T5" fmla="*/ 51203 h 102406"/>
                  <a:gd name="T6" fmla="*/ 353176 w 353176"/>
                  <a:gd name="T7" fmla="*/ 51203 h 102406"/>
                  <a:gd name="T8" fmla="*/ 338179 w 353176"/>
                  <a:gd name="T9" fmla="*/ 87409 h 102406"/>
                  <a:gd name="T10" fmla="*/ 301973 w 353176"/>
                  <a:gd name="T11" fmla="*/ 102406 h 102406"/>
                  <a:gd name="T12" fmla="*/ 51203 w 353176"/>
                  <a:gd name="T13" fmla="*/ 102406 h 102406"/>
                  <a:gd name="T14" fmla="*/ 14997 w 353176"/>
                  <a:gd name="T15" fmla="*/ 87409 h 102406"/>
                  <a:gd name="T16" fmla="*/ 0 w 353176"/>
                  <a:gd name="T17" fmla="*/ 51203 h 102406"/>
                  <a:gd name="T18" fmla="*/ 0 w 353176"/>
                  <a:gd name="T19" fmla="*/ 51203 h 102406"/>
                  <a:gd name="T20" fmla="*/ 14997 w 353176"/>
                  <a:gd name="T21" fmla="*/ 14997 h 102406"/>
                  <a:gd name="T22" fmla="*/ 51203 w 353176"/>
                  <a:gd name="T23" fmla="*/ 0 h 102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50" name="TextBox 17">
                <a:extLst>
                  <a:ext uri="{FF2B5EF4-FFF2-40B4-BE49-F238E27FC236}">
                    <a16:creationId xmlns:a16="http://schemas.microsoft.com/office/drawing/2014/main" xmlns="" id="{BFB65349-8C17-4EF3-9121-0FEA28F743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7967" y="-231"/>
                <a:ext cx="375238" cy="1119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ts val="14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altLang="ru-RU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51D40"/>
                    </a:solidFill>
                    <a:effectLst/>
                    <a:uLnTx/>
                    <a:uFillTx/>
                    <a:latin typeface="DM Sans Bold" panose="020B0604020202020204" charset="0"/>
                    <a:ea typeface="+mn-ea"/>
                    <a:cs typeface="Lora Bold" panose="020B0604020202020204" charset="-52"/>
                    <a:sym typeface="Lora Bold" panose="020B0604020202020204" charset="-52"/>
                  </a:rPr>
                  <a:t>Английский язык</a:t>
                </a:r>
                <a:endParaRPr kumimoji="0" lang="en-US" alt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endParaRPr>
              </a:p>
            </p:txBody>
          </p:sp>
        </p:grpSp>
        <p:grpSp>
          <p:nvGrpSpPr>
            <p:cNvPr id="3132" name="Group 18">
              <a:extLst>
                <a:ext uri="{FF2B5EF4-FFF2-40B4-BE49-F238E27FC236}">
                  <a16:creationId xmlns:a16="http://schemas.microsoft.com/office/drawing/2014/main" xmlns="" id="{8AAE8D24-26D7-45AF-9FC1-8E6D17270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20194" y="8076386"/>
              <a:ext cx="985487" cy="285750"/>
              <a:chOff x="0" y="0"/>
              <a:chExt cx="353176" cy="102406"/>
            </a:xfrm>
          </p:grpSpPr>
          <p:sp>
            <p:nvSpPr>
              <p:cNvPr id="3147" name="Freeform 19">
                <a:extLst>
                  <a:ext uri="{FF2B5EF4-FFF2-40B4-BE49-F238E27FC236}">
                    <a16:creationId xmlns:a16="http://schemas.microsoft.com/office/drawing/2014/main" xmlns="" id="{682BD93F-3F5F-41E9-88EA-74B98DFCA3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53176" cy="102406"/>
              </a:xfrm>
              <a:custGeom>
                <a:avLst/>
                <a:gdLst>
                  <a:gd name="T0" fmla="*/ 51203 w 353176"/>
                  <a:gd name="T1" fmla="*/ 0 h 102406"/>
                  <a:gd name="T2" fmla="*/ 301973 w 353176"/>
                  <a:gd name="T3" fmla="*/ 0 h 102406"/>
                  <a:gd name="T4" fmla="*/ 353176 w 353176"/>
                  <a:gd name="T5" fmla="*/ 51203 h 102406"/>
                  <a:gd name="T6" fmla="*/ 353176 w 353176"/>
                  <a:gd name="T7" fmla="*/ 51203 h 102406"/>
                  <a:gd name="T8" fmla="*/ 338179 w 353176"/>
                  <a:gd name="T9" fmla="*/ 87409 h 102406"/>
                  <a:gd name="T10" fmla="*/ 301973 w 353176"/>
                  <a:gd name="T11" fmla="*/ 102406 h 102406"/>
                  <a:gd name="T12" fmla="*/ 51203 w 353176"/>
                  <a:gd name="T13" fmla="*/ 102406 h 102406"/>
                  <a:gd name="T14" fmla="*/ 14997 w 353176"/>
                  <a:gd name="T15" fmla="*/ 87409 h 102406"/>
                  <a:gd name="T16" fmla="*/ 0 w 353176"/>
                  <a:gd name="T17" fmla="*/ 51203 h 102406"/>
                  <a:gd name="T18" fmla="*/ 0 w 353176"/>
                  <a:gd name="T19" fmla="*/ 51203 h 102406"/>
                  <a:gd name="T20" fmla="*/ 14997 w 353176"/>
                  <a:gd name="T21" fmla="*/ 14997 h 102406"/>
                  <a:gd name="T22" fmla="*/ 51203 w 353176"/>
                  <a:gd name="T23" fmla="*/ 0 h 102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48" name="TextBox 20">
                <a:extLst>
                  <a:ext uri="{FF2B5EF4-FFF2-40B4-BE49-F238E27FC236}">
                    <a16:creationId xmlns:a16="http://schemas.microsoft.com/office/drawing/2014/main" xmlns="" id="{E487E0B9-3B6C-471A-853A-A359DEE956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-9525"/>
                <a:ext cx="353176" cy="1119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ts val="14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altLang="ru-RU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51D40"/>
                    </a:solidFill>
                    <a:effectLst/>
                    <a:uLnTx/>
                    <a:uFillTx/>
                    <a:latin typeface="DM Sans Bold" panose="020B0604020202020204" charset="0"/>
                    <a:ea typeface="+mn-ea"/>
                    <a:cs typeface="Lora Bold" panose="020B0604020202020204" charset="-52"/>
                    <a:sym typeface="Lora Bold" panose="020B0604020202020204" charset="-52"/>
                  </a:rPr>
                  <a:t>Русский язык</a:t>
                </a:r>
                <a:endParaRPr kumimoji="0" lang="en-US" altLang="ru-RU" sz="1400" b="1" i="0" u="none" strike="noStrike" kern="1200" cap="none" spc="0" normalizeH="0" baseline="0" noProof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endParaRPr>
              </a:p>
            </p:txBody>
          </p:sp>
        </p:grpSp>
        <p:sp>
          <p:nvSpPr>
            <p:cNvPr id="3133" name="TextBox 26">
              <a:extLst>
                <a:ext uri="{FF2B5EF4-FFF2-40B4-BE49-F238E27FC236}">
                  <a16:creationId xmlns:a16="http://schemas.microsoft.com/office/drawing/2014/main" xmlns="" id="{506AC9BF-6FCB-4A67-B754-C9599660A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28408" y="7396105"/>
              <a:ext cx="3860343" cy="222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ts val="182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ВЫБОР ТАЛАНТОВ. РАБОТА СО ШКОЛОЙ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3134" name="TextBox 27">
              <a:extLst>
                <a:ext uri="{FF2B5EF4-FFF2-40B4-BE49-F238E27FC236}">
                  <a16:creationId xmlns:a16="http://schemas.microsoft.com/office/drawing/2014/main" xmlns="" id="{A56BA79F-243C-4EC3-8DFB-C7EF5F0F0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37109" y="7669144"/>
              <a:ext cx="1483384" cy="222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ts val="182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Олимпиада в ТУЭС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3135" name="TextBox 28">
              <a:extLst>
                <a:ext uri="{FF2B5EF4-FFF2-40B4-BE49-F238E27FC236}">
                  <a16:creationId xmlns:a16="http://schemas.microsoft.com/office/drawing/2014/main" xmlns="" id="{1119C05A-D863-4A7C-88EF-EB728D8CF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7467" y="8468262"/>
              <a:ext cx="2723862" cy="222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ts val="182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Начиная с 2023-2024 учебного года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3136" name="TextBox 29">
              <a:extLst>
                <a:ext uri="{FF2B5EF4-FFF2-40B4-BE49-F238E27FC236}">
                  <a16:creationId xmlns:a16="http://schemas.microsoft.com/office/drawing/2014/main" xmlns="" id="{68BE3C9A-E2F9-42D7-98FE-EFC44F8849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5157" y="8738539"/>
              <a:ext cx="336052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Учебно-методическая поддержка.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Для учащихся районных школ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введение тренинга-семинара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sp>
          <p:nvSpPr>
            <p:cNvPr id="3137" name="TextBox 30">
              <a:extLst>
                <a:ext uri="{FF2B5EF4-FFF2-40B4-BE49-F238E27FC236}">
                  <a16:creationId xmlns:a16="http://schemas.microsoft.com/office/drawing/2014/main" xmlns="" id="{BC3EE592-ACE9-4442-A29A-2A5ED9F89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61753" y="8778792"/>
              <a:ext cx="3497456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Участвовали на  Олимпиаде все школы Сурхандарьинской области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ru-RU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rPr>
                <a:t> </a:t>
              </a:r>
              <a:endParaRPr kumimoji="0" lang="en-US" altLang="ru-RU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Lora Bold" panose="020B0604020202020204" charset="-52"/>
                <a:sym typeface="Lora Bold" panose="020B0604020202020204" charset="-52"/>
              </a:endParaRPr>
            </a:p>
          </p:txBody>
        </p:sp>
        <p:grpSp>
          <p:nvGrpSpPr>
            <p:cNvPr id="3138" name="Group 47">
              <a:extLst>
                <a:ext uri="{FF2B5EF4-FFF2-40B4-BE49-F238E27FC236}">
                  <a16:creationId xmlns:a16="http://schemas.microsoft.com/office/drawing/2014/main" xmlns="" id="{94EA08B0-023B-4AA0-A959-A0A4082FDC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64831" y="7716002"/>
              <a:ext cx="1280751" cy="312329"/>
              <a:chOff x="0" y="-17718"/>
              <a:chExt cx="458992" cy="111932"/>
            </a:xfrm>
          </p:grpSpPr>
          <p:sp>
            <p:nvSpPr>
              <p:cNvPr id="3145" name="Freeform 48">
                <a:extLst>
                  <a:ext uri="{FF2B5EF4-FFF2-40B4-BE49-F238E27FC236}">
                    <a16:creationId xmlns:a16="http://schemas.microsoft.com/office/drawing/2014/main" xmlns="" id="{3B9D4B26-74C8-4E9F-BED4-2C6CFF4314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-17718"/>
                <a:ext cx="458992" cy="111932"/>
              </a:xfrm>
              <a:custGeom>
                <a:avLst/>
                <a:gdLst>
                  <a:gd name="T0" fmla="*/ 47107 w 458992"/>
                  <a:gd name="T1" fmla="*/ 0 h 94214"/>
                  <a:gd name="T2" fmla="*/ 411885 w 458992"/>
                  <a:gd name="T3" fmla="*/ 0 h 94214"/>
                  <a:gd name="T4" fmla="*/ 445195 w 458992"/>
                  <a:gd name="T5" fmla="*/ 13797 h 94214"/>
                  <a:gd name="T6" fmla="*/ 458992 w 458992"/>
                  <a:gd name="T7" fmla="*/ 47107 h 94214"/>
                  <a:gd name="T8" fmla="*/ 458992 w 458992"/>
                  <a:gd name="T9" fmla="*/ 47107 h 94214"/>
                  <a:gd name="T10" fmla="*/ 445195 w 458992"/>
                  <a:gd name="T11" fmla="*/ 80417 h 94214"/>
                  <a:gd name="T12" fmla="*/ 411885 w 458992"/>
                  <a:gd name="T13" fmla="*/ 94214 h 94214"/>
                  <a:gd name="T14" fmla="*/ 47107 w 458992"/>
                  <a:gd name="T15" fmla="*/ 94214 h 94214"/>
                  <a:gd name="T16" fmla="*/ 13797 w 458992"/>
                  <a:gd name="T17" fmla="*/ 80417 h 94214"/>
                  <a:gd name="T18" fmla="*/ 0 w 458992"/>
                  <a:gd name="T19" fmla="*/ 47107 h 94214"/>
                  <a:gd name="T20" fmla="*/ 0 w 458992"/>
                  <a:gd name="T21" fmla="*/ 47107 h 94214"/>
                  <a:gd name="T22" fmla="*/ 13797 w 458992"/>
                  <a:gd name="T23" fmla="*/ 13797 h 94214"/>
                  <a:gd name="T24" fmla="*/ 47107 w 458992"/>
                  <a:gd name="T25" fmla="*/ 0 h 94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8992" h="94214">
                    <a:moveTo>
                      <a:pt x="47107" y="0"/>
                    </a:moveTo>
                    <a:lnTo>
                      <a:pt x="411885" y="0"/>
                    </a:lnTo>
                    <a:cubicBezTo>
                      <a:pt x="424379" y="0"/>
                      <a:pt x="436361" y="4963"/>
                      <a:pt x="445195" y="13797"/>
                    </a:cubicBezTo>
                    <a:cubicBezTo>
                      <a:pt x="454029" y="22632"/>
                      <a:pt x="458992" y="34613"/>
                      <a:pt x="458992" y="47107"/>
                    </a:cubicBezTo>
                    <a:cubicBezTo>
                      <a:pt x="458992" y="59600"/>
                      <a:pt x="454029" y="71582"/>
                      <a:pt x="445195" y="80417"/>
                    </a:cubicBezTo>
                    <a:cubicBezTo>
                      <a:pt x="436361" y="89251"/>
                      <a:pt x="424379" y="94214"/>
                      <a:pt x="411885" y="94214"/>
                    </a:cubicBezTo>
                    <a:lnTo>
                      <a:pt x="47107" y="94214"/>
                    </a:lnTo>
                    <a:cubicBezTo>
                      <a:pt x="34613" y="94214"/>
                      <a:pt x="22632" y="89251"/>
                      <a:pt x="13797" y="80417"/>
                    </a:cubicBezTo>
                    <a:cubicBezTo>
                      <a:pt x="4963" y="71582"/>
                      <a:pt x="0" y="59600"/>
                      <a:pt x="0" y="47107"/>
                    </a:cubicBezTo>
                    <a:cubicBezTo>
                      <a:pt x="0" y="34613"/>
                      <a:pt x="4963" y="22632"/>
                      <a:pt x="13797" y="13797"/>
                    </a:cubicBezTo>
                    <a:cubicBezTo>
                      <a:pt x="22632" y="4963"/>
                      <a:pt x="34613" y="0"/>
                      <a:pt x="47107" y="0"/>
                    </a:cubicBezTo>
                    <a:close/>
                  </a:path>
                </a:pathLst>
              </a:custGeom>
              <a:solidFill>
                <a:srgbClr val="17B2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46" name="TextBox 49">
                <a:extLst>
                  <a:ext uri="{FF2B5EF4-FFF2-40B4-BE49-F238E27FC236}">
                    <a16:creationId xmlns:a16="http://schemas.microsoft.com/office/drawing/2014/main" xmlns="" id="{0C2A60F8-E5E5-4679-B508-69444C464D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-9525"/>
                <a:ext cx="458992" cy="1037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ts val="12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altLang="ru-RU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51D40"/>
                    </a:solidFill>
                    <a:effectLst/>
                    <a:uLnTx/>
                    <a:uFillTx/>
                    <a:latin typeface="DM Sans Bold" panose="020B0604020202020204" charset="0"/>
                    <a:ea typeface="+mn-ea"/>
                    <a:cs typeface="Lora Bold" panose="020B0604020202020204" charset="-52"/>
                    <a:sym typeface="Lora Bold" panose="020B0604020202020204" charset="-52"/>
                  </a:rPr>
                  <a:t>Родной язык и литература</a:t>
                </a:r>
                <a:endParaRPr kumimoji="0" lang="en-US" altLang="ru-RU" sz="1400" b="1" i="0" u="none" strike="noStrike" kern="1200" cap="none" spc="0" normalizeH="0" baseline="0" noProof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endParaRPr>
              </a:p>
            </p:txBody>
          </p:sp>
        </p:grpSp>
        <p:grpSp>
          <p:nvGrpSpPr>
            <p:cNvPr id="3139" name="Group 54">
              <a:extLst>
                <a:ext uri="{FF2B5EF4-FFF2-40B4-BE49-F238E27FC236}">
                  <a16:creationId xmlns:a16="http://schemas.microsoft.com/office/drawing/2014/main" xmlns="" id="{023EDBBD-FC4B-4606-BA54-69D67C98F3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52006" y="7748776"/>
              <a:ext cx="1280751" cy="262890"/>
              <a:chOff x="0" y="0"/>
              <a:chExt cx="458992" cy="94214"/>
            </a:xfrm>
          </p:grpSpPr>
          <p:sp>
            <p:nvSpPr>
              <p:cNvPr id="3143" name="Freeform 55">
                <a:extLst>
                  <a:ext uri="{FF2B5EF4-FFF2-40B4-BE49-F238E27FC236}">
                    <a16:creationId xmlns:a16="http://schemas.microsoft.com/office/drawing/2014/main" xmlns="" id="{7BDFE4E0-4617-467D-9C63-D2679DD01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458992" cy="94214"/>
              </a:xfrm>
              <a:custGeom>
                <a:avLst/>
                <a:gdLst>
                  <a:gd name="T0" fmla="*/ 47107 w 458992"/>
                  <a:gd name="T1" fmla="*/ 0 h 94214"/>
                  <a:gd name="T2" fmla="*/ 411885 w 458992"/>
                  <a:gd name="T3" fmla="*/ 0 h 94214"/>
                  <a:gd name="T4" fmla="*/ 445195 w 458992"/>
                  <a:gd name="T5" fmla="*/ 13797 h 94214"/>
                  <a:gd name="T6" fmla="*/ 458992 w 458992"/>
                  <a:gd name="T7" fmla="*/ 47107 h 94214"/>
                  <a:gd name="T8" fmla="*/ 458992 w 458992"/>
                  <a:gd name="T9" fmla="*/ 47107 h 94214"/>
                  <a:gd name="T10" fmla="*/ 445195 w 458992"/>
                  <a:gd name="T11" fmla="*/ 80417 h 94214"/>
                  <a:gd name="T12" fmla="*/ 411885 w 458992"/>
                  <a:gd name="T13" fmla="*/ 94214 h 94214"/>
                  <a:gd name="T14" fmla="*/ 47107 w 458992"/>
                  <a:gd name="T15" fmla="*/ 94214 h 94214"/>
                  <a:gd name="T16" fmla="*/ 13797 w 458992"/>
                  <a:gd name="T17" fmla="*/ 80417 h 94214"/>
                  <a:gd name="T18" fmla="*/ 0 w 458992"/>
                  <a:gd name="T19" fmla="*/ 47107 h 94214"/>
                  <a:gd name="T20" fmla="*/ 0 w 458992"/>
                  <a:gd name="T21" fmla="*/ 47107 h 94214"/>
                  <a:gd name="T22" fmla="*/ 13797 w 458992"/>
                  <a:gd name="T23" fmla="*/ 13797 h 94214"/>
                  <a:gd name="T24" fmla="*/ 47107 w 458992"/>
                  <a:gd name="T25" fmla="*/ 0 h 94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8992" h="94214">
                    <a:moveTo>
                      <a:pt x="47107" y="0"/>
                    </a:moveTo>
                    <a:lnTo>
                      <a:pt x="411885" y="0"/>
                    </a:lnTo>
                    <a:cubicBezTo>
                      <a:pt x="424379" y="0"/>
                      <a:pt x="436361" y="4963"/>
                      <a:pt x="445195" y="13797"/>
                    </a:cubicBezTo>
                    <a:cubicBezTo>
                      <a:pt x="454029" y="22632"/>
                      <a:pt x="458992" y="34613"/>
                      <a:pt x="458992" y="47107"/>
                    </a:cubicBezTo>
                    <a:cubicBezTo>
                      <a:pt x="458992" y="59600"/>
                      <a:pt x="454029" y="71582"/>
                      <a:pt x="445195" y="80417"/>
                    </a:cubicBezTo>
                    <a:cubicBezTo>
                      <a:pt x="436361" y="89251"/>
                      <a:pt x="424379" y="94214"/>
                      <a:pt x="411885" y="94214"/>
                    </a:cubicBezTo>
                    <a:lnTo>
                      <a:pt x="47107" y="94214"/>
                    </a:lnTo>
                    <a:cubicBezTo>
                      <a:pt x="34613" y="94214"/>
                      <a:pt x="22632" y="89251"/>
                      <a:pt x="13797" y="80417"/>
                    </a:cubicBezTo>
                    <a:cubicBezTo>
                      <a:pt x="4963" y="71582"/>
                      <a:pt x="0" y="59600"/>
                      <a:pt x="0" y="47107"/>
                    </a:cubicBezTo>
                    <a:cubicBezTo>
                      <a:pt x="0" y="34613"/>
                      <a:pt x="4963" y="22632"/>
                      <a:pt x="13797" y="13797"/>
                    </a:cubicBezTo>
                    <a:cubicBezTo>
                      <a:pt x="22632" y="4963"/>
                      <a:pt x="34613" y="0"/>
                      <a:pt x="47107" y="0"/>
                    </a:cubicBezTo>
                    <a:close/>
                  </a:path>
                </a:pathLst>
              </a:custGeom>
              <a:solidFill>
                <a:srgbClr val="17B2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44" name="TextBox 56">
                <a:extLst>
                  <a:ext uri="{FF2B5EF4-FFF2-40B4-BE49-F238E27FC236}">
                    <a16:creationId xmlns:a16="http://schemas.microsoft.com/office/drawing/2014/main" xmlns="" id="{57274AF9-716D-4C65-9E44-536F929261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-9525"/>
                <a:ext cx="458992" cy="1037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ts val="12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altLang="ru-RU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51D40"/>
                    </a:solidFill>
                    <a:effectLst/>
                    <a:uLnTx/>
                    <a:uFillTx/>
                    <a:latin typeface="DM Sans Bold" panose="020B0604020202020204" charset="0"/>
                    <a:ea typeface="+mn-ea"/>
                    <a:cs typeface="Lora Bold" panose="020B0604020202020204" charset="-52"/>
                    <a:sym typeface="Lora Bold" panose="020B0604020202020204" charset="-52"/>
                  </a:rPr>
                  <a:t>Биология</a:t>
                </a:r>
                <a:endParaRPr kumimoji="0" lang="en-US" altLang="ru-RU" sz="1400" b="1" i="0" u="none" strike="noStrike" kern="1200" cap="none" spc="0" normalizeH="0" baseline="0" noProof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endParaRPr>
              </a:p>
            </p:txBody>
          </p:sp>
        </p:grpSp>
        <p:grpSp>
          <p:nvGrpSpPr>
            <p:cNvPr id="3140" name="Group 67">
              <a:extLst>
                <a:ext uri="{FF2B5EF4-FFF2-40B4-BE49-F238E27FC236}">
                  <a16:creationId xmlns:a16="http://schemas.microsoft.com/office/drawing/2014/main" xmlns="" id="{DF0ECFD5-26B0-45E1-BB0E-1B7AF3EBAB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62925" y="8076386"/>
              <a:ext cx="985487" cy="285750"/>
              <a:chOff x="0" y="0"/>
              <a:chExt cx="353176" cy="102406"/>
            </a:xfrm>
          </p:grpSpPr>
          <p:sp>
            <p:nvSpPr>
              <p:cNvPr id="3141" name="Freeform 68">
                <a:extLst>
                  <a:ext uri="{FF2B5EF4-FFF2-40B4-BE49-F238E27FC236}">
                    <a16:creationId xmlns:a16="http://schemas.microsoft.com/office/drawing/2014/main" xmlns="" id="{95240F78-AC47-4A25-AC81-2DBB460DB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53176" cy="102406"/>
              </a:xfrm>
              <a:custGeom>
                <a:avLst/>
                <a:gdLst>
                  <a:gd name="T0" fmla="*/ 51203 w 353176"/>
                  <a:gd name="T1" fmla="*/ 0 h 102406"/>
                  <a:gd name="T2" fmla="*/ 301973 w 353176"/>
                  <a:gd name="T3" fmla="*/ 0 h 102406"/>
                  <a:gd name="T4" fmla="*/ 353176 w 353176"/>
                  <a:gd name="T5" fmla="*/ 51203 h 102406"/>
                  <a:gd name="T6" fmla="*/ 353176 w 353176"/>
                  <a:gd name="T7" fmla="*/ 51203 h 102406"/>
                  <a:gd name="T8" fmla="*/ 338179 w 353176"/>
                  <a:gd name="T9" fmla="*/ 87409 h 102406"/>
                  <a:gd name="T10" fmla="*/ 301973 w 353176"/>
                  <a:gd name="T11" fmla="*/ 102406 h 102406"/>
                  <a:gd name="T12" fmla="*/ 51203 w 353176"/>
                  <a:gd name="T13" fmla="*/ 102406 h 102406"/>
                  <a:gd name="T14" fmla="*/ 14997 w 353176"/>
                  <a:gd name="T15" fmla="*/ 87409 h 102406"/>
                  <a:gd name="T16" fmla="*/ 0 w 353176"/>
                  <a:gd name="T17" fmla="*/ 51203 h 102406"/>
                  <a:gd name="T18" fmla="*/ 0 w 353176"/>
                  <a:gd name="T19" fmla="*/ 51203 h 102406"/>
                  <a:gd name="T20" fmla="*/ 14997 w 353176"/>
                  <a:gd name="T21" fmla="*/ 14997 h 102406"/>
                  <a:gd name="T22" fmla="*/ 51203 w 353176"/>
                  <a:gd name="T23" fmla="*/ 0 h 102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42" name="TextBox 69">
                <a:extLst>
                  <a:ext uri="{FF2B5EF4-FFF2-40B4-BE49-F238E27FC236}">
                    <a16:creationId xmlns:a16="http://schemas.microsoft.com/office/drawing/2014/main" xmlns="" id="{B004F6B1-EE93-452A-AAA1-A12F426684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-9525"/>
                <a:ext cx="353176" cy="1119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0800" tIns="50800" rIns="50800" bIns="508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ts val="14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altLang="ru-RU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51D40"/>
                    </a:solidFill>
                    <a:effectLst/>
                    <a:uLnTx/>
                    <a:uFillTx/>
                    <a:latin typeface="DM Sans Bold" panose="020B0604020202020204" charset="0"/>
                    <a:ea typeface="+mn-ea"/>
                    <a:cs typeface="Lora Bold" panose="020B0604020202020204" charset="-52"/>
                    <a:sym typeface="Lora Bold" panose="020B0604020202020204" charset="-52"/>
                  </a:rPr>
                  <a:t>Химия</a:t>
                </a:r>
                <a:endParaRPr kumimoji="0" lang="en-US" altLang="ru-RU" sz="1400" b="1" i="0" u="none" strike="noStrike" kern="1200" cap="none" spc="0" normalizeH="0" baseline="0" noProof="0">
                  <a:ln>
                    <a:noFill/>
                  </a:ln>
                  <a:solidFill>
                    <a:srgbClr val="051D40"/>
                  </a:solidFill>
                  <a:effectLst/>
                  <a:uLnTx/>
                  <a:uFillTx/>
                  <a:latin typeface="DM Sans Bold" panose="020B0604020202020204" charset="0"/>
                  <a:ea typeface="+mn-ea"/>
                  <a:cs typeface="Lora Bold" panose="020B0604020202020204" charset="-52"/>
                  <a:sym typeface="Lora Bold" panose="020B0604020202020204" charset="-52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9">
            <a:extLst>
              <a:ext uri="{FF2B5EF4-FFF2-40B4-BE49-F238E27FC236}">
                <a16:creationId xmlns:a16="http://schemas.microsoft.com/office/drawing/2014/main" xmlns="" id="{32F41102-D143-4AC7-AE83-B63996E018C2}"/>
              </a:ext>
            </a:extLst>
          </p:cNvPr>
          <p:cNvSpPr/>
          <p:nvPr/>
        </p:nvSpPr>
        <p:spPr>
          <a:xfrm rot="5913394">
            <a:off x="17459947" y="3476890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975317" y="-2198044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92467" y="8377832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xmlns="" id="{C89FFE23-641B-4E4D-910C-0679E567908F}"/>
              </a:ext>
            </a:extLst>
          </p:cNvPr>
          <p:cNvSpPr txBox="1">
            <a:spLocks/>
          </p:cNvSpPr>
          <p:nvPr/>
        </p:nvSpPr>
        <p:spPr>
          <a:xfrm>
            <a:off x="1923759" y="3665442"/>
            <a:ext cx="3257851" cy="59645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xmlns="" id="{4E04B869-8B48-4EB7-A822-955993DE87F9}"/>
              </a:ext>
            </a:extLst>
          </p:cNvPr>
          <p:cNvSpPr txBox="1">
            <a:spLocks/>
          </p:cNvSpPr>
          <p:nvPr/>
        </p:nvSpPr>
        <p:spPr>
          <a:xfrm>
            <a:off x="5715000" y="4079331"/>
            <a:ext cx="3453274" cy="3811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2" name="Схема 31">
            <a:extLst>
              <a:ext uri="{FF2B5EF4-FFF2-40B4-BE49-F238E27FC236}">
                <a16:creationId xmlns:a16="http://schemas.microsoft.com/office/drawing/2014/main" xmlns="" id="{457E1867-A185-445D-B75C-DA9C3D81E904}"/>
              </a:ext>
            </a:extLst>
          </p:cNvPr>
          <p:cNvGraphicFramePr/>
          <p:nvPr/>
        </p:nvGraphicFramePr>
        <p:xfrm>
          <a:off x="-3082857" y="1352877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0" name="Заголовок 13">
            <a:extLst>
              <a:ext uri="{FF2B5EF4-FFF2-40B4-BE49-F238E27FC236}">
                <a16:creationId xmlns:a16="http://schemas.microsoft.com/office/drawing/2014/main" xmlns="" id="{5CD2C91E-95CD-4D94-953B-F3C9C8CA54C9}"/>
              </a:ext>
            </a:extLst>
          </p:cNvPr>
          <p:cNvSpPr txBox="1">
            <a:spLocks/>
          </p:cNvSpPr>
          <p:nvPr/>
        </p:nvSpPr>
        <p:spPr>
          <a:xfrm>
            <a:off x="3319690" y="-1809947"/>
            <a:ext cx="5133540" cy="5679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28" name="TextBox 41">
            <a:extLst>
              <a:ext uri="{FF2B5EF4-FFF2-40B4-BE49-F238E27FC236}">
                <a16:creationId xmlns:a16="http://schemas.microsoft.com/office/drawing/2014/main" xmlns="" id="{4F759FC5-58A5-421D-BA95-ED3A8F5DA7B9}"/>
              </a:ext>
            </a:extLst>
          </p:cNvPr>
          <p:cNvSpPr txBox="1"/>
          <p:nvPr/>
        </p:nvSpPr>
        <p:spPr>
          <a:xfrm>
            <a:off x="2481037" y="573484"/>
            <a:ext cx="13194602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w Bold"/>
                <a:ea typeface="+mn-ea"/>
                <a:cs typeface="+mn-cs"/>
                <a:sym typeface="Lora Bold"/>
              </a:rPr>
              <a:t>КОНКУРЕНТОСПОСОБНОСТЬ НА МЕЖДУНАРОДНОМ РЫНКЕ ОБРАЗОВАНИЯ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 Bold" panose="020B0604020202020204" charset="0"/>
              <a:ea typeface="+mn-ea"/>
              <a:cs typeface="+mn-cs"/>
              <a:sym typeface="Lora Bold"/>
            </a:endParaRPr>
          </a:p>
        </p:txBody>
      </p:sp>
      <p:sp>
        <p:nvSpPr>
          <p:cNvPr id="31" name="AutoShape 2">
            <a:extLst>
              <a:ext uri="{FF2B5EF4-FFF2-40B4-BE49-F238E27FC236}">
                <a16:creationId xmlns:a16="http://schemas.microsoft.com/office/drawing/2014/main" xmlns="" id="{ECED6CD2-662F-43D6-82CE-1A502519AFF3}"/>
              </a:ext>
            </a:extLst>
          </p:cNvPr>
          <p:cNvSpPr/>
          <p:nvPr/>
        </p:nvSpPr>
        <p:spPr>
          <a:xfrm>
            <a:off x="5715000" y="3078729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xmlns="" id="{64E8C32A-6B03-42F4-9FAE-772A24DC4652}"/>
              </a:ext>
            </a:extLst>
          </p:cNvPr>
          <p:cNvSpPr txBox="1"/>
          <p:nvPr/>
        </p:nvSpPr>
        <p:spPr>
          <a:xfrm>
            <a:off x="6098443" y="1352877"/>
            <a:ext cx="5876947" cy="444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Lora Bold"/>
                <a:cs typeface="Lora Bold"/>
                <a:sym typeface="Lora Bold"/>
              </a:rPr>
              <a:t>УВЕЛИЧЕНИЕ КОЛИЧЕСТВА МЕЖДУНАРОДНЫХ НАУЧНЫХ ПУБЛИКАЦИЙ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38" name="AutoShape 2">
            <a:extLst>
              <a:ext uri="{FF2B5EF4-FFF2-40B4-BE49-F238E27FC236}">
                <a16:creationId xmlns:a16="http://schemas.microsoft.com/office/drawing/2014/main" xmlns="" id="{ED93A5EF-F15C-432E-9914-A1F24D41AC1A}"/>
              </a:ext>
            </a:extLst>
          </p:cNvPr>
          <p:cNvSpPr/>
          <p:nvPr/>
        </p:nvSpPr>
        <p:spPr>
          <a:xfrm>
            <a:off x="12172940" y="2919806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40" name="Диаграмма 39">
            <a:extLst>
              <a:ext uri="{FF2B5EF4-FFF2-40B4-BE49-F238E27FC236}">
                <a16:creationId xmlns:a16="http://schemas.microsoft.com/office/drawing/2014/main" xmlns="" id="{8BD8AEBF-023A-476D-8AFC-5654C98975D0}"/>
              </a:ext>
            </a:extLst>
          </p:cNvPr>
          <p:cNvGraphicFramePr>
            <a:graphicFrameLocks/>
          </p:cNvGraphicFramePr>
          <p:nvPr/>
        </p:nvGraphicFramePr>
        <p:xfrm>
          <a:off x="6132619" y="1622270"/>
          <a:ext cx="5876946" cy="3331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1" name="Диаграмма 40">
            <a:extLst>
              <a:ext uri="{FF2B5EF4-FFF2-40B4-BE49-F238E27FC236}">
                <a16:creationId xmlns:a16="http://schemas.microsoft.com/office/drawing/2014/main" xmlns="" id="{D881B06F-D98E-4C4D-A2C0-97A461BCAED0}"/>
              </a:ext>
            </a:extLst>
          </p:cNvPr>
          <p:cNvGraphicFramePr>
            <a:graphicFrameLocks/>
          </p:cNvGraphicFramePr>
          <p:nvPr/>
        </p:nvGraphicFramePr>
        <p:xfrm>
          <a:off x="5886098" y="4775969"/>
          <a:ext cx="6197481" cy="31107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42" name="TextBox 23">
            <a:extLst>
              <a:ext uri="{FF2B5EF4-FFF2-40B4-BE49-F238E27FC236}">
                <a16:creationId xmlns:a16="http://schemas.microsoft.com/office/drawing/2014/main" xmlns="" id="{AA216EA6-23D8-432F-AD8F-81BAB89624CB}"/>
              </a:ext>
            </a:extLst>
          </p:cNvPr>
          <p:cNvSpPr txBox="1"/>
          <p:nvPr/>
        </p:nvSpPr>
        <p:spPr>
          <a:xfrm>
            <a:off x="5999239" y="8089703"/>
            <a:ext cx="5876947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Lora Bold"/>
                <a:cs typeface="Lora Bold"/>
                <a:sym typeface="Lora Bold"/>
              </a:rPr>
              <a:t>Обеспечение индексации университетского журнала в международных научных базах данных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Lora Bold"/>
                <a:cs typeface="Lora Bold"/>
                <a:sym typeface="Lora Bold"/>
              </a:rPr>
              <a:t>Создание центра корректуры научных статей в университете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43" name="TextBox 23">
            <a:extLst>
              <a:ext uri="{FF2B5EF4-FFF2-40B4-BE49-F238E27FC236}">
                <a16:creationId xmlns:a16="http://schemas.microsoft.com/office/drawing/2014/main" xmlns="" id="{B78B85C3-C607-4120-987A-99DA10EC18EC}"/>
              </a:ext>
            </a:extLst>
          </p:cNvPr>
          <p:cNvSpPr txBox="1"/>
          <p:nvPr/>
        </p:nvSpPr>
        <p:spPr>
          <a:xfrm>
            <a:off x="12258653" y="1352877"/>
            <a:ext cx="5876947" cy="444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Lora Bold"/>
                <a:cs typeface="Lora Bold"/>
                <a:sym typeface="Lora Bold"/>
              </a:rPr>
              <a:t>ВНЕШНЯЯ И ВНУТРЕННЯЯ ИНТЕРНАЦИОНАЛИЗИЦИЯ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anose="020B0604020202020204" charset="0"/>
              <a:ea typeface="Lora Bold"/>
              <a:cs typeface="Lora Bold"/>
              <a:sym typeface="Lora Bold"/>
            </a:endParaRPr>
          </a:p>
        </p:txBody>
      </p:sp>
      <p:graphicFrame>
        <p:nvGraphicFramePr>
          <p:cNvPr id="44" name="Диаграмма 43">
            <a:extLst>
              <a:ext uri="{FF2B5EF4-FFF2-40B4-BE49-F238E27FC236}">
                <a16:creationId xmlns:a16="http://schemas.microsoft.com/office/drawing/2014/main" xmlns="" id="{B72EF619-DFA2-4E62-AAB9-485444FB4D58}"/>
              </a:ext>
            </a:extLst>
          </p:cNvPr>
          <p:cNvGraphicFramePr>
            <a:graphicFrameLocks/>
          </p:cNvGraphicFramePr>
          <p:nvPr/>
        </p:nvGraphicFramePr>
        <p:xfrm>
          <a:off x="12294421" y="1607431"/>
          <a:ext cx="5755831" cy="2580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45" name="Диаграмма 44">
            <a:extLst>
              <a:ext uri="{FF2B5EF4-FFF2-40B4-BE49-F238E27FC236}">
                <a16:creationId xmlns:a16="http://schemas.microsoft.com/office/drawing/2014/main" xmlns="" id="{A9AAE03D-B9B8-49C7-A167-19AEA9BBDB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345822"/>
              </p:ext>
            </p:extLst>
          </p:nvPr>
        </p:nvGraphicFramePr>
        <p:xfrm>
          <a:off x="12272581" y="7270221"/>
          <a:ext cx="5743131" cy="2580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46" name="TextBox 23">
            <a:extLst>
              <a:ext uri="{FF2B5EF4-FFF2-40B4-BE49-F238E27FC236}">
                <a16:creationId xmlns:a16="http://schemas.microsoft.com/office/drawing/2014/main" xmlns="" id="{AFAC3BDD-28DB-46F0-B944-B6C7CBA1FC69}"/>
              </a:ext>
            </a:extLst>
          </p:cNvPr>
          <p:cNvSpPr txBox="1"/>
          <p:nvPr/>
        </p:nvSpPr>
        <p:spPr>
          <a:xfrm>
            <a:off x="12268200" y="4465238"/>
            <a:ext cx="5876947" cy="219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4DD5FF"/>
                </a:solidFill>
                <a:effectLst/>
                <a:uLnTx/>
                <a:uFillTx/>
                <a:latin typeface="DM Sans Bold" panose="020B0604020202020204" charset="0"/>
                <a:ea typeface="+mn-ea"/>
                <a:cs typeface="+mn-cs"/>
                <a:sym typeface="Lora Bold"/>
              </a:rPr>
              <a:t>ПОВЫШЕНИЕ КВАЛИФИКАЦИИ И СЕМИНАРЫ ЗА РУБЕЖОМ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4DD5FF"/>
              </a:solidFill>
              <a:effectLst/>
              <a:uLnTx/>
              <a:uFillTx/>
              <a:latin typeface="DM Sans Bold" panose="020B0604020202020204" charset="0"/>
              <a:ea typeface="+mn-ea"/>
              <a:cs typeface="+mn-cs"/>
              <a:sym typeface="Lora Bold"/>
            </a:endParaRPr>
          </a:p>
        </p:txBody>
      </p:sp>
      <p:graphicFrame>
        <p:nvGraphicFramePr>
          <p:cNvPr id="47" name="Таблица 46">
            <a:extLst>
              <a:ext uri="{FF2B5EF4-FFF2-40B4-BE49-F238E27FC236}">
                <a16:creationId xmlns:a16="http://schemas.microsoft.com/office/drawing/2014/main" xmlns="" id="{21A36A5B-0753-45F2-BB61-2DDD068A2214}"/>
              </a:ext>
            </a:extLst>
          </p:cNvPr>
          <p:cNvGraphicFramePr>
            <a:graphicFrameLocks noGrp="1"/>
          </p:cNvGraphicFramePr>
          <p:nvPr/>
        </p:nvGraphicFramePr>
        <p:xfrm>
          <a:off x="12294421" y="4686300"/>
          <a:ext cx="5699450" cy="2684397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72493">
                  <a:extLst>
                    <a:ext uri="{9D8B030D-6E8A-4147-A177-3AD203B41FA5}">
                      <a16:colId xmlns:a16="http://schemas.microsoft.com/office/drawing/2014/main" xmlns="" val="603002634"/>
                    </a:ext>
                  </a:extLst>
                </a:gridCol>
                <a:gridCol w="2391999">
                  <a:extLst>
                    <a:ext uri="{9D8B030D-6E8A-4147-A177-3AD203B41FA5}">
                      <a16:colId xmlns:a16="http://schemas.microsoft.com/office/drawing/2014/main" xmlns="" val="315413570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2466014470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3516704929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1782771449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3791947363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22032249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2266644268"/>
                    </a:ext>
                  </a:extLst>
                </a:gridCol>
              </a:tblGrid>
              <a:tr h="29933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№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37236643"/>
                  </a:ext>
                </a:extLst>
              </a:tr>
              <a:tr h="5418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Повышение квалификации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Преподаватели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b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число сотрудников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человек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DM Sans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45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60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70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80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60264181"/>
                  </a:ext>
                </a:extLst>
              </a:tr>
              <a:tr h="29933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Повышение квалификации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b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число студентов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человек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DM Sans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50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100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250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300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400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10431826"/>
                  </a:ext>
                </a:extLst>
              </a:tr>
              <a:tr h="5418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Семинарно</a:t>
                      </a:r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-тренинговые курсы для преподавателей (количество)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DM Sans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4927951"/>
                  </a:ext>
                </a:extLst>
              </a:tr>
              <a:tr h="5418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Семинарно</a:t>
                      </a:r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-тренинговые курсы для студентов (количество)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DM Sans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35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35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35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589267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eform 15">
            <a:extLst>
              <a:ext uri="{FF2B5EF4-FFF2-40B4-BE49-F238E27FC236}">
                <a16:creationId xmlns:a16="http://schemas.microsoft.com/office/drawing/2014/main" xmlns="" id="{DFA70DBB-47F3-421C-AC8A-AE46825261B2}"/>
              </a:ext>
            </a:extLst>
          </p:cNvPr>
          <p:cNvSpPr/>
          <p:nvPr/>
        </p:nvSpPr>
        <p:spPr>
          <a:xfrm rot="17722001">
            <a:off x="10413659" y="8526871"/>
            <a:ext cx="9085628" cy="5368780"/>
          </a:xfrm>
          <a:custGeom>
            <a:avLst/>
            <a:gdLst/>
            <a:ahLst/>
            <a:cxnLst/>
            <a:rect l="l" t="t" r="r" b="b"/>
            <a:pathLst>
              <a:path w="9085628" h="5368780">
                <a:moveTo>
                  <a:pt x="0" y="0"/>
                </a:moveTo>
                <a:lnTo>
                  <a:pt x="9085629" y="0"/>
                </a:lnTo>
                <a:lnTo>
                  <a:pt x="9085629" y="5368780"/>
                </a:lnTo>
                <a:lnTo>
                  <a:pt x="0" y="536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 rot="1313163">
            <a:off x="-4251329" y="6604877"/>
            <a:ext cx="9085628" cy="5368780"/>
          </a:xfrm>
          <a:custGeom>
            <a:avLst/>
            <a:gdLst/>
            <a:ahLst/>
            <a:cxnLst/>
            <a:rect l="l" t="t" r="r" b="b"/>
            <a:pathLst>
              <a:path w="9085628" h="5368780">
                <a:moveTo>
                  <a:pt x="0" y="0"/>
                </a:moveTo>
                <a:lnTo>
                  <a:pt x="9085628" y="0"/>
                </a:lnTo>
                <a:lnTo>
                  <a:pt x="9085628" y="5368780"/>
                </a:lnTo>
                <a:lnTo>
                  <a:pt x="0" y="536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8396559">
            <a:off x="14389224" y="-1706146"/>
            <a:ext cx="9085628" cy="5368780"/>
          </a:xfrm>
          <a:custGeom>
            <a:avLst/>
            <a:gdLst/>
            <a:ahLst/>
            <a:cxnLst/>
            <a:rect l="l" t="t" r="r" b="b"/>
            <a:pathLst>
              <a:path w="9085628" h="5368780">
                <a:moveTo>
                  <a:pt x="0" y="0"/>
                </a:moveTo>
                <a:lnTo>
                  <a:pt x="9085629" y="0"/>
                </a:lnTo>
                <a:lnTo>
                  <a:pt x="9085629" y="5368780"/>
                </a:lnTo>
                <a:lnTo>
                  <a:pt x="0" y="536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xmlns="" id="{CEBA947D-5CB9-44D4-BED5-209AB9DEDFF7}"/>
              </a:ext>
            </a:extLst>
          </p:cNvPr>
          <p:cNvSpPr txBox="1">
            <a:spLocks/>
          </p:cNvSpPr>
          <p:nvPr/>
        </p:nvSpPr>
        <p:spPr>
          <a:xfrm>
            <a:off x="-4924553" y="-1088856"/>
            <a:ext cx="3383868" cy="310605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ctr" defTabSz="914400" rtl="0" eaLnBrk="1" fontAlgn="auto" latinLnBrk="0" hangingPunct="1">
              <a:lnSpc>
                <a:spcPct val="107000"/>
              </a:lnSpc>
              <a:spcBef>
                <a:spcPct val="20000"/>
              </a:spcBef>
              <a:spcAft>
                <a:spcPts val="8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7000"/>
              </a:lnSpc>
              <a:spcBef>
                <a:spcPct val="20000"/>
              </a:spcBef>
              <a:spcAft>
                <a:spcPts val="8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7000"/>
              </a:lnSpc>
              <a:spcBef>
                <a:spcPct val="20000"/>
              </a:spcBef>
              <a:spcAft>
                <a:spcPts val="8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7000"/>
              </a:lnSpc>
              <a:spcBef>
                <a:spcPct val="20000"/>
              </a:spcBef>
              <a:spcAft>
                <a:spcPts val="8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7000"/>
              </a:lnSpc>
              <a:spcBef>
                <a:spcPct val="20000"/>
              </a:spcBef>
              <a:spcAft>
                <a:spcPts val="8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" name="Диаграмма 29">
            <a:extLst>
              <a:ext uri="{FF2B5EF4-FFF2-40B4-BE49-F238E27FC236}">
                <a16:creationId xmlns:a16="http://schemas.microsoft.com/office/drawing/2014/main" xmlns="" id="{4641668E-8CBE-46D7-B996-491123B82127}"/>
              </a:ext>
            </a:extLst>
          </p:cNvPr>
          <p:cNvGraphicFramePr>
            <a:graphicFrameLocks/>
          </p:cNvGraphicFramePr>
          <p:nvPr/>
        </p:nvGraphicFramePr>
        <p:xfrm>
          <a:off x="181048" y="4964352"/>
          <a:ext cx="4558460" cy="2936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1" name="Диаграмма 30">
            <a:extLst>
              <a:ext uri="{FF2B5EF4-FFF2-40B4-BE49-F238E27FC236}">
                <a16:creationId xmlns:a16="http://schemas.microsoft.com/office/drawing/2014/main" xmlns="" id="{A20DB1EE-D399-4D30-8ACA-06C6F702DEF4}"/>
              </a:ext>
            </a:extLst>
          </p:cNvPr>
          <p:cNvGraphicFramePr>
            <a:graphicFrameLocks/>
          </p:cNvGraphicFramePr>
          <p:nvPr/>
        </p:nvGraphicFramePr>
        <p:xfrm>
          <a:off x="250404" y="7932458"/>
          <a:ext cx="4558460" cy="194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2" name="Текст 5">
            <a:extLst>
              <a:ext uri="{FF2B5EF4-FFF2-40B4-BE49-F238E27FC236}">
                <a16:creationId xmlns:a16="http://schemas.microsoft.com/office/drawing/2014/main" xmlns="" id="{ED7E590A-BA70-42A2-81C6-3EE92730BB02}"/>
              </a:ext>
            </a:extLst>
          </p:cNvPr>
          <p:cNvSpPr txBox="1">
            <a:spLocks/>
          </p:cNvSpPr>
          <p:nvPr/>
        </p:nvSpPr>
        <p:spPr>
          <a:xfrm>
            <a:off x="6705600" y="11544300"/>
            <a:ext cx="3015003" cy="6774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Текст 5">
            <a:extLst>
              <a:ext uri="{FF2B5EF4-FFF2-40B4-BE49-F238E27FC236}">
                <a16:creationId xmlns:a16="http://schemas.microsoft.com/office/drawing/2014/main" xmlns="" id="{D4712CA6-61B4-4DC2-BEF8-3E90DB267C6D}"/>
              </a:ext>
            </a:extLst>
          </p:cNvPr>
          <p:cNvSpPr txBox="1">
            <a:spLocks/>
          </p:cNvSpPr>
          <p:nvPr/>
        </p:nvSpPr>
        <p:spPr>
          <a:xfrm>
            <a:off x="19557754" y="5676900"/>
            <a:ext cx="5457462" cy="98679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Текст 5">
            <a:extLst>
              <a:ext uri="{FF2B5EF4-FFF2-40B4-BE49-F238E27FC236}">
                <a16:creationId xmlns:a16="http://schemas.microsoft.com/office/drawing/2014/main" xmlns="" id="{41BAE332-D3C1-4569-85B2-445CF864D42B}"/>
              </a:ext>
            </a:extLst>
          </p:cNvPr>
          <p:cNvSpPr txBox="1">
            <a:spLocks/>
          </p:cNvSpPr>
          <p:nvPr/>
        </p:nvSpPr>
        <p:spPr>
          <a:xfrm>
            <a:off x="9475508" y="335700"/>
            <a:ext cx="3920400" cy="9615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ОБЕСПЕЧЕНИЕ ИНТЕГРАЦИИ ОБРАЗОВАНИЯ, НАУКИ, ИННОВАЦИЙ И НАУЧНЫХ ИССЛЕДОВАНИЙ, ПОДДЕРЖКА НАУЧНОЙ ДЕЯТЕЛЬНОСТИ МОЛОДЕЖИ.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СОЗДАНИЕ СОВМЕСТНЫХ НАУЧНЫХ ЛАБОРАТОРИЙ С ПРОИЗВОДСТВОМ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 </a:t>
            </a: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Лаборатория изучения лекарственных растений региона (2027)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Создание современного диагностического центра </a:t>
            </a:r>
            <a:r>
              <a:rPr kumimoji="0" lang="ru-RU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Sulton</a:t>
            </a: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 Hospital (2026)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 </a:t>
            </a: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Открытие </a:t>
            </a:r>
            <a:r>
              <a:rPr kumimoji="0" lang="ru-RU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межкафедральных</a:t>
            </a: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 научных лабораторий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Для направлений фармакологии (2026–2030)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Лаборатория исследований природных наук (2026–2030)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Лаборатория программного обеспечения и искусственного интеллекта (2027–2030)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Региональный исследовательский центр (2026–2030)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Создание Инновационного стартапа и Центра трансфера технологий для талантливых студентов и молодых ученых (2027)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 </a:t>
            </a: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Доведение научного потенциала университета до 75%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</p:txBody>
      </p:sp>
      <p:sp>
        <p:nvSpPr>
          <p:cNvPr id="47" name="Текст 5">
            <a:extLst>
              <a:ext uri="{FF2B5EF4-FFF2-40B4-BE49-F238E27FC236}">
                <a16:creationId xmlns:a16="http://schemas.microsoft.com/office/drawing/2014/main" xmlns="" id="{E02E7F30-DF8D-4112-A4E2-7E915711208C}"/>
              </a:ext>
            </a:extLst>
          </p:cNvPr>
          <p:cNvSpPr txBox="1">
            <a:spLocks/>
          </p:cNvSpPr>
          <p:nvPr/>
        </p:nvSpPr>
        <p:spPr>
          <a:xfrm>
            <a:off x="5223055" y="326005"/>
            <a:ext cx="3920946" cy="96171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ВНЕДРЕНИЕ СОВРЕМЕННЫХ ОБРАЗОВАТЕЛЬНЫХ ТЕХНОЛОГИЙ И НАПРАВЛЕНИЙ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ПРОГРАММЫ ПОВЫШЕНИЯ КВАЛИФИКАЦИИ "СОВРЕМЕННЫЙ ПРЕПОДАВАТЕЛЬ"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Расширение использования ИИ (AI) и цифровых педагогических инструментов в образовательном процессе.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4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РАСШИРЕНИЕ ЦИФРОВЫХ ОБРАЗОВАТЕЛЬНЫХ ПЛАТФОРМ</a:t>
            </a:r>
            <a:endParaRPr kumimoji="0" lang="en-US" sz="1400" b="1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Размещение всех учебных материалов на онлайн-платформе через систему "Умный кампус".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Формирование адаптивных учебных материалов на основе AR/VR технологий виртуальной реальности.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 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ПЕРЕХОД НА МЕЖДУНАРОДНЫЕ ОБРАЗОВАТЕЛЬНЫЕ СТАНДАРТЫ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Реализация совместных программ "Double </a:t>
            </a:r>
            <a:r>
              <a:rPr kumimoji="0" lang="ru-RU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Degree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" (двойной диплом) с ведущими университетами мира.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Расширение студенческого обмена в рамках программ академической мобильности и отправка студентов на повышение квалификации в ведущие университеты.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Организация учебных курсов для получения студентами международных сертификатов.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Пропаганда инновационных педагогических методов и открытие в университете Центра "Образовательные инновации".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</p:txBody>
      </p:sp>
      <p:sp>
        <p:nvSpPr>
          <p:cNvPr id="48" name="Текст 5">
            <a:extLst>
              <a:ext uri="{FF2B5EF4-FFF2-40B4-BE49-F238E27FC236}">
                <a16:creationId xmlns:a16="http://schemas.microsoft.com/office/drawing/2014/main" xmlns="" id="{187BF10C-18B2-4FE1-B677-91F10341D574}"/>
              </a:ext>
            </a:extLst>
          </p:cNvPr>
          <p:cNvSpPr txBox="1">
            <a:spLocks/>
          </p:cNvSpPr>
          <p:nvPr/>
        </p:nvSpPr>
        <p:spPr>
          <a:xfrm>
            <a:off x="181048" y="174522"/>
            <a:ext cx="4791002" cy="96171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КОНКУРЕНТОСПОСОБНОСТЬ НА МЕЖДУНАРОДНОМ ОБРАЗОВАТЕЛЬНОМ РЫНКЕ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</p:txBody>
      </p:sp>
      <p:graphicFrame>
        <p:nvGraphicFramePr>
          <p:cNvPr id="49" name="Таблица 48">
            <a:extLst>
              <a:ext uri="{FF2B5EF4-FFF2-40B4-BE49-F238E27FC236}">
                <a16:creationId xmlns:a16="http://schemas.microsoft.com/office/drawing/2014/main" xmlns="" id="{4485E57F-BC88-4362-A95A-C8162E43E27E}"/>
              </a:ext>
            </a:extLst>
          </p:cNvPr>
          <p:cNvGraphicFramePr>
            <a:graphicFrameLocks noGrp="1"/>
          </p:cNvGraphicFramePr>
          <p:nvPr/>
        </p:nvGraphicFramePr>
        <p:xfrm>
          <a:off x="254312" y="940660"/>
          <a:ext cx="4489104" cy="11548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22276">
                  <a:extLst>
                    <a:ext uri="{9D8B030D-6E8A-4147-A177-3AD203B41FA5}">
                      <a16:colId xmlns:a16="http://schemas.microsoft.com/office/drawing/2014/main" xmlns="" val="4116928451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2097187428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1740053066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20436717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 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Информационные технологии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Экономика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Биология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41060902"/>
                  </a:ext>
                </a:extLst>
              </a:tr>
              <a:tr h="2726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Медицина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История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Образование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Психология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4674839"/>
                  </a:ext>
                </a:extLst>
              </a:tr>
              <a:tr h="2726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  <a:endParaRPr lang="ru-RU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  <a:endParaRPr lang="ru-RU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  <a:endParaRPr lang="ru-RU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  <a:endParaRPr lang="ru-RU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88682607"/>
                  </a:ext>
                </a:extLst>
              </a:tr>
            </a:tbl>
          </a:graphicData>
        </a:graphic>
      </p:graphicFrame>
      <p:graphicFrame>
        <p:nvGraphicFramePr>
          <p:cNvPr id="50" name="Таблица 49">
            <a:extLst>
              <a:ext uri="{FF2B5EF4-FFF2-40B4-BE49-F238E27FC236}">
                <a16:creationId xmlns:a16="http://schemas.microsoft.com/office/drawing/2014/main" xmlns="" id="{65D29688-F40F-45FF-8CA3-A7DB86F3798A}"/>
              </a:ext>
            </a:extLst>
          </p:cNvPr>
          <p:cNvGraphicFramePr>
            <a:graphicFrameLocks noGrp="1"/>
          </p:cNvGraphicFramePr>
          <p:nvPr/>
        </p:nvGraphicFramePr>
        <p:xfrm>
          <a:off x="250404" y="2198855"/>
          <a:ext cx="4489104" cy="27160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2276">
                  <a:extLst>
                    <a:ext uri="{9D8B030D-6E8A-4147-A177-3AD203B41FA5}">
                      <a16:colId xmlns:a16="http://schemas.microsoft.com/office/drawing/2014/main" xmlns="" val="1525879707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374863646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2867213207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2935674247"/>
                    </a:ext>
                  </a:extLst>
                </a:gridCol>
              </a:tblGrid>
              <a:tr h="54320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1000+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800+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600+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59993542"/>
                  </a:ext>
                </a:extLst>
              </a:tr>
              <a:tr h="54320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1200+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1000+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800+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50273293"/>
                  </a:ext>
                </a:extLst>
              </a:tr>
              <a:tr h="54320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1000+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800+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600+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13752090"/>
                  </a:ext>
                </a:extLst>
              </a:tr>
              <a:tr h="54320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1000+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800+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600+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36249119"/>
                  </a:ext>
                </a:extLst>
              </a:tr>
              <a:tr h="54320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Виды рейтинга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2026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2028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2023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55014354"/>
                  </a:ext>
                </a:extLst>
              </a:tr>
            </a:tbl>
          </a:graphicData>
        </a:graphic>
      </p:graphicFrame>
      <p:pic>
        <p:nvPicPr>
          <p:cNvPr id="52" name="Рисунок 51">
            <a:extLst>
              <a:ext uri="{FF2B5EF4-FFF2-40B4-BE49-F238E27FC236}">
                <a16:creationId xmlns:a16="http://schemas.microsoft.com/office/drawing/2014/main" xmlns="" id="{C17495CD-7B5D-40D3-850D-E74F156D9D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04" y="942143"/>
            <a:ext cx="1121196" cy="608117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xmlns="" id="{566CADDE-AC24-4049-8BF7-73FBECB9750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04" y="2190896"/>
            <a:ext cx="1121196" cy="551862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11771B15-D591-4BD2-9673-0E5494E8180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9" t="33567" r="5377" b="33362"/>
          <a:stretch/>
        </p:blipFill>
        <p:spPr>
          <a:xfrm>
            <a:off x="253579" y="2814073"/>
            <a:ext cx="1108496" cy="411583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xmlns="" id="{0BF97DBA-00E8-4B74-AA3D-DF86656E413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" t="18000" r="5978" b="21555"/>
          <a:stretch/>
        </p:blipFill>
        <p:spPr>
          <a:xfrm>
            <a:off x="259929" y="3291880"/>
            <a:ext cx="1102146" cy="534432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xmlns="" id="{56A2903C-C603-4477-80E4-11209405E8EB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8" t="22387" r="6680" b="14354"/>
          <a:stretch/>
        </p:blipFill>
        <p:spPr>
          <a:xfrm>
            <a:off x="259929" y="3869396"/>
            <a:ext cx="1108496" cy="468351"/>
          </a:xfrm>
          <a:prstGeom prst="rect">
            <a:avLst/>
          </a:prstGeom>
        </p:spPr>
      </p:pic>
      <p:sp>
        <p:nvSpPr>
          <p:cNvPr id="34" name="Текст 5">
            <a:extLst>
              <a:ext uri="{FF2B5EF4-FFF2-40B4-BE49-F238E27FC236}">
                <a16:creationId xmlns:a16="http://schemas.microsoft.com/office/drawing/2014/main" xmlns="" id="{9C0070ED-5855-4C15-8B5B-A7F41899F3F2}"/>
              </a:ext>
            </a:extLst>
          </p:cNvPr>
          <p:cNvSpPr txBox="1">
            <a:spLocks/>
          </p:cNvSpPr>
          <p:nvPr/>
        </p:nvSpPr>
        <p:spPr>
          <a:xfrm>
            <a:off x="13742655" y="436576"/>
            <a:ext cx="3920400" cy="9615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РАЗВИТИЕ МАТЕРИАЛЬНО-ТЕХНИЧЕСКОЙ БАЗЫ</a:t>
            </a:r>
            <a:endParaRPr kumimoji="0" lang="ru-RU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ТЕКУЩАЯ ОБУЧАЮЩАЯ ПЛОЩАДКА УНИВЕРСИТЕТА</a:t>
            </a:r>
            <a:b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</a:b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Учебных зданий - 3. </a:t>
            </a:r>
            <a:b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</a:b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148 учебных аудиторий, рассчитанных на 24 000 мест.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НОВЫЕ СТРОЯЩИЕСЯ УЧЕБНЫЕ ЗДАНИЯ</a:t>
            </a:r>
            <a:endParaRPr kumimoji="0" lang="ru-RU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 </a:t>
            </a: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Строительство современного учебного здания на 5000 мест (2028)</a:t>
            </a:r>
            <a:endParaRPr kumimoji="0" lang="ru-RU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 </a:t>
            </a: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В СУЩЕСТВУЮЩИХ УЧЕБНЫХ ЗДАНИЯХ:</a:t>
            </a:r>
            <a:endParaRPr kumimoji="0" lang="ru-RU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03505" marR="0" lvl="0" indent="-103505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Проект "Умный кампус" (Оснащение всех зданий системой цифрового управления) 2027-2030</a:t>
            </a:r>
            <a:endParaRPr kumimoji="0" lang="ru-RU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03505" marR="0" lvl="0" indent="-103505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Проект "Зеленый кампус" (Расширение производства энергии с помощью солнечных панелей)</a:t>
            </a:r>
            <a:endParaRPr kumimoji="0" lang="ru-RU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СТРОИТЕЛЬСТВО ОБЩЕЖИТИЯ НА 2000 МЕСТ ДЛЯ СТУДЕНТОВ (2025-2026)</a:t>
            </a:r>
            <a:endParaRPr kumimoji="0" lang="ru-RU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СТРОИТЕЛЬСТВО ЖИЛЫХ ДОМОК НА 68 КВАРТИР ДЛЯ ПРОФЕССОРОВ И ПРЕПОДАВАТЕЛЕЙ УНИВЕРСИТЕТА (2026-2027)</a:t>
            </a:r>
            <a:endParaRPr kumimoji="0" lang="ru-RU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СОЗДАНИЕ ДЕРЕВЬЕВ, ЦВЕТНИКОВ И ЗОН ДЛЯ ОТДЫХА НА КАМПУСЕ.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 </a:t>
            </a:r>
            <a:endParaRPr kumimoji="0" lang="ru-RU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M Sans Bold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M Sans Bold" pitchFamily="2" charset="0"/>
                <a:ea typeface="+mn-ea"/>
                <a:cs typeface="+mn-cs"/>
              </a:rPr>
              <a:t>ОБЕСПЕЧЕНИЕ ЭКОЛОГИЧЕСКИ ЧИСТОЙ СРЕДЫ 2025-2023</a:t>
            </a:r>
            <a:endParaRPr kumimoji="0" lang="ru-RU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1860</TotalTime>
  <Words>1892</Words>
  <Application>Microsoft Office PowerPoint</Application>
  <PresentationFormat>Произвольный</PresentationFormat>
  <Paragraphs>648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8</vt:i4>
      </vt:variant>
    </vt:vector>
  </HeadingPairs>
  <TitlesOfParts>
    <vt:vector size="24" baseType="lpstr">
      <vt:lpstr>DM Sans Bold</vt:lpstr>
      <vt:lpstr>Calibri</vt:lpstr>
      <vt:lpstr>Consolas</vt:lpstr>
      <vt:lpstr>Times New Roman</vt:lpstr>
      <vt:lpstr>Lora</vt:lpstr>
      <vt:lpstr>Arial</vt:lpstr>
      <vt:lpstr>Tahoma</vt:lpstr>
      <vt:lpstr>Lora Bold Italics</vt:lpstr>
      <vt:lpstr>DM Sans</vt:lpstr>
      <vt:lpstr>Crimson Pro Semi Bold</vt:lpstr>
      <vt:lpstr>Lora Bold</vt:lpstr>
      <vt:lpstr>Now Bold</vt:lpstr>
      <vt:lpstr>Roboto</vt:lpstr>
      <vt:lpstr>Franklin Gothic Heavy</vt:lpstr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Dark Professional Geometric Business Project Presentation</dc:title>
  <dc:creator>Shaxboz Meyliqulov</dc:creator>
  <cp:lastModifiedBy>USER</cp:lastModifiedBy>
  <cp:revision>428</cp:revision>
  <dcterms:created xsi:type="dcterms:W3CDTF">2006-08-16T00:00:00Z</dcterms:created>
  <dcterms:modified xsi:type="dcterms:W3CDTF">2026-03-26T07:00:19Z</dcterms:modified>
  <dc:identifier>DAGg7BXMAmA</dc:identifier>
</cp:coreProperties>
</file>