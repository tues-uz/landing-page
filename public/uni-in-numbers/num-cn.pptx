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64" r:id="rId5"/>
    <p:sldId id="262" r:id="rId6"/>
    <p:sldId id="267" r:id="rId7"/>
    <p:sldId id="265" r:id="rId8"/>
    <p:sldId id="266" r:id="rId9"/>
  </p:sldIdLst>
  <p:sldSz cx="18288000" cy="10287000"/>
  <p:notesSz cx="6858000" cy="9144000"/>
  <p:embeddedFontLst>
    <p:embeddedFont>
      <p:font typeface="Franklin Gothic Heavy" panose="020B0903020102020204" pitchFamily="34" charset="0"/>
      <p:regular r:id="rId10"/>
      <p:italic r:id="rId11"/>
    </p:embeddedFont>
    <p:embeddedFont>
      <p:font typeface="Lora Bold Italics" panose="020B0604020202020204" charset="0"/>
      <p:regular r:id="rId12"/>
    </p:embeddedFont>
    <p:embeddedFont>
      <p:font typeface="Calibri" panose="020F0502020204030204" pitchFamily="34" charset="0"/>
      <p:regular r:id="rId13"/>
      <p:bold r:id="rId14"/>
      <p:italic r:id="rId15"/>
      <p:boldItalic r:id="rId16"/>
    </p:embeddedFont>
    <p:embeddedFont>
      <p:font typeface="DM Sans Bold" panose="020B0604020202020204" charset="0"/>
      <p:regular r:id="rId17"/>
      <p:bold r:id="rId18"/>
    </p:embeddedFont>
    <p:embeddedFont>
      <p:font typeface="Roboto" panose="020B0604020202020204" charset="0"/>
      <p:regular r:id="rId19"/>
      <p:bold r:id="rId20"/>
      <p:italic r:id="rId21"/>
      <p:boldItalic r:id="rId22"/>
    </p:embeddedFont>
    <p:embeddedFont>
      <p:font typeface="Lora Bold" panose="020B0604020202020204" charset="-52"/>
      <p:regular r:id="rId23"/>
    </p:embeddedFont>
    <p:embeddedFont>
      <p:font typeface="Tahoma" panose="020B0604030504040204" pitchFamily="34" charset="0"/>
      <p:regular r:id="rId24"/>
      <p:bold r:id="rId25"/>
    </p:embeddedFont>
    <p:embeddedFont>
      <p:font typeface="Now Bold" panose="020B0604020202020204" charset="0"/>
      <p:regular r:id="rId26"/>
    </p:embeddedFont>
    <p:embeddedFont>
      <p:font typeface="DM Sans" panose="020B060402020202020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142"/>
    <a:srgbClr val="5BC5B8"/>
    <a:srgbClr val="F4B6C0"/>
    <a:srgbClr val="EC695B"/>
    <a:srgbClr val="051D40"/>
    <a:srgbClr val="4DD5FF"/>
    <a:srgbClr val="17375E"/>
    <a:srgbClr val="1A5276"/>
    <a:srgbClr val="4BACC6"/>
    <a:srgbClr val="9537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Светлый стиль 2 — акцент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84E427A-3D55-4303-BF80-6455036E1DE7}" styleName="Стиль из темы 1 - акцент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7" autoAdjust="0"/>
    <p:restoredTop sz="96340" autoAdjust="0"/>
  </p:normalViewPr>
  <p:slideViewPr>
    <p:cSldViewPr>
      <p:cViewPr varScale="1">
        <p:scale>
          <a:sx n="63" d="100"/>
          <a:sy n="63" d="100"/>
        </p:scale>
        <p:origin x="108" y="5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font" Target="fonts/font19.fntdata"/><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font" Target="fonts/font18.fntdata"/><Relationship Id="rId30" Type="http://schemas.openxmlformats.org/officeDocument/2006/relationships/font" Target="fonts/font21.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_____Microsoft_Excel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Microsoft_Excel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ownloads\Telegram%20Desktop\strategiyaga%20diagramm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dmin\Downloads\Telegram%20Desktop\strategiyaga%20diagramm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dmin\Downloads\Telegram%20Desktop\strategiyaga%20diagramm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dmin\Downloads\Telegram%20Desktop\strategiyaga%20diagramm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DMIN\Downloads\Telegram%20Desktop\strategiyaga%20diagramm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DMIN\Downloads\Telegram%20Desktop\strategiyaga%20diagramma.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7000"/>
              </a:lnSpc>
              <a:spcBef>
                <a:spcPts val="0"/>
              </a:spcBef>
              <a:spcAft>
                <a:spcPts val="800"/>
              </a:spcAft>
              <a:buClrTx/>
              <a:buSzTx/>
              <a:buFontTx/>
              <a:buNone/>
              <a:tabLst/>
              <a:defRPr lang="en-US" sz="1600" b="1" i="0" u="none" strike="noStrike" kern="1200" spc="0" baseline="0" dirty="0" err="1">
                <a:solidFill>
                  <a:prstClr val="white"/>
                </a:solidFill>
                <a:latin typeface="DM Sans Bold" panose="020B0604020202020204" charset="0"/>
                <a:ea typeface="Tahoma" panose="020B0604030504040204" pitchFamily="34" charset="0"/>
                <a:cs typeface="Times New Roman" panose="02020603050405020304" pitchFamily="18" charset="0"/>
              </a:defRPr>
            </a:pPr>
            <a:r>
              <a:rPr lang="ja-JP" altLang="en-US" sz="1600" b="1" dirty="0" smtClean="0"/>
              <a:t>校園</a:t>
            </a:r>
            <a:r>
              <a:rPr lang="en-US" sz="1600" b="1" kern="1200" dirty="0" smtClean="0">
                <a:solidFill>
                  <a:schemeClr val="bg1"/>
                </a:solidFill>
                <a:latin typeface="DM Sans Bold" panose="020B0604020202020204" charset="0"/>
                <a:ea typeface="Tahoma" panose="020B0604030504040204" pitchFamily="34" charset="0"/>
                <a:cs typeface="Times New Roman" panose="02020603050405020304" pitchFamily="18" charset="0"/>
              </a:rPr>
              <a:t> </a:t>
            </a:r>
            <a:r>
              <a:rPr lang="en-US" sz="1600" b="1" kern="1200" dirty="0">
                <a:solidFill>
                  <a:schemeClr val="bg1"/>
                </a:solidFill>
                <a:latin typeface="DM Sans Bold" panose="020B0604020202020204" charset="0"/>
                <a:ea typeface="Tahoma" panose="020B0604030504040204" pitchFamily="34" charset="0"/>
                <a:cs typeface="Times New Roman" panose="02020603050405020304" pitchFamily="18" charset="0"/>
              </a:rPr>
              <a:t>- 1,3 ga</a:t>
            </a:r>
          </a:p>
        </c:rich>
      </c:tx>
      <c:layout>
        <c:manualLayout>
          <c:xMode val="edge"/>
          <c:yMode val="edge"/>
          <c:x val="0.46327918117118039"/>
          <c:y val="4.5826611027895293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7000"/>
            </a:lnSpc>
            <a:spcBef>
              <a:spcPts val="0"/>
            </a:spcBef>
            <a:spcAft>
              <a:spcPts val="800"/>
            </a:spcAft>
            <a:buClrTx/>
            <a:buSzTx/>
            <a:buFontTx/>
            <a:buNone/>
            <a:tabLst/>
            <a:defRPr lang="en-US" sz="1600" b="1" i="0" u="none" strike="noStrike" kern="1200" spc="0" baseline="0" dirty="0" err="1">
              <a:solidFill>
                <a:prstClr val="white"/>
              </a:solidFill>
              <a:latin typeface="DM Sans Bold" panose="020B0604020202020204" charset="0"/>
              <a:ea typeface="Tahoma" panose="020B0604030504040204" pitchFamily="34" charset="0"/>
              <a:cs typeface="Times New Roman" panose="02020603050405020304" pitchFamily="18" charset="0"/>
            </a:defRPr>
          </a:pPr>
          <a:endParaRPr lang="ru-RU"/>
        </a:p>
      </c:txPr>
    </c:title>
    <c:autoTitleDeleted val="0"/>
    <c:plotArea>
      <c:layout>
        <c:manualLayout>
          <c:layoutTarget val="inner"/>
          <c:xMode val="edge"/>
          <c:yMode val="edge"/>
          <c:x val="8.2176915900330993E-2"/>
          <c:y val="0.18933178896654149"/>
          <c:w val="0.49118244121805738"/>
          <c:h val="0.71385853055394688"/>
        </c:manualLayout>
      </c:layout>
      <c:pieChart>
        <c:varyColors val="1"/>
        <c:ser>
          <c:idx val="0"/>
          <c:order val="0"/>
          <c:tx>
            <c:strRef>
              <c:f>Лист1!$B$1</c:f>
              <c:strCache>
                <c:ptCount val="1"/>
                <c:pt idx="0">
                  <c:v>Продажи</c:v>
                </c:pt>
              </c:strCache>
            </c:strRef>
          </c:tx>
          <c:dPt>
            <c:idx val="0"/>
            <c:bubble3D val="0"/>
            <c:explosion val="1"/>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DA6D-4B96-92A4-01438E8CF33B}"/>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DA6D-4B96-92A4-01438E8CF33B}"/>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DA6D-4B96-92A4-01438E8CF33B}"/>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DA6D-4B96-92A4-01438E8CF33B}"/>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51D40"/>
                    </a:solidFill>
                    <a:latin typeface="DM Sans Bold" panose="020B0604020202020204" charset="0"/>
                    <a:ea typeface="+mn-ea"/>
                    <a:cs typeface="+mn-cs"/>
                  </a:defRPr>
                </a:pPr>
                <a:endParaRPr lang="ru-RU"/>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15:layout/>
              </c:ext>
            </c:extLst>
          </c:dLbls>
          <c:cat>
            <c:strRef>
              <c:f>Лист1!$A$2:$A$5</c:f>
              <c:strCache>
                <c:ptCount val="4"/>
                <c:pt idx="0">
                  <c:v>校園範圍</c:v>
                </c:pt>
                <c:pt idx="1">
                  <c:v>綠色區域</c:v>
                </c:pt>
                <c:pt idx="2">
                  <c:v>醫療大樓</c:v>
                </c:pt>
                <c:pt idx="3">
                  <c:v>體育中心</c:v>
                </c:pt>
              </c:strCache>
            </c:strRef>
          </c:cat>
          <c:val>
            <c:numRef>
              <c:f>Лист1!$B$2:$B$5</c:f>
              <c:numCache>
                <c:formatCode>General</c:formatCode>
                <c:ptCount val="4"/>
                <c:pt idx="0">
                  <c:v>42</c:v>
                </c:pt>
                <c:pt idx="1">
                  <c:v>27</c:v>
                </c:pt>
                <c:pt idx="2">
                  <c:v>18.399999999999999</c:v>
                </c:pt>
                <c:pt idx="3">
                  <c:v>17.600000000000001</c:v>
                </c:pt>
              </c:numCache>
            </c:numRef>
          </c:val>
          <c:extLst xmlns:c16r2="http://schemas.microsoft.com/office/drawing/2015/06/chart">
            <c:ext xmlns:c16="http://schemas.microsoft.com/office/drawing/2014/chart" uri="{C3380CC4-5D6E-409C-BE32-E72D297353CC}">
              <c16:uniqueId val="{00000008-DA6D-4B96-92A4-01438E8CF33B}"/>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6464103620162875"/>
          <c:y val="0.14601683051877223"/>
          <c:w val="0.43353654781479173"/>
          <c:h val="0.85398304440187567"/>
        </c:manualLayout>
      </c:layout>
      <c:overlay val="0"/>
      <c:spPr>
        <a:noFill/>
        <a:ln>
          <a:noFill/>
        </a:ln>
        <a:effectLst/>
      </c:spPr>
      <c:txPr>
        <a:bodyPr rot="0" spcFirstLastPara="1" vertOverflow="ellipsis" vert="horz" wrap="square" anchor="ctr" anchorCtr="1"/>
        <a:lstStyle/>
        <a:p>
          <a:pPr rtl="0">
            <a:defRPr lang="en-US" sz="1600" b="1" i="0" u="none" strike="noStrike" kern="1200" spc="0" baseline="0">
              <a:solidFill>
                <a:schemeClr val="bg1"/>
              </a:solidFill>
              <a:latin typeface="DM Sans Bold" panose="020B0604020202020204" charset="0"/>
              <a:ea typeface="Tahoma" panose="020B0604030504040204" pitchFamily="34" charset="0"/>
              <a:cs typeface="Times New Roman" panose="02020603050405020304" pitchFamily="18" charset="0"/>
            </a:defRPr>
          </a:pPr>
          <a:endParaRPr lang="ru-RU"/>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nchor="ctr" anchorCtr="0"/>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209345504124261E-2"/>
          <c:y val="4.9060239375250975E-2"/>
          <c:w val="0.93168983759842516"/>
          <c:h val="0.76748672690165309"/>
        </c:manualLayout>
      </c:layout>
      <c:barChart>
        <c:barDir val="col"/>
        <c:grouping val="clustered"/>
        <c:varyColors val="0"/>
        <c:ser>
          <c:idx val="0"/>
          <c:order val="0"/>
          <c:tx>
            <c:strRef>
              <c:f>Лист1!$B$1</c:f>
              <c:strCache>
                <c:ptCount val="1"/>
                <c:pt idx="0">
                  <c:v>talabalar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DD5FF"/>
                    </a:solidFill>
                    <a:latin typeface="DM Sans Bold" panose="020B0604020202020204" charset="0"/>
                    <a:ea typeface="+mn-ea"/>
                    <a:cs typeface="+mn-cs"/>
                  </a:defRPr>
                </a:pPr>
                <a:endParaRPr lang="ru-RU"/>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2023</c:v>
                </c:pt>
                <c:pt idx="1">
                  <c:v>2024</c:v>
                </c:pt>
                <c:pt idx="2">
                  <c:v>2025</c:v>
                </c:pt>
                <c:pt idx="3">
                  <c:v>2026</c:v>
                </c:pt>
              </c:numCache>
            </c:numRef>
          </c:cat>
          <c:val>
            <c:numRef>
              <c:f>Лист1!$B$2:$B$5</c:f>
              <c:numCache>
                <c:formatCode>General</c:formatCode>
                <c:ptCount val="4"/>
                <c:pt idx="0">
                  <c:v>6</c:v>
                </c:pt>
                <c:pt idx="1">
                  <c:v>12</c:v>
                </c:pt>
                <c:pt idx="2">
                  <c:v>19</c:v>
                </c:pt>
                <c:pt idx="3">
                  <c:v>26</c:v>
                </c:pt>
              </c:numCache>
            </c:numRef>
          </c:val>
          <c:extLst xmlns:c16r2="http://schemas.microsoft.com/office/drawing/2015/06/chart">
            <c:ext xmlns:c16="http://schemas.microsoft.com/office/drawing/2014/chart" uri="{C3380CC4-5D6E-409C-BE32-E72D297353CC}">
              <c16:uniqueId val="{00000000-CC92-4C7D-9F93-2FB9D4A4732E}"/>
            </c:ext>
          </c:extLst>
        </c:ser>
        <c:ser>
          <c:idx val="1"/>
          <c:order val="1"/>
          <c:tx>
            <c:strRef>
              <c:f>Лист1!$C$1</c:f>
              <c:strCache>
                <c:ptCount val="1"/>
                <c:pt idx="0">
                  <c:v>doktorantlar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2023</c:v>
                </c:pt>
                <c:pt idx="1">
                  <c:v>2024</c:v>
                </c:pt>
                <c:pt idx="2">
                  <c:v>2025</c:v>
                </c:pt>
                <c:pt idx="3">
                  <c:v>2026</c:v>
                </c:pt>
              </c:numCache>
            </c:numRef>
          </c:cat>
          <c:val>
            <c:numRef>
              <c:f>Лист1!$C$2:$C$5</c:f>
              <c:numCache>
                <c:formatCode>General</c:formatCode>
                <c:ptCount val="4"/>
                <c:pt idx="0">
                  <c:v>0</c:v>
                </c:pt>
                <c:pt idx="1">
                  <c:v>0</c:v>
                </c:pt>
                <c:pt idx="2">
                  <c:v>0</c:v>
                </c:pt>
                <c:pt idx="3">
                  <c:v>0</c:v>
                </c:pt>
              </c:numCache>
            </c:numRef>
          </c:val>
          <c:extLst xmlns:c16r2="http://schemas.microsoft.com/office/drawing/2015/06/chart">
            <c:ext xmlns:c16="http://schemas.microsoft.com/office/drawing/2014/chart" uri="{C3380CC4-5D6E-409C-BE32-E72D297353CC}">
              <c16:uniqueId val="{00000001-CC92-4C7D-9F93-2FB9D4A4732E}"/>
            </c:ext>
          </c:extLst>
        </c:ser>
        <c:dLbls>
          <c:dLblPos val="outEnd"/>
          <c:showLegendKey val="0"/>
          <c:showVal val="1"/>
          <c:showCatName val="0"/>
          <c:showSerName val="0"/>
          <c:showPercent val="0"/>
          <c:showBubbleSize val="0"/>
        </c:dLbls>
        <c:gapWidth val="219"/>
        <c:overlap val="-27"/>
        <c:axId val="337013928"/>
        <c:axId val="337010792"/>
      </c:barChart>
      <c:catAx>
        <c:axId val="33701392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4DD5FF"/>
                </a:solidFill>
                <a:latin typeface="DM Sans Bold" panose="020B0604020202020204" charset="0"/>
                <a:ea typeface="+mn-ea"/>
                <a:cs typeface="+mn-cs"/>
              </a:defRPr>
            </a:pPr>
            <a:endParaRPr lang="ru-RU"/>
          </a:p>
        </c:txPr>
        <c:crossAx val="337010792"/>
        <c:crosses val="autoZero"/>
        <c:auto val="1"/>
        <c:lblAlgn val="ctr"/>
        <c:lblOffset val="100"/>
        <c:noMultiLvlLbl val="0"/>
      </c:catAx>
      <c:valAx>
        <c:axId val="337010792"/>
        <c:scaling>
          <c:orientation val="minMax"/>
        </c:scaling>
        <c:delete val="1"/>
        <c:axPos val="l"/>
        <c:numFmt formatCode="General" sourceLinked="1"/>
        <c:majorTickMark val="out"/>
        <c:minorTickMark val="none"/>
        <c:tickLblPos val="nextTo"/>
        <c:crossAx val="337013928"/>
        <c:crosses val="autoZero"/>
        <c:crossBetween val="between"/>
      </c:valAx>
      <c:spPr>
        <a:noFill/>
        <a:ln>
          <a:noFill/>
        </a:ln>
        <a:effectLst/>
      </c:spPr>
    </c:plotArea>
    <c:legend>
      <c:legendPos val="l"/>
      <c:layout>
        <c:manualLayout>
          <c:xMode val="edge"/>
          <c:yMode val="edge"/>
          <c:x val="2.8915092084322785E-2"/>
          <c:y val="0"/>
          <c:w val="0.71284740800105639"/>
          <c:h val="0.37562695969281107"/>
        </c:manualLayout>
      </c:layout>
      <c:overlay val="0"/>
      <c:spPr>
        <a:noFill/>
        <a:ln>
          <a:noFill/>
        </a:ln>
        <a:effectLst/>
      </c:spPr>
      <c:txPr>
        <a:bodyPr rot="0" spcFirstLastPara="1" vertOverflow="ellipsis" vert="horz" wrap="square" anchor="ctr" anchorCtr="1"/>
        <a:lstStyle/>
        <a:p>
          <a:pPr>
            <a:defRPr sz="1197" b="1" i="0" u="none" strike="noStrike" kern="1200" spc="300" baseline="0">
              <a:solidFill>
                <a:srgbClr val="4DD5FF"/>
              </a:solidFill>
              <a:latin typeface="DM Sans Bold" panose="020B0604020202020204" charset="0"/>
              <a:ea typeface="+mn-ea"/>
              <a:cs typeface="+mn-cs"/>
            </a:defRPr>
          </a:pPr>
          <a:endParaRPr lang="ru-RU"/>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rgbClr val="092D58"/>
    </a:solid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ja-JP" altLang="en-US" sz="1600" b="1" dirty="0" smtClean="0">
                <a:solidFill>
                  <a:srgbClr val="4DD5FF"/>
                </a:solidFill>
                <a:latin typeface="DM Sans Bold" panose="020B0604020202020204" charset="0"/>
                <a:ea typeface="+mn-ea"/>
                <a:cs typeface="+mn-cs"/>
              </a:rPr>
              <a:t>收錄於 </a:t>
            </a:r>
            <a:r>
              <a:rPr lang="en-US" sz="1600" b="1" dirty="0" smtClean="0">
                <a:solidFill>
                  <a:srgbClr val="4DD5FF"/>
                </a:solidFill>
                <a:latin typeface="DM Sans Bold" panose="020B0604020202020204" charset="0"/>
                <a:ea typeface="+mn-ea"/>
                <a:cs typeface="+mn-cs"/>
              </a:rPr>
              <a:t>Scopus </a:t>
            </a:r>
            <a:r>
              <a:rPr lang="ja-JP" altLang="en-US" sz="1600" b="1" dirty="0" smtClean="0">
                <a:solidFill>
                  <a:srgbClr val="4DD5FF"/>
                </a:solidFill>
                <a:latin typeface="DM Sans Bold" panose="020B0604020202020204" charset="0"/>
                <a:ea typeface="+mn-ea"/>
                <a:cs typeface="+mn-cs"/>
              </a:rPr>
              <a:t>和 </a:t>
            </a:r>
            <a:r>
              <a:rPr lang="en-US" sz="1600" b="1" dirty="0" smtClean="0">
                <a:solidFill>
                  <a:srgbClr val="4DD5FF"/>
                </a:solidFill>
                <a:latin typeface="DM Sans Bold" panose="020B0604020202020204" charset="0"/>
                <a:ea typeface="+mn-ea"/>
                <a:cs typeface="+mn-cs"/>
              </a:rPr>
              <a:t>Web of Science</a:t>
            </a:r>
          </a:p>
          <a:p>
            <a:pPr>
              <a:defRPr>
                <a:solidFill>
                  <a:schemeClr val="dk1"/>
                </a:solidFill>
              </a:defRPr>
            </a:pPr>
            <a:r>
              <a:rPr lang="en-US" sz="1600" b="1" dirty="0" smtClean="0">
                <a:solidFill>
                  <a:srgbClr val="4DD5FF"/>
                </a:solidFill>
                <a:latin typeface="DM Sans Bold" panose="020B0604020202020204" charset="0"/>
                <a:ea typeface="+mn-ea"/>
                <a:cs typeface="+mn-cs"/>
              </a:rPr>
              <a:t> </a:t>
            </a:r>
            <a:r>
              <a:rPr lang="ja-JP" altLang="en-US" sz="1600" b="1" dirty="0" smtClean="0">
                <a:solidFill>
                  <a:srgbClr val="4DD5FF"/>
                </a:solidFill>
                <a:latin typeface="DM Sans Bold" panose="020B0604020202020204" charset="0"/>
                <a:ea typeface="+mn-ea"/>
                <a:cs typeface="+mn-cs"/>
              </a:rPr>
              <a:t>資料庫的論文</a:t>
            </a:r>
            <a:endParaRPr lang="ru-RU" sz="1600" b="1" dirty="0">
              <a:solidFill>
                <a:srgbClr val="4DD5FF"/>
              </a:solidFill>
              <a:latin typeface="Times New Roman" panose="02020603050405020304" pitchFamily="18" charset="0"/>
              <a:cs typeface="Times New Roman" panose="02020603050405020304" pitchFamily="18" charset="0"/>
            </a:endParaRPr>
          </a:p>
        </c:rich>
      </c:tx>
      <c:layout>
        <c:manualLayout>
          <c:xMode val="edge"/>
          <c:yMode val="edge"/>
          <c:x val="0.17462811467044279"/>
          <c:y val="0.14802623483006247"/>
        </c:manualLayout>
      </c:layout>
      <c:overlay val="0"/>
      <c:spPr>
        <a:noFill/>
        <a:ln w="12700" cap="flat" cmpd="sng" algn="ctr">
          <a:noFill/>
          <a:prstDash val="solid"/>
          <a:miter lim="800000"/>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ru-RU"/>
        </a:p>
      </c:txPr>
    </c:title>
    <c:autoTitleDeleted val="0"/>
    <c:plotArea>
      <c:layout>
        <c:manualLayout>
          <c:layoutTarget val="inner"/>
          <c:xMode val="edge"/>
          <c:yMode val="edge"/>
          <c:x val="2.1149655293925254E-3"/>
          <c:y val="0.15341888987002042"/>
          <c:w val="0.95770068941214948"/>
          <c:h val="0.72600798258214727"/>
        </c:manualLayout>
      </c:layout>
      <c:barChart>
        <c:barDir val="col"/>
        <c:grouping val="clustered"/>
        <c:varyColors val="1"/>
        <c:ser>
          <c:idx val="0"/>
          <c:order val="0"/>
          <c:invertIfNegative val="0"/>
          <c:dPt>
            <c:idx val="0"/>
            <c:invertIfNegative val="0"/>
            <c:bubble3D val="0"/>
            <c:spPr>
              <a:solidFill>
                <a:schemeClr val="accent1"/>
              </a:solidFill>
              <a:ln>
                <a:noFill/>
              </a:ln>
              <a:effectLst/>
            </c:spPr>
            <c:extLst xmlns:c16r2="http://schemas.microsoft.com/office/drawing/2015/06/chart">
              <c:ext xmlns:c16="http://schemas.microsoft.com/office/drawing/2014/chart" uri="{C3380CC4-5D6E-409C-BE32-E72D297353CC}">
                <c16:uniqueId val="{00000001-274E-475A-915D-1F15510E7963}"/>
              </c:ext>
            </c:extLst>
          </c:dPt>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274E-475A-915D-1F15510E7963}"/>
              </c:ext>
            </c:extLst>
          </c:dPt>
          <c:dPt>
            <c:idx val="2"/>
            <c:invertIfNegative val="0"/>
            <c:bubble3D val="0"/>
            <c:spPr>
              <a:solidFill>
                <a:schemeClr val="accent3"/>
              </a:solidFill>
              <a:ln>
                <a:noFill/>
              </a:ln>
              <a:effectLst/>
            </c:spPr>
            <c:extLst xmlns:c16r2="http://schemas.microsoft.com/office/drawing/2015/06/chart">
              <c:ext xmlns:c16="http://schemas.microsoft.com/office/drawing/2014/chart" uri="{C3380CC4-5D6E-409C-BE32-E72D297353CC}">
                <c16:uniqueId val="{00000005-274E-475A-915D-1F15510E7963}"/>
              </c:ext>
            </c:extLst>
          </c:dPt>
          <c:dPt>
            <c:idx val="3"/>
            <c:invertIfNegative val="0"/>
            <c:bubble3D val="0"/>
            <c:spPr>
              <a:solidFill>
                <a:schemeClr val="accent4"/>
              </a:solidFill>
              <a:ln>
                <a:noFill/>
              </a:ln>
              <a:effectLst/>
            </c:spPr>
            <c:extLst xmlns:c16r2="http://schemas.microsoft.com/office/drawing/2015/06/chart">
              <c:ext xmlns:c16="http://schemas.microsoft.com/office/drawing/2014/chart" uri="{C3380CC4-5D6E-409C-BE32-E72D297353CC}">
                <c16:uniqueId val="{00000007-274E-475A-915D-1F15510E7963}"/>
              </c:ext>
            </c:extLst>
          </c:dPt>
          <c:dPt>
            <c:idx val="4"/>
            <c:invertIfNegative val="0"/>
            <c:bubble3D val="0"/>
            <c:spPr>
              <a:solidFill>
                <a:schemeClr val="accent5"/>
              </a:solidFill>
              <a:ln>
                <a:noFill/>
              </a:ln>
              <a:effectLst/>
            </c:spPr>
            <c:extLst xmlns:c16r2="http://schemas.microsoft.com/office/drawing/2015/06/chart">
              <c:ext xmlns:c16="http://schemas.microsoft.com/office/drawing/2014/chart" uri="{C3380CC4-5D6E-409C-BE32-E72D297353CC}">
                <c16:uniqueId val="{00000009-274E-475A-915D-1F15510E7963}"/>
              </c:ext>
            </c:extLst>
          </c:dPt>
          <c:dPt>
            <c:idx val="5"/>
            <c:invertIfNegative val="0"/>
            <c:bubble3D val="0"/>
            <c:spPr>
              <a:solidFill>
                <a:schemeClr val="accent6"/>
              </a:solidFill>
              <a:ln>
                <a:noFill/>
              </a:ln>
              <a:effectLst/>
            </c:spPr>
            <c:extLst xmlns:c16r2="http://schemas.microsoft.com/office/drawing/2015/06/chart">
              <c:ext xmlns:c16="http://schemas.microsoft.com/office/drawing/2014/chart" uri="{C3380CC4-5D6E-409C-BE32-E72D297353CC}">
                <c16:uniqueId val="{0000000B-274E-475A-915D-1F15510E7963}"/>
              </c:ext>
            </c:extLst>
          </c:dPt>
          <c:dLbls>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bg1"/>
                    </a:solidFill>
                    <a:latin typeface="DM Sans Bold" panose="020B0604020202020204" charset="0"/>
                    <a:ea typeface="+mn-ea"/>
                    <a:cs typeface="+mn-cs"/>
                  </a:defRPr>
                </a:pPr>
                <a:endParaRPr lang="ru-RU"/>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Лист2!$B$7:$B$12</c:f>
              <c:numCache>
                <c:formatCode>General</c:formatCode>
                <c:ptCount val="6"/>
                <c:pt idx="0">
                  <c:v>2025</c:v>
                </c:pt>
                <c:pt idx="1">
                  <c:v>2026</c:v>
                </c:pt>
                <c:pt idx="2">
                  <c:v>2027</c:v>
                </c:pt>
                <c:pt idx="3">
                  <c:v>2028</c:v>
                </c:pt>
                <c:pt idx="4">
                  <c:v>2029</c:v>
                </c:pt>
                <c:pt idx="5">
                  <c:v>2030</c:v>
                </c:pt>
              </c:numCache>
            </c:numRef>
          </c:cat>
          <c:val>
            <c:numRef>
              <c:f>Лист2!$C$7:$C$12</c:f>
              <c:numCache>
                <c:formatCode>General</c:formatCode>
                <c:ptCount val="6"/>
                <c:pt idx="0">
                  <c:v>100</c:v>
                </c:pt>
                <c:pt idx="1">
                  <c:v>200</c:v>
                </c:pt>
                <c:pt idx="2">
                  <c:v>300</c:v>
                </c:pt>
                <c:pt idx="3">
                  <c:v>500</c:v>
                </c:pt>
                <c:pt idx="4">
                  <c:v>750</c:v>
                </c:pt>
                <c:pt idx="5">
                  <c:v>1000</c:v>
                </c:pt>
              </c:numCache>
            </c:numRef>
          </c:val>
          <c:extLst xmlns:c16r2="http://schemas.microsoft.com/office/drawing/2015/06/chart">
            <c:ext xmlns:c16="http://schemas.microsoft.com/office/drawing/2014/chart" uri="{C3380CC4-5D6E-409C-BE32-E72D297353CC}">
              <c16:uniqueId val="{0000000C-274E-475A-915D-1F15510E7963}"/>
            </c:ext>
          </c:extLst>
        </c:ser>
        <c:dLbls>
          <c:showLegendKey val="0"/>
          <c:showVal val="0"/>
          <c:showCatName val="0"/>
          <c:showSerName val="0"/>
          <c:showPercent val="0"/>
          <c:showBubbleSize val="0"/>
        </c:dLbls>
        <c:gapWidth val="144"/>
        <c:overlap val="-27"/>
        <c:axId val="331649040"/>
        <c:axId val="331683248"/>
      </c:barChart>
      <c:catAx>
        <c:axId val="331649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0" i="0" u="none" strike="noStrike" kern="1200" cap="all" spc="120" normalizeH="0" baseline="0">
                <a:solidFill>
                  <a:srgbClr val="4DD5FF"/>
                </a:solidFill>
                <a:latin typeface="DM Sans Bold" panose="020B0604020202020204" charset="0"/>
                <a:ea typeface="+mn-ea"/>
                <a:cs typeface="+mn-cs"/>
              </a:defRPr>
            </a:pPr>
            <a:endParaRPr lang="ru-RU"/>
          </a:p>
        </c:txPr>
        <c:crossAx val="331683248"/>
        <c:crosses val="autoZero"/>
        <c:auto val="1"/>
        <c:lblAlgn val="ctr"/>
        <c:lblOffset val="100"/>
        <c:noMultiLvlLbl val="0"/>
      </c:catAx>
      <c:valAx>
        <c:axId val="331683248"/>
        <c:scaling>
          <c:orientation val="minMax"/>
        </c:scaling>
        <c:delete val="1"/>
        <c:axPos val="l"/>
        <c:numFmt formatCode="General" sourceLinked="1"/>
        <c:majorTickMark val="none"/>
        <c:minorTickMark val="none"/>
        <c:tickLblPos val="nextTo"/>
        <c:crossAx val="331649040"/>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600" b="1" i="0" u="none" strike="noStrike" kern="1200" spc="0" baseline="0">
                <a:solidFill>
                  <a:srgbClr val="4DD5FF"/>
                </a:solidFill>
                <a:latin typeface="DM Sans Bold" panose="020B0604020202020204" charset="0"/>
                <a:ea typeface="+mn-ea"/>
                <a:cs typeface="+mn-cs"/>
              </a:defRPr>
            </a:pPr>
            <a:r>
              <a:rPr lang="zh-TW" altLang="en-US" sz="1600" b="1" i="0" u="none" strike="noStrike" kern="1200" spc="0" baseline="0" dirty="0" smtClean="0">
                <a:solidFill>
                  <a:srgbClr val="4DD5FF"/>
                </a:solidFill>
                <a:latin typeface="DM Sans Bold" panose="020B0604020202020204" charset="0"/>
                <a:ea typeface="+mn-ea"/>
                <a:cs typeface="+mn-cs"/>
              </a:rPr>
              <a:t>引用次數（以千為單位）</a:t>
            </a:r>
            <a:endParaRPr lang="en-US" sz="1600" b="1" i="0" u="none" strike="noStrike" kern="1200" spc="0" baseline="0" dirty="0">
              <a:solidFill>
                <a:srgbClr val="4DD5FF"/>
              </a:solidFill>
              <a:latin typeface="DM Sans Bold" panose="020B0604020202020204" charset="0"/>
              <a:ea typeface="+mn-ea"/>
              <a:cs typeface="+mn-cs"/>
            </a:endParaRPr>
          </a:p>
        </c:rich>
      </c:tx>
      <c:layout>
        <c:manualLayout>
          <c:xMode val="edge"/>
          <c:yMode val="edge"/>
          <c:x val="0.29217322328216899"/>
          <c:y val="0.17147095007572175"/>
        </c:manualLayout>
      </c:layout>
      <c:overlay val="0"/>
      <c:spPr>
        <a:noFill/>
        <a:ln>
          <a:noFill/>
        </a:ln>
        <a:effectLst/>
      </c:spPr>
      <c:txPr>
        <a:bodyPr rot="0" spcFirstLastPara="1" vertOverflow="ellipsis" vert="horz" wrap="square" anchor="ctr" anchorCtr="1"/>
        <a:lstStyle/>
        <a:p>
          <a:pPr algn="ctr" rtl="0">
            <a:defRPr lang="en-US" sz="1600" b="1" i="0" u="none" strike="noStrike" kern="1200" spc="0" baseline="0">
              <a:solidFill>
                <a:srgbClr val="4DD5FF"/>
              </a:solidFill>
              <a:latin typeface="DM Sans Bold" panose="020B0604020202020204" charset="0"/>
              <a:ea typeface="+mn-ea"/>
              <a:cs typeface="+mn-cs"/>
            </a:defRPr>
          </a:pPr>
          <a:endParaRPr lang="ru-RU"/>
        </a:p>
      </c:txPr>
    </c:title>
    <c:autoTitleDeleted val="0"/>
    <c:plotArea>
      <c:layout/>
      <c:barChart>
        <c:barDir val="col"/>
        <c:grouping val="clustered"/>
        <c:varyColors val="1"/>
        <c:ser>
          <c:idx val="0"/>
          <c:order val="0"/>
          <c:invertIfNegative val="0"/>
          <c:dPt>
            <c:idx val="0"/>
            <c:invertIfNegative val="0"/>
            <c:bubble3D val="0"/>
            <c:spPr>
              <a:solidFill>
                <a:schemeClr val="accent6">
                  <a:lumMod val="50000"/>
                </a:schemeClr>
              </a:solidFill>
              <a:ln>
                <a:noFill/>
              </a:ln>
              <a:effectLst/>
            </c:spPr>
            <c:extLst xmlns:c16r2="http://schemas.microsoft.com/office/drawing/2015/06/chart">
              <c:ext xmlns:c16="http://schemas.microsoft.com/office/drawing/2014/chart" uri="{C3380CC4-5D6E-409C-BE32-E72D297353CC}">
                <c16:uniqueId val="{00000001-24FE-4420-9B73-BE751FB5785A}"/>
              </c:ext>
            </c:extLst>
          </c:dPt>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24FE-4420-9B73-BE751FB5785A}"/>
              </c:ext>
            </c:extLst>
          </c:dPt>
          <c:dPt>
            <c:idx val="2"/>
            <c:invertIfNegative val="0"/>
            <c:bubble3D val="0"/>
            <c:spPr>
              <a:solidFill>
                <a:schemeClr val="accent3"/>
              </a:solidFill>
              <a:ln>
                <a:noFill/>
              </a:ln>
              <a:effectLst/>
            </c:spPr>
            <c:extLst xmlns:c16r2="http://schemas.microsoft.com/office/drawing/2015/06/chart">
              <c:ext xmlns:c16="http://schemas.microsoft.com/office/drawing/2014/chart" uri="{C3380CC4-5D6E-409C-BE32-E72D297353CC}">
                <c16:uniqueId val="{00000005-24FE-4420-9B73-BE751FB5785A}"/>
              </c:ext>
            </c:extLst>
          </c:dPt>
          <c:dPt>
            <c:idx val="3"/>
            <c:invertIfNegative val="0"/>
            <c:bubble3D val="0"/>
            <c:spPr>
              <a:solidFill>
                <a:schemeClr val="accent2">
                  <a:lumMod val="75000"/>
                </a:schemeClr>
              </a:solidFill>
              <a:ln>
                <a:noFill/>
              </a:ln>
              <a:effectLst/>
            </c:spPr>
            <c:extLst xmlns:c16r2="http://schemas.microsoft.com/office/drawing/2015/06/chart">
              <c:ext xmlns:c16="http://schemas.microsoft.com/office/drawing/2014/chart" uri="{C3380CC4-5D6E-409C-BE32-E72D297353CC}">
                <c16:uniqueId val="{00000007-24FE-4420-9B73-BE751FB5785A}"/>
              </c:ext>
            </c:extLst>
          </c:dPt>
          <c:dPt>
            <c:idx val="4"/>
            <c:invertIfNegative val="0"/>
            <c:bubble3D val="0"/>
            <c:spPr>
              <a:solidFill>
                <a:schemeClr val="accent5"/>
              </a:solidFill>
              <a:ln>
                <a:noFill/>
              </a:ln>
              <a:effectLst/>
            </c:spPr>
            <c:extLst xmlns:c16r2="http://schemas.microsoft.com/office/drawing/2015/06/chart">
              <c:ext xmlns:c16="http://schemas.microsoft.com/office/drawing/2014/chart" uri="{C3380CC4-5D6E-409C-BE32-E72D297353CC}">
                <c16:uniqueId val="{00000009-24FE-4420-9B73-BE751FB5785A}"/>
              </c:ext>
            </c:extLst>
          </c:dPt>
          <c:dPt>
            <c:idx val="5"/>
            <c:invertIfNegative val="0"/>
            <c:bubble3D val="0"/>
            <c:spPr>
              <a:solidFill>
                <a:schemeClr val="tx2">
                  <a:lumMod val="75000"/>
                </a:schemeClr>
              </a:solidFill>
              <a:ln>
                <a:noFill/>
              </a:ln>
              <a:effectLst/>
            </c:spPr>
            <c:extLst xmlns:c16r2="http://schemas.microsoft.com/office/drawing/2015/06/chart">
              <c:ext xmlns:c16="http://schemas.microsoft.com/office/drawing/2014/chart" uri="{C3380CC4-5D6E-409C-BE32-E72D297353CC}">
                <c16:uniqueId val="{0000000B-24FE-4420-9B73-BE751FB5785A}"/>
              </c:ext>
            </c:extLst>
          </c:dPt>
          <c:dLbls>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bg1"/>
                    </a:solidFill>
                    <a:latin typeface="DM Sans Bold" panose="020B0604020202020204" charset="0"/>
                    <a:ea typeface="+mn-ea"/>
                    <a:cs typeface="+mn-cs"/>
                  </a:defRPr>
                </a:pPr>
                <a:endParaRPr lang="ru-RU"/>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Лист2!$B$26:$B$31</c:f>
              <c:numCache>
                <c:formatCode>General</c:formatCode>
                <c:ptCount val="6"/>
                <c:pt idx="0">
                  <c:v>2025</c:v>
                </c:pt>
                <c:pt idx="1">
                  <c:v>2026</c:v>
                </c:pt>
                <c:pt idx="2">
                  <c:v>2027</c:v>
                </c:pt>
                <c:pt idx="3">
                  <c:v>2028</c:v>
                </c:pt>
                <c:pt idx="4">
                  <c:v>2029</c:v>
                </c:pt>
                <c:pt idx="5">
                  <c:v>2030</c:v>
                </c:pt>
              </c:numCache>
            </c:numRef>
          </c:cat>
          <c:val>
            <c:numRef>
              <c:f>Лист2!$C$26:$C$31</c:f>
              <c:numCache>
                <c:formatCode>General</c:formatCode>
                <c:ptCount val="6"/>
                <c:pt idx="0">
                  <c:v>50</c:v>
                </c:pt>
                <c:pt idx="1">
                  <c:v>75</c:v>
                </c:pt>
                <c:pt idx="2">
                  <c:v>100</c:v>
                </c:pt>
                <c:pt idx="3">
                  <c:v>125</c:v>
                </c:pt>
                <c:pt idx="4">
                  <c:v>150</c:v>
                </c:pt>
                <c:pt idx="5">
                  <c:v>250</c:v>
                </c:pt>
              </c:numCache>
            </c:numRef>
          </c:val>
          <c:extLst xmlns:c16r2="http://schemas.microsoft.com/office/drawing/2015/06/chart">
            <c:ext xmlns:c16="http://schemas.microsoft.com/office/drawing/2014/chart" uri="{C3380CC4-5D6E-409C-BE32-E72D297353CC}">
              <c16:uniqueId val="{0000000C-24FE-4420-9B73-BE751FB5785A}"/>
            </c:ext>
          </c:extLst>
        </c:ser>
        <c:dLbls>
          <c:showLegendKey val="0"/>
          <c:showVal val="0"/>
          <c:showCatName val="0"/>
          <c:showSerName val="0"/>
          <c:showPercent val="0"/>
          <c:showBubbleSize val="0"/>
        </c:dLbls>
        <c:gapWidth val="144"/>
        <c:overlap val="-27"/>
        <c:axId val="331262848"/>
        <c:axId val="331263632"/>
      </c:barChart>
      <c:catAx>
        <c:axId val="331262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0" i="0" u="none" strike="noStrike" kern="1200" cap="all" spc="120" normalizeH="0" baseline="0">
                <a:solidFill>
                  <a:srgbClr val="4DD5FF"/>
                </a:solidFill>
                <a:latin typeface="DM Sans Bold" panose="020B0604020202020204" charset="0"/>
                <a:ea typeface="+mn-ea"/>
                <a:cs typeface="+mn-cs"/>
              </a:defRPr>
            </a:pPr>
            <a:endParaRPr lang="ru-RU"/>
          </a:p>
        </c:txPr>
        <c:crossAx val="331263632"/>
        <c:crosses val="autoZero"/>
        <c:auto val="1"/>
        <c:lblAlgn val="ctr"/>
        <c:lblOffset val="100"/>
        <c:noMultiLvlLbl val="0"/>
      </c:catAx>
      <c:valAx>
        <c:axId val="331263632"/>
        <c:scaling>
          <c:orientation val="minMax"/>
        </c:scaling>
        <c:delete val="1"/>
        <c:axPos val="l"/>
        <c:numFmt formatCode="General" sourceLinked="1"/>
        <c:majorTickMark val="none"/>
        <c:minorTickMark val="none"/>
        <c:tickLblPos val="nextTo"/>
        <c:crossAx val="331262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600" b="1" i="0" u="none" strike="noStrike" kern="1200" spc="0" baseline="0">
                <a:solidFill>
                  <a:srgbClr val="4DD5FF"/>
                </a:solidFill>
                <a:latin typeface="DM Sans Bold" panose="020B0604020202020204" charset="0"/>
                <a:ea typeface="+mn-ea"/>
                <a:cs typeface="+mn-cs"/>
              </a:defRPr>
            </a:pPr>
            <a:r>
              <a:rPr lang="zh-TW" altLang="en-US" sz="1600" b="1" dirty="0" smtClean="0"/>
              <a:t>通過國際認證的課程與指導方針（總計）</a:t>
            </a:r>
            <a:endParaRPr lang="zh-TW" altLang="en-US" sz="1600" dirty="0"/>
          </a:p>
        </c:rich>
      </c:tx>
      <c:layout>
        <c:manualLayout>
          <c:xMode val="edge"/>
          <c:yMode val="edge"/>
          <c:x val="0.20124548479620058"/>
          <c:y val="0.11318182751647453"/>
        </c:manualLayout>
      </c:layout>
      <c:overlay val="0"/>
      <c:spPr>
        <a:noFill/>
        <a:ln>
          <a:noFill/>
        </a:ln>
        <a:effectLst/>
      </c:spPr>
      <c:txPr>
        <a:bodyPr rot="0" spcFirstLastPara="1" vertOverflow="ellipsis" vert="horz" wrap="square" anchor="ctr" anchorCtr="1"/>
        <a:lstStyle/>
        <a:p>
          <a:pPr algn="ctr" rtl="0">
            <a:defRPr lang="en-US" sz="1600" b="1" i="0" u="none" strike="noStrike" kern="1200" spc="0" baseline="0">
              <a:solidFill>
                <a:srgbClr val="4DD5FF"/>
              </a:solidFill>
              <a:latin typeface="DM Sans Bold" panose="020B0604020202020204" charset="0"/>
              <a:ea typeface="+mn-ea"/>
              <a:cs typeface="+mn-cs"/>
            </a:defRPr>
          </a:pPr>
          <a:endParaRPr lang="ru-RU"/>
        </a:p>
      </c:txPr>
    </c:title>
    <c:autoTitleDeleted val="0"/>
    <c:plotArea>
      <c:layout/>
      <c:barChart>
        <c:barDir val="col"/>
        <c:grouping val="clustered"/>
        <c:varyColors val="1"/>
        <c:ser>
          <c:idx val="0"/>
          <c:order val="0"/>
          <c:invertIfNegative val="0"/>
          <c:dPt>
            <c:idx val="0"/>
            <c:invertIfNegative val="0"/>
            <c:bubble3D val="0"/>
            <c:spPr>
              <a:solidFill>
                <a:schemeClr val="accent1"/>
              </a:solidFill>
              <a:ln>
                <a:noFill/>
              </a:ln>
              <a:effectLst/>
            </c:spPr>
            <c:extLst xmlns:c16r2="http://schemas.microsoft.com/office/drawing/2015/06/chart">
              <c:ext xmlns:c16="http://schemas.microsoft.com/office/drawing/2014/chart" uri="{C3380CC4-5D6E-409C-BE32-E72D297353CC}">
                <c16:uniqueId val="{00000001-32F3-4394-B79C-44D5CA08CE5A}"/>
              </c:ext>
            </c:extLst>
          </c:dPt>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32F3-4394-B79C-44D5CA08CE5A}"/>
              </c:ext>
            </c:extLst>
          </c:dPt>
          <c:dPt>
            <c:idx val="2"/>
            <c:invertIfNegative val="0"/>
            <c:bubble3D val="0"/>
            <c:spPr>
              <a:solidFill>
                <a:schemeClr val="accent3"/>
              </a:solidFill>
              <a:ln>
                <a:noFill/>
              </a:ln>
              <a:effectLst/>
            </c:spPr>
            <c:extLst xmlns:c16r2="http://schemas.microsoft.com/office/drawing/2015/06/chart">
              <c:ext xmlns:c16="http://schemas.microsoft.com/office/drawing/2014/chart" uri="{C3380CC4-5D6E-409C-BE32-E72D297353CC}">
                <c16:uniqueId val="{00000005-32F3-4394-B79C-44D5CA08CE5A}"/>
              </c:ext>
            </c:extLst>
          </c:dPt>
          <c:dPt>
            <c:idx val="3"/>
            <c:invertIfNegative val="0"/>
            <c:bubble3D val="0"/>
            <c:spPr>
              <a:solidFill>
                <a:schemeClr val="accent4"/>
              </a:solidFill>
              <a:ln>
                <a:noFill/>
              </a:ln>
              <a:effectLst/>
            </c:spPr>
            <c:extLst xmlns:c16r2="http://schemas.microsoft.com/office/drawing/2015/06/chart">
              <c:ext xmlns:c16="http://schemas.microsoft.com/office/drawing/2014/chart" uri="{C3380CC4-5D6E-409C-BE32-E72D297353CC}">
                <c16:uniqueId val="{00000007-32F3-4394-B79C-44D5CA08CE5A}"/>
              </c:ext>
            </c:extLst>
          </c:dPt>
          <c:dPt>
            <c:idx val="4"/>
            <c:invertIfNegative val="0"/>
            <c:bubble3D val="0"/>
            <c:spPr>
              <a:solidFill>
                <a:schemeClr val="accent5"/>
              </a:solidFill>
              <a:ln>
                <a:noFill/>
              </a:ln>
              <a:effectLst/>
            </c:spPr>
            <c:extLst xmlns:c16r2="http://schemas.microsoft.com/office/drawing/2015/06/chart">
              <c:ext xmlns:c16="http://schemas.microsoft.com/office/drawing/2014/chart" uri="{C3380CC4-5D6E-409C-BE32-E72D297353CC}">
                <c16:uniqueId val="{00000009-32F3-4394-B79C-44D5CA08CE5A}"/>
              </c:ext>
            </c:extLst>
          </c:dPt>
          <c:dPt>
            <c:idx val="5"/>
            <c:invertIfNegative val="0"/>
            <c:bubble3D val="0"/>
            <c:spPr>
              <a:solidFill>
                <a:schemeClr val="accent6"/>
              </a:solidFill>
              <a:ln>
                <a:noFill/>
              </a:ln>
              <a:effectLst/>
            </c:spPr>
            <c:extLst xmlns:c16r2="http://schemas.microsoft.com/office/drawing/2015/06/chart">
              <c:ext xmlns:c16="http://schemas.microsoft.com/office/drawing/2014/chart" uri="{C3380CC4-5D6E-409C-BE32-E72D297353CC}">
                <c16:uniqueId val="{0000000B-32F3-4394-B79C-44D5CA08CE5A}"/>
              </c:ext>
            </c:extLst>
          </c:dPt>
          <c:dLbls>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bg1"/>
                    </a:solidFill>
                    <a:latin typeface="DM Sans Bold" panose="020B0604020202020204" charset="0"/>
                    <a:ea typeface="+mn-ea"/>
                    <a:cs typeface="+mn-cs"/>
                  </a:defRPr>
                </a:pPr>
                <a:endParaRPr lang="ru-RU"/>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Лист2!$G$32:$G$37</c:f>
              <c:numCache>
                <c:formatCode>General</c:formatCode>
                <c:ptCount val="6"/>
                <c:pt idx="0">
                  <c:v>2025</c:v>
                </c:pt>
                <c:pt idx="1">
                  <c:v>2026</c:v>
                </c:pt>
                <c:pt idx="2">
                  <c:v>2027</c:v>
                </c:pt>
                <c:pt idx="3">
                  <c:v>2028</c:v>
                </c:pt>
                <c:pt idx="4">
                  <c:v>2029</c:v>
                </c:pt>
                <c:pt idx="5">
                  <c:v>2030</c:v>
                </c:pt>
              </c:numCache>
            </c:numRef>
          </c:cat>
          <c:val>
            <c:numRef>
              <c:f>Лист2!$H$32:$H$37</c:f>
              <c:numCache>
                <c:formatCode>General</c:formatCode>
                <c:ptCount val="6"/>
                <c:pt idx="0">
                  <c:v>1</c:v>
                </c:pt>
                <c:pt idx="1">
                  <c:v>2</c:v>
                </c:pt>
                <c:pt idx="2">
                  <c:v>4</c:v>
                </c:pt>
                <c:pt idx="3">
                  <c:v>5</c:v>
                </c:pt>
                <c:pt idx="4">
                  <c:v>5</c:v>
                </c:pt>
                <c:pt idx="5">
                  <c:v>6</c:v>
                </c:pt>
              </c:numCache>
            </c:numRef>
          </c:val>
          <c:extLst xmlns:c16r2="http://schemas.microsoft.com/office/drawing/2015/06/chart">
            <c:ext xmlns:c16="http://schemas.microsoft.com/office/drawing/2014/chart" uri="{C3380CC4-5D6E-409C-BE32-E72D297353CC}">
              <c16:uniqueId val="{0000000C-32F3-4394-B79C-44D5CA08CE5A}"/>
            </c:ext>
          </c:extLst>
        </c:ser>
        <c:dLbls>
          <c:showLegendKey val="0"/>
          <c:showVal val="0"/>
          <c:showCatName val="0"/>
          <c:showSerName val="0"/>
          <c:showPercent val="0"/>
          <c:showBubbleSize val="0"/>
        </c:dLbls>
        <c:gapWidth val="144"/>
        <c:overlap val="-27"/>
        <c:axId val="331257360"/>
        <c:axId val="331260888"/>
      </c:barChart>
      <c:catAx>
        <c:axId val="331257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0" i="0" u="none" strike="noStrike" kern="1200" cap="all" spc="120" normalizeH="0" baseline="0">
                <a:solidFill>
                  <a:srgbClr val="4DD5FF"/>
                </a:solidFill>
                <a:latin typeface="DM Sans Bold" panose="020B0604020202020204" charset="0"/>
                <a:ea typeface="+mn-ea"/>
                <a:cs typeface="+mn-cs"/>
              </a:defRPr>
            </a:pPr>
            <a:endParaRPr lang="ru-RU"/>
          </a:p>
        </c:txPr>
        <c:crossAx val="331260888"/>
        <c:crosses val="autoZero"/>
        <c:auto val="1"/>
        <c:lblAlgn val="ctr"/>
        <c:lblOffset val="100"/>
        <c:noMultiLvlLbl val="0"/>
      </c:catAx>
      <c:valAx>
        <c:axId val="331260888"/>
        <c:scaling>
          <c:orientation val="minMax"/>
        </c:scaling>
        <c:delete val="1"/>
        <c:axPos val="l"/>
        <c:numFmt formatCode="General" sourceLinked="1"/>
        <c:majorTickMark val="none"/>
        <c:minorTickMark val="none"/>
        <c:tickLblPos val="nextTo"/>
        <c:crossAx val="3312573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1" i="0" u="none" strike="noStrike" kern="1200" spc="0" baseline="0">
                <a:solidFill>
                  <a:srgbClr val="4DD5FF"/>
                </a:solidFill>
                <a:latin typeface="DM Sans Bold" panose="020B0604020202020204" charset="0"/>
                <a:ea typeface="+mn-ea"/>
                <a:cs typeface="+mn-cs"/>
              </a:defRPr>
            </a:pPr>
            <a:r>
              <a:rPr lang="zh-TW" altLang="en-US" sz="1600" b="1" dirty="0" smtClean="0"/>
              <a:t>提高國際學生的比例</a:t>
            </a:r>
            <a:endParaRPr lang="zh-TW" altLang="en-US" sz="1600" dirty="0"/>
          </a:p>
        </c:rich>
      </c:tx>
      <c:layout>
        <c:manualLayout>
          <c:xMode val="edge"/>
          <c:yMode val="edge"/>
          <c:x val="0.1440520858744124"/>
          <c:y val="3.9367592179643314E-2"/>
        </c:manualLayout>
      </c:layout>
      <c:overlay val="0"/>
      <c:spPr>
        <a:noFill/>
        <a:ln>
          <a:noFill/>
        </a:ln>
        <a:effectLst/>
      </c:spPr>
      <c:txPr>
        <a:bodyPr rot="0" spcFirstLastPara="1" vertOverflow="ellipsis" vert="horz" wrap="square" anchor="ctr" anchorCtr="1"/>
        <a:lstStyle/>
        <a:p>
          <a:pPr>
            <a:defRPr lang="en-US" sz="1600" b="1" i="0" u="none" strike="noStrike" kern="1200" spc="0" baseline="0">
              <a:solidFill>
                <a:srgbClr val="4DD5FF"/>
              </a:solidFill>
              <a:latin typeface="DM Sans Bold" panose="020B0604020202020204" charset="0"/>
              <a:ea typeface="+mn-ea"/>
              <a:cs typeface="+mn-cs"/>
            </a:defRPr>
          </a:pPr>
          <a:endParaRPr lang="ru-RU"/>
        </a:p>
      </c:txPr>
    </c:title>
    <c:autoTitleDeleted val="0"/>
    <c:plotArea>
      <c:layout/>
      <c:barChart>
        <c:barDir val="col"/>
        <c:grouping val="clustered"/>
        <c:varyColors val="1"/>
        <c:ser>
          <c:idx val="0"/>
          <c:order val="0"/>
          <c:invertIfNegative val="0"/>
          <c:dPt>
            <c:idx val="0"/>
            <c:invertIfNegative val="0"/>
            <c:bubble3D val="0"/>
            <c:spPr>
              <a:solidFill>
                <a:schemeClr val="accent1"/>
              </a:solidFill>
              <a:ln>
                <a:noFill/>
              </a:ln>
              <a:effectLst/>
            </c:spPr>
            <c:extLst xmlns:c16r2="http://schemas.microsoft.com/office/drawing/2015/06/chart">
              <c:ext xmlns:c16="http://schemas.microsoft.com/office/drawing/2014/chart" uri="{C3380CC4-5D6E-409C-BE32-E72D297353CC}">
                <c16:uniqueId val="{00000001-6655-442B-880A-D079406A9404}"/>
              </c:ext>
            </c:extLst>
          </c:dPt>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6655-442B-880A-D079406A9404}"/>
              </c:ext>
            </c:extLst>
          </c:dPt>
          <c:dPt>
            <c:idx val="2"/>
            <c:invertIfNegative val="0"/>
            <c:bubble3D val="0"/>
            <c:spPr>
              <a:solidFill>
                <a:schemeClr val="accent3"/>
              </a:solidFill>
              <a:ln>
                <a:noFill/>
              </a:ln>
              <a:effectLst/>
            </c:spPr>
            <c:extLst xmlns:c16r2="http://schemas.microsoft.com/office/drawing/2015/06/chart">
              <c:ext xmlns:c16="http://schemas.microsoft.com/office/drawing/2014/chart" uri="{C3380CC4-5D6E-409C-BE32-E72D297353CC}">
                <c16:uniqueId val="{00000005-6655-442B-880A-D079406A9404}"/>
              </c:ext>
            </c:extLst>
          </c:dPt>
          <c:dPt>
            <c:idx val="3"/>
            <c:invertIfNegative val="0"/>
            <c:bubble3D val="0"/>
            <c:spPr>
              <a:solidFill>
                <a:schemeClr val="accent4"/>
              </a:solidFill>
              <a:ln>
                <a:noFill/>
              </a:ln>
              <a:effectLst/>
            </c:spPr>
            <c:extLst xmlns:c16r2="http://schemas.microsoft.com/office/drawing/2015/06/chart">
              <c:ext xmlns:c16="http://schemas.microsoft.com/office/drawing/2014/chart" uri="{C3380CC4-5D6E-409C-BE32-E72D297353CC}">
                <c16:uniqueId val="{00000007-6655-442B-880A-D079406A9404}"/>
              </c:ext>
            </c:extLst>
          </c:dPt>
          <c:dPt>
            <c:idx val="4"/>
            <c:invertIfNegative val="0"/>
            <c:bubble3D val="0"/>
            <c:spPr>
              <a:solidFill>
                <a:schemeClr val="accent5"/>
              </a:solidFill>
              <a:ln>
                <a:noFill/>
              </a:ln>
              <a:effectLst/>
            </c:spPr>
            <c:extLst xmlns:c16r2="http://schemas.microsoft.com/office/drawing/2015/06/chart">
              <c:ext xmlns:c16="http://schemas.microsoft.com/office/drawing/2014/chart" uri="{C3380CC4-5D6E-409C-BE32-E72D297353CC}">
                <c16:uniqueId val="{00000009-6655-442B-880A-D079406A9404}"/>
              </c:ext>
            </c:extLst>
          </c:dPt>
          <c:dPt>
            <c:idx val="5"/>
            <c:invertIfNegative val="0"/>
            <c:bubble3D val="0"/>
            <c:spPr>
              <a:solidFill>
                <a:schemeClr val="accent6"/>
              </a:solidFill>
              <a:ln>
                <a:noFill/>
              </a:ln>
              <a:effectLst/>
            </c:spPr>
            <c:extLst xmlns:c16r2="http://schemas.microsoft.com/office/drawing/2015/06/chart">
              <c:ext xmlns:c16="http://schemas.microsoft.com/office/drawing/2014/chart" uri="{C3380CC4-5D6E-409C-BE32-E72D297353CC}">
                <c16:uniqueId val="{0000000B-6655-442B-880A-D079406A9404}"/>
              </c:ext>
            </c:extLst>
          </c:dPt>
          <c:dLbls>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bg1"/>
                    </a:solidFill>
                    <a:latin typeface="DM Sans Bold" panose="020B0604020202020204" charset="0"/>
                    <a:ea typeface="+mn-ea"/>
                    <a:cs typeface="+mn-cs"/>
                  </a:defRPr>
                </a:pPr>
                <a:endParaRPr lang="ru-RU"/>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Лист2!$D$41:$D$46</c:f>
              <c:numCache>
                <c:formatCode>General</c:formatCode>
                <c:ptCount val="6"/>
                <c:pt idx="0">
                  <c:v>2025</c:v>
                </c:pt>
                <c:pt idx="1">
                  <c:v>2026</c:v>
                </c:pt>
                <c:pt idx="2">
                  <c:v>2027</c:v>
                </c:pt>
                <c:pt idx="3">
                  <c:v>2028</c:v>
                </c:pt>
                <c:pt idx="4">
                  <c:v>2029</c:v>
                </c:pt>
                <c:pt idx="5">
                  <c:v>2030</c:v>
                </c:pt>
              </c:numCache>
            </c:numRef>
          </c:cat>
          <c:val>
            <c:numRef>
              <c:f>Лист2!$E$41:$E$46</c:f>
              <c:numCache>
                <c:formatCode>General</c:formatCode>
                <c:ptCount val="6"/>
                <c:pt idx="0">
                  <c:v>10</c:v>
                </c:pt>
                <c:pt idx="1">
                  <c:v>25</c:v>
                </c:pt>
                <c:pt idx="2">
                  <c:v>35</c:v>
                </c:pt>
                <c:pt idx="3">
                  <c:v>50</c:v>
                </c:pt>
                <c:pt idx="4">
                  <c:v>65</c:v>
                </c:pt>
                <c:pt idx="5">
                  <c:v>75</c:v>
                </c:pt>
              </c:numCache>
            </c:numRef>
          </c:val>
          <c:extLst xmlns:c16r2="http://schemas.microsoft.com/office/drawing/2015/06/chart">
            <c:ext xmlns:c16="http://schemas.microsoft.com/office/drawing/2014/chart" uri="{C3380CC4-5D6E-409C-BE32-E72D297353CC}">
              <c16:uniqueId val="{0000000C-6655-442B-880A-D079406A9404}"/>
            </c:ext>
          </c:extLst>
        </c:ser>
        <c:dLbls>
          <c:showLegendKey val="0"/>
          <c:showVal val="0"/>
          <c:showCatName val="0"/>
          <c:showSerName val="0"/>
          <c:showPercent val="0"/>
          <c:showBubbleSize val="0"/>
        </c:dLbls>
        <c:gapWidth val="144"/>
        <c:overlap val="-27"/>
        <c:axId val="331262456"/>
        <c:axId val="331261672"/>
      </c:barChart>
      <c:catAx>
        <c:axId val="331262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0" i="0" u="none" strike="noStrike" kern="1200" cap="all" spc="120" normalizeH="0" baseline="0">
                <a:solidFill>
                  <a:srgbClr val="4DD5FF"/>
                </a:solidFill>
                <a:latin typeface="DM Sans Bold" panose="020B0604020202020204" charset="0"/>
                <a:ea typeface="+mn-ea"/>
                <a:cs typeface="+mn-cs"/>
              </a:defRPr>
            </a:pPr>
            <a:endParaRPr lang="ru-RU"/>
          </a:p>
        </c:txPr>
        <c:crossAx val="331261672"/>
        <c:crosses val="autoZero"/>
        <c:auto val="1"/>
        <c:lblAlgn val="ctr"/>
        <c:lblOffset val="100"/>
        <c:noMultiLvlLbl val="0"/>
      </c:catAx>
      <c:valAx>
        <c:axId val="331261672"/>
        <c:scaling>
          <c:orientation val="minMax"/>
        </c:scaling>
        <c:delete val="1"/>
        <c:axPos val="l"/>
        <c:numFmt formatCode="General" sourceLinked="1"/>
        <c:majorTickMark val="none"/>
        <c:minorTickMark val="none"/>
        <c:tickLblPos val="nextTo"/>
        <c:crossAx val="3312624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1" i="0" u="none" strike="noStrike" kern="1200" spc="0" baseline="0" dirty="0" err="1">
                <a:solidFill>
                  <a:schemeClr val="bg1"/>
                </a:solidFill>
                <a:latin typeface="DM Sans Bold" pitchFamily="2" charset="0"/>
                <a:ea typeface="+mn-ea"/>
                <a:cs typeface="+mn-cs"/>
              </a:defRPr>
            </a:pPr>
            <a:r>
              <a:rPr lang="zh-TW" altLang="en-US" sz="1600" b="1" dirty="0" smtClean="0"/>
              <a:t>增加外籍教授及講師的參與</a:t>
            </a:r>
            <a:endParaRPr lang="zh-TW" altLang="en-US" sz="1600" dirty="0"/>
          </a:p>
        </c:rich>
      </c:tx>
      <c:layout>
        <c:manualLayout>
          <c:xMode val="edge"/>
          <c:yMode val="edge"/>
          <c:x val="0.17417197913330376"/>
          <c:y val="5.1985660631308224E-2"/>
        </c:manualLayout>
      </c:layout>
      <c:overlay val="0"/>
      <c:spPr>
        <a:noFill/>
        <a:ln>
          <a:noFill/>
        </a:ln>
        <a:effectLst/>
      </c:spPr>
      <c:txPr>
        <a:bodyPr rot="0" spcFirstLastPara="1" vertOverflow="ellipsis" vert="horz" wrap="square" anchor="ctr" anchorCtr="1"/>
        <a:lstStyle/>
        <a:p>
          <a:pPr>
            <a:defRPr lang="en-US" sz="1600" b="1" i="0" u="none" strike="noStrike" kern="1200" spc="0" baseline="0" dirty="0" err="1">
              <a:solidFill>
                <a:schemeClr val="bg1"/>
              </a:solidFill>
              <a:latin typeface="DM Sans Bold" pitchFamily="2" charset="0"/>
              <a:ea typeface="+mn-ea"/>
              <a:cs typeface="+mn-cs"/>
            </a:defRPr>
          </a:pPr>
          <a:endParaRPr lang="ru-RU"/>
        </a:p>
      </c:txPr>
    </c:title>
    <c:autoTitleDeleted val="0"/>
    <c:plotArea>
      <c:layout/>
      <c:barChart>
        <c:barDir val="col"/>
        <c:grouping val="clustered"/>
        <c:varyColors val="1"/>
        <c:ser>
          <c:idx val="0"/>
          <c:order val="0"/>
          <c:invertIfNegative val="0"/>
          <c:dPt>
            <c:idx val="0"/>
            <c:invertIfNegative val="0"/>
            <c:bubble3D val="0"/>
            <c:spPr>
              <a:solidFill>
                <a:schemeClr val="accent1"/>
              </a:solidFill>
              <a:ln>
                <a:noFill/>
              </a:ln>
              <a:effectLst/>
            </c:spPr>
            <c:extLst xmlns:c16r2="http://schemas.microsoft.com/office/drawing/2015/06/chart">
              <c:ext xmlns:c16="http://schemas.microsoft.com/office/drawing/2014/chart" uri="{C3380CC4-5D6E-409C-BE32-E72D297353CC}">
                <c16:uniqueId val="{00000001-D43A-4852-9A44-39FF091787B1}"/>
              </c:ext>
            </c:extLst>
          </c:dPt>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D43A-4852-9A44-39FF091787B1}"/>
              </c:ext>
            </c:extLst>
          </c:dPt>
          <c:dPt>
            <c:idx val="2"/>
            <c:invertIfNegative val="0"/>
            <c:bubble3D val="0"/>
            <c:spPr>
              <a:solidFill>
                <a:schemeClr val="accent3"/>
              </a:solidFill>
              <a:ln>
                <a:noFill/>
              </a:ln>
              <a:effectLst/>
            </c:spPr>
            <c:extLst xmlns:c16r2="http://schemas.microsoft.com/office/drawing/2015/06/chart">
              <c:ext xmlns:c16="http://schemas.microsoft.com/office/drawing/2014/chart" uri="{C3380CC4-5D6E-409C-BE32-E72D297353CC}">
                <c16:uniqueId val="{00000005-D43A-4852-9A44-39FF091787B1}"/>
              </c:ext>
            </c:extLst>
          </c:dPt>
          <c:dPt>
            <c:idx val="3"/>
            <c:invertIfNegative val="0"/>
            <c:bubble3D val="0"/>
            <c:spPr>
              <a:solidFill>
                <a:schemeClr val="accent4"/>
              </a:solidFill>
              <a:ln>
                <a:noFill/>
              </a:ln>
              <a:effectLst/>
            </c:spPr>
            <c:extLst xmlns:c16r2="http://schemas.microsoft.com/office/drawing/2015/06/chart">
              <c:ext xmlns:c16="http://schemas.microsoft.com/office/drawing/2014/chart" uri="{C3380CC4-5D6E-409C-BE32-E72D297353CC}">
                <c16:uniqueId val="{00000007-D43A-4852-9A44-39FF091787B1}"/>
              </c:ext>
            </c:extLst>
          </c:dPt>
          <c:dPt>
            <c:idx val="4"/>
            <c:invertIfNegative val="0"/>
            <c:bubble3D val="0"/>
            <c:spPr>
              <a:solidFill>
                <a:schemeClr val="accent5"/>
              </a:solidFill>
              <a:ln>
                <a:noFill/>
              </a:ln>
              <a:effectLst/>
            </c:spPr>
            <c:extLst xmlns:c16r2="http://schemas.microsoft.com/office/drawing/2015/06/chart">
              <c:ext xmlns:c16="http://schemas.microsoft.com/office/drawing/2014/chart" uri="{C3380CC4-5D6E-409C-BE32-E72D297353CC}">
                <c16:uniqueId val="{00000009-D43A-4852-9A44-39FF091787B1}"/>
              </c:ext>
            </c:extLst>
          </c:dPt>
          <c:dPt>
            <c:idx val="5"/>
            <c:invertIfNegative val="0"/>
            <c:bubble3D val="0"/>
            <c:spPr>
              <a:solidFill>
                <a:schemeClr val="accent6"/>
              </a:solidFill>
              <a:ln>
                <a:noFill/>
              </a:ln>
              <a:effectLst/>
            </c:spPr>
            <c:extLst xmlns:c16r2="http://schemas.microsoft.com/office/drawing/2015/06/chart">
              <c:ext xmlns:c16="http://schemas.microsoft.com/office/drawing/2014/chart" uri="{C3380CC4-5D6E-409C-BE32-E72D297353CC}">
                <c16:uniqueId val="{0000000B-D43A-4852-9A44-39FF091787B1}"/>
              </c:ext>
            </c:extLst>
          </c:dPt>
          <c:dLbls>
            <c:spPr>
              <a:noFill/>
              <a:ln>
                <a:noFill/>
              </a:ln>
              <a:effectLst/>
            </c:spPr>
            <c:txPr>
              <a:bodyPr rot="0" spcFirstLastPara="1" vertOverflow="ellipsis" vert="horz" wrap="square" lIns="38100" tIns="19050" rIns="38100" bIns="19050" anchor="ctr" anchorCtr="1">
                <a:spAutoFit/>
              </a:bodyPr>
              <a:lstStyle/>
              <a:p>
                <a:pPr>
                  <a:defRPr lang="en-US" sz="1600" b="1" i="0" u="none" strike="noStrike" kern="1200" baseline="0">
                    <a:solidFill>
                      <a:schemeClr val="bg1"/>
                    </a:solidFill>
                    <a:latin typeface="DM Sans Bold" pitchFamily="2" charset="0"/>
                    <a:ea typeface="+mn-ea"/>
                    <a:cs typeface="+mn-cs"/>
                  </a:defRPr>
                </a:pPr>
                <a:endParaRPr lang="ru-RU"/>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Лист1!$B$8:$B$13</c:f>
              <c:numCache>
                <c:formatCode>General</c:formatCode>
                <c:ptCount val="6"/>
                <c:pt idx="0">
                  <c:v>2025</c:v>
                </c:pt>
                <c:pt idx="1">
                  <c:v>2026</c:v>
                </c:pt>
                <c:pt idx="2">
                  <c:v>2027</c:v>
                </c:pt>
                <c:pt idx="3">
                  <c:v>2028</c:v>
                </c:pt>
                <c:pt idx="4">
                  <c:v>2029</c:v>
                </c:pt>
                <c:pt idx="5">
                  <c:v>2030</c:v>
                </c:pt>
              </c:numCache>
            </c:numRef>
          </c:cat>
          <c:val>
            <c:numRef>
              <c:f>Лист1!$C$8:$C$13</c:f>
              <c:numCache>
                <c:formatCode>General</c:formatCode>
                <c:ptCount val="6"/>
                <c:pt idx="0">
                  <c:v>20</c:v>
                </c:pt>
                <c:pt idx="1">
                  <c:v>50</c:v>
                </c:pt>
                <c:pt idx="2">
                  <c:v>75</c:v>
                </c:pt>
                <c:pt idx="3">
                  <c:v>85</c:v>
                </c:pt>
                <c:pt idx="4">
                  <c:v>100</c:v>
                </c:pt>
                <c:pt idx="5">
                  <c:v>125</c:v>
                </c:pt>
              </c:numCache>
            </c:numRef>
          </c:val>
          <c:extLst xmlns:c16r2="http://schemas.microsoft.com/office/drawing/2015/06/chart">
            <c:ext xmlns:c16="http://schemas.microsoft.com/office/drawing/2014/chart" uri="{C3380CC4-5D6E-409C-BE32-E72D297353CC}">
              <c16:uniqueId val="{0000000C-D43A-4852-9A44-39FF091787B1}"/>
            </c:ext>
          </c:extLst>
        </c:ser>
        <c:dLbls>
          <c:showLegendKey val="0"/>
          <c:showVal val="0"/>
          <c:showCatName val="0"/>
          <c:showSerName val="0"/>
          <c:showPercent val="0"/>
          <c:showBubbleSize val="0"/>
        </c:dLbls>
        <c:gapWidth val="219"/>
        <c:overlap val="-27"/>
        <c:axId val="332666752"/>
        <c:axId val="332660088"/>
      </c:barChart>
      <c:catAx>
        <c:axId val="33266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600" b="1" i="0" u="none" strike="noStrike" kern="1200" baseline="0">
                <a:solidFill>
                  <a:schemeClr val="bg1"/>
                </a:solidFill>
                <a:latin typeface="DM Sans Bold" pitchFamily="2" charset="0"/>
                <a:ea typeface="+mn-ea"/>
                <a:cs typeface="+mn-cs"/>
              </a:defRPr>
            </a:pPr>
            <a:endParaRPr lang="ru-RU"/>
          </a:p>
        </c:txPr>
        <c:crossAx val="332660088"/>
        <c:crosses val="autoZero"/>
        <c:auto val="1"/>
        <c:lblAlgn val="ctr"/>
        <c:lblOffset val="100"/>
        <c:noMultiLvlLbl val="0"/>
      </c:catAx>
      <c:valAx>
        <c:axId val="332660088"/>
        <c:scaling>
          <c:orientation val="minMax"/>
        </c:scaling>
        <c:delete val="1"/>
        <c:axPos val="l"/>
        <c:numFmt formatCode="General" sourceLinked="1"/>
        <c:majorTickMark val="none"/>
        <c:minorTickMark val="none"/>
        <c:tickLblPos val="nextTo"/>
        <c:crossAx val="3326667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lang="en-US" sz="1600" b="1" i="0" u="none" strike="noStrike" kern="1200" spc="0" baseline="0" dirty="0" err="1">
                <a:solidFill>
                  <a:prstClr val="white"/>
                </a:solidFill>
                <a:latin typeface="DM Sans Bold" pitchFamily="2" charset="0"/>
                <a:ea typeface="+mn-ea"/>
                <a:cs typeface="+mn-cs"/>
              </a:defRPr>
            </a:pPr>
            <a:r>
              <a:rPr lang="zh-TW" altLang="en-US" sz="1600" b="1" dirty="0" smtClean="0"/>
              <a:t>與知名海外大學合作的聯合教育項目</a:t>
            </a:r>
            <a:endParaRPr lang="zh-TW" altLang="en-US" sz="1600" dirty="0" smtClean="0"/>
          </a:p>
          <a:p>
            <a:pPr marL="0" marR="0" indent="0" algn="ctr" defTabSz="914400" rtl="0" eaLnBrk="1" fontAlgn="auto" latinLnBrk="0" hangingPunct="1">
              <a:lnSpc>
                <a:spcPct val="100000"/>
              </a:lnSpc>
              <a:spcBef>
                <a:spcPts val="0"/>
              </a:spcBef>
              <a:spcAft>
                <a:spcPts val="0"/>
              </a:spcAft>
              <a:buClrTx/>
              <a:buSzTx/>
              <a:buFontTx/>
              <a:buNone/>
              <a:tabLst/>
              <a:defRPr lang="en-US" sz="1600" b="1" i="0" u="none" strike="noStrike" kern="1200" spc="0" baseline="0" dirty="0" err="1">
                <a:solidFill>
                  <a:prstClr val="white"/>
                </a:solidFill>
                <a:latin typeface="DM Sans Bold" pitchFamily="2" charset="0"/>
                <a:ea typeface="+mn-ea"/>
                <a:cs typeface="+mn-cs"/>
              </a:defRPr>
            </a:pPr>
            <a:endParaRPr lang="en-US" sz="1600" b="1" kern="1200" dirty="0">
              <a:solidFill>
                <a:schemeClr val="bg1"/>
              </a:solidFill>
              <a:latin typeface="DM Sans Bold" pitchFamily="2" charset="0"/>
              <a:ea typeface="+mn-ea"/>
              <a:cs typeface="+mn-cs"/>
            </a:endParaRPr>
          </a:p>
        </c:rich>
      </c:tx>
      <c:layout/>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lang="en-US" sz="1600" b="1" i="0" u="none" strike="noStrike" kern="1200" spc="0" baseline="0" dirty="0" err="1">
              <a:solidFill>
                <a:prstClr val="white"/>
              </a:solidFill>
              <a:latin typeface="DM Sans Bold" pitchFamily="2" charset="0"/>
              <a:ea typeface="+mn-ea"/>
              <a:cs typeface="+mn-cs"/>
            </a:defRPr>
          </a:pPr>
          <a:endParaRPr lang="ru-RU"/>
        </a:p>
      </c:txPr>
    </c:title>
    <c:autoTitleDeleted val="0"/>
    <c:plotArea>
      <c:layout/>
      <c:barChart>
        <c:barDir val="col"/>
        <c:grouping val="clustered"/>
        <c:varyColors val="1"/>
        <c:ser>
          <c:idx val="0"/>
          <c:order val="0"/>
          <c:invertIfNegative val="0"/>
          <c:dPt>
            <c:idx val="0"/>
            <c:invertIfNegative val="0"/>
            <c:bubble3D val="0"/>
            <c:spPr>
              <a:solidFill>
                <a:schemeClr val="accent1"/>
              </a:solidFill>
              <a:ln>
                <a:noFill/>
              </a:ln>
              <a:effectLst/>
            </c:spPr>
            <c:extLst xmlns:c16r2="http://schemas.microsoft.com/office/drawing/2015/06/chart">
              <c:ext xmlns:c16="http://schemas.microsoft.com/office/drawing/2014/chart" uri="{C3380CC4-5D6E-409C-BE32-E72D297353CC}">
                <c16:uniqueId val="{00000001-C32A-48EE-A9E8-230C104B301F}"/>
              </c:ext>
            </c:extLst>
          </c:dPt>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C32A-48EE-A9E8-230C104B301F}"/>
              </c:ext>
            </c:extLst>
          </c:dPt>
          <c:dPt>
            <c:idx val="2"/>
            <c:invertIfNegative val="0"/>
            <c:bubble3D val="0"/>
            <c:spPr>
              <a:solidFill>
                <a:srgbClr val="00B050"/>
              </a:solidFill>
              <a:ln>
                <a:noFill/>
              </a:ln>
              <a:effectLst/>
            </c:spPr>
            <c:extLst xmlns:c16r2="http://schemas.microsoft.com/office/drawing/2015/06/chart">
              <c:ext xmlns:c16="http://schemas.microsoft.com/office/drawing/2014/chart" uri="{C3380CC4-5D6E-409C-BE32-E72D297353CC}">
                <c16:uniqueId val="{00000005-C32A-48EE-A9E8-230C104B301F}"/>
              </c:ext>
            </c:extLst>
          </c:dPt>
          <c:dPt>
            <c:idx val="3"/>
            <c:invertIfNegative val="0"/>
            <c:bubble3D val="0"/>
            <c:spPr>
              <a:solidFill>
                <a:schemeClr val="accent2">
                  <a:lumMod val="75000"/>
                </a:schemeClr>
              </a:solidFill>
              <a:ln>
                <a:noFill/>
              </a:ln>
              <a:effectLst/>
            </c:spPr>
            <c:extLst xmlns:c16r2="http://schemas.microsoft.com/office/drawing/2015/06/chart">
              <c:ext xmlns:c16="http://schemas.microsoft.com/office/drawing/2014/chart" uri="{C3380CC4-5D6E-409C-BE32-E72D297353CC}">
                <c16:uniqueId val="{00000007-C32A-48EE-A9E8-230C104B301F}"/>
              </c:ext>
            </c:extLst>
          </c:dPt>
          <c:dPt>
            <c:idx val="4"/>
            <c:invertIfNegative val="0"/>
            <c:bubble3D val="0"/>
            <c:spPr>
              <a:solidFill>
                <a:schemeClr val="accent4">
                  <a:lumMod val="40000"/>
                  <a:lumOff val="60000"/>
                </a:schemeClr>
              </a:solidFill>
              <a:ln>
                <a:noFill/>
              </a:ln>
              <a:effectLst/>
            </c:spPr>
            <c:extLst xmlns:c16r2="http://schemas.microsoft.com/office/drawing/2015/06/chart">
              <c:ext xmlns:c16="http://schemas.microsoft.com/office/drawing/2014/chart" uri="{C3380CC4-5D6E-409C-BE32-E72D297353CC}">
                <c16:uniqueId val="{00000009-C32A-48EE-A9E8-230C104B301F}"/>
              </c:ext>
            </c:extLst>
          </c:dPt>
          <c:dPt>
            <c:idx val="5"/>
            <c:invertIfNegative val="0"/>
            <c:bubble3D val="0"/>
            <c:spPr>
              <a:solidFill>
                <a:srgbClr val="0070C0"/>
              </a:solidFill>
              <a:ln>
                <a:noFill/>
              </a:ln>
              <a:effectLst/>
            </c:spPr>
            <c:extLst xmlns:c16r2="http://schemas.microsoft.com/office/drawing/2015/06/chart">
              <c:ext xmlns:c16="http://schemas.microsoft.com/office/drawing/2014/chart" uri="{C3380CC4-5D6E-409C-BE32-E72D297353CC}">
                <c16:uniqueId val="{0000000B-C32A-48EE-A9E8-230C104B301F}"/>
              </c:ext>
            </c:extLst>
          </c:dPt>
          <c:dLbls>
            <c:spPr>
              <a:noFill/>
              <a:ln>
                <a:noFill/>
              </a:ln>
              <a:effectLst/>
            </c:spPr>
            <c:txPr>
              <a:bodyPr rot="0" spcFirstLastPara="1" vertOverflow="ellipsis" vert="horz" wrap="square" lIns="38100" tIns="19050" rIns="38100" bIns="19050" anchor="ctr" anchorCtr="1">
                <a:spAutoFit/>
              </a:bodyPr>
              <a:lstStyle/>
              <a:p>
                <a:pPr>
                  <a:defRPr lang="en-US" sz="1600" b="1" i="0" u="none" strike="noStrike" kern="1200" baseline="0">
                    <a:solidFill>
                      <a:schemeClr val="bg1"/>
                    </a:solidFill>
                    <a:latin typeface="DM Sans Bold" pitchFamily="2" charset="0"/>
                    <a:ea typeface="+mn-ea"/>
                    <a:cs typeface="+mn-cs"/>
                  </a:defRPr>
                </a:pPr>
                <a:endParaRPr lang="ru-RU"/>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Лист1!$B$26:$B$31</c:f>
              <c:numCache>
                <c:formatCode>General</c:formatCode>
                <c:ptCount val="6"/>
                <c:pt idx="0">
                  <c:v>2025</c:v>
                </c:pt>
                <c:pt idx="1">
                  <c:v>2026</c:v>
                </c:pt>
                <c:pt idx="2">
                  <c:v>2027</c:v>
                </c:pt>
                <c:pt idx="3">
                  <c:v>2028</c:v>
                </c:pt>
                <c:pt idx="4">
                  <c:v>2029</c:v>
                </c:pt>
                <c:pt idx="5">
                  <c:v>2030</c:v>
                </c:pt>
              </c:numCache>
            </c:numRef>
          </c:cat>
          <c:val>
            <c:numRef>
              <c:f>Лист1!$C$26:$C$31</c:f>
              <c:numCache>
                <c:formatCode>General</c:formatCode>
                <c:ptCount val="6"/>
                <c:pt idx="0">
                  <c:v>2</c:v>
                </c:pt>
                <c:pt idx="1">
                  <c:v>4</c:v>
                </c:pt>
                <c:pt idx="2">
                  <c:v>6</c:v>
                </c:pt>
                <c:pt idx="3">
                  <c:v>6</c:v>
                </c:pt>
                <c:pt idx="4">
                  <c:v>8</c:v>
                </c:pt>
                <c:pt idx="5">
                  <c:v>10</c:v>
                </c:pt>
              </c:numCache>
            </c:numRef>
          </c:val>
          <c:extLst xmlns:c16r2="http://schemas.microsoft.com/office/drawing/2015/06/chart">
            <c:ext xmlns:c16="http://schemas.microsoft.com/office/drawing/2014/chart" uri="{C3380CC4-5D6E-409C-BE32-E72D297353CC}">
              <c16:uniqueId val="{0000000C-C32A-48EE-A9E8-230C104B301F}"/>
            </c:ext>
          </c:extLst>
        </c:ser>
        <c:dLbls>
          <c:showLegendKey val="0"/>
          <c:showVal val="0"/>
          <c:showCatName val="0"/>
          <c:showSerName val="0"/>
          <c:showPercent val="0"/>
          <c:showBubbleSize val="0"/>
        </c:dLbls>
        <c:gapWidth val="219"/>
        <c:overlap val="-27"/>
        <c:axId val="332661656"/>
        <c:axId val="332660480"/>
      </c:barChart>
      <c:catAx>
        <c:axId val="332661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600" b="1" i="0" u="none" strike="noStrike" kern="1200" baseline="0">
                <a:solidFill>
                  <a:schemeClr val="bg1"/>
                </a:solidFill>
                <a:latin typeface="DM Sans Bold" pitchFamily="2" charset="0"/>
                <a:ea typeface="+mn-ea"/>
                <a:cs typeface="+mn-cs"/>
              </a:defRPr>
            </a:pPr>
            <a:endParaRPr lang="ru-RU"/>
          </a:p>
        </c:txPr>
        <c:crossAx val="332660480"/>
        <c:crosses val="autoZero"/>
        <c:auto val="1"/>
        <c:lblAlgn val="ctr"/>
        <c:lblOffset val="100"/>
        <c:noMultiLvlLbl val="0"/>
      </c:catAx>
      <c:valAx>
        <c:axId val="332660480"/>
        <c:scaling>
          <c:orientation val="minMax"/>
        </c:scaling>
        <c:delete val="1"/>
        <c:axPos val="l"/>
        <c:numFmt formatCode="General" sourceLinked="1"/>
        <c:majorTickMark val="none"/>
        <c:minorTickMark val="none"/>
        <c:tickLblPos val="nextTo"/>
        <c:crossAx val="3326616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BBE936-5807-4294-9AC5-950CB5C59735}" type="doc">
      <dgm:prSet loTypeId="urn:microsoft.com/office/officeart/2008/layout/HorizontalMultiLevelHierarchy" loCatId="hierarchy" qsTypeId="urn:microsoft.com/office/officeart/2005/8/quickstyle/simple3" qsCatId="simple" csTypeId="urn:microsoft.com/office/officeart/2005/8/colors/accent1_2" csCatId="accent1" phldr="1"/>
      <dgm:spPr/>
      <dgm:t>
        <a:bodyPr/>
        <a:lstStyle/>
        <a:p>
          <a:endParaRPr lang="ru-RU"/>
        </a:p>
      </dgm:t>
    </dgm:pt>
    <dgm:pt modelId="{79775F32-B202-464E-9640-1E6606F5941B}">
      <dgm:prSet phldrT="[Текст]"/>
      <dgm:spPr/>
      <dgm:t>
        <a:bodyPr/>
        <a:lstStyle/>
        <a:p>
          <a:r>
            <a:rPr lang="zh-TW" altLang="en-US" b="1" dirty="0" smtClean="0">
              <a:latin typeface="DM Sans Bold" panose="020B0604020202020204" charset="0"/>
              <a:sym typeface="Lora Bold"/>
            </a:rPr>
            <a:t>大學的國際化與轉型</a:t>
          </a:r>
          <a:endParaRPr lang="ru-RU" dirty="0"/>
        </a:p>
      </dgm:t>
    </dgm:pt>
    <dgm:pt modelId="{7287996F-F258-41E6-B37F-0FF50C61D6B4}" type="parTrans" cxnId="{B6292CE6-AB4F-4FFE-BEA5-A0887B517FB8}">
      <dgm:prSet/>
      <dgm:spPr/>
      <dgm:t>
        <a:bodyPr/>
        <a:lstStyle/>
        <a:p>
          <a:endParaRPr lang="ru-RU"/>
        </a:p>
      </dgm:t>
    </dgm:pt>
    <dgm:pt modelId="{6AF841A7-0EDD-45AD-B972-2FFD7D8E1281}" type="sibTrans" cxnId="{B6292CE6-AB4F-4FFE-BEA5-A0887B517FB8}">
      <dgm:prSet/>
      <dgm:spPr/>
      <dgm:t>
        <a:bodyPr/>
        <a:lstStyle/>
        <a:p>
          <a:endParaRPr lang="ru-RU"/>
        </a:p>
      </dgm:t>
    </dgm:pt>
    <dgm:pt modelId="{6F68EDD6-95C9-4D8A-A289-072504FD9E0E}">
      <dgm:prSet phldrT="[Текст]"/>
      <dgm:spPr/>
      <dgm:t>
        <a:bodyPr/>
        <a:lstStyle/>
        <a:p>
          <a:r>
            <a:rPr lang="zh-TW" altLang="en-US" dirty="0" smtClean="0">
              <a:effectLst/>
              <a:latin typeface="DM Sans Bold" panose="020B0604020202020204" charset="0"/>
              <a:cs typeface="Times New Roman" panose="02020603050405020304" pitchFamily="18" charset="0"/>
            </a:rPr>
            <a:t>國際關係與學術交流中心</a:t>
          </a:r>
          <a:endParaRPr lang="en-US" dirty="0">
            <a:effectLst/>
            <a:latin typeface="DM Sans Bold" panose="020B0604020202020204" charset="0"/>
            <a:ea typeface="Times New Roman" panose="02020603050405020304" pitchFamily="18" charset="0"/>
            <a:cs typeface="Times New Roman" panose="02020603050405020304" pitchFamily="18" charset="0"/>
          </a:endParaRPr>
        </a:p>
      </dgm:t>
    </dgm:pt>
    <dgm:pt modelId="{C0E78399-E86D-46A1-9B83-5B83C44153A3}" type="parTrans" cxnId="{B75AE869-CFF9-441C-9EDB-C1CA67D90355}">
      <dgm:prSet/>
      <dgm:spPr>
        <a:solidFill>
          <a:schemeClr val="accent2"/>
        </a:solidFill>
        <a:ln>
          <a:solidFill>
            <a:srgbClr val="4DD5FF"/>
          </a:solidFill>
        </a:ln>
      </dgm:spPr>
      <dgm:t>
        <a:bodyPr/>
        <a:lstStyle/>
        <a:p>
          <a:endParaRPr lang="ru-RU"/>
        </a:p>
      </dgm:t>
    </dgm:pt>
    <dgm:pt modelId="{E67584EF-81E3-4142-9596-FED347509B6E}" type="sibTrans" cxnId="{B75AE869-CFF9-441C-9EDB-C1CA67D90355}">
      <dgm:prSet/>
      <dgm:spPr/>
      <dgm:t>
        <a:bodyPr/>
        <a:lstStyle/>
        <a:p>
          <a:endParaRPr lang="ru-RU"/>
        </a:p>
      </dgm:t>
    </dgm:pt>
    <dgm:pt modelId="{99BF4384-EC2E-4A71-96A3-7B686936BFC4}">
      <dgm:prSet phldrT="[Текст]"/>
      <dgm:spPr/>
      <dgm:t>
        <a:bodyPr/>
        <a:lstStyle/>
        <a:p>
          <a:r>
            <a:rPr lang="zh-TW" altLang="en-US" b="0" dirty="0" smtClean="0">
              <a:effectLst/>
              <a:latin typeface="DM Sans Bold" panose="020B0604020202020204" charset="0"/>
            </a:rPr>
            <a:t> 創新教育與數位轉型中心</a:t>
          </a:r>
          <a:endParaRPr lang="en-US" b="0" dirty="0">
            <a:effectLst/>
            <a:latin typeface="DM Sans Bold" panose="020B0604020202020204" charset="0"/>
            <a:ea typeface="Times New Roman" panose="02020603050405020304" pitchFamily="18" charset="0"/>
          </a:endParaRPr>
        </a:p>
      </dgm:t>
    </dgm:pt>
    <dgm:pt modelId="{C929D1B3-70C1-402B-BB3B-5B0E6F78CDD9}" type="parTrans" cxnId="{9C5A7D1F-E2BA-4235-BEBD-03F3E4957E44}">
      <dgm:prSet/>
      <dgm:spPr>
        <a:ln>
          <a:solidFill>
            <a:srgbClr val="4DD5FF"/>
          </a:solidFill>
        </a:ln>
      </dgm:spPr>
      <dgm:t>
        <a:bodyPr/>
        <a:lstStyle/>
        <a:p>
          <a:endParaRPr lang="ru-RU"/>
        </a:p>
      </dgm:t>
    </dgm:pt>
    <dgm:pt modelId="{9A653AFB-3DCE-44EA-A049-0A1CBE40E700}" type="sibTrans" cxnId="{9C5A7D1F-E2BA-4235-BEBD-03F3E4957E44}">
      <dgm:prSet/>
      <dgm:spPr/>
      <dgm:t>
        <a:bodyPr/>
        <a:lstStyle/>
        <a:p>
          <a:endParaRPr lang="ru-RU"/>
        </a:p>
      </dgm:t>
    </dgm:pt>
    <dgm:pt modelId="{4C5F668F-0712-4AE3-81B1-A6B25DEB8A4F}">
      <dgm:prSet/>
      <dgm:spPr/>
      <dgm:t>
        <a:bodyPr/>
        <a:lstStyle/>
        <a:p>
          <a:r>
            <a:rPr lang="zh-TW" altLang="en-US" b="0" dirty="0" smtClean="0">
              <a:effectLst/>
              <a:latin typeface="DM Sans Bold" panose="020B0604020202020204" charset="0"/>
            </a:rPr>
            <a:t>文化與語言中心</a:t>
          </a:r>
          <a:endParaRPr lang="en-US" b="0" dirty="0">
            <a:effectLst/>
            <a:latin typeface="DM Sans Bold" panose="020B0604020202020204" charset="0"/>
            <a:ea typeface="Times New Roman" panose="02020603050405020304" pitchFamily="18" charset="0"/>
          </a:endParaRPr>
        </a:p>
      </dgm:t>
    </dgm:pt>
    <dgm:pt modelId="{FAD3BDDA-22C3-4D00-BABC-7575325A1FC5}" type="parTrans" cxnId="{5F01122E-9908-4870-B801-C5EF95F8C7E6}">
      <dgm:prSet/>
      <dgm:spPr>
        <a:ln>
          <a:solidFill>
            <a:srgbClr val="4DD5FF"/>
          </a:solidFill>
        </a:ln>
      </dgm:spPr>
      <dgm:t>
        <a:bodyPr/>
        <a:lstStyle/>
        <a:p>
          <a:endParaRPr lang="ru-RU"/>
        </a:p>
      </dgm:t>
    </dgm:pt>
    <dgm:pt modelId="{6264AE26-1365-4D1B-9A0D-7EDA0C145ADC}" type="sibTrans" cxnId="{5F01122E-9908-4870-B801-C5EF95F8C7E6}">
      <dgm:prSet/>
      <dgm:spPr/>
      <dgm:t>
        <a:bodyPr/>
        <a:lstStyle/>
        <a:p>
          <a:endParaRPr lang="ru-RU"/>
        </a:p>
      </dgm:t>
    </dgm:pt>
    <dgm:pt modelId="{A0419A98-1D15-46E2-A030-DC0326FC1221}">
      <dgm:prSet/>
      <dgm:spPr/>
      <dgm:t>
        <a:bodyPr/>
        <a:lstStyle/>
        <a:p>
          <a:r>
            <a:rPr lang="zh-TW" altLang="en-US" b="0" dirty="0" smtClean="0">
              <a:effectLst/>
              <a:latin typeface="DM Sans Bold" panose="020B0604020202020204" charset="0"/>
            </a:rPr>
            <a:t>監測與策略發展部</a:t>
          </a:r>
          <a:endParaRPr lang="ru-RU" dirty="0"/>
        </a:p>
      </dgm:t>
    </dgm:pt>
    <dgm:pt modelId="{CC659645-9FBC-4288-B7A3-9F542DBF8790}" type="parTrans" cxnId="{B9A71D54-D757-41A2-9040-2BC8B754A043}">
      <dgm:prSet/>
      <dgm:spPr>
        <a:ln>
          <a:solidFill>
            <a:srgbClr val="4DD5FF"/>
          </a:solidFill>
        </a:ln>
      </dgm:spPr>
      <dgm:t>
        <a:bodyPr/>
        <a:lstStyle/>
        <a:p>
          <a:endParaRPr lang="ru-RU"/>
        </a:p>
      </dgm:t>
    </dgm:pt>
    <dgm:pt modelId="{8F6A227D-3D2C-40CC-A721-B919FAD87D8C}" type="sibTrans" cxnId="{B9A71D54-D757-41A2-9040-2BC8B754A043}">
      <dgm:prSet/>
      <dgm:spPr/>
      <dgm:t>
        <a:bodyPr/>
        <a:lstStyle/>
        <a:p>
          <a:endParaRPr lang="ru-RU"/>
        </a:p>
      </dgm:t>
    </dgm:pt>
    <dgm:pt modelId="{BA288C98-8E0F-4C84-8B4A-04E460EA9A48}">
      <dgm:prSet/>
      <dgm:spPr/>
      <dgm:t>
        <a:bodyPr/>
        <a:lstStyle/>
        <a:p>
          <a:r>
            <a:rPr lang="zh-TW" altLang="en-US" dirty="0" smtClean="0">
              <a:effectLst/>
              <a:latin typeface="DM Sans Bold" panose="020B0604020202020204" charset="0"/>
              <a:cs typeface="Times New Roman" panose="02020603050405020304" pitchFamily="18" charset="0"/>
            </a:rPr>
            <a:t>評級與品牌管理處</a:t>
          </a:r>
          <a:endParaRPr lang="en-US" dirty="0">
            <a:effectLst/>
            <a:latin typeface="DM Sans Bold" panose="020B0604020202020204" charset="0"/>
            <a:ea typeface="Times New Roman" panose="02020603050405020304" pitchFamily="18" charset="0"/>
            <a:cs typeface="Times New Roman" panose="02020603050405020304" pitchFamily="18" charset="0"/>
          </a:endParaRPr>
        </a:p>
      </dgm:t>
    </dgm:pt>
    <dgm:pt modelId="{E95DACD6-38B0-468C-A839-0F0D52E21088}" type="parTrans" cxnId="{FAF0407C-2899-45AC-BFD4-EC94F1F78116}">
      <dgm:prSet/>
      <dgm:spPr>
        <a:solidFill>
          <a:schemeClr val="accent2"/>
        </a:solidFill>
        <a:ln>
          <a:solidFill>
            <a:srgbClr val="4DD5FF"/>
          </a:solidFill>
        </a:ln>
      </dgm:spPr>
      <dgm:t>
        <a:bodyPr/>
        <a:lstStyle/>
        <a:p>
          <a:endParaRPr lang="ru-RU"/>
        </a:p>
      </dgm:t>
    </dgm:pt>
    <dgm:pt modelId="{C7A8D099-F91C-4A72-9B60-50FABFF457C0}" type="sibTrans" cxnId="{FAF0407C-2899-45AC-BFD4-EC94F1F78116}">
      <dgm:prSet/>
      <dgm:spPr/>
      <dgm:t>
        <a:bodyPr/>
        <a:lstStyle/>
        <a:p>
          <a:endParaRPr lang="ru-RU"/>
        </a:p>
      </dgm:t>
    </dgm:pt>
    <dgm:pt modelId="{BA3261C8-A5A4-471F-BA12-31BDC2FA9D2C}">
      <dgm:prSet/>
      <dgm:spPr/>
      <dgm:t>
        <a:bodyPr/>
        <a:lstStyle/>
        <a:p>
          <a:r>
            <a:rPr lang="zh-TW" altLang="en-US" dirty="0" smtClean="0">
              <a:effectLst/>
              <a:latin typeface="DM Sans Bold" panose="020B0604020202020204" charset="0"/>
              <a:cs typeface="Times New Roman" panose="02020603050405020304" pitchFamily="18" charset="0"/>
            </a:rPr>
            <a:t>國際暑期學校</a:t>
          </a:r>
          <a:endParaRPr lang="en-US" dirty="0">
            <a:effectLst/>
            <a:latin typeface="DM Sans Bold" panose="020B0604020202020204" charset="0"/>
            <a:ea typeface="Times New Roman" panose="02020603050405020304" pitchFamily="18" charset="0"/>
            <a:cs typeface="Times New Roman" panose="02020603050405020304" pitchFamily="18" charset="0"/>
          </a:endParaRPr>
        </a:p>
      </dgm:t>
    </dgm:pt>
    <dgm:pt modelId="{4FC49B12-7F76-45A1-9223-A1B8F4942878}" type="parTrans" cxnId="{9FF26FB4-E3A8-448B-954E-0F3173F26A61}">
      <dgm:prSet/>
      <dgm:spPr>
        <a:solidFill>
          <a:schemeClr val="accent2"/>
        </a:solidFill>
        <a:ln>
          <a:solidFill>
            <a:srgbClr val="4DD5FF"/>
          </a:solidFill>
        </a:ln>
      </dgm:spPr>
      <dgm:t>
        <a:bodyPr/>
        <a:lstStyle/>
        <a:p>
          <a:endParaRPr lang="ru-RU"/>
        </a:p>
      </dgm:t>
    </dgm:pt>
    <dgm:pt modelId="{0C9E197E-2C10-4895-9A43-61EF0A570B1B}" type="sibTrans" cxnId="{9FF26FB4-E3A8-448B-954E-0F3173F26A61}">
      <dgm:prSet/>
      <dgm:spPr/>
      <dgm:t>
        <a:bodyPr/>
        <a:lstStyle/>
        <a:p>
          <a:endParaRPr lang="ru-RU"/>
        </a:p>
      </dgm:t>
    </dgm:pt>
    <dgm:pt modelId="{90936A2C-474A-40A0-8FB4-D09A9FD11BF3}" type="pres">
      <dgm:prSet presAssocID="{78BBE936-5807-4294-9AC5-950CB5C59735}" presName="Name0" presStyleCnt="0">
        <dgm:presLayoutVars>
          <dgm:chPref val="1"/>
          <dgm:dir/>
          <dgm:animOne val="branch"/>
          <dgm:animLvl val="lvl"/>
          <dgm:resizeHandles val="exact"/>
        </dgm:presLayoutVars>
      </dgm:prSet>
      <dgm:spPr/>
      <dgm:t>
        <a:bodyPr/>
        <a:lstStyle/>
        <a:p>
          <a:endParaRPr lang="ru-RU"/>
        </a:p>
      </dgm:t>
    </dgm:pt>
    <dgm:pt modelId="{C5A99A2E-09BC-4106-9D5D-F4645423404B}" type="pres">
      <dgm:prSet presAssocID="{79775F32-B202-464E-9640-1E6606F5941B}" presName="root1" presStyleCnt="0"/>
      <dgm:spPr/>
    </dgm:pt>
    <dgm:pt modelId="{CCF6EFD0-12E8-4C3E-9D70-2524CE83D9E9}" type="pres">
      <dgm:prSet presAssocID="{79775F32-B202-464E-9640-1E6606F5941B}" presName="LevelOneTextNode" presStyleLbl="node0" presStyleIdx="0" presStyleCnt="1">
        <dgm:presLayoutVars>
          <dgm:chPref val="3"/>
        </dgm:presLayoutVars>
      </dgm:prSet>
      <dgm:spPr/>
      <dgm:t>
        <a:bodyPr/>
        <a:lstStyle/>
        <a:p>
          <a:endParaRPr lang="ru-RU"/>
        </a:p>
      </dgm:t>
    </dgm:pt>
    <dgm:pt modelId="{5A7679E5-E590-4C82-B793-08FD95695284}" type="pres">
      <dgm:prSet presAssocID="{79775F32-B202-464E-9640-1E6606F5941B}" presName="level2hierChild" presStyleCnt="0"/>
      <dgm:spPr/>
    </dgm:pt>
    <dgm:pt modelId="{C9D4894C-6FB3-4114-8AC5-F1FF01B28D84}" type="pres">
      <dgm:prSet presAssocID="{C0E78399-E86D-46A1-9B83-5B83C44153A3}" presName="conn2-1" presStyleLbl="parChTrans1D2" presStyleIdx="0" presStyleCnt="6"/>
      <dgm:spPr/>
      <dgm:t>
        <a:bodyPr/>
        <a:lstStyle/>
        <a:p>
          <a:endParaRPr lang="ru-RU"/>
        </a:p>
      </dgm:t>
    </dgm:pt>
    <dgm:pt modelId="{C389982F-225F-4D10-89E4-6B39B566CB74}" type="pres">
      <dgm:prSet presAssocID="{C0E78399-E86D-46A1-9B83-5B83C44153A3}" presName="connTx" presStyleLbl="parChTrans1D2" presStyleIdx="0" presStyleCnt="6"/>
      <dgm:spPr/>
      <dgm:t>
        <a:bodyPr/>
        <a:lstStyle/>
        <a:p>
          <a:endParaRPr lang="ru-RU"/>
        </a:p>
      </dgm:t>
    </dgm:pt>
    <dgm:pt modelId="{A8C18908-09D4-46B9-A95F-100CFBB337E1}" type="pres">
      <dgm:prSet presAssocID="{6F68EDD6-95C9-4D8A-A289-072504FD9E0E}" presName="root2" presStyleCnt="0"/>
      <dgm:spPr/>
    </dgm:pt>
    <dgm:pt modelId="{DAA58094-F7EC-499E-AC30-754574D8DBB3}" type="pres">
      <dgm:prSet presAssocID="{6F68EDD6-95C9-4D8A-A289-072504FD9E0E}" presName="LevelTwoTextNode" presStyleLbl="node2" presStyleIdx="0" presStyleCnt="6">
        <dgm:presLayoutVars>
          <dgm:chPref val="3"/>
        </dgm:presLayoutVars>
      </dgm:prSet>
      <dgm:spPr/>
      <dgm:t>
        <a:bodyPr/>
        <a:lstStyle/>
        <a:p>
          <a:endParaRPr lang="ru-RU"/>
        </a:p>
      </dgm:t>
    </dgm:pt>
    <dgm:pt modelId="{5357D9EC-CDE8-4CA5-A06B-3A08F6B52F76}" type="pres">
      <dgm:prSet presAssocID="{6F68EDD6-95C9-4D8A-A289-072504FD9E0E}" presName="level3hierChild" presStyleCnt="0"/>
      <dgm:spPr/>
    </dgm:pt>
    <dgm:pt modelId="{14398D2B-1493-405E-8E1F-B4B0B5DAFFF5}" type="pres">
      <dgm:prSet presAssocID="{C929D1B3-70C1-402B-BB3B-5B0E6F78CDD9}" presName="conn2-1" presStyleLbl="parChTrans1D2" presStyleIdx="1" presStyleCnt="6"/>
      <dgm:spPr/>
      <dgm:t>
        <a:bodyPr/>
        <a:lstStyle/>
        <a:p>
          <a:endParaRPr lang="ru-RU"/>
        </a:p>
      </dgm:t>
    </dgm:pt>
    <dgm:pt modelId="{2505148E-9352-4460-A0FB-A7DD97473071}" type="pres">
      <dgm:prSet presAssocID="{C929D1B3-70C1-402B-BB3B-5B0E6F78CDD9}" presName="connTx" presStyleLbl="parChTrans1D2" presStyleIdx="1" presStyleCnt="6"/>
      <dgm:spPr/>
      <dgm:t>
        <a:bodyPr/>
        <a:lstStyle/>
        <a:p>
          <a:endParaRPr lang="ru-RU"/>
        </a:p>
      </dgm:t>
    </dgm:pt>
    <dgm:pt modelId="{5C5653AA-D232-4861-862F-4CAE8E6F3052}" type="pres">
      <dgm:prSet presAssocID="{99BF4384-EC2E-4A71-96A3-7B686936BFC4}" presName="root2" presStyleCnt="0"/>
      <dgm:spPr/>
    </dgm:pt>
    <dgm:pt modelId="{63DB5AD8-3674-470E-A66F-5DF5FE252062}" type="pres">
      <dgm:prSet presAssocID="{99BF4384-EC2E-4A71-96A3-7B686936BFC4}" presName="LevelTwoTextNode" presStyleLbl="node2" presStyleIdx="1" presStyleCnt="6" custLinFactNeighborX="-9541" custLinFactNeighborY="2293">
        <dgm:presLayoutVars>
          <dgm:chPref val="3"/>
        </dgm:presLayoutVars>
      </dgm:prSet>
      <dgm:spPr/>
      <dgm:t>
        <a:bodyPr/>
        <a:lstStyle/>
        <a:p>
          <a:endParaRPr lang="ru-RU"/>
        </a:p>
      </dgm:t>
    </dgm:pt>
    <dgm:pt modelId="{B6EEA845-C9D6-4E01-A81E-7D07CA664CE7}" type="pres">
      <dgm:prSet presAssocID="{99BF4384-EC2E-4A71-96A3-7B686936BFC4}" presName="level3hierChild" presStyleCnt="0"/>
      <dgm:spPr/>
    </dgm:pt>
    <dgm:pt modelId="{A713E7C2-C9CA-4DDD-B8F7-F55DE8704EC4}" type="pres">
      <dgm:prSet presAssocID="{FAD3BDDA-22C3-4D00-BABC-7575325A1FC5}" presName="conn2-1" presStyleLbl="parChTrans1D2" presStyleIdx="2" presStyleCnt="6"/>
      <dgm:spPr/>
      <dgm:t>
        <a:bodyPr/>
        <a:lstStyle/>
        <a:p>
          <a:endParaRPr lang="ru-RU"/>
        </a:p>
      </dgm:t>
    </dgm:pt>
    <dgm:pt modelId="{1039FBBF-A808-4CEB-B5F2-1D43164DAF8B}" type="pres">
      <dgm:prSet presAssocID="{FAD3BDDA-22C3-4D00-BABC-7575325A1FC5}" presName="connTx" presStyleLbl="parChTrans1D2" presStyleIdx="2" presStyleCnt="6"/>
      <dgm:spPr/>
      <dgm:t>
        <a:bodyPr/>
        <a:lstStyle/>
        <a:p>
          <a:endParaRPr lang="ru-RU"/>
        </a:p>
      </dgm:t>
    </dgm:pt>
    <dgm:pt modelId="{E4344451-C1CD-4629-A422-8D71D9F8EDFE}" type="pres">
      <dgm:prSet presAssocID="{4C5F668F-0712-4AE3-81B1-A6B25DEB8A4F}" presName="root2" presStyleCnt="0"/>
      <dgm:spPr/>
    </dgm:pt>
    <dgm:pt modelId="{043370E8-1008-45C6-8CF8-7AC761D849D5}" type="pres">
      <dgm:prSet presAssocID="{4C5F668F-0712-4AE3-81B1-A6B25DEB8A4F}" presName="LevelTwoTextNode" presStyleLbl="node2" presStyleIdx="2" presStyleCnt="6">
        <dgm:presLayoutVars>
          <dgm:chPref val="3"/>
        </dgm:presLayoutVars>
      </dgm:prSet>
      <dgm:spPr/>
      <dgm:t>
        <a:bodyPr/>
        <a:lstStyle/>
        <a:p>
          <a:endParaRPr lang="ru-RU"/>
        </a:p>
      </dgm:t>
    </dgm:pt>
    <dgm:pt modelId="{8FEC7747-7F04-4AA3-9E4C-D14942559E36}" type="pres">
      <dgm:prSet presAssocID="{4C5F668F-0712-4AE3-81B1-A6B25DEB8A4F}" presName="level3hierChild" presStyleCnt="0"/>
      <dgm:spPr/>
    </dgm:pt>
    <dgm:pt modelId="{85F4DAF2-27B8-4573-A1FC-76DC7C166C1F}" type="pres">
      <dgm:prSet presAssocID="{CC659645-9FBC-4288-B7A3-9F542DBF8790}" presName="conn2-1" presStyleLbl="parChTrans1D2" presStyleIdx="3" presStyleCnt="6"/>
      <dgm:spPr/>
      <dgm:t>
        <a:bodyPr/>
        <a:lstStyle/>
        <a:p>
          <a:endParaRPr lang="ru-RU"/>
        </a:p>
      </dgm:t>
    </dgm:pt>
    <dgm:pt modelId="{CD54C6C9-A6AE-49B3-B38E-6AED4D77D3A5}" type="pres">
      <dgm:prSet presAssocID="{CC659645-9FBC-4288-B7A3-9F542DBF8790}" presName="connTx" presStyleLbl="parChTrans1D2" presStyleIdx="3" presStyleCnt="6"/>
      <dgm:spPr/>
      <dgm:t>
        <a:bodyPr/>
        <a:lstStyle/>
        <a:p>
          <a:endParaRPr lang="ru-RU"/>
        </a:p>
      </dgm:t>
    </dgm:pt>
    <dgm:pt modelId="{4031F36D-3CAF-4906-9693-3887766F6CD4}" type="pres">
      <dgm:prSet presAssocID="{A0419A98-1D15-46E2-A030-DC0326FC1221}" presName="root2" presStyleCnt="0"/>
      <dgm:spPr/>
    </dgm:pt>
    <dgm:pt modelId="{15E5783A-5C58-4D42-BB9C-C017F0043C0D}" type="pres">
      <dgm:prSet presAssocID="{A0419A98-1D15-46E2-A030-DC0326FC1221}" presName="LevelTwoTextNode" presStyleLbl="node2" presStyleIdx="3" presStyleCnt="6" custLinFactNeighborX="-1447" custLinFactNeighborY="3905">
        <dgm:presLayoutVars>
          <dgm:chPref val="3"/>
        </dgm:presLayoutVars>
      </dgm:prSet>
      <dgm:spPr/>
      <dgm:t>
        <a:bodyPr/>
        <a:lstStyle/>
        <a:p>
          <a:endParaRPr lang="ru-RU"/>
        </a:p>
      </dgm:t>
    </dgm:pt>
    <dgm:pt modelId="{CCA13CA6-32A5-4204-80D2-3276FD491003}" type="pres">
      <dgm:prSet presAssocID="{A0419A98-1D15-46E2-A030-DC0326FC1221}" presName="level3hierChild" presStyleCnt="0"/>
      <dgm:spPr/>
    </dgm:pt>
    <dgm:pt modelId="{1595C97C-C25D-4DB8-9029-709CFB79380F}" type="pres">
      <dgm:prSet presAssocID="{E95DACD6-38B0-468C-A839-0F0D52E21088}" presName="conn2-1" presStyleLbl="parChTrans1D2" presStyleIdx="4" presStyleCnt="6"/>
      <dgm:spPr/>
      <dgm:t>
        <a:bodyPr/>
        <a:lstStyle/>
        <a:p>
          <a:endParaRPr lang="ru-RU"/>
        </a:p>
      </dgm:t>
    </dgm:pt>
    <dgm:pt modelId="{85B2F3F6-3471-4271-87CB-36FB88A7CAD0}" type="pres">
      <dgm:prSet presAssocID="{E95DACD6-38B0-468C-A839-0F0D52E21088}" presName="connTx" presStyleLbl="parChTrans1D2" presStyleIdx="4" presStyleCnt="6"/>
      <dgm:spPr/>
      <dgm:t>
        <a:bodyPr/>
        <a:lstStyle/>
        <a:p>
          <a:endParaRPr lang="ru-RU"/>
        </a:p>
      </dgm:t>
    </dgm:pt>
    <dgm:pt modelId="{11191168-847B-4C5B-832C-1EA6951076AF}" type="pres">
      <dgm:prSet presAssocID="{BA288C98-8E0F-4C84-8B4A-04E460EA9A48}" presName="root2" presStyleCnt="0"/>
      <dgm:spPr/>
    </dgm:pt>
    <dgm:pt modelId="{3E3DD988-B523-4634-959D-0983C035A5AC}" type="pres">
      <dgm:prSet presAssocID="{BA288C98-8E0F-4C84-8B4A-04E460EA9A48}" presName="LevelTwoTextNode" presStyleLbl="node2" presStyleIdx="4" presStyleCnt="6">
        <dgm:presLayoutVars>
          <dgm:chPref val="3"/>
        </dgm:presLayoutVars>
      </dgm:prSet>
      <dgm:spPr/>
      <dgm:t>
        <a:bodyPr/>
        <a:lstStyle/>
        <a:p>
          <a:endParaRPr lang="ru-RU"/>
        </a:p>
      </dgm:t>
    </dgm:pt>
    <dgm:pt modelId="{9DB0D4BC-2293-42D6-9200-DF17DC71290D}" type="pres">
      <dgm:prSet presAssocID="{BA288C98-8E0F-4C84-8B4A-04E460EA9A48}" presName="level3hierChild" presStyleCnt="0"/>
      <dgm:spPr/>
    </dgm:pt>
    <dgm:pt modelId="{B5576AC9-90AC-4E5C-855F-699914CCA372}" type="pres">
      <dgm:prSet presAssocID="{4FC49B12-7F76-45A1-9223-A1B8F4942878}" presName="conn2-1" presStyleLbl="parChTrans1D2" presStyleIdx="5" presStyleCnt="6"/>
      <dgm:spPr/>
      <dgm:t>
        <a:bodyPr/>
        <a:lstStyle/>
        <a:p>
          <a:endParaRPr lang="ru-RU"/>
        </a:p>
      </dgm:t>
    </dgm:pt>
    <dgm:pt modelId="{8BC5460D-823E-4A06-9852-BE88350F6228}" type="pres">
      <dgm:prSet presAssocID="{4FC49B12-7F76-45A1-9223-A1B8F4942878}" presName="connTx" presStyleLbl="parChTrans1D2" presStyleIdx="5" presStyleCnt="6"/>
      <dgm:spPr/>
      <dgm:t>
        <a:bodyPr/>
        <a:lstStyle/>
        <a:p>
          <a:endParaRPr lang="ru-RU"/>
        </a:p>
      </dgm:t>
    </dgm:pt>
    <dgm:pt modelId="{D144576D-9688-4A42-9665-23C58DFC27E3}" type="pres">
      <dgm:prSet presAssocID="{BA3261C8-A5A4-471F-BA12-31BDC2FA9D2C}" presName="root2" presStyleCnt="0"/>
      <dgm:spPr/>
    </dgm:pt>
    <dgm:pt modelId="{1AC45F6D-380F-474A-B9F7-F69153D51D59}" type="pres">
      <dgm:prSet presAssocID="{BA3261C8-A5A4-471F-BA12-31BDC2FA9D2C}" presName="LevelTwoTextNode" presStyleLbl="node2" presStyleIdx="5" presStyleCnt="6">
        <dgm:presLayoutVars>
          <dgm:chPref val="3"/>
        </dgm:presLayoutVars>
      </dgm:prSet>
      <dgm:spPr/>
      <dgm:t>
        <a:bodyPr/>
        <a:lstStyle/>
        <a:p>
          <a:endParaRPr lang="ru-RU"/>
        </a:p>
      </dgm:t>
    </dgm:pt>
    <dgm:pt modelId="{B23C4B0D-2253-4DE1-BA55-004DC804A59C}" type="pres">
      <dgm:prSet presAssocID="{BA3261C8-A5A4-471F-BA12-31BDC2FA9D2C}" presName="level3hierChild" presStyleCnt="0"/>
      <dgm:spPr/>
    </dgm:pt>
  </dgm:ptLst>
  <dgm:cxnLst>
    <dgm:cxn modelId="{2A680D77-1611-4432-AAE9-FA5705EB72F4}" type="presOf" srcId="{4FC49B12-7F76-45A1-9223-A1B8F4942878}" destId="{8BC5460D-823E-4A06-9852-BE88350F6228}" srcOrd="1" destOrd="0" presId="urn:microsoft.com/office/officeart/2008/layout/HorizontalMultiLevelHierarchy"/>
    <dgm:cxn modelId="{E6C0E082-4FFE-45D6-9EFB-4D9F427E8C1B}" type="presOf" srcId="{4FC49B12-7F76-45A1-9223-A1B8F4942878}" destId="{B5576AC9-90AC-4E5C-855F-699914CCA372}" srcOrd="0" destOrd="0" presId="urn:microsoft.com/office/officeart/2008/layout/HorizontalMultiLevelHierarchy"/>
    <dgm:cxn modelId="{34FB1A9D-E9E3-4A9B-9000-F47E7C22671A}" type="presOf" srcId="{BA3261C8-A5A4-471F-BA12-31BDC2FA9D2C}" destId="{1AC45F6D-380F-474A-B9F7-F69153D51D59}" srcOrd="0" destOrd="0" presId="urn:microsoft.com/office/officeart/2008/layout/HorizontalMultiLevelHierarchy"/>
    <dgm:cxn modelId="{63296123-D5D5-40D5-AEEF-C96DAC0F807E}" type="presOf" srcId="{C0E78399-E86D-46A1-9B83-5B83C44153A3}" destId="{C9D4894C-6FB3-4114-8AC5-F1FF01B28D84}" srcOrd="0" destOrd="0" presId="urn:microsoft.com/office/officeart/2008/layout/HorizontalMultiLevelHierarchy"/>
    <dgm:cxn modelId="{B75AE869-CFF9-441C-9EDB-C1CA67D90355}" srcId="{79775F32-B202-464E-9640-1E6606F5941B}" destId="{6F68EDD6-95C9-4D8A-A289-072504FD9E0E}" srcOrd="0" destOrd="0" parTransId="{C0E78399-E86D-46A1-9B83-5B83C44153A3}" sibTransId="{E67584EF-81E3-4142-9596-FED347509B6E}"/>
    <dgm:cxn modelId="{5F01122E-9908-4870-B801-C5EF95F8C7E6}" srcId="{79775F32-B202-464E-9640-1E6606F5941B}" destId="{4C5F668F-0712-4AE3-81B1-A6B25DEB8A4F}" srcOrd="2" destOrd="0" parTransId="{FAD3BDDA-22C3-4D00-BABC-7575325A1FC5}" sibTransId="{6264AE26-1365-4D1B-9A0D-7EDA0C145ADC}"/>
    <dgm:cxn modelId="{57B8E3BB-F903-47C7-8154-AE9DE170E772}" type="presOf" srcId="{6F68EDD6-95C9-4D8A-A289-072504FD9E0E}" destId="{DAA58094-F7EC-499E-AC30-754574D8DBB3}" srcOrd="0" destOrd="0" presId="urn:microsoft.com/office/officeart/2008/layout/HorizontalMultiLevelHierarchy"/>
    <dgm:cxn modelId="{E05834CA-543E-41F3-B47B-F3F8C8A2C226}" type="presOf" srcId="{C929D1B3-70C1-402B-BB3B-5B0E6F78CDD9}" destId="{14398D2B-1493-405E-8E1F-B4B0B5DAFFF5}" srcOrd="0" destOrd="0" presId="urn:microsoft.com/office/officeart/2008/layout/HorizontalMultiLevelHierarchy"/>
    <dgm:cxn modelId="{B6292CE6-AB4F-4FFE-BEA5-A0887B517FB8}" srcId="{78BBE936-5807-4294-9AC5-950CB5C59735}" destId="{79775F32-B202-464E-9640-1E6606F5941B}" srcOrd="0" destOrd="0" parTransId="{7287996F-F258-41E6-B37F-0FF50C61D6B4}" sibTransId="{6AF841A7-0EDD-45AD-B972-2FFD7D8E1281}"/>
    <dgm:cxn modelId="{9C5A7D1F-E2BA-4235-BEBD-03F3E4957E44}" srcId="{79775F32-B202-464E-9640-1E6606F5941B}" destId="{99BF4384-EC2E-4A71-96A3-7B686936BFC4}" srcOrd="1" destOrd="0" parTransId="{C929D1B3-70C1-402B-BB3B-5B0E6F78CDD9}" sibTransId="{9A653AFB-3DCE-44EA-A049-0A1CBE40E700}"/>
    <dgm:cxn modelId="{9FF26FB4-E3A8-448B-954E-0F3173F26A61}" srcId="{79775F32-B202-464E-9640-1E6606F5941B}" destId="{BA3261C8-A5A4-471F-BA12-31BDC2FA9D2C}" srcOrd="5" destOrd="0" parTransId="{4FC49B12-7F76-45A1-9223-A1B8F4942878}" sibTransId="{0C9E197E-2C10-4895-9A43-61EF0A570B1B}"/>
    <dgm:cxn modelId="{7DEBA19A-80BC-4805-A60E-997417B05299}" type="presOf" srcId="{BA288C98-8E0F-4C84-8B4A-04E460EA9A48}" destId="{3E3DD988-B523-4634-959D-0983C035A5AC}" srcOrd="0" destOrd="0" presId="urn:microsoft.com/office/officeart/2008/layout/HorizontalMultiLevelHierarchy"/>
    <dgm:cxn modelId="{5661F469-B0F9-4F86-B1E3-F856C6B16C4C}" type="presOf" srcId="{4C5F668F-0712-4AE3-81B1-A6B25DEB8A4F}" destId="{043370E8-1008-45C6-8CF8-7AC761D849D5}" srcOrd="0" destOrd="0" presId="urn:microsoft.com/office/officeart/2008/layout/HorizontalMultiLevelHierarchy"/>
    <dgm:cxn modelId="{24BE48C7-216E-4C92-9585-0BCEA78549F5}" type="presOf" srcId="{FAD3BDDA-22C3-4D00-BABC-7575325A1FC5}" destId="{A713E7C2-C9CA-4DDD-B8F7-F55DE8704EC4}" srcOrd="0" destOrd="0" presId="urn:microsoft.com/office/officeart/2008/layout/HorizontalMultiLevelHierarchy"/>
    <dgm:cxn modelId="{F4F608F1-1F33-4199-A4AA-A38713E075ED}" type="presOf" srcId="{A0419A98-1D15-46E2-A030-DC0326FC1221}" destId="{15E5783A-5C58-4D42-BB9C-C017F0043C0D}" srcOrd="0" destOrd="0" presId="urn:microsoft.com/office/officeart/2008/layout/HorizontalMultiLevelHierarchy"/>
    <dgm:cxn modelId="{B9A71D54-D757-41A2-9040-2BC8B754A043}" srcId="{79775F32-B202-464E-9640-1E6606F5941B}" destId="{A0419A98-1D15-46E2-A030-DC0326FC1221}" srcOrd="3" destOrd="0" parTransId="{CC659645-9FBC-4288-B7A3-9F542DBF8790}" sibTransId="{8F6A227D-3D2C-40CC-A721-B919FAD87D8C}"/>
    <dgm:cxn modelId="{2171ABCF-692E-402C-90A9-26AAFB78432C}" type="presOf" srcId="{C0E78399-E86D-46A1-9B83-5B83C44153A3}" destId="{C389982F-225F-4D10-89E4-6B39B566CB74}" srcOrd="1" destOrd="0" presId="urn:microsoft.com/office/officeart/2008/layout/HorizontalMultiLevelHierarchy"/>
    <dgm:cxn modelId="{CD5F1773-8575-4872-B288-6A361730A03F}" type="presOf" srcId="{78BBE936-5807-4294-9AC5-950CB5C59735}" destId="{90936A2C-474A-40A0-8FB4-D09A9FD11BF3}" srcOrd="0" destOrd="0" presId="urn:microsoft.com/office/officeart/2008/layout/HorizontalMultiLevelHierarchy"/>
    <dgm:cxn modelId="{66AB6F6C-6662-46E0-9034-D71FE9EB2BD5}" type="presOf" srcId="{99BF4384-EC2E-4A71-96A3-7B686936BFC4}" destId="{63DB5AD8-3674-470E-A66F-5DF5FE252062}" srcOrd="0" destOrd="0" presId="urn:microsoft.com/office/officeart/2008/layout/HorizontalMultiLevelHierarchy"/>
    <dgm:cxn modelId="{C2136F0C-27C9-479A-9CE8-B0E1FA66E1FC}" type="presOf" srcId="{CC659645-9FBC-4288-B7A3-9F542DBF8790}" destId="{85F4DAF2-27B8-4573-A1FC-76DC7C166C1F}" srcOrd="0" destOrd="0" presId="urn:microsoft.com/office/officeart/2008/layout/HorizontalMultiLevelHierarchy"/>
    <dgm:cxn modelId="{E0C69348-7A55-4DD2-AAC4-8DFF68B0A9CC}" type="presOf" srcId="{E95DACD6-38B0-468C-A839-0F0D52E21088}" destId="{1595C97C-C25D-4DB8-9029-709CFB79380F}" srcOrd="0" destOrd="0" presId="urn:microsoft.com/office/officeart/2008/layout/HorizontalMultiLevelHierarchy"/>
    <dgm:cxn modelId="{F27E5541-CF15-4CE1-8EEF-959AED37F902}" type="presOf" srcId="{FAD3BDDA-22C3-4D00-BABC-7575325A1FC5}" destId="{1039FBBF-A808-4CEB-B5F2-1D43164DAF8B}" srcOrd="1" destOrd="0" presId="urn:microsoft.com/office/officeart/2008/layout/HorizontalMultiLevelHierarchy"/>
    <dgm:cxn modelId="{FAF0407C-2899-45AC-BFD4-EC94F1F78116}" srcId="{79775F32-B202-464E-9640-1E6606F5941B}" destId="{BA288C98-8E0F-4C84-8B4A-04E460EA9A48}" srcOrd="4" destOrd="0" parTransId="{E95DACD6-38B0-468C-A839-0F0D52E21088}" sibTransId="{C7A8D099-F91C-4A72-9B60-50FABFF457C0}"/>
    <dgm:cxn modelId="{A7C48842-DF52-405E-A290-5CDF9613F9BD}" type="presOf" srcId="{CC659645-9FBC-4288-B7A3-9F542DBF8790}" destId="{CD54C6C9-A6AE-49B3-B38E-6AED4D77D3A5}" srcOrd="1" destOrd="0" presId="urn:microsoft.com/office/officeart/2008/layout/HorizontalMultiLevelHierarchy"/>
    <dgm:cxn modelId="{BF5A090C-EB3E-469A-B3E7-F605FB746E88}" type="presOf" srcId="{E95DACD6-38B0-468C-A839-0F0D52E21088}" destId="{85B2F3F6-3471-4271-87CB-36FB88A7CAD0}" srcOrd="1" destOrd="0" presId="urn:microsoft.com/office/officeart/2008/layout/HorizontalMultiLevelHierarchy"/>
    <dgm:cxn modelId="{48BD1E4D-6386-41A6-8B63-36CD062DBD0D}" type="presOf" srcId="{79775F32-B202-464E-9640-1E6606F5941B}" destId="{CCF6EFD0-12E8-4C3E-9D70-2524CE83D9E9}" srcOrd="0" destOrd="0" presId="urn:microsoft.com/office/officeart/2008/layout/HorizontalMultiLevelHierarchy"/>
    <dgm:cxn modelId="{36421B75-DD36-467A-9B88-B3569ECC126A}" type="presOf" srcId="{C929D1B3-70C1-402B-BB3B-5B0E6F78CDD9}" destId="{2505148E-9352-4460-A0FB-A7DD97473071}" srcOrd="1" destOrd="0" presId="urn:microsoft.com/office/officeart/2008/layout/HorizontalMultiLevelHierarchy"/>
    <dgm:cxn modelId="{3E5EEB8B-B03A-40EA-97F2-35F83237EEB5}" type="presParOf" srcId="{90936A2C-474A-40A0-8FB4-D09A9FD11BF3}" destId="{C5A99A2E-09BC-4106-9D5D-F4645423404B}" srcOrd="0" destOrd="0" presId="urn:microsoft.com/office/officeart/2008/layout/HorizontalMultiLevelHierarchy"/>
    <dgm:cxn modelId="{E0526C6F-A95A-460F-88A6-A128BC787E66}" type="presParOf" srcId="{C5A99A2E-09BC-4106-9D5D-F4645423404B}" destId="{CCF6EFD0-12E8-4C3E-9D70-2524CE83D9E9}" srcOrd="0" destOrd="0" presId="urn:microsoft.com/office/officeart/2008/layout/HorizontalMultiLevelHierarchy"/>
    <dgm:cxn modelId="{43E4CD28-41BD-41DE-8642-6643E4D3C3E3}" type="presParOf" srcId="{C5A99A2E-09BC-4106-9D5D-F4645423404B}" destId="{5A7679E5-E590-4C82-B793-08FD95695284}" srcOrd="1" destOrd="0" presId="urn:microsoft.com/office/officeart/2008/layout/HorizontalMultiLevelHierarchy"/>
    <dgm:cxn modelId="{357E07EB-8EBA-4932-A501-039DFA3AA68B}" type="presParOf" srcId="{5A7679E5-E590-4C82-B793-08FD95695284}" destId="{C9D4894C-6FB3-4114-8AC5-F1FF01B28D84}" srcOrd="0" destOrd="0" presId="urn:microsoft.com/office/officeart/2008/layout/HorizontalMultiLevelHierarchy"/>
    <dgm:cxn modelId="{7BEC8E1B-D05C-4AA4-A4CC-1B91A9327AD1}" type="presParOf" srcId="{C9D4894C-6FB3-4114-8AC5-F1FF01B28D84}" destId="{C389982F-225F-4D10-89E4-6B39B566CB74}" srcOrd="0" destOrd="0" presId="urn:microsoft.com/office/officeart/2008/layout/HorizontalMultiLevelHierarchy"/>
    <dgm:cxn modelId="{E44A5323-786D-4C7B-8E4A-2357D6CB73C7}" type="presParOf" srcId="{5A7679E5-E590-4C82-B793-08FD95695284}" destId="{A8C18908-09D4-46B9-A95F-100CFBB337E1}" srcOrd="1" destOrd="0" presId="urn:microsoft.com/office/officeart/2008/layout/HorizontalMultiLevelHierarchy"/>
    <dgm:cxn modelId="{C9FFE9DA-23C8-49EA-A923-8ECC47A32AE8}" type="presParOf" srcId="{A8C18908-09D4-46B9-A95F-100CFBB337E1}" destId="{DAA58094-F7EC-499E-AC30-754574D8DBB3}" srcOrd="0" destOrd="0" presId="urn:microsoft.com/office/officeart/2008/layout/HorizontalMultiLevelHierarchy"/>
    <dgm:cxn modelId="{7144C9C3-E488-45E7-AACF-B49E7624F121}" type="presParOf" srcId="{A8C18908-09D4-46B9-A95F-100CFBB337E1}" destId="{5357D9EC-CDE8-4CA5-A06B-3A08F6B52F76}" srcOrd="1" destOrd="0" presId="urn:microsoft.com/office/officeart/2008/layout/HorizontalMultiLevelHierarchy"/>
    <dgm:cxn modelId="{732630F6-4AE9-44C0-8A28-2F3281D6B361}" type="presParOf" srcId="{5A7679E5-E590-4C82-B793-08FD95695284}" destId="{14398D2B-1493-405E-8E1F-B4B0B5DAFFF5}" srcOrd="2" destOrd="0" presId="urn:microsoft.com/office/officeart/2008/layout/HorizontalMultiLevelHierarchy"/>
    <dgm:cxn modelId="{D98F1325-F854-4AEC-9624-45562218C34E}" type="presParOf" srcId="{14398D2B-1493-405E-8E1F-B4B0B5DAFFF5}" destId="{2505148E-9352-4460-A0FB-A7DD97473071}" srcOrd="0" destOrd="0" presId="urn:microsoft.com/office/officeart/2008/layout/HorizontalMultiLevelHierarchy"/>
    <dgm:cxn modelId="{8CBE809B-3DF5-49AE-9A6F-808BB29CF8A1}" type="presParOf" srcId="{5A7679E5-E590-4C82-B793-08FD95695284}" destId="{5C5653AA-D232-4861-862F-4CAE8E6F3052}" srcOrd="3" destOrd="0" presId="urn:microsoft.com/office/officeart/2008/layout/HorizontalMultiLevelHierarchy"/>
    <dgm:cxn modelId="{3DBF673F-2A4F-4959-A8DD-A58CE474F21E}" type="presParOf" srcId="{5C5653AA-D232-4861-862F-4CAE8E6F3052}" destId="{63DB5AD8-3674-470E-A66F-5DF5FE252062}" srcOrd="0" destOrd="0" presId="urn:microsoft.com/office/officeart/2008/layout/HorizontalMultiLevelHierarchy"/>
    <dgm:cxn modelId="{5324577C-9CEF-4BE3-86A1-2D1D551BC701}" type="presParOf" srcId="{5C5653AA-D232-4861-862F-4CAE8E6F3052}" destId="{B6EEA845-C9D6-4E01-A81E-7D07CA664CE7}" srcOrd="1" destOrd="0" presId="urn:microsoft.com/office/officeart/2008/layout/HorizontalMultiLevelHierarchy"/>
    <dgm:cxn modelId="{754D55C5-BBBD-4F28-A871-B1F8E4ED6513}" type="presParOf" srcId="{5A7679E5-E590-4C82-B793-08FD95695284}" destId="{A713E7C2-C9CA-4DDD-B8F7-F55DE8704EC4}" srcOrd="4" destOrd="0" presId="urn:microsoft.com/office/officeart/2008/layout/HorizontalMultiLevelHierarchy"/>
    <dgm:cxn modelId="{9C23911F-4699-4CFC-903A-0B3631AE9A6C}" type="presParOf" srcId="{A713E7C2-C9CA-4DDD-B8F7-F55DE8704EC4}" destId="{1039FBBF-A808-4CEB-B5F2-1D43164DAF8B}" srcOrd="0" destOrd="0" presId="urn:microsoft.com/office/officeart/2008/layout/HorizontalMultiLevelHierarchy"/>
    <dgm:cxn modelId="{2AAF4134-689E-4835-BCC2-69C3328D283E}" type="presParOf" srcId="{5A7679E5-E590-4C82-B793-08FD95695284}" destId="{E4344451-C1CD-4629-A422-8D71D9F8EDFE}" srcOrd="5" destOrd="0" presId="urn:microsoft.com/office/officeart/2008/layout/HorizontalMultiLevelHierarchy"/>
    <dgm:cxn modelId="{6A10C629-1932-4471-8E48-ADD41BB3630C}" type="presParOf" srcId="{E4344451-C1CD-4629-A422-8D71D9F8EDFE}" destId="{043370E8-1008-45C6-8CF8-7AC761D849D5}" srcOrd="0" destOrd="0" presId="urn:microsoft.com/office/officeart/2008/layout/HorizontalMultiLevelHierarchy"/>
    <dgm:cxn modelId="{F8E65C0F-7920-4EDC-8628-3575FE7C4FE2}" type="presParOf" srcId="{E4344451-C1CD-4629-A422-8D71D9F8EDFE}" destId="{8FEC7747-7F04-4AA3-9E4C-D14942559E36}" srcOrd="1" destOrd="0" presId="urn:microsoft.com/office/officeart/2008/layout/HorizontalMultiLevelHierarchy"/>
    <dgm:cxn modelId="{0000C4EA-FFCC-4345-90F7-EB2C16ACC8F7}" type="presParOf" srcId="{5A7679E5-E590-4C82-B793-08FD95695284}" destId="{85F4DAF2-27B8-4573-A1FC-76DC7C166C1F}" srcOrd="6" destOrd="0" presId="urn:microsoft.com/office/officeart/2008/layout/HorizontalMultiLevelHierarchy"/>
    <dgm:cxn modelId="{CE4050AA-0BC1-4A6C-B205-83D09CBF7B22}" type="presParOf" srcId="{85F4DAF2-27B8-4573-A1FC-76DC7C166C1F}" destId="{CD54C6C9-A6AE-49B3-B38E-6AED4D77D3A5}" srcOrd="0" destOrd="0" presId="urn:microsoft.com/office/officeart/2008/layout/HorizontalMultiLevelHierarchy"/>
    <dgm:cxn modelId="{CF12AE05-F46B-47D4-B18C-9B3D84FC7371}" type="presParOf" srcId="{5A7679E5-E590-4C82-B793-08FD95695284}" destId="{4031F36D-3CAF-4906-9693-3887766F6CD4}" srcOrd="7" destOrd="0" presId="urn:microsoft.com/office/officeart/2008/layout/HorizontalMultiLevelHierarchy"/>
    <dgm:cxn modelId="{363741FE-E1BB-405F-BC64-2CD3863B885C}" type="presParOf" srcId="{4031F36D-3CAF-4906-9693-3887766F6CD4}" destId="{15E5783A-5C58-4D42-BB9C-C017F0043C0D}" srcOrd="0" destOrd="0" presId="urn:microsoft.com/office/officeart/2008/layout/HorizontalMultiLevelHierarchy"/>
    <dgm:cxn modelId="{54D0D9EB-920B-4FC6-8D30-B6A76CA2BD31}" type="presParOf" srcId="{4031F36D-3CAF-4906-9693-3887766F6CD4}" destId="{CCA13CA6-32A5-4204-80D2-3276FD491003}" srcOrd="1" destOrd="0" presId="urn:microsoft.com/office/officeart/2008/layout/HorizontalMultiLevelHierarchy"/>
    <dgm:cxn modelId="{CAF40D7B-75A9-4377-BBFE-8983DE61458D}" type="presParOf" srcId="{5A7679E5-E590-4C82-B793-08FD95695284}" destId="{1595C97C-C25D-4DB8-9029-709CFB79380F}" srcOrd="8" destOrd="0" presId="urn:microsoft.com/office/officeart/2008/layout/HorizontalMultiLevelHierarchy"/>
    <dgm:cxn modelId="{5878F83A-6BEB-4022-BE50-BEC0E2ED32CC}" type="presParOf" srcId="{1595C97C-C25D-4DB8-9029-709CFB79380F}" destId="{85B2F3F6-3471-4271-87CB-36FB88A7CAD0}" srcOrd="0" destOrd="0" presId="urn:microsoft.com/office/officeart/2008/layout/HorizontalMultiLevelHierarchy"/>
    <dgm:cxn modelId="{FA04AB6A-31E7-401A-A28E-689967BDC4E3}" type="presParOf" srcId="{5A7679E5-E590-4C82-B793-08FD95695284}" destId="{11191168-847B-4C5B-832C-1EA6951076AF}" srcOrd="9" destOrd="0" presId="urn:microsoft.com/office/officeart/2008/layout/HorizontalMultiLevelHierarchy"/>
    <dgm:cxn modelId="{40FB402B-B147-4ADA-8F12-8993D096E5F1}" type="presParOf" srcId="{11191168-847B-4C5B-832C-1EA6951076AF}" destId="{3E3DD988-B523-4634-959D-0983C035A5AC}" srcOrd="0" destOrd="0" presId="urn:microsoft.com/office/officeart/2008/layout/HorizontalMultiLevelHierarchy"/>
    <dgm:cxn modelId="{6AB5EF32-0CB2-40AA-A00A-E38C7EEB8E04}" type="presParOf" srcId="{11191168-847B-4C5B-832C-1EA6951076AF}" destId="{9DB0D4BC-2293-42D6-9200-DF17DC71290D}" srcOrd="1" destOrd="0" presId="urn:microsoft.com/office/officeart/2008/layout/HorizontalMultiLevelHierarchy"/>
    <dgm:cxn modelId="{7FC3C8C0-09FC-4C0B-A16A-C609AF9DE3A4}" type="presParOf" srcId="{5A7679E5-E590-4C82-B793-08FD95695284}" destId="{B5576AC9-90AC-4E5C-855F-699914CCA372}" srcOrd="10" destOrd="0" presId="urn:microsoft.com/office/officeart/2008/layout/HorizontalMultiLevelHierarchy"/>
    <dgm:cxn modelId="{25BE87A0-E398-4764-A159-4381B4584419}" type="presParOf" srcId="{B5576AC9-90AC-4E5C-855F-699914CCA372}" destId="{8BC5460D-823E-4A06-9852-BE88350F6228}" srcOrd="0" destOrd="0" presId="urn:microsoft.com/office/officeart/2008/layout/HorizontalMultiLevelHierarchy"/>
    <dgm:cxn modelId="{18FC22B1-54F3-44A9-9697-232ED6156152}" type="presParOf" srcId="{5A7679E5-E590-4C82-B793-08FD95695284}" destId="{D144576D-9688-4A42-9665-23C58DFC27E3}" srcOrd="11" destOrd="0" presId="urn:microsoft.com/office/officeart/2008/layout/HorizontalMultiLevelHierarchy"/>
    <dgm:cxn modelId="{4ECE67F7-E404-4917-B1BC-343D8CA4359A}" type="presParOf" srcId="{D144576D-9688-4A42-9665-23C58DFC27E3}" destId="{1AC45F6D-380F-474A-B9F7-F69153D51D59}" srcOrd="0" destOrd="0" presId="urn:microsoft.com/office/officeart/2008/layout/HorizontalMultiLevelHierarchy"/>
    <dgm:cxn modelId="{0D02C605-7F6F-4A77-9CB7-B16E3C370868}" type="presParOf" srcId="{D144576D-9688-4A42-9665-23C58DFC27E3}" destId="{B23C4B0D-2253-4DE1-BA55-004DC804A59C}"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576AC9-90AC-4E5C-855F-699914CCA372}">
      <dsp:nvSpPr>
        <dsp:cNvPr id="0" name=""/>
        <dsp:cNvSpPr/>
      </dsp:nvSpPr>
      <dsp:spPr>
        <a:xfrm>
          <a:off x="4451051" y="4064000"/>
          <a:ext cx="735072" cy="3501677"/>
        </a:xfrm>
        <a:custGeom>
          <a:avLst/>
          <a:gdLst/>
          <a:ahLst/>
          <a:cxnLst/>
          <a:rect l="0" t="0" r="0" b="0"/>
          <a:pathLst>
            <a:path>
              <a:moveTo>
                <a:pt x="0" y="0"/>
              </a:moveTo>
              <a:lnTo>
                <a:pt x="367536" y="0"/>
              </a:lnTo>
              <a:lnTo>
                <a:pt x="367536" y="3501677"/>
              </a:lnTo>
              <a:lnTo>
                <a:pt x="735072" y="3501677"/>
              </a:lnTo>
            </a:path>
          </a:pathLst>
        </a:custGeom>
        <a:noFill/>
        <a:ln w="25400" cap="flat" cmpd="sng" algn="ctr">
          <a:solidFill>
            <a:srgbClr val="4DD5F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ru-RU" sz="1200" kern="1200"/>
        </a:p>
      </dsp:txBody>
      <dsp:txXfrm>
        <a:off x="4729137" y="5725388"/>
        <a:ext cx="178899" cy="178899"/>
      </dsp:txXfrm>
    </dsp:sp>
    <dsp:sp modelId="{1595C97C-C25D-4DB8-9029-709CFB79380F}">
      <dsp:nvSpPr>
        <dsp:cNvPr id="0" name=""/>
        <dsp:cNvSpPr/>
      </dsp:nvSpPr>
      <dsp:spPr>
        <a:xfrm>
          <a:off x="4451051" y="4064000"/>
          <a:ext cx="735072" cy="2101006"/>
        </a:xfrm>
        <a:custGeom>
          <a:avLst/>
          <a:gdLst/>
          <a:ahLst/>
          <a:cxnLst/>
          <a:rect l="0" t="0" r="0" b="0"/>
          <a:pathLst>
            <a:path>
              <a:moveTo>
                <a:pt x="0" y="0"/>
              </a:moveTo>
              <a:lnTo>
                <a:pt x="367536" y="0"/>
              </a:lnTo>
              <a:lnTo>
                <a:pt x="367536" y="2101006"/>
              </a:lnTo>
              <a:lnTo>
                <a:pt x="735072" y="2101006"/>
              </a:lnTo>
            </a:path>
          </a:pathLst>
        </a:custGeom>
        <a:noFill/>
        <a:ln w="25400" cap="flat" cmpd="sng" algn="ctr">
          <a:solidFill>
            <a:srgbClr val="4DD5F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ru-RU" sz="700" kern="1200"/>
        </a:p>
      </dsp:txBody>
      <dsp:txXfrm>
        <a:off x="4762940" y="5058856"/>
        <a:ext cx="111294" cy="111294"/>
      </dsp:txXfrm>
    </dsp:sp>
    <dsp:sp modelId="{85F4DAF2-27B8-4573-A1FC-76DC7C166C1F}">
      <dsp:nvSpPr>
        <dsp:cNvPr id="0" name=""/>
        <dsp:cNvSpPr/>
      </dsp:nvSpPr>
      <dsp:spPr>
        <a:xfrm>
          <a:off x="4451051" y="4064000"/>
          <a:ext cx="681889" cy="744092"/>
        </a:xfrm>
        <a:custGeom>
          <a:avLst/>
          <a:gdLst/>
          <a:ahLst/>
          <a:cxnLst/>
          <a:rect l="0" t="0" r="0" b="0"/>
          <a:pathLst>
            <a:path>
              <a:moveTo>
                <a:pt x="0" y="0"/>
              </a:moveTo>
              <a:lnTo>
                <a:pt x="340944" y="0"/>
              </a:lnTo>
              <a:lnTo>
                <a:pt x="340944" y="744092"/>
              </a:lnTo>
              <a:lnTo>
                <a:pt x="681889" y="744092"/>
              </a:lnTo>
            </a:path>
          </a:pathLst>
        </a:custGeom>
        <a:noFill/>
        <a:ln w="25400" cap="flat" cmpd="sng" algn="ctr">
          <a:solidFill>
            <a:srgbClr val="4DD5F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ru-RU" sz="500" kern="1200"/>
        </a:p>
      </dsp:txBody>
      <dsp:txXfrm>
        <a:off x="4766764" y="4410814"/>
        <a:ext cx="50464" cy="50464"/>
      </dsp:txXfrm>
    </dsp:sp>
    <dsp:sp modelId="{A713E7C2-C9CA-4DDD-B8F7-F55DE8704EC4}">
      <dsp:nvSpPr>
        <dsp:cNvPr id="0" name=""/>
        <dsp:cNvSpPr/>
      </dsp:nvSpPr>
      <dsp:spPr>
        <a:xfrm>
          <a:off x="4451051" y="3363664"/>
          <a:ext cx="735072" cy="700335"/>
        </a:xfrm>
        <a:custGeom>
          <a:avLst/>
          <a:gdLst/>
          <a:ahLst/>
          <a:cxnLst/>
          <a:rect l="0" t="0" r="0" b="0"/>
          <a:pathLst>
            <a:path>
              <a:moveTo>
                <a:pt x="0" y="700335"/>
              </a:moveTo>
              <a:lnTo>
                <a:pt x="367536" y="700335"/>
              </a:lnTo>
              <a:lnTo>
                <a:pt x="367536" y="0"/>
              </a:lnTo>
              <a:lnTo>
                <a:pt x="735072" y="0"/>
              </a:lnTo>
            </a:path>
          </a:pathLst>
        </a:custGeom>
        <a:noFill/>
        <a:ln w="25400" cap="flat" cmpd="sng" algn="ctr">
          <a:solidFill>
            <a:srgbClr val="4DD5F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ru-RU" sz="500" kern="1200"/>
        </a:p>
      </dsp:txBody>
      <dsp:txXfrm>
        <a:off x="4793205" y="3688450"/>
        <a:ext cx="50764" cy="50764"/>
      </dsp:txXfrm>
    </dsp:sp>
    <dsp:sp modelId="{14398D2B-1493-405E-8E1F-B4B0B5DAFFF5}">
      <dsp:nvSpPr>
        <dsp:cNvPr id="0" name=""/>
        <dsp:cNvSpPr/>
      </dsp:nvSpPr>
      <dsp:spPr>
        <a:xfrm>
          <a:off x="4451051" y="1988687"/>
          <a:ext cx="384406" cy="2075312"/>
        </a:xfrm>
        <a:custGeom>
          <a:avLst/>
          <a:gdLst/>
          <a:ahLst/>
          <a:cxnLst/>
          <a:rect l="0" t="0" r="0" b="0"/>
          <a:pathLst>
            <a:path>
              <a:moveTo>
                <a:pt x="0" y="2075312"/>
              </a:moveTo>
              <a:lnTo>
                <a:pt x="192203" y="2075312"/>
              </a:lnTo>
              <a:lnTo>
                <a:pt x="192203" y="0"/>
              </a:lnTo>
              <a:lnTo>
                <a:pt x="384406" y="0"/>
              </a:lnTo>
            </a:path>
          </a:pathLst>
        </a:custGeom>
        <a:noFill/>
        <a:ln w="25400" cap="flat" cmpd="sng" algn="ctr">
          <a:solidFill>
            <a:srgbClr val="4DD5F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ru-RU" sz="700" kern="1200"/>
        </a:p>
      </dsp:txBody>
      <dsp:txXfrm>
        <a:off x="4590489" y="2973578"/>
        <a:ext cx="105530" cy="105530"/>
      </dsp:txXfrm>
    </dsp:sp>
    <dsp:sp modelId="{C9D4894C-6FB3-4114-8AC5-F1FF01B28D84}">
      <dsp:nvSpPr>
        <dsp:cNvPr id="0" name=""/>
        <dsp:cNvSpPr/>
      </dsp:nvSpPr>
      <dsp:spPr>
        <a:xfrm>
          <a:off x="4451051" y="562322"/>
          <a:ext cx="735072" cy="3501677"/>
        </a:xfrm>
        <a:custGeom>
          <a:avLst/>
          <a:gdLst/>
          <a:ahLst/>
          <a:cxnLst/>
          <a:rect l="0" t="0" r="0" b="0"/>
          <a:pathLst>
            <a:path>
              <a:moveTo>
                <a:pt x="0" y="3501677"/>
              </a:moveTo>
              <a:lnTo>
                <a:pt x="367536" y="3501677"/>
              </a:lnTo>
              <a:lnTo>
                <a:pt x="367536" y="0"/>
              </a:lnTo>
              <a:lnTo>
                <a:pt x="735072" y="0"/>
              </a:lnTo>
            </a:path>
          </a:pathLst>
        </a:custGeom>
        <a:noFill/>
        <a:ln w="25400" cap="flat" cmpd="sng" algn="ctr">
          <a:solidFill>
            <a:srgbClr val="4DD5F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ru-RU" sz="1200" kern="1200"/>
        </a:p>
      </dsp:txBody>
      <dsp:txXfrm>
        <a:off x="4729137" y="2223711"/>
        <a:ext cx="178899" cy="178899"/>
      </dsp:txXfrm>
    </dsp:sp>
    <dsp:sp modelId="{CCF6EFD0-12E8-4C3E-9D70-2524CE83D9E9}">
      <dsp:nvSpPr>
        <dsp:cNvPr id="0" name=""/>
        <dsp:cNvSpPr/>
      </dsp:nvSpPr>
      <dsp:spPr>
        <a:xfrm rot="16200000">
          <a:off x="942002" y="3503731"/>
          <a:ext cx="5897562"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lvl="0" algn="ctr" defTabSz="2222500">
            <a:lnSpc>
              <a:spcPct val="90000"/>
            </a:lnSpc>
            <a:spcBef>
              <a:spcPct val="0"/>
            </a:spcBef>
            <a:spcAft>
              <a:spcPct val="35000"/>
            </a:spcAft>
          </a:pPr>
          <a:r>
            <a:rPr lang="zh-TW" altLang="en-US" sz="5000" b="1" kern="1200" dirty="0" smtClean="0">
              <a:latin typeface="DM Sans Bold" panose="020B0604020202020204" charset="0"/>
              <a:sym typeface="Lora Bold"/>
            </a:rPr>
            <a:t>大學的國際化與轉型</a:t>
          </a:r>
          <a:endParaRPr lang="ru-RU" sz="5000" kern="1200" dirty="0"/>
        </a:p>
      </dsp:txBody>
      <dsp:txXfrm>
        <a:off x="942002" y="3503731"/>
        <a:ext cx="5897562" cy="1120536"/>
      </dsp:txXfrm>
    </dsp:sp>
    <dsp:sp modelId="{DAA58094-F7EC-499E-AC30-754574D8DBB3}">
      <dsp:nvSpPr>
        <dsp:cNvPr id="0" name=""/>
        <dsp:cNvSpPr/>
      </dsp:nvSpPr>
      <dsp:spPr>
        <a:xfrm>
          <a:off x="5186124" y="2053"/>
          <a:ext cx="3675360"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TW" altLang="en-US" sz="3500" kern="1200" dirty="0" smtClean="0">
              <a:effectLst/>
              <a:latin typeface="DM Sans Bold" panose="020B0604020202020204" charset="0"/>
              <a:cs typeface="Times New Roman" panose="02020603050405020304" pitchFamily="18" charset="0"/>
            </a:rPr>
            <a:t>國際關係與學術交流中心</a:t>
          </a:r>
          <a:endParaRPr lang="en-US" sz="3500" kern="1200" dirty="0">
            <a:effectLst/>
            <a:latin typeface="DM Sans Bold" panose="020B0604020202020204" charset="0"/>
            <a:ea typeface="Times New Roman" panose="02020603050405020304" pitchFamily="18" charset="0"/>
            <a:cs typeface="Times New Roman" panose="02020603050405020304" pitchFamily="18" charset="0"/>
          </a:endParaRPr>
        </a:p>
      </dsp:txBody>
      <dsp:txXfrm>
        <a:off x="5186124" y="2053"/>
        <a:ext cx="3675360" cy="1120536"/>
      </dsp:txXfrm>
    </dsp:sp>
    <dsp:sp modelId="{63DB5AD8-3674-470E-A66F-5DF5FE252062}">
      <dsp:nvSpPr>
        <dsp:cNvPr id="0" name=""/>
        <dsp:cNvSpPr/>
      </dsp:nvSpPr>
      <dsp:spPr>
        <a:xfrm>
          <a:off x="4835457" y="1428418"/>
          <a:ext cx="3675360"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TW" altLang="en-US" sz="3500" b="0" kern="1200" dirty="0" smtClean="0">
              <a:effectLst/>
              <a:latin typeface="DM Sans Bold" panose="020B0604020202020204" charset="0"/>
            </a:rPr>
            <a:t> 創新教育與數位轉型中心</a:t>
          </a:r>
          <a:endParaRPr lang="en-US" sz="3500" b="0" kern="1200" dirty="0">
            <a:effectLst/>
            <a:latin typeface="DM Sans Bold" panose="020B0604020202020204" charset="0"/>
            <a:ea typeface="Times New Roman" panose="02020603050405020304" pitchFamily="18" charset="0"/>
          </a:endParaRPr>
        </a:p>
      </dsp:txBody>
      <dsp:txXfrm>
        <a:off x="4835457" y="1428418"/>
        <a:ext cx="3675360" cy="1120536"/>
      </dsp:txXfrm>
    </dsp:sp>
    <dsp:sp modelId="{043370E8-1008-45C6-8CF8-7AC761D849D5}">
      <dsp:nvSpPr>
        <dsp:cNvPr id="0" name=""/>
        <dsp:cNvSpPr/>
      </dsp:nvSpPr>
      <dsp:spPr>
        <a:xfrm>
          <a:off x="5186124" y="2803396"/>
          <a:ext cx="3675360"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TW" altLang="en-US" sz="3500" b="0" kern="1200" dirty="0" smtClean="0">
              <a:effectLst/>
              <a:latin typeface="DM Sans Bold" panose="020B0604020202020204" charset="0"/>
            </a:rPr>
            <a:t>文化與語言中心</a:t>
          </a:r>
          <a:endParaRPr lang="en-US" sz="3500" b="0" kern="1200" dirty="0">
            <a:effectLst/>
            <a:latin typeface="DM Sans Bold" panose="020B0604020202020204" charset="0"/>
            <a:ea typeface="Times New Roman" panose="02020603050405020304" pitchFamily="18" charset="0"/>
          </a:endParaRPr>
        </a:p>
      </dsp:txBody>
      <dsp:txXfrm>
        <a:off x="5186124" y="2803396"/>
        <a:ext cx="3675360" cy="1120536"/>
      </dsp:txXfrm>
    </dsp:sp>
    <dsp:sp modelId="{15E5783A-5C58-4D42-BB9C-C017F0043C0D}">
      <dsp:nvSpPr>
        <dsp:cNvPr id="0" name=""/>
        <dsp:cNvSpPr/>
      </dsp:nvSpPr>
      <dsp:spPr>
        <a:xfrm>
          <a:off x="5132941" y="4247824"/>
          <a:ext cx="3675360"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TW" altLang="en-US" sz="3500" b="0" kern="1200" dirty="0" smtClean="0">
              <a:effectLst/>
              <a:latin typeface="DM Sans Bold" panose="020B0604020202020204" charset="0"/>
            </a:rPr>
            <a:t>監測與策略發展部</a:t>
          </a:r>
          <a:endParaRPr lang="ru-RU" sz="3500" kern="1200" dirty="0"/>
        </a:p>
      </dsp:txBody>
      <dsp:txXfrm>
        <a:off x="5132941" y="4247824"/>
        <a:ext cx="3675360" cy="1120536"/>
      </dsp:txXfrm>
    </dsp:sp>
    <dsp:sp modelId="{3E3DD988-B523-4634-959D-0983C035A5AC}">
      <dsp:nvSpPr>
        <dsp:cNvPr id="0" name=""/>
        <dsp:cNvSpPr/>
      </dsp:nvSpPr>
      <dsp:spPr>
        <a:xfrm>
          <a:off x="5186124" y="5604738"/>
          <a:ext cx="3675360"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TW" altLang="en-US" sz="3500" kern="1200" dirty="0" smtClean="0">
              <a:effectLst/>
              <a:latin typeface="DM Sans Bold" panose="020B0604020202020204" charset="0"/>
              <a:cs typeface="Times New Roman" panose="02020603050405020304" pitchFamily="18" charset="0"/>
            </a:rPr>
            <a:t>評級與品牌管理處</a:t>
          </a:r>
          <a:endParaRPr lang="en-US" sz="3500" kern="1200" dirty="0">
            <a:effectLst/>
            <a:latin typeface="DM Sans Bold" panose="020B0604020202020204" charset="0"/>
            <a:ea typeface="Times New Roman" panose="02020603050405020304" pitchFamily="18" charset="0"/>
            <a:cs typeface="Times New Roman" panose="02020603050405020304" pitchFamily="18" charset="0"/>
          </a:endParaRPr>
        </a:p>
      </dsp:txBody>
      <dsp:txXfrm>
        <a:off x="5186124" y="5604738"/>
        <a:ext cx="3675360" cy="1120536"/>
      </dsp:txXfrm>
    </dsp:sp>
    <dsp:sp modelId="{1AC45F6D-380F-474A-B9F7-F69153D51D59}">
      <dsp:nvSpPr>
        <dsp:cNvPr id="0" name=""/>
        <dsp:cNvSpPr/>
      </dsp:nvSpPr>
      <dsp:spPr>
        <a:xfrm>
          <a:off x="5186124" y="7005409"/>
          <a:ext cx="3675360" cy="112053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TW" altLang="en-US" sz="3500" kern="1200" dirty="0" smtClean="0">
              <a:effectLst/>
              <a:latin typeface="DM Sans Bold" panose="020B0604020202020204" charset="0"/>
              <a:cs typeface="Times New Roman" panose="02020603050405020304" pitchFamily="18" charset="0"/>
            </a:rPr>
            <a:t>國際暑期學校</a:t>
          </a:r>
          <a:endParaRPr lang="en-US" sz="3500" kern="1200" dirty="0">
            <a:effectLst/>
            <a:latin typeface="DM Sans Bold" panose="020B0604020202020204" charset="0"/>
            <a:ea typeface="Times New Roman" panose="02020603050405020304" pitchFamily="18" charset="0"/>
            <a:cs typeface="Times New Roman" panose="02020603050405020304" pitchFamily="18" charset="0"/>
          </a:endParaRPr>
        </a:p>
      </dsp:txBody>
      <dsp:txXfrm>
        <a:off x="5186124" y="7005409"/>
        <a:ext cx="3675360" cy="112053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0.png"/><Relationship Id="rId3" Type="http://schemas.openxmlformats.org/officeDocument/2006/relationships/image" Target="../media/image8.svg"/><Relationship Id="rId7" Type="http://schemas.openxmlformats.org/officeDocument/2006/relationships/image" Target="../media/image7.png"/><Relationship Id="rId12"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14.svg"/><Relationship Id="rId4" Type="http://schemas.openxmlformats.org/officeDocument/2006/relationships/chart" Target="../charts/chart1.xml"/><Relationship Id="rId9" Type="http://schemas.openxmlformats.org/officeDocument/2006/relationships/image" Target="../media/image8.png"/><Relationship Id="rId1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8.svg"/><Relationship Id="rId18" Type="http://schemas.openxmlformats.org/officeDocument/2006/relationships/image" Target="../media/image19.png"/><Relationship Id="rId26" Type="http://schemas.openxmlformats.org/officeDocument/2006/relationships/image" Target="../media/image23.png"/><Relationship Id="rId3" Type="http://schemas.openxmlformats.org/officeDocument/2006/relationships/image" Target="../media/image18.svg"/><Relationship Id="rId21" Type="http://schemas.microsoft.com/office/2007/relationships/hdphoto" Target="../media/hdphoto4.wdp"/><Relationship Id="rId34" Type="http://schemas.openxmlformats.org/officeDocument/2006/relationships/image" Target="../media/image27.png"/><Relationship Id="rId7" Type="http://schemas.openxmlformats.org/officeDocument/2006/relationships/image" Target="../media/image22.svg"/><Relationship Id="rId12" Type="http://schemas.openxmlformats.org/officeDocument/2006/relationships/image" Target="../media/image16.png"/><Relationship Id="rId17" Type="http://schemas.openxmlformats.org/officeDocument/2006/relationships/image" Target="../media/image32.svg"/><Relationship Id="rId25" Type="http://schemas.openxmlformats.org/officeDocument/2006/relationships/image" Target="../media/image38.svg"/><Relationship Id="rId33" Type="http://schemas.openxmlformats.org/officeDocument/2006/relationships/image" Target="../media/image46.svg"/><Relationship Id="rId2" Type="http://schemas.openxmlformats.org/officeDocument/2006/relationships/image" Target="../media/image11.png"/><Relationship Id="rId16" Type="http://schemas.openxmlformats.org/officeDocument/2006/relationships/image" Target="../media/image18.png"/><Relationship Id="rId20" Type="http://schemas.openxmlformats.org/officeDocument/2006/relationships/image" Target="../media/image20.png"/><Relationship Id="rId29" Type="http://schemas.openxmlformats.org/officeDocument/2006/relationships/image" Target="../media/image42.sv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26.svg"/><Relationship Id="rId24" Type="http://schemas.openxmlformats.org/officeDocument/2006/relationships/image" Target="../media/image22.png"/><Relationship Id="rId32" Type="http://schemas.openxmlformats.org/officeDocument/2006/relationships/image" Target="../media/image26.png"/><Relationship Id="rId37" Type="http://schemas.openxmlformats.org/officeDocument/2006/relationships/image" Target="../media/image50.svg"/><Relationship Id="rId5" Type="http://schemas.openxmlformats.org/officeDocument/2006/relationships/image" Target="../media/image20.svg"/><Relationship Id="rId15" Type="http://schemas.openxmlformats.org/officeDocument/2006/relationships/image" Target="../media/image30.svg"/><Relationship Id="rId23" Type="http://schemas.openxmlformats.org/officeDocument/2006/relationships/image" Target="../media/image36.svg"/><Relationship Id="rId28" Type="http://schemas.openxmlformats.org/officeDocument/2006/relationships/image" Target="../media/image24.png"/><Relationship Id="rId36" Type="http://schemas.openxmlformats.org/officeDocument/2006/relationships/image" Target="../media/image28.png"/><Relationship Id="rId10" Type="http://schemas.openxmlformats.org/officeDocument/2006/relationships/image" Target="../media/image15.png"/><Relationship Id="rId19" Type="http://schemas.microsoft.com/office/2007/relationships/hdphoto" Target="../media/hdphoto3.wdp"/><Relationship Id="rId31" Type="http://schemas.openxmlformats.org/officeDocument/2006/relationships/image" Target="../media/image44.svg"/><Relationship Id="rId4" Type="http://schemas.openxmlformats.org/officeDocument/2006/relationships/image" Target="../media/image12.png"/><Relationship Id="rId9" Type="http://schemas.openxmlformats.org/officeDocument/2006/relationships/image" Target="../media/image24.svg"/><Relationship Id="rId14" Type="http://schemas.openxmlformats.org/officeDocument/2006/relationships/image" Target="../media/image17.png"/><Relationship Id="rId22" Type="http://schemas.openxmlformats.org/officeDocument/2006/relationships/image" Target="../media/image21.png"/><Relationship Id="rId27" Type="http://schemas.openxmlformats.org/officeDocument/2006/relationships/image" Target="../media/image40.svg"/><Relationship Id="rId30" Type="http://schemas.openxmlformats.org/officeDocument/2006/relationships/image" Target="../media/image25.png"/><Relationship Id="rId35" Type="http://schemas.openxmlformats.org/officeDocument/2006/relationships/image" Target="../media/image48.svg"/></Relationships>
</file>

<file path=ppt/slides/_rels/slide5.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35.png"/><Relationship Id="rId18" Type="http://schemas.openxmlformats.org/officeDocument/2006/relationships/image" Target="../media/image39.jpeg"/><Relationship Id="rId26" Type="http://schemas.openxmlformats.org/officeDocument/2006/relationships/image" Target="../media/image47.png"/><Relationship Id="rId3" Type="http://schemas.openxmlformats.org/officeDocument/2006/relationships/image" Target="../media/image52.svg"/><Relationship Id="rId21" Type="http://schemas.openxmlformats.org/officeDocument/2006/relationships/image" Target="../media/image42.jpeg"/><Relationship Id="rId34" Type="http://schemas.openxmlformats.org/officeDocument/2006/relationships/image" Target="../media/image51.png"/><Relationship Id="rId7" Type="http://schemas.openxmlformats.org/officeDocument/2006/relationships/image" Target="../media/image32.png"/><Relationship Id="rId12" Type="http://schemas.openxmlformats.org/officeDocument/2006/relationships/image" Target="../media/image61.svg"/><Relationship Id="rId17" Type="http://schemas.openxmlformats.org/officeDocument/2006/relationships/image" Target="../media/image38.jpeg"/><Relationship Id="rId25" Type="http://schemas.openxmlformats.org/officeDocument/2006/relationships/image" Target="../media/image46.png"/><Relationship Id="rId33" Type="http://schemas.openxmlformats.org/officeDocument/2006/relationships/image" Target="../media/image82.svg"/><Relationship Id="rId2" Type="http://schemas.openxmlformats.org/officeDocument/2006/relationships/image" Target="../media/image29.png"/><Relationship Id="rId16" Type="http://schemas.openxmlformats.org/officeDocument/2006/relationships/image" Target="../media/image37.jpeg"/><Relationship Id="rId20" Type="http://schemas.openxmlformats.org/officeDocument/2006/relationships/image" Target="../media/image41.png"/><Relationship Id="rId29" Type="http://schemas.openxmlformats.org/officeDocument/2006/relationships/image" Target="../media/image78.sv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4.png"/><Relationship Id="rId24" Type="http://schemas.openxmlformats.org/officeDocument/2006/relationships/image" Target="../media/image45.png"/><Relationship Id="rId32" Type="http://schemas.openxmlformats.org/officeDocument/2006/relationships/image" Target="../media/image50.png"/><Relationship Id="rId5" Type="http://schemas.openxmlformats.org/officeDocument/2006/relationships/image" Target="../media/image54.svg"/><Relationship Id="rId15" Type="http://schemas.openxmlformats.org/officeDocument/2006/relationships/image" Target="../media/image36.jpeg"/><Relationship Id="rId23" Type="http://schemas.openxmlformats.org/officeDocument/2006/relationships/image" Target="../media/image44.jpeg"/><Relationship Id="rId28" Type="http://schemas.openxmlformats.org/officeDocument/2006/relationships/image" Target="../media/image48.png"/><Relationship Id="rId10" Type="http://schemas.openxmlformats.org/officeDocument/2006/relationships/image" Target="../media/image59.svg"/><Relationship Id="rId19" Type="http://schemas.openxmlformats.org/officeDocument/2006/relationships/image" Target="../media/image40.png"/><Relationship Id="rId31" Type="http://schemas.openxmlformats.org/officeDocument/2006/relationships/image" Target="../media/image80.svg"/><Relationship Id="rId4" Type="http://schemas.openxmlformats.org/officeDocument/2006/relationships/image" Target="../media/image30.png"/><Relationship Id="rId9" Type="http://schemas.openxmlformats.org/officeDocument/2006/relationships/image" Target="../media/image33.png"/><Relationship Id="rId14" Type="http://schemas.openxmlformats.org/officeDocument/2006/relationships/image" Target="../media/image63.svg"/><Relationship Id="rId22" Type="http://schemas.openxmlformats.org/officeDocument/2006/relationships/image" Target="../media/image43.jpeg"/><Relationship Id="rId27" Type="http://schemas.openxmlformats.org/officeDocument/2006/relationships/image" Target="../media/image76.svg"/><Relationship Id="rId30" Type="http://schemas.openxmlformats.org/officeDocument/2006/relationships/image" Target="../media/image49.png"/><Relationship Id="rId35" Type="http://schemas.openxmlformats.org/officeDocument/2006/relationships/image" Target="../media/image84.svg"/></Relationships>
</file>

<file path=ppt/slides/_rels/slide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86.svg"/><Relationship Id="rId7" Type="http://schemas.openxmlformats.org/officeDocument/2006/relationships/image" Target="../media/image90.sv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88.svg"/><Relationship Id="rId10" Type="http://schemas.openxmlformats.org/officeDocument/2006/relationships/image" Target="../media/image56.png"/><Relationship Id="rId4" Type="http://schemas.openxmlformats.org/officeDocument/2006/relationships/image" Target="../media/image53.png"/><Relationship Id="rId9" Type="http://schemas.openxmlformats.org/officeDocument/2006/relationships/image" Target="../media/image92.sv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5.svg"/><Relationship Id="rId7" Type="http://schemas.openxmlformats.org/officeDocument/2006/relationships/diagramColors" Target="../diagrams/colors1.xml"/><Relationship Id="rId12" Type="http://schemas.openxmlformats.org/officeDocument/2006/relationships/chart" Target="../charts/chart6.xml"/><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chart" Target="../charts/chart5.xml"/><Relationship Id="rId5" Type="http://schemas.openxmlformats.org/officeDocument/2006/relationships/diagramLayout" Target="../diagrams/layout1.xml"/><Relationship Id="rId10" Type="http://schemas.openxmlformats.org/officeDocument/2006/relationships/chart" Target="../charts/chart4.xml"/><Relationship Id="rId4" Type="http://schemas.openxmlformats.org/officeDocument/2006/relationships/diagramData" Target="../diagrams/data1.xml"/><Relationship Id="rId9" Type="http://schemas.openxmlformats.org/officeDocument/2006/relationships/chart" Target="../charts/chart3.xml"/></Relationships>
</file>

<file path=ppt/slides/_rels/slide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97.svg"/><Relationship Id="rId7"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chart" Target="../charts/chart8.xml"/><Relationship Id="rId10" Type="http://schemas.openxmlformats.org/officeDocument/2006/relationships/image" Target="../media/image63.jpeg"/><Relationship Id="rId4" Type="http://schemas.openxmlformats.org/officeDocument/2006/relationships/chart" Target="../charts/chart7.xml"/><Relationship Id="rId9"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1780579" y="4542985"/>
            <a:ext cx="11182082" cy="1929323"/>
            <a:chOff x="0" y="0"/>
            <a:chExt cx="3149472" cy="508135"/>
          </a:xfrm>
        </p:grpSpPr>
        <p:sp>
          <p:nvSpPr>
            <p:cNvPr id="3" name="Freeform 3"/>
            <p:cNvSpPr/>
            <p:nvPr/>
          </p:nvSpPr>
          <p:spPr>
            <a:xfrm>
              <a:off x="0" y="0"/>
              <a:ext cx="3149472" cy="508135"/>
            </a:xfrm>
            <a:custGeom>
              <a:avLst/>
              <a:gdLst/>
              <a:ahLst/>
              <a:cxnLst/>
              <a:rect l="l" t="t" r="r" b="b"/>
              <a:pathLst>
                <a:path w="3149472" h="508135">
                  <a:moveTo>
                    <a:pt x="0" y="0"/>
                  </a:moveTo>
                  <a:lnTo>
                    <a:pt x="3149472" y="0"/>
                  </a:lnTo>
                  <a:lnTo>
                    <a:pt x="3149472" y="508135"/>
                  </a:lnTo>
                  <a:lnTo>
                    <a:pt x="0" y="508135"/>
                  </a:lnTo>
                  <a:close/>
                </a:path>
              </a:pathLst>
            </a:custGeom>
            <a:solidFill>
              <a:srgbClr val="145DA0"/>
            </a:solidFill>
          </p:spPr>
        </p:sp>
        <p:sp>
          <p:nvSpPr>
            <p:cNvPr id="4" name="TextBox 4"/>
            <p:cNvSpPr txBox="1"/>
            <p:nvPr/>
          </p:nvSpPr>
          <p:spPr>
            <a:xfrm>
              <a:off x="0" y="-28575"/>
              <a:ext cx="3149472" cy="536710"/>
            </a:xfrm>
            <a:prstGeom prst="rect">
              <a:avLst/>
            </a:prstGeom>
          </p:spPr>
          <p:txBody>
            <a:bodyPr lIns="50800" tIns="50800" rIns="50800" bIns="50800" rtlCol="0" anchor="ctr"/>
            <a:lstStyle/>
            <a:p>
              <a:pPr algn="ctr">
                <a:lnSpc>
                  <a:spcPts val="2590"/>
                </a:lnSpc>
              </a:pPr>
              <a:endParaRPr/>
            </a:p>
          </p:txBody>
        </p:sp>
      </p:grpSp>
      <p:sp>
        <p:nvSpPr>
          <p:cNvPr id="5" name="Freeform 5"/>
          <p:cNvSpPr/>
          <p:nvPr/>
        </p:nvSpPr>
        <p:spPr>
          <a:xfrm>
            <a:off x="11208957" y="-1011147"/>
            <a:ext cx="2647750" cy="2647750"/>
          </a:xfrm>
          <a:custGeom>
            <a:avLst/>
            <a:gdLst/>
            <a:ahLst/>
            <a:cxnLst/>
            <a:rect l="l" t="t" r="r" b="b"/>
            <a:pathLst>
              <a:path w="2647750" h="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6" name="Group 6"/>
          <p:cNvGrpSpPr>
            <a:grpSpLocks noChangeAspect="1"/>
          </p:cNvGrpSpPr>
          <p:nvPr/>
        </p:nvGrpSpPr>
        <p:grpSpPr>
          <a:xfrm>
            <a:off x="10380940" y="649592"/>
            <a:ext cx="7516996" cy="8987817"/>
            <a:chOff x="0" y="0"/>
            <a:chExt cx="8603361" cy="10286746"/>
          </a:xfrm>
          <a:blipFill dpi="0" rotWithShape="1">
            <a:blip r:embed="rId4">
              <a:extLst>
                <a:ext uri="{28A0092B-C50C-407E-A947-70E740481C1C}">
                  <a14:useLocalDpi xmlns:a14="http://schemas.microsoft.com/office/drawing/2010/main" val="0"/>
                </a:ext>
              </a:extLst>
            </a:blip>
            <a:srcRect/>
            <a:stretch>
              <a:fillRect/>
            </a:stretch>
          </a:blipFill>
        </p:grpSpPr>
        <p:sp>
          <p:nvSpPr>
            <p:cNvPr id="7" name="Freeform 7"/>
            <p:cNvSpPr/>
            <p:nvPr/>
          </p:nvSpPr>
          <p:spPr>
            <a:xfrm>
              <a:off x="-2794" y="-128"/>
              <a:ext cx="8606155" cy="10286874"/>
            </a:xfrm>
            <a:custGeom>
              <a:avLst/>
              <a:gdLst/>
              <a:ahLst/>
              <a:cxnLst/>
              <a:rect l="l" t="t" r="r" b="b"/>
              <a:pathLst>
                <a:path w="8606155" h="10286874">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grpFill/>
          </p:spPr>
          <p:txBody>
            <a:bodyPr/>
            <a:lstStyle/>
            <a:p>
              <a:endParaRPr lang="ru-RU"/>
            </a:p>
          </p:txBody>
        </p:sp>
      </p:grpSp>
      <p:sp>
        <p:nvSpPr>
          <p:cNvPr id="9" name="TextBox 9"/>
          <p:cNvSpPr txBox="1"/>
          <p:nvPr/>
        </p:nvSpPr>
        <p:spPr>
          <a:xfrm>
            <a:off x="1573748" y="3615629"/>
            <a:ext cx="10959085" cy="1743041"/>
          </a:xfrm>
          <a:prstGeom prst="rect">
            <a:avLst/>
          </a:prstGeom>
        </p:spPr>
        <p:txBody>
          <a:bodyPr lIns="0" tIns="0" rIns="0" bIns="0" rtlCol="0" anchor="t">
            <a:spAutoFit/>
          </a:bodyPr>
          <a:lstStyle/>
          <a:p>
            <a:pPr algn="l">
              <a:lnSpc>
                <a:spcPts val="13568"/>
              </a:lnSpc>
            </a:pPr>
            <a:r>
              <a:rPr lang="en-US" sz="11306" b="1" dirty="0">
                <a:solidFill>
                  <a:srgbClr val="FFFBFB"/>
                </a:solidFill>
                <a:latin typeface="Now Bold"/>
                <a:ea typeface="Now Bold"/>
                <a:cs typeface="Now Bold"/>
                <a:sym typeface="Now Bold"/>
              </a:rPr>
              <a:t>TISU</a:t>
            </a:r>
          </a:p>
        </p:txBody>
      </p:sp>
      <p:sp>
        <p:nvSpPr>
          <p:cNvPr id="12" name="Freeform 12"/>
          <p:cNvSpPr/>
          <p:nvPr/>
        </p:nvSpPr>
        <p:spPr>
          <a:xfrm>
            <a:off x="-295175" y="8630507"/>
            <a:ext cx="2647750" cy="2647750"/>
          </a:xfrm>
          <a:custGeom>
            <a:avLst/>
            <a:gdLst/>
            <a:ahLst/>
            <a:cxnLst/>
            <a:rect l="l" t="t" r="r" b="b"/>
            <a:pathLst>
              <a:path w="2647750" h="2647750">
                <a:moveTo>
                  <a:pt x="0" y="0"/>
                </a:moveTo>
                <a:lnTo>
                  <a:pt x="2647750" y="0"/>
                </a:lnTo>
                <a:lnTo>
                  <a:pt x="2647750" y="2647751"/>
                </a:lnTo>
                <a:lnTo>
                  <a:pt x="0" y="264775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3" name="TextBox 13"/>
          <p:cNvSpPr txBox="1"/>
          <p:nvPr/>
        </p:nvSpPr>
        <p:spPr>
          <a:xfrm>
            <a:off x="1573748" y="5327661"/>
            <a:ext cx="9659937" cy="1692771"/>
          </a:xfrm>
          <a:prstGeom prst="rect">
            <a:avLst/>
          </a:prstGeom>
        </p:spPr>
        <p:txBody>
          <a:bodyPr lIns="0" tIns="0" rIns="0" bIns="0" rtlCol="0" anchor="t">
            <a:spAutoFit/>
          </a:bodyPr>
          <a:lstStyle/>
          <a:p>
            <a:pPr algn="l">
              <a:lnSpc>
                <a:spcPts val="13568"/>
              </a:lnSpc>
            </a:pPr>
            <a:r>
              <a:rPr lang="en-US" sz="10000" b="1" dirty="0">
                <a:solidFill>
                  <a:srgbClr val="56AEFF"/>
                </a:solidFill>
                <a:latin typeface="Now Bold"/>
                <a:ea typeface="Now Bold"/>
                <a:cs typeface="Now Bold"/>
                <a:sym typeface="Now Bold"/>
              </a:rPr>
              <a:t>数字概览</a:t>
            </a:r>
          </a:p>
        </p:txBody>
      </p:sp>
      <p:pic>
        <p:nvPicPr>
          <p:cNvPr id="28" name="Рисунок 27">
            <a:extLst>
              <a:ext uri="{FF2B5EF4-FFF2-40B4-BE49-F238E27FC236}">
                <a16:creationId xmlns:a16="http://schemas.microsoft.com/office/drawing/2014/main" xmlns="" id="{1DF1B47E-73A2-4BF6-A39E-D60FF03BF92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69" y="-682160"/>
            <a:ext cx="6772175" cy="45147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grpSp>
        <p:nvGrpSpPr>
          <p:cNvPr id="185" name="Group 15">
            <a:extLst>
              <a:ext uri="{FF2B5EF4-FFF2-40B4-BE49-F238E27FC236}">
                <a16:creationId xmlns:a16="http://schemas.microsoft.com/office/drawing/2014/main" xmlns="" id="{AF8C9CA4-7A95-4C24-B084-4D0F83883860}"/>
              </a:ext>
            </a:extLst>
          </p:cNvPr>
          <p:cNvGrpSpPr/>
          <p:nvPr/>
        </p:nvGrpSpPr>
        <p:grpSpPr>
          <a:xfrm rot="-10800000">
            <a:off x="13821604" y="9270521"/>
            <a:ext cx="13457996" cy="3264379"/>
            <a:chOff x="0" y="0"/>
            <a:chExt cx="17943995" cy="4352506"/>
          </a:xfrm>
        </p:grpSpPr>
        <p:sp>
          <p:nvSpPr>
            <p:cNvPr id="186" name="Freeform 16">
              <a:extLst>
                <a:ext uri="{FF2B5EF4-FFF2-40B4-BE49-F238E27FC236}">
                  <a16:creationId xmlns:a16="http://schemas.microsoft.com/office/drawing/2014/main" xmlns="" id="{AD2DB1B3-A401-4E58-BA12-23DD4B0FA113}"/>
                </a:ext>
              </a:extLst>
            </p:cNvPr>
            <p:cNvSpPr/>
            <p:nvPr/>
          </p:nvSpPr>
          <p:spPr>
            <a:xfrm>
              <a:off x="0" y="0"/>
              <a:ext cx="4149650" cy="4149650"/>
            </a:xfrm>
            <a:custGeom>
              <a:avLst/>
              <a:gdLst/>
              <a:ahLst/>
              <a:cxnLst/>
              <a:rect l="l" t="t" r="r" b="b"/>
              <a:pathLst>
                <a:path w="4149650" h="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87" name="Freeform 17">
              <a:extLst>
                <a:ext uri="{FF2B5EF4-FFF2-40B4-BE49-F238E27FC236}">
                  <a16:creationId xmlns:a16="http://schemas.microsoft.com/office/drawing/2014/main" xmlns="" id="{3DFE8A67-7849-4B66-A3E2-8341122EE9B3}"/>
                </a:ext>
              </a:extLst>
            </p:cNvPr>
            <p:cNvSpPr/>
            <p:nvPr/>
          </p:nvSpPr>
          <p:spPr>
            <a:xfrm>
              <a:off x="4600097" y="861572"/>
              <a:ext cx="4149650" cy="3288079"/>
            </a:xfrm>
            <a:custGeom>
              <a:avLst/>
              <a:gdLst/>
              <a:ahLst/>
              <a:cxnLst/>
              <a:rect l="l" t="t" r="r" b="b"/>
              <a:pathLst>
                <a:path w="4149650" h="3288079">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xmlns="" r:embed="rId3"/>
                  </a:ext>
                </a:extLst>
              </a:blip>
              <a:stretch>
                <a:fillRect b="-26202"/>
              </a:stretch>
            </a:blipFill>
          </p:spPr>
        </p:sp>
        <p:sp>
          <p:nvSpPr>
            <p:cNvPr id="188" name="Freeform 18">
              <a:extLst>
                <a:ext uri="{FF2B5EF4-FFF2-40B4-BE49-F238E27FC236}">
                  <a16:creationId xmlns:a16="http://schemas.microsoft.com/office/drawing/2014/main" xmlns="" id="{0228A121-92A3-4A78-A10B-32D82FBDE3DE}"/>
                </a:ext>
              </a:extLst>
            </p:cNvPr>
            <p:cNvSpPr/>
            <p:nvPr/>
          </p:nvSpPr>
          <p:spPr>
            <a:xfrm>
              <a:off x="9194248" y="202855"/>
              <a:ext cx="4149650" cy="4149650"/>
            </a:xfrm>
            <a:custGeom>
              <a:avLst/>
              <a:gdLst/>
              <a:ahLst/>
              <a:cxnLst/>
              <a:rect l="l" t="t" r="r" b="b"/>
              <a:pathLst>
                <a:path w="4149650" h="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89" name="Freeform 19">
              <a:extLst>
                <a:ext uri="{FF2B5EF4-FFF2-40B4-BE49-F238E27FC236}">
                  <a16:creationId xmlns:a16="http://schemas.microsoft.com/office/drawing/2014/main" xmlns="" id="{A90A3CA0-ED9C-45A0-984A-FB68D5A0DD3F}"/>
                </a:ext>
              </a:extLst>
            </p:cNvPr>
            <p:cNvSpPr/>
            <p:nvPr/>
          </p:nvSpPr>
          <p:spPr>
            <a:xfrm>
              <a:off x="13794345" y="1064427"/>
              <a:ext cx="4149650" cy="3288079"/>
            </a:xfrm>
            <a:custGeom>
              <a:avLst/>
              <a:gdLst/>
              <a:ahLst/>
              <a:cxnLst/>
              <a:rect l="l" t="t" r="r" b="b"/>
              <a:pathLst>
                <a:path w="4149650" h="3288079">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xmlns="" r:embed="rId3"/>
                  </a:ext>
                </a:extLst>
              </a:blip>
              <a:stretch>
                <a:fillRect b="-26202"/>
              </a:stretch>
            </a:blipFill>
          </p:spPr>
        </p:sp>
      </p:grpSp>
      <p:grpSp>
        <p:nvGrpSpPr>
          <p:cNvPr id="15" name="Group 15"/>
          <p:cNvGrpSpPr/>
          <p:nvPr/>
        </p:nvGrpSpPr>
        <p:grpSpPr>
          <a:xfrm rot="-10800000">
            <a:off x="117197" y="9204951"/>
            <a:ext cx="13457996" cy="3264379"/>
            <a:chOff x="0" y="0"/>
            <a:chExt cx="17943995" cy="4352506"/>
          </a:xfrm>
        </p:grpSpPr>
        <p:sp>
          <p:nvSpPr>
            <p:cNvPr id="16" name="Freeform 16"/>
            <p:cNvSpPr/>
            <p:nvPr/>
          </p:nvSpPr>
          <p:spPr>
            <a:xfrm>
              <a:off x="0" y="0"/>
              <a:ext cx="4149650" cy="4149650"/>
            </a:xfrm>
            <a:custGeom>
              <a:avLst/>
              <a:gdLst/>
              <a:ahLst/>
              <a:cxnLst/>
              <a:rect l="l" t="t" r="r" b="b"/>
              <a:pathLst>
                <a:path w="4149650" h="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7" name="Freeform 17"/>
            <p:cNvSpPr/>
            <p:nvPr/>
          </p:nvSpPr>
          <p:spPr>
            <a:xfrm>
              <a:off x="4600097" y="861572"/>
              <a:ext cx="4149650" cy="3288079"/>
            </a:xfrm>
            <a:custGeom>
              <a:avLst/>
              <a:gdLst/>
              <a:ahLst/>
              <a:cxnLst/>
              <a:rect l="l" t="t" r="r" b="b"/>
              <a:pathLst>
                <a:path w="4149650" h="3288079">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xmlns="" r:embed="rId3"/>
                  </a:ext>
                </a:extLst>
              </a:blip>
              <a:stretch>
                <a:fillRect b="-26202"/>
              </a:stretch>
            </a:blipFill>
          </p:spPr>
        </p:sp>
        <p:sp>
          <p:nvSpPr>
            <p:cNvPr id="18" name="Freeform 18"/>
            <p:cNvSpPr/>
            <p:nvPr/>
          </p:nvSpPr>
          <p:spPr>
            <a:xfrm>
              <a:off x="9194248" y="202855"/>
              <a:ext cx="4149650" cy="4149650"/>
            </a:xfrm>
            <a:custGeom>
              <a:avLst/>
              <a:gdLst/>
              <a:ahLst/>
              <a:cxnLst/>
              <a:rect l="l" t="t" r="r" b="b"/>
              <a:pathLst>
                <a:path w="4149650" h="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9" name="Freeform 19"/>
            <p:cNvSpPr/>
            <p:nvPr/>
          </p:nvSpPr>
          <p:spPr>
            <a:xfrm>
              <a:off x="13794345" y="1064427"/>
              <a:ext cx="4149650" cy="3288079"/>
            </a:xfrm>
            <a:custGeom>
              <a:avLst/>
              <a:gdLst/>
              <a:ahLst/>
              <a:cxnLst/>
              <a:rect l="l" t="t" r="r" b="b"/>
              <a:pathLst>
                <a:path w="4149650" h="3288079">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xmlns="" r:embed="rId3"/>
                  </a:ext>
                </a:extLst>
              </a:blip>
              <a:stretch>
                <a:fillRect b="-26202"/>
              </a:stretch>
            </a:blipFill>
          </p:spPr>
        </p:sp>
      </p:grpSp>
      <p:sp>
        <p:nvSpPr>
          <p:cNvPr id="190" name="Прямоугольник: скругленные углы 189">
            <a:extLst>
              <a:ext uri="{FF2B5EF4-FFF2-40B4-BE49-F238E27FC236}">
                <a16:creationId xmlns:a16="http://schemas.microsoft.com/office/drawing/2014/main" xmlns="" id="{F39309EA-180C-4358-A98E-F7B432F9F441}"/>
              </a:ext>
            </a:extLst>
          </p:cNvPr>
          <p:cNvSpPr/>
          <p:nvPr/>
        </p:nvSpPr>
        <p:spPr>
          <a:xfrm>
            <a:off x="7351165" y="9056253"/>
            <a:ext cx="3862004" cy="80440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DM Sans Bold" panose="020B0604020202020204" charset="0"/>
            </a:endParaRPr>
          </a:p>
        </p:txBody>
      </p:sp>
      <p:sp>
        <p:nvSpPr>
          <p:cNvPr id="2" name="AutoShape 2"/>
          <p:cNvSpPr/>
          <p:nvPr/>
        </p:nvSpPr>
        <p:spPr>
          <a:xfrm>
            <a:off x="6309965" y="2900811"/>
            <a:ext cx="0" cy="4676296"/>
          </a:xfrm>
          <a:prstGeom prst="line">
            <a:avLst/>
          </a:prstGeom>
          <a:ln w="47625" cap="flat">
            <a:solidFill>
              <a:srgbClr val="FFFFFF"/>
            </a:solidFill>
            <a:prstDash val="solid"/>
            <a:headEnd type="none" w="sm" len="sm"/>
            <a:tailEnd type="none" w="sm" len="sm"/>
          </a:ln>
        </p:spPr>
      </p:sp>
      <p:sp>
        <p:nvSpPr>
          <p:cNvPr id="24" name="TextBox 23">
            <a:extLst>
              <a:ext uri="{FF2B5EF4-FFF2-40B4-BE49-F238E27FC236}">
                <a16:creationId xmlns:a16="http://schemas.microsoft.com/office/drawing/2014/main" xmlns="" id="{AD8E14CF-CC31-426B-BB31-173B6957A804}"/>
              </a:ext>
            </a:extLst>
          </p:cNvPr>
          <p:cNvSpPr txBox="1"/>
          <p:nvPr/>
        </p:nvSpPr>
        <p:spPr>
          <a:xfrm>
            <a:off x="2861608" y="195959"/>
            <a:ext cx="12161671" cy="545855"/>
          </a:xfrm>
          <a:prstGeom prst="rect">
            <a:avLst/>
          </a:prstGeom>
          <a:noFill/>
        </p:spPr>
        <p:txBody>
          <a:bodyPr wrap="square">
            <a:spAutoFit/>
          </a:bodyPr>
          <a:lstStyle/>
          <a:p>
            <a:pPr>
              <a:lnSpc>
                <a:spcPct val="107000"/>
              </a:lnSpc>
              <a:spcAft>
                <a:spcPts val="800"/>
              </a:spcAft>
            </a:pPr>
            <a:r>
              <a:rPr lang="en-GB" sz="2800" b="1" dirty="0">
                <a:solidFill>
                  <a:srgbClr val="FFFFFF"/>
                </a:solidFill>
                <a:latin typeface="Now Bold"/>
              </a:rPr>
              <a:t>物质技术基础发展战略</a:t>
            </a:r>
            <a:endParaRPr lang="en-US" sz="2800" b="1" dirty="0">
              <a:solidFill>
                <a:srgbClr val="FFFFFF"/>
              </a:solidFill>
              <a:latin typeface="Now Bold"/>
            </a:endParaRPr>
          </a:p>
        </p:txBody>
      </p:sp>
      <p:sp>
        <p:nvSpPr>
          <p:cNvPr id="25" name="TextBox 24">
            <a:extLst>
              <a:ext uri="{FF2B5EF4-FFF2-40B4-BE49-F238E27FC236}">
                <a16:creationId xmlns:a16="http://schemas.microsoft.com/office/drawing/2014/main" xmlns="" id="{37939859-48FC-4CE8-8713-FAB235D74771}"/>
              </a:ext>
            </a:extLst>
          </p:cNvPr>
          <p:cNvSpPr txBox="1"/>
          <p:nvPr/>
        </p:nvSpPr>
        <p:spPr>
          <a:xfrm>
            <a:off x="475358" y="795652"/>
            <a:ext cx="18904521" cy="444674"/>
          </a:xfrm>
          <a:prstGeom prst="rect">
            <a:avLst/>
          </a:prstGeom>
          <a:noFill/>
        </p:spPr>
        <p:txBody>
          <a:bodyPr wrap="square">
            <a:spAutoFit/>
          </a:bodyPr>
          <a:lstStyle/>
          <a:p>
            <a:pPr>
              <a:lnSpc>
                <a:spcPct val="107000"/>
              </a:lnSpc>
              <a:spcAft>
                <a:spcPts val="800"/>
              </a:spcAft>
            </a:pPr>
            <a:r>
              <a:rPr lang="en-GB" sz="2200" b="1" dirty="0" err="1">
                <a:solidFill>
                  <a:schemeClr val="bg1"/>
                </a:solidFill>
                <a:effectLst/>
                <a:latin typeface="DM Sans Bold" panose="020B0604020202020204" charset="0"/>
                <a:ea typeface="Calibri" panose="020F0502020204030204" pitchFamily="34" charset="0"/>
                <a:cs typeface="Arial" panose="020B0604020202020204" pitchFamily="34" charset="0"/>
              </a:rPr>
              <a:t>引进提升精神文化工作效率和教育工作影响力的先进技术</a:t>
            </a:r>
            <a:endParaRPr lang="en-US" sz="2200" dirty="0">
              <a:solidFill>
                <a:schemeClr val="bg1"/>
              </a:solidFill>
              <a:effectLst/>
              <a:latin typeface="DM Sans Bold" panose="020B0604020202020204" charset="0"/>
              <a:ea typeface="Calibri" panose="020F0502020204030204" pitchFamily="34" charset="0"/>
              <a:cs typeface="Arial" panose="020B0604020202020204" pitchFamily="34" charset="0"/>
            </a:endParaRPr>
          </a:p>
        </p:txBody>
      </p:sp>
      <p:cxnSp>
        <p:nvCxnSpPr>
          <p:cNvPr id="26" name="Прямая соединительная линия 25">
            <a:extLst>
              <a:ext uri="{FF2B5EF4-FFF2-40B4-BE49-F238E27FC236}">
                <a16:creationId xmlns:a16="http://schemas.microsoft.com/office/drawing/2014/main" xmlns="" id="{C17567A2-DC67-4E42-A5F7-EBBEF6BAF79A}"/>
              </a:ext>
            </a:extLst>
          </p:cNvPr>
          <p:cNvCxnSpPr>
            <a:cxnSpLocks/>
          </p:cNvCxnSpPr>
          <p:nvPr/>
        </p:nvCxnSpPr>
        <p:spPr>
          <a:xfrm>
            <a:off x="2687015" y="741814"/>
            <a:ext cx="11489266" cy="0"/>
          </a:xfrm>
          <a:prstGeom prst="line">
            <a:avLst/>
          </a:prstGeom>
          <a:ln>
            <a:solidFill>
              <a:schemeClr val="accent5">
                <a:lumMod val="40000"/>
                <a:lumOff val="60000"/>
              </a:schemeClr>
            </a:solidFill>
          </a:ln>
        </p:spPr>
        <p:style>
          <a:lnRef idx="1">
            <a:schemeClr val="accent5"/>
          </a:lnRef>
          <a:fillRef idx="0">
            <a:schemeClr val="accent5"/>
          </a:fillRef>
          <a:effectRef idx="0">
            <a:schemeClr val="accent5"/>
          </a:effectRef>
          <a:fontRef idx="minor">
            <a:schemeClr val="tx1"/>
          </a:fontRef>
        </p:style>
      </p:cxnSp>
      <p:graphicFrame>
        <p:nvGraphicFramePr>
          <p:cNvPr id="27" name="Диаграмма 26">
            <a:extLst>
              <a:ext uri="{FF2B5EF4-FFF2-40B4-BE49-F238E27FC236}">
                <a16:creationId xmlns:a16="http://schemas.microsoft.com/office/drawing/2014/main" xmlns="" id="{73B4EC89-3000-49BA-B410-51F7AFCA0CCC}"/>
              </a:ext>
            </a:extLst>
          </p:cNvPr>
          <p:cNvGraphicFramePr/>
          <p:nvPr>
            <p:extLst>
              <p:ext uri="{D42A27DB-BD31-4B8C-83A1-F6EECF244321}">
                <p14:modId xmlns:p14="http://schemas.microsoft.com/office/powerpoint/2010/main" val="517346959"/>
              </p:ext>
            </p:extLst>
          </p:nvPr>
        </p:nvGraphicFramePr>
        <p:xfrm>
          <a:off x="6585239" y="1977170"/>
          <a:ext cx="5618366" cy="2494184"/>
        </p:xfrm>
        <a:graphic>
          <a:graphicData uri="http://schemas.openxmlformats.org/drawingml/2006/chart">
            <c:chart xmlns:c="http://schemas.openxmlformats.org/drawingml/2006/chart" xmlns:r="http://schemas.openxmlformats.org/officeDocument/2006/relationships" r:id="rId4"/>
          </a:graphicData>
        </a:graphic>
      </p:graphicFrame>
      <p:sp>
        <p:nvSpPr>
          <p:cNvPr id="28" name="Прямоугольник: скругленные углы 27">
            <a:extLst>
              <a:ext uri="{FF2B5EF4-FFF2-40B4-BE49-F238E27FC236}">
                <a16:creationId xmlns:a16="http://schemas.microsoft.com/office/drawing/2014/main" xmlns="" id="{13C749F0-4776-4273-BE10-3200CD3BF368}"/>
              </a:ext>
            </a:extLst>
          </p:cNvPr>
          <p:cNvSpPr/>
          <p:nvPr/>
        </p:nvSpPr>
        <p:spPr>
          <a:xfrm>
            <a:off x="6787141" y="8060814"/>
            <a:ext cx="2377967" cy="59380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DM Sans Bold" panose="020B0604020202020204" charset="0"/>
            </a:endParaRPr>
          </a:p>
        </p:txBody>
      </p:sp>
      <p:sp>
        <p:nvSpPr>
          <p:cNvPr id="30" name="Прямоугольник: скругленные углы 29">
            <a:extLst>
              <a:ext uri="{FF2B5EF4-FFF2-40B4-BE49-F238E27FC236}">
                <a16:creationId xmlns:a16="http://schemas.microsoft.com/office/drawing/2014/main" xmlns="" id="{43636613-F57B-4E77-BDFC-9F37B163FC08}"/>
              </a:ext>
            </a:extLst>
          </p:cNvPr>
          <p:cNvSpPr/>
          <p:nvPr/>
        </p:nvSpPr>
        <p:spPr>
          <a:xfrm>
            <a:off x="9525000" y="8058381"/>
            <a:ext cx="2373442" cy="60989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DM Sans Bold" panose="020B0604020202020204" charset="0"/>
            </a:endParaRPr>
          </a:p>
        </p:txBody>
      </p:sp>
      <p:pic>
        <p:nvPicPr>
          <p:cNvPr id="31" name="Рисунок 30" descr="Здание со сплошной заливкой">
            <a:extLst>
              <a:ext uri="{FF2B5EF4-FFF2-40B4-BE49-F238E27FC236}">
                <a16:creationId xmlns:a16="http://schemas.microsoft.com/office/drawing/2014/main" xmlns="" id="{CF69F9A8-D0A6-4808-B9FC-0B018AB15081}"/>
              </a:ext>
            </a:extLst>
          </p:cNvPr>
          <p:cNvPicPr>
            <a:picLocks noChangeAspect="1"/>
          </p:cNvPicPr>
          <p:nvPr/>
        </p:nvPicPr>
        <p:blipFill>
          <a:blip r:embed="rId5" cstate="print">
            <a:lum bright="100000"/>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844564" y="8523519"/>
            <a:ext cx="676146" cy="676146"/>
          </a:xfrm>
          <a:prstGeom prst="rect">
            <a:avLst/>
          </a:prstGeom>
        </p:spPr>
      </p:pic>
      <p:pic>
        <p:nvPicPr>
          <p:cNvPr id="32" name="Рисунок 31" descr="Город со сплошной заливкой">
            <a:extLst>
              <a:ext uri="{FF2B5EF4-FFF2-40B4-BE49-F238E27FC236}">
                <a16:creationId xmlns:a16="http://schemas.microsoft.com/office/drawing/2014/main" xmlns="" id="{D4E3EA41-E42A-42F4-8ADA-5B59167E6302}"/>
              </a:ext>
            </a:extLst>
          </p:cNvPr>
          <p:cNvPicPr>
            <a:picLocks noChangeAspect="1"/>
          </p:cNvPicPr>
          <p:nvPr/>
        </p:nvPicPr>
        <p:blipFill>
          <a:blip r:embed="rId7" cstate="print">
            <a:lum bright="100000"/>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4724400" y="7320976"/>
            <a:ext cx="716955" cy="716955"/>
          </a:xfrm>
          <a:prstGeom prst="rect">
            <a:avLst/>
          </a:prstGeom>
        </p:spPr>
      </p:pic>
      <p:pic>
        <p:nvPicPr>
          <p:cNvPr id="33" name="Рисунок 32" descr="Школа со сплошной заливкой">
            <a:extLst>
              <a:ext uri="{FF2B5EF4-FFF2-40B4-BE49-F238E27FC236}">
                <a16:creationId xmlns:a16="http://schemas.microsoft.com/office/drawing/2014/main" xmlns="" id="{F3A12469-D83D-427D-9F56-7E6B7D0679C2}"/>
              </a:ext>
            </a:extLst>
          </p:cNvPr>
          <p:cNvPicPr>
            <a:picLocks noChangeAspect="1"/>
          </p:cNvPicPr>
          <p:nvPr/>
        </p:nvPicPr>
        <p:blipFill>
          <a:blip r:embed="rId9" cstate="print">
            <a:lum bright="100000"/>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703328" y="7204209"/>
            <a:ext cx="855618" cy="855618"/>
          </a:xfrm>
          <a:prstGeom prst="rect">
            <a:avLst/>
          </a:prstGeom>
        </p:spPr>
      </p:pic>
      <p:pic>
        <p:nvPicPr>
          <p:cNvPr id="34" name="Рисунок 33">
            <a:extLst>
              <a:ext uri="{FF2B5EF4-FFF2-40B4-BE49-F238E27FC236}">
                <a16:creationId xmlns:a16="http://schemas.microsoft.com/office/drawing/2014/main" xmlns="" id="{B47C4333-8871-4C18-A828-B2FCF1E643E3}"/>
              </a:ext>
            </a:extLst>
          </p:cNvPr>
          <p:cNvPicPr>
            <a:picLocks noChangeAspect="1"/>
          </p:cNvPicPr>
          <p:nvPr/>
        </p:nvPicPr>
        <p:blipFill>
          <a:blip r:embed="rId11" cstate="print">
            <a:extLst>
              <a:ext uri="{BEBA8EAE-BF5A-486C-A8C5-ECC9F3942E4B}">
                <a14:imgProps xmlns:a14="http://schemas.microsoft.com/office/drawing/2010/main">
                  <a14:imgLayer r:embed="rId12">
                    <a14:imgEffect>
                      <a14:sharpenSoften amount="100000"/>
                    </a14:imgEffect>
                    <a14:imgEffect>
                      <a14:colorTemperature colorTemp="1500"/>
                    </a14:imgEffect>
                    <a14:imgEffect>
                      <a14:saturation sat="0"/>
                    </a14:imgEffect>
                    <a14:imgEffect>
                      <a14:brightnessContrast bright="100000" contrast="-40000"/>
                    </a14:imgEffect>
                  </a14:imgLayer>
                </a14:imgProps>
              </a:ext>
              <a:ext uri="{28A0092B-C50C-407E-A947-70E740481C1C}">
                <a14:useLocalDpi xmlns:a14="http://schemas.microsoft.com/office/drawing/2010/main" val="0"/>
              </a:ext>
            </a:extLst>
          </a:blip>
          <a:stretch>
            <a:fillRect/>
          </a:stretch>
        </p:blipFill>
        <p:spPr>
          <a:xfrm>
            <a:off x="3997954" y="8518275"/>
            <a:ext cx="624023" cy="676146"/>
          </a:xfrm>
          <a:prstGeom prst="rect">
            <a:avLst/>
          </a:prstGeom>
        </p:spPr>
      </p:pic>
      <p:pic>
        <p:nvPicPr>
          <p:cNvPr id="35" name="Рисунок 34">
            <a:extLst>
              <a:ext uri="{FF2B5EF4-FFF2-40B4-BE49-F238E27FC236}">
                <a16:creationId xmlns:a16="http://schemas.microsoft.com/office/drawing/2014/main" xmlns="" id="{DFF13889-D2B7-42E4-9FD7-3DC360AA95B8}"/>
              </a:ext>
            </a:extLst>
          </p:cNvPr>
          <p:cNvPicPr>
            <a:picLocks noChangeAspect="1"/>
          </p:cNvPicPr>
          <p:nvPr/>
        </p:nvPicPr>
        <p:blipFill>
          <a:blip r:embed="rId13" cstate="print">
            <a:duotone>
              <a:schemeClr val="bg2">
                <a:shade val="45000"/>
                <a:satMod val="135000"/>
              </a:schemeClr>
              <a:prstClr val="white"/>
            </a:duotone>
            <a:extLst>
              <a:ext uri="{BEBA8EAE-BF5A-486C-A8C5-ECC9F3942E4B}">
                <a14:imgProps xmlns:a14="http://schemas.microsoft.com/office/drawing/2010/main">
                  <a14:imgLayer r:embed="rId14">
                    <a14:imgEffect>
                      <a14:artisticPhotocopy/>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008035" y="7381899"/>
            <a:ext cx="605652" cy="520614"/>
          </a:xfrm>
          <a:prstGeom prst="rect">
            <a:avLst/>
          </a:prstGeom>
          <a:ln>
            <a:noFill/>
          </a:ln>
        </p:spPr>
      </p:pic>
      <p:sp>
        <p:nvSpPr>
          <p:cNvPr id="36" name="TextBox 35">
            <a:extLst>
              <a:ext uri="{FF2B5EF4-FFF2-40B4-BE49-F238E27FC236}">
                <a16:creationId xmlns:a16="http://schemas.microsoft.com/office/drawing/2014/main" xmlns="" id="{614E7DF2-18AD-40D1-9B04-7ECE35AA8C22}"/>
              </a:ext>
            </a:extLst>
          </p:cNvPr>
          <p:cNvSpPr txBox="1"/>
          <p:nvPr/>
        </p:nvSpPr>
        <p:spPr>
          <a:xfrm>
            <a:off x="845398" y="1520712"/>
            <a:ext cx="5631601" cy="348557"/>
          </a:xfrm>
          <a:prstGeom prst="rect">
            <a:avLst/>
          </a:prstGeom>
          <a:noFill/>
        </p:spPr>
        <p:txBody>
          <a:bodyPr wrap="square">
            <a:spAutoFit/>
          </a:bodyPr>
          <a:lstStyle/>
          <a:p>
            <a:pPr algn="ctr">
              <a:lnSpc>
                <a:spcPct val="107000"/>
              </a:lnSpc>
              <a:spcAft>
                <a:spcPts val="800"/>
              </a:spcAft>
            </a:pPr>
            <a:r>
              <a:rPr lang="en-US" sz="1600" b="1" dirty="0" err="1">
                <a:solidFill>
                  <a:schemeClr val="bg1"/>
                </a:solidFill>
                <a:effectLst/>
                <a:latin typeface="DM Sans Bold" panose="020B0604020202020204" charset="0"/>
                <a:ea typeface="Tahoma" panose="020B0604030504040204" pitchFamily="34" charset="0"/>
                <a:cs typeface="Times New Roman" panose="02020603050405020304" pitchFamily="18" charset="0"/>
              </a:rPr>
              <a:t>教学楼及学位配备情况</a:t>
            </a:r>
            <a:endParaRPr lang="en-US" sz="160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sp>
        <p:nvSpPr>
          <p:cNvPr id="37" name="TextBox 36">
            <a:extLst>
              <a:ext uri="{FF2B5EF4-FFF2-40B4-BE49-F238E27FC236}">
                <a16:creationId xmlns:a16="http://schemas.microsoft.com/office/drawing/2014/main" xmlns="" id="{587743D6-83BD-4386-AA25-D790D1C2EE47}"/>
              </a:ext>
            </a:extLst>
          </p:cNvPr>
          <p:cNvSpPr txBox="1"/>
          <p:nvPr/>
        </p:nvSpPr>
        <p:spPr>
          <a:xfrm>
            <a:off x="2082778" y="1812471"/>
            <a:ext cx="3173265" cy="348557"/>
          </a:xfrm>
          <a:prstGeom prst="rect">
            <a:avLst/>
          </a:prstGeom>
          <a:noFill/>
        </p:spPr>
        <p:txBody>
          <a:bodyPr wrap="square">
            <a:spAutoFit/>
          </a:bodyPr>
          <a:lstStyle/>
          <a:p>
            <a:pPr>
              <a:lnSpc>
                <a:spcPct val="107000"/>
              </a:lnSpc>
              <a:spcAft>
                <a:spcPts val="800"/>
              </a:spcAft>
            </a:pPr>
            <a:r>
              <a:rPr lang="en-US" sz="1600" b="1" dirty="0" err="1">
                <a:solidFill>
                  <a:schemeClr val="bg1"/>
                </a:solidFill>
                <a:effectLst/>
                <a:latin typeface="DM Sans Bold" panose="020B0604020202020204" charset="0"/>
                <a:ea typeface="Tahoma" panose="020B0604030504040204" pitchFamily="34" charset="0"/>
                <a:cs typeface="Times New Roman" panose="02020603050405020304" pitchFamily="18" charset="0"/>
              </a:rPr>
              <a:t>学生人数</a:t>
            </a:r>
            <a:endParaRPr lang="en-US" sz="160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grpSp>
        <p:nvGrpSpPr>
          <p:cNvPr id="38" name="Группа 37">
            <a:extLst>
              <a:ext uri="{FF2B5EF4-FFF2-40B4-BE49-F238E27FC236}">
                <a16:creationId xmlns:a16="http://schemas.microsoft.com/office/drawing/2014/main" xmlns="" id="{44B6A01D-FD15-4DB7-9A14-9E71BCBCC96F}"/>
              </a:ext>
            </a:extLst>
          </p:cNvPr>
          <p:cNvGrpSpPr/>
          <p:nvPr/>
        </p:nvGrpSpPr>
        <p:grpSpPr>
          <a:xfrm>
            <a:off x="559568" y="2262197"/>
            <a:ext cx="5536432" cy="2858275"/>
            <a:chOff x="282584" y="1348322"/>
            <a:chExt cx="4105343" cy="1988836"/>
          </a:xfrm>
        </p:grpSpPr>
        <p:grpSp>
          <p:nvGrpSpPr>
            <p:cNvPr id="39" name="Группа 38">
              <a:extLst>
                <a:ext uri="{FF2B5EF4-FFF2-40B4-BE49-F238E27FC236}">
                  <a16:creationId xmlns:a16="http://schemas.microsoft.com/office/drawing/2014/main" xmlns="" id="{5B00D473-FB25-4F45-82EA-6DA33FD2F2C2}"/>
                </a:ext>
              </a:extLst>
            </p:cNvPr>
            <p:cNvGrpSpPr/>
            <p:nvPr/>
          </p:nvGrpSpPr>
          <p:grpSpPr>
            <a:xfrm>
              <a:off x="377632" y="1348322"/>
              <a:ext cx="3865033" cy="1988836"/>
              <a:chOff x="535517" y="1311853"/>
              <a:chExt cx="3865033" cy="1988836"/>
            </a:xfrm>
          </p:grpSpPr>
          <p:cxnSp>
            <p:nvCxnSpPr>
              <p:cNvPr id="53" name="Прямая соединительная линия 52">
                <a:extLst>
                  <a:ext uri="{FF2B5EF4-FFF2-40B4-BE49-F238E27FC236}">
                    <a16:creationId xmlns:a16="http://schemas.microsoft.com/office/drawing/2014/main" xmlns="" id="{EA747FE4-563B-4F0E-B4B6-7D8895353FBF}"/>
                  </a:ext>
                </a:extLst>
              </p:cNvPr>
              <p:cNvCxnSpPr>
                <a:cxnSpLocks/>
              </p:cNvCxnSpPr>
              <p:nvPr/>
            </p:nvCxnSpPr>
            <p:spPr>
              <a:xfrm>
                <a:off x="553609" y="1354541"/>
                <a:ext cx="9594" cy="1908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a:extLst>
                  <a:ext uri="{FF2B5EF4-FFF2-40B4-BE49-F238E27FC236}">
                    <a16:creationId xmlns:a16="http://schemas.microsoft.com/office/drawing/2014/main" xmlns="" id="{11892DD6-26DE-413C-84DF-5E9064C619CB}"/>
                  </a:ext>
                </a:extLst>
              </p:cNvPr>
              <p:cNvCxnSpPr>
                <a:cxnSpLocks/>
              </p:cNvCxnSpPr>
              <p:nvPr/>
            </p:nvCxnSpPr>
            <p:spPr>
              <a:xfrm>
                <a:off x="1295400" y="1324223"/>
                <a:ext cx="0" cy="1938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Прямая соединительная линия 54">
                <a:extLst>
                  <a:ext uri="{FF2B5EF4-FFF2-40B4-BE49-F238E27FC236}">
                    <a16:creationId xmlns:a16="http://schemas.microsoft.com/office/drawing/2014/main" xmlns="" id="{F95A40C6-40D4-4B04-89E2-BDB18C9E409C}"/>
                  </a:ext>
                </a:extLst>
              </p:cNvPr>
              <p:cNvCxnSpPr>
                <a:cxnSpLocks/>
              </p:cNvCxnSpPr>
              <p:nvPr/>
            </p:nvCxnSpPr>
            <p:spPr>
              <a:xfrm>
                <a:off x="2047875" y="1331392"/>
                <a:ext cx="0" cy="1912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a:extLst>
                  <a:ext uri="{FF2B5EF4-FFF2-40B4-BE49-F238E27FC236}">
                    <a16:creationId xmlns:a16="http://schemas.microsoft.com/office/drawing/2014/main" xmlns="" id="{F731E6CD-D862-4B22-93B9-69DBED663E02}"/>
                  </a:ext>
                </a:extLst>
              </p:cNvPr>
              <p:cNvCxnSpPr>
                <a:cxnSpLocks/>
              </p:cNvCxnSpPr>
              <p:nvPr/>
            </p:nvCxnSpPr>
            <p:spPr>
              <a:xfrm>
                <a:off x="3434751" y="1324223"/>
                <a:ext cx="0" cy="1919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a:extLst>
                  <a:ext uri="{FF2B5EF4-FFF2-40B4-BE49-F238E27FC236}">
                    <a16:creationId xmlns:a16="http://schemas.microsoft.com/office/drawing/2014/main" xmlns="" id="{21F2B600-292B-4BA0-AEC9-8987996FFE63}"/>
                  </a:ext>
                </a:extLst>
              </p:cNvPr>
              <p:cNvCxnSpPr>
                <a:cxnSpLocks/>
              </p:cNvCxnSpPr>
              <p:nvPr/>
            </p:nvCxnSpPr>
            <p:spPr>
              <a:xfrm>
                <a:off x="2710655" y="1322287"/>
                <a:ext cx="0" cy="189754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Прямая соединительная линия 57">
                <a:extLst>
                  <a:ext uri="{FF2B5EF4-FFF2-40B4-BE49-F238E27FC236}">
                    <a16:creationId xmlns:a16="http://schemas.microsoft.com/office/drawing/2014/main" xmlns="" id="{69040FBC-A17A-41BD-A8DE-5BC728207463}"/>
                  </a:ext>
                </a:extLst>
              </p:cNvPr>
              <p:cNvCxnSpPr>
                <a:cxnSpLocks/>
              </p:cNvCxnSpPr>
              <p:nvPr/>
            </p:nvCxnSpPr>
            <p:spPr>
              <a:xfrm flipV="1">
                <a:off x="535517" y="1674051"/>
                <a:ext cx="3865033" cy="11874"/>
              </a:xfrm>
              <a:prstGeom prst="line">
                <a:avLst/>
              </a:prstGeom>
            </p:spPr>
            <p:style>
              <a:lnRef idx="3">
                <a:schemeClr val="accent1"/>
              </a:lnRef>
              <a:fillRef idx="0">
                <a:schemeClr val="accent1"/>
              </a:fillRef>
              <a:effectRef idx="2">
                <a:schemeClr val="accent1"/>
              </a:effectRef>
              <a:fontRef idx="minor">
                <a:schemeClr val="tx1"/>
              </a:fontRef>
            </p:style>
          </p:cxnSp>
          <p:sp>
            <p:nvSpPr>
              <p:cNvPr id="59" name="Овал 58">
                <a:extLst>
                  <a:ext uri="{FF2B5EF4-FFF2-40B4-BE49-F238E27FC236}">
                    <a16:creationId xmlns:a16="http://schemas.microsoft.com/office/drawing/2014/main" xmlns="" id="{DC8E882F-B030-45D3-B2A7-5C67CA5AF329}"/>
                  </a:ext>
                </a:extLst>
              </p:cNvPr>
              <p:cNvSpPr/>
              <p:nvPr/>
            </p:nvSpPr>
            <p:spPr>
              <a:xfrm>
                <a:off x="769277" y="1616908"/>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60" name="Овал 59">
                <a:extLst>
                  <a:ext uri="{FF2B5EF4-FFF2-40B4-BE49-F238E27FC236}">
                    <a16:creationId xmlns:a16="http://schemas.microsoft.com/office/drawing/2014/main" xmlns="" id="{A94C28AC-83D5-4C81-81F5-3EDFAC1671E1}"/>
                  </a:ext>
                </a:extLst>
              </p:cNvPr>
              <p:cNvSpPr/>
              <p:nvPr/>
            </p:nvSpPr>
            <p:spPr>
              <a:xfrm>
                <a:off x="1951464" y="1622385"/>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cxnSp>
            <p:nvCxnSpPr>
              <p:cNvPr id="61" name="Прямая соединительная линия 60">
                <a:extLst>
                  <a:ext uri="{FF2B5EF4-FFF2-40B4-BE49-F238E27FC236}">
                    <a16:creationId xmlns:a16="http://schemas.microsoft.com/office/drawing/2014/main" xmlns="" id="{8F87E7DE-E299-431A-ADE5-667B682A5FE1}"/>
                  </a:ext>
                </a:extLst>
              </p:cNvPr>
              <p:cNvCxnSpPr>
                <a:cxnSpLocks/>
              </p:cNvCxnSpPr>
              <p:nvPr/>
            </p:nvCxnSpPr>
            <p:spPr>
              <a:xfrm>
                <a:off x="4039400" y="1311853"/>
                <a:ext cx="0" cy="1909079"/>
              </a:xfrm>
              <a:prstGeom prst="line">
                <a:avLst/>
              </a:prstGeom>
            </p:spPr>
            <p:style>
              <a:lnRef idx="1">
                <a:schemeClr val="accent1"/>
              </a:lnRef>
              <a:fillRef idx="0">
                <a:schemeClr val="accent1"/>
              </a:fillRef>
              <a:effectRef idx="0">
                <a:schemeClr val="accent1"/>
              </a:effectRef>
              <a:fontRef idx="minor">
                <a:schemeClr val="tx1"/>
              </a:fontRef>
            </p:style>
          </p:cxnSp>
          <p:sp>
            <p:nvSpPr>
              <p:cNvPr id="62" name="Овал 61">
                <a:extLst>
                  <a:ext uri="{FF2B5EF4-FFF2-40B4-BE49-F238E27FC236}">
                    <a16:creationId xmlns:a16="http://schemas.microsoft.com/office/drawing/2014/main" xmlns="" id="{DF670F79-1B61-408B-9465-E78A76929429}"/>
                  </a:ext>
                </a:extLst>
              </p:cNvPr>
              <p:cNvSpPr/>
              <p:nvPr/>
            </p:nvSpPr>
            <p:spPr>
              <a:xfrm>
                <a:off x="2904564" y="1616367"/>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63" name="Овал 62">
                <a:extLst>
                  <a:ext uri="{FF2B5EF4-FFF2-40B4-BE49-F238E27FC236}">
                    <a16:creationId xmlns:a16="http://schemas.microsoft.com/office/drawing/2014/main" xmlns="" id="{A673E0FB-3F3D-442D-9A33-8DF68FBEFD85}"/>
                  </a:ext>
                </a:extLst>
              </p:cNvPr>
              <p:cNvSpPr/>
              <p:nvPr/>
            </p:nvSpPr>
            <p:spPr>
              <a:xfrm>
                <a:off x="3827097" y="1616908"/>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cxnSp>
            <p:nvCxnSpPr>
              <p:cNvPr id="64" name="Прямая соединительная линия 63">
                <a:extLst>
                  <a:ext uri="{FF2B5EF4-FFF2-40B4-BE49-F238E27FC236}">
                    <a16:creationId xmlns:a16="http://schemas.microsoft.com/office/drawing/2014/main" xmlns="" id="{E7117ADD-1D2A-47E9-AFFD-933F50F272A6}"/>
                  </a:ext>
                </a:extLst>
              </p:cNvPr>
              <p:cNvCxnSpPr>
                <a:cxnSpLocks/>
              </p:cNvCxnSpPr>
              <p:nvPr/>
            </p:nvCxnSpPr>
            <p:spPr>
              <a:xfrm flipV="1">
                <a:off x="702356" y="2952986"/>
                <a:ext cx="922956" cy="291963"/>
              </a:xfrm>
              <a:prstGeom prst="line">
                <a:avLst/>
              </a:prstGeom>
            </p:spPr>
            <p:style>
              <a:lnRef idx="3">
                <a:schemeClr val="accent1"/>
              </a:lnRef>
              <a:fillRef idx="0">
                <a:schemeClr val="accent1"/>
              </a:fillRef>
              <a:effectRef idx="2">
                <a:schemeClr val="accent1"/>
              </a:effectRef>
              <a:fontRef idx="minor">
                <a:schemeClr val="tx1"/>
              </a:fontRef>
            </p:style>
          </p:cxnSp>
          <p:cxnSp>
            <p:nvCxnSpPr>
              <p:cNvPr id="65" name="Прямая соединительная линия 64">
                <a:extLst>
                  <a:ext uri="{FF2B5EF4-FFF2-40B4-BE49-F238E27FC236}">
                    <a16:creationId xmlns:a16="http://schemas.microsoft.com/office/drawing/2014/main" xmlns="" id="{583857A5-BA9C-422A-8639-B904905B5CBF}"/>
                  </a:ext>
                </a:extLst>
              </p:cNvPr>
              <p:cNvCxnSpPr>
                <a:cxnSpLocks/>
              </p:cNvCxnSpPr>
              <p:nvPr/>
            </p:nvCxnSpPr>
            <p:spPr>
              <a:xfrm flipV="1">
                <a:off x="1617916" y="2234698"/>
                <a:ext cx="1223988" cy="721851"/>
              </a:xfrm>
              <a:prstGeom prst="line">
                <a:avLst/>
              </a:prstGeom>
            </p:spPr>
            <p:style>
              <a:lnRef idx="3">
                <a:schemeClr val="accent1"/>
              </a:lnRef>
              <a:fillRef idx="0">
                <a:schemeClr val="accent1"/>
              </a:fillRef>
              <a:effectRef idx="2">
                <a:schemeClr val="accent1"/>
              </a:effectRef>
              <a:fontRef idx="minor">
                <a:schemeClr val="tx1"/>
              </a:fontRef>
            </p:style>
          </p:cxnSp>
          <p:cxnSp>
            <p:nvCxnSpPr>
              <p:cNvPr id="66" name="Прямая соединительная линия 65">
                <a:extLst>
                  <a:ext uri="{FF2B5EF4-FFF2-40B4-BE49-F238E27FC236}">
                    <a16:creationId xmlns:a16="http://schemas.microsoft.com/office/drawing/2014/main" xmlns="" id="{923A3BBB-1232-4FC8-B036-04A4DBD96AC7}"/>
                  </a:ext>
                </a:extLst>
              </p:cNvPr>
              <p:cNvCxnSpPr>
                <a:cxnSpLocks/>
              </p:cNvCxnSpPr>
              <p:nvPr/>
            </p:nvCxnSpPr>
            <p:spPr>
              <a:xfrm flipV="1">
                <a:off x="2819279" y="1997960"/>
                <a:ext cx="1041105" cy="253735"/>
              </a:xfrm>
              <a:prstGeom prst="line">
                <a:avLst/>
              </a:prstGeom>
            </p:spPr>
            <p:style>
              <a:lnRef idx="3">
                <a:schemeClr val="accent1"/>
              </a:lnRef>
              <a:fillRef idx="0">
                <a:schemeClr val="accent1"/>
              </a:fillRef>
              <a:effectRef idx="2">
                <a:schemeClr val="accent1"/>
              </a:effectRef>
              <a:fontRef idx="minor">
                <a:schemeClr val="tx1"/>
              </a:fontRef>
            </p:style>
          </p:cxnSp>
          <p:sp>
            <p:nvSpPr>
              <p:cNvPr id="67" name="Овал 66">
                <a:extLst>
                  <a:ext uri="{FF2B5EF4-FFF2-40B4-BE49-F238E27FC236}">
                    <a16:creationId xmlns:a16="http://schemas.microsoft.com/office/drawing/2014/main" xmlns="" id="{EAB048D4-CEEE-40B0-9AEC-97525343C40E}"/>
                  </a:ext>
                </a:extLst>
              </p:cNvPr>
              <p:cNvSpPr/>
              <p:nvPr/>
            </p:nvSpPr>
            <p:spPr>
              <a:xfrm>
                <a:off x="623262" y="3186403"/>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68" name="Овал 67">
                <a:extLst>
                  <a:ext uri="{FF2B5EF4-FFF2-40B4-BE49-F238E27FC236}">
                    <a16:creationId xmlns:a16="http://schemas.microsoft.com/office/drawing/2014/main" xmlns="" id="{32CE4F2D-AA81-4A5F-8D71-3097494DD9C0}"/>
                  </a:ext>
                </a:extLst>
              </p:cNvPr>
              <p:cNvSpPr/>
              <p:nvPr/>
            </p:nvSpPr>
            <p:spPr>
              <a:xfrm>
                <a:off x="2746808" y="2194551"/>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69" name="Овал 68">
                <a:extLst>
                  <a:ext uri="{FF2B5EF4-FFF2-40B4-BE49-F238E27FC236}">
                    <a16:creationId xmlns:a16="http://schemas.microsoft.com/office/drawing/2014/main" xmlns="" id="{F310079E-9A7D-464E-92DB-B7B038450A9D}"/>
                  </a:ext>
                </a:extLst>
              </p:cNvPr>
              <p:cNvSpPr/>
              <p:nvPr/>
            </p:nvSpPr>
            <p:spPr>
              <a:xfrm>
                <a:off x="1545942" y="2901045"/>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70" name="Овал 69">
                <a:extLst>
                  <a:ext uri="{FF2B5EF4-FFF2-40B4-BE49-F238E27FC236}">
                    <a16:creationId xmlns:a16="http://schemas.microsoft.com/office/drawing/2014/main" xmlns="" id="{94202F79-3374-408F-AB30-6B73BE045E5A}"/>
                  </a:ext>
                </a:extLst>
              </p:cNvPr>
              <p:cNvSpPr/>
              <p:nvPr/>
            </p:nvSpPr>
            <p:spPr>
              <a:xfrm>
                <a:off x="3837584" y="1913023"/>
                <a:ext cx="126205" cy="924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grpSp>
        <p:sp>
          <p:nvSpPr>
            <p:cNvPr id="40" name="TextBox 39">
              <a:extLst>
                <a:ext uri="{FF2B5EF4-FFF2-40B4-BE49-F238E27FC236}">
                  <a16:creationId xmlns:a16="http://schemas.microsoft.com/office/drawing/2014/main" xmlns="" id="{C653F610-438B-4168-85FF-14E4685F30D8}"/>
                </a:ext>
              </a:extLst>
            </p:cNvPr>
            <p:cNvSpPr txBox="1"/>
            <p:nvPr/>
          </p:nvSpPr>
          <p:spPr>
            <a:xfrm>
              <a:off x="436155" y="1385764"/>
              <a:ext cx="684978" cy="198005"/>
            </a:xfrm>
            <a:prstGeom prst="rect">
              <a:avLst/>
            </a:prstGeom>
            <a:noFill/>
          </p:spPr>
          <p:txBody>
            <a:bodyPr wrap="square">
              <a:spAutoFit/>
            </a:bodyPr>
            <a:lstStyle/>
            <a:p>
              <a:pPr>
                <a:lnSpc>
                  <a:spcPct val="107000"/>
                </a:lnSpc>
                <a:spcAft>
                  <a:spcPts val="800"/>
                </a:spcAft>
              </a:pP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2022-23</a:t>
              </a:r>
            </a:p>
          </p:txBody>
        </p:sp>
        <p:sp>
          <p:nvSpPr>
            <p:cNvPr id="41" name="TextBox 40">
              <a:extLst>
                <a:ext uri="{FF2B5EF4-FFF2-40B4-BE49-F238E27FC236}">
                  <a16:creationId xmlns:a16="http://schemas.microsoft.com/office/drawing/2014/main" xmlns="" id="{5DBB415E-B535-401D-8D93-7DEC097FA83D}"/>
                </a:ext>
              </a:extLst>
            </p:cNvPr>
            <p:cNvSpPr txBox="1"/>
            <p:nvPr/>
          </p:nvSpPr>
          <p:spPr>
            <a:xfrm>
              <a:off x="3320419" y="1414698"/>
              <a:ext cx="709160" cy="198005"/>
            </a:xfrm>
            <a:prstGeom prst="rect">
              <a:avLst/>
            </a:prstGeom>
            <a:noFill/>
          </p:spPr>
          <p:txBody>
            <a:bodyPr wrap="square">
              <a:spAutoFit/>
            </a:bodyPr>
            <a:lstStyle/>
            <a:p>
              <a:pPr>
                <a:lnSpc>
                  <a:spcPct val="107000"/>
                </a:lnSpc>
                <a:spcAft>
                  <a:spcPts val="800"/>
                </a:spcAft>
              </a:pP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2025-26</a:t>
              </a:r>
            </a:p>
          </p:txBody>
        </p:sp>
        <p:sp>
          <p:nvSpPr>
            <p:cNvPr id="42" name="TextBox 41">
              <a:extLst>
                <a:ext uri="{FF2B5EF4-FFF2-40B4-BE49-F238E27FC236}">
                  <a16:creationId xmlns:a16="http://schemas.microsoft.com/office/drawing/2014/main" xmlns="" id="{B1F73B0B-17E5-4246-894B-47C30B122A94}"/>
                </a:ext>
              </a:extLst>
            </p:cNvPr>
            <p:cNvSpPr txBox="1"/>
            <p:nvPr/>
          </p:nvSpPr>
          <p:spPr>
            <a:xfrm>
              <a:off x="2478918" y="1403938"/>
              <a:ext cx="769138" cy="198005"/>
            </a:xfrm>
            <a:prstGeom prst="rect">
              <a:avLst/>
            </a:prstGeom>
            <a:noFill/>
          </p:spPr>
          <p:txBody>
            <a:bodyPr wrap="square">
              <a:spAutoFit/>
            </a:bodyPr>
            <a:lstStyle/>
            <a:p>
              <a:pPr>
                <a:lnSpc>
                  <a:spcPct val="107000"/>
                </a:lnSpc>
                <a:spcAft>
                  <a:spcPts val="800"/>
                </a:spcAft>
              </a:pP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2024-25</a:t>
              </a:r>
            </a:p>
          </p:txBody>
        </p:sp>
        <p:sp>
          <p:nvSpPr>
            <p:cNvPr id="43" name="TextBox 42">
              <a:extLst>
                <a:ext uri="{FF2B5EF4-FFF2-40B4-BE49-F238E27FC236}">
                  <a16:creationId xmlns:a16="http://schemas.microsoft.com/office/drawing/2014/main" xmlns="" id="{CC380F3B-41BF-4A52-BEC7-F44872B3DB27}"/>
                </a:ext>
              </a:extLst>
            </p:cNvPr>
            <p:cNvSpPr txBox="1"/>
            <p:nvPr/>
          </p:nvSpPr>
          <p:spPr>
            <a:xfrm>
              <a:off x="1496486" y="1384295"/>
              <a:ext cx="709348" cy="198005"/>
            </a:xfrm>
            <a:prstGeom prst="rect">
              <a:avLst/>
            </a:prstGeom>
            <a:noFill/>
          </p:spPr>
          <p:txBody>
            <a:bodyPr wrap="square">
              <a:spAutoFit/>
            </a:bodyPr>
            <a:lstStyle/>
            <a:p>
              <a:pPr>
                <a:lnSpc>
                  <a:spcPct val="107000"/>
                </a:lnSpc>
                <a:spcAft>
                  <a:spcPts val="800"/>
                </a:spcAft>
              </a:pP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2023-24</a:t>
              </a:r>
            </a:p>
          </p:txBody>
        </p:sp>
        <p:sp>
          <p:nvSpPr>
            <p:cNvPr id="44" name="TextBox 43">
              <a:extLst>
                <a:ext uri="{FF2B5EF4-FFF2-40B4-BE49-F238E27FC236}">
                  <a16:creationId xmlns:a16="http://schemas.microsoft.com/office/drawing/2014/main" xmlns="" id="{3E801BF8-F1AC-4596-880B-5DAC93EBB006}"/>
                </a:ext>
              </a:extLst>
            </p:cNvPr>
            <p:cNvSpPr txBox="1"/>
            <p:nvPr/>
          </p:nvSpPr>
          <p:spPr>
            <a:xfrm>
              <a:off x="1216421" y="2680634"/>
              <a:ext cx="530138" cy="175653"/>
            </a:xfrm>
            <a:prstGeom prst="rect">
              <a:avLst/>
            </a:prstGeom>
            <a:noFill/>
          </p:spPr>
          <p:txBody>
            <a:bodyPr wrap="square">
              <a:spAutoFit/>
            </a:bodyPr>
            <a:lstStyle/>
            <a:p>
              <a:pPr>
                <a:lnSpc>
                  <a:spcPct val="107000"/>
                </a:lnSpc>
                <a:spcAft>
                  <a:spcPts val="800"/>
                </a:spcAft>
              </a:pPr>
              <a:r>
                <a:rPr lang="en-US" sz="10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16768</a:t>
              </a:r>
            </a:p>
          </p:txBody>
        </p:sp>
        <p:sp>
          <p:nvSpPr>
            <p:cNvPr id="45" name="TextBox 44">
              <a:extLst>
                <a:ext uri="{FF2B5EF4-FFF2-40B4-BE49-F238E27FC236}">
                  <a16:creationId xmlns:a16="http://schemas.microsoft.com/office/drawing/2014/main" xmlns="" id="{49EE6AA0-B284-40DE-B36C-75EC149027CC}"/>
                </a:ext>
              </a:extLst>
            </p:cNvPr>
            <p:cNvSpPr txBox="1"/>
            <p:nvPr/>
          </p:nvSpPr>
          <p:spPr>
            <a:xfrm>
              <a:off x="282584" y="2994350"/>
              <a:ext cx="530138" cy="175653"/>
            </a:xfrm>
            <a:prstGeom prst="rect">
              <a:avLst/>
            </a:prstGeom>
            <a:noFill/>
          </p:spPr>
          <p:txBody>
            <a:bodyPr wrap="square">
              <a:spAutoFit/>
            </a:bodyPr>
            <a:lstStyle/>
            <a:p>
              <a:pPr>
                <a:lnSpc>
                  <a:spcPct val="107000"/>
                </a:lnSpc>
                <a:spcAft>
                  <a:spcPts val="800"/>
                </a:spcAft>
              </a:pPr>
              <a:r>
                <a:rPr lang="en-US" sz="10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8872</a:t>
              </a:r>
            </a:p>
          </p:txBody>
        </p:sp>
        <p:sp>
          <p:nvSpPr>
            <p:cNvPr id="46" name="TextBox 45">
              <a:extLst>
                <a:ext uri="{FF2B5EF4-FFF2-40B4-BE49-F238E27FC236}">
                  <a16:creationId xmlns:a16="http://schemas.microsoft.com/office/drawing/2014/main" xmlns="" id="{5A5B3C2A-A0FD-49CD-902E-75F327617F3B}"/>
                </a:ext>
              </a:extLst>
            </p:cNvPr>
            <p:cNvSpPr txBox="1"/>
            <p:nvPr/>
          </p:nvSpPr>
          <p:spPr>
            <a:xfrm>
              <a:off x="2395621" y="1985119"/>
              <a:ext cx="530138" cy="175653"/>
            </a:xfrm>
            <a:prstGeom prst="rect">
              <a:avLst/>
            </a:prstGeom>
            <a:noFill/>
          </p:spPr>
          <p:txBody>
            <a:bodyPr wrap="square">
              <a:spAutoFit/>
            </a:bodyPr>
            <a:lstStyle/>
            <a:p>
              <a:pPr>
                <a:lnSpc>
                  <a:spcPct val="107000"/>
                </a:lnSpc>
                <a:spcAft>
                  <a:spcPts val="800"/>
                </a:spcAft>
              </a:pPr>
              <a:r>
                <a:rPr lang="en-US" sz="1000" b="1" dirty="0">
                  <a:solidFill>
                    <a:schemeClr val="bg1"/>
                  </a:solidFill>
                  <a:latin typeface="DM Sans Bold" panose="020B0604020202020204" charset="0"/>
                  <a:ea typeface="Tahoma" panose="020B0604030504040204" pitchFamily="34" charset="0"/>
                  <a:cs typeface="Times New Roman" panose="02020603050405020304" pitchFamily="18" charset="0"/>
                </a:rPr>
                <a:t>23669</a:t>
              </a:r>
              <a:endParaRPr lang="en-US" sz="100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sp>
          <p:nvSpPr>
            <p:cNvPr id="47" name="TextBox 46">
              <a:extLst>
                <a:ext uri="{FF2B5EF4-FFF2-40B4-BE49-F238E27FC236}">
                  <a16:creationId xmlns:a16="http://schemas.microsoft.com/office/drawing/2014/main" xmlns="" id="{1695ECF2-226F-4BAD-A8DB-ECDE835FD3B9}"/>
                </a:ext>
              </a:extLst>
            </p:cNvPr>
            <p:cNvSpPr txBox="1"/>
            <p:nvPr/>
          </p:nvSpPr>
          <p:spPr>
            <a:xfrm>
              <a:off x="3702642" y="1756701"/>
              <a:ext cx="530138" cy="175653"/>
            </a:xfrm>
            <a:prstGeom prst="rect">
              <a:avLst/>
            </a:prstGeom>
            <a:noFill/>
          </p:spPr>
          <p:txBody>
            <a:bodyPr wrap="square">
              <a:spAutoFit/>
            </a:bodyPr>
            <a:lstStyle/>
            <a:p>
              <a:pPr>
                <a:lnSpc>
                  <a:spcPct val="107000"/>
                </a:lnSpc>
                <a:spcAft>
                  <a:spcPts val="800"/>
                </a:spcAft>
              </a:pPr>
              <a:r>
                <a:rPr lang="en-US" sz="10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30669</a:t>
              </a:r>
            </a:p>
          </p:txBody>
        </p:sp>
        <p:sp>
          <p:nvSpPr>
            <p:cNvPr id="48" name="TextBox 47">
              <a:extLst>
                <a:ext uri="{FF2B5EF4-FFF2-40B4-BE49-F238E27FC236}">
                  <a16:creationId xmlns:a16="http://schemas.microsoft.com/office/drawing/2014/main" xmlns="" id="{B471FD18-8FA2-4F5E-B3F0-DA1ACDF21D41}"/>
                </a:ext>
              </a:extLst>
            </p:cNvPr>
            <p:cNvSpPr txBox="1"/>
            <p:nvPr/>
          </p:nvSpPr>
          <p:spPr>
            <a:xfrm>
              <a:off x="1329978" y="3004391"/>
              <a:ext cx="530138" cy="175653"/>
            </a:xfrm>
            <a:prstGeom prst="rect">
              <a:avLst/>
            </a:prstGeom>
            <a:noFill/>
          </p:spPr>
          <p:txBody>
            <a:bodyPr wrap="square">
              <a:spAutoFit/>
            </a:bodyPr>
            <a:lstStyle/>
            <a:p>
              <a:pPr>
                <a:lnSpc>
                  <a:spcPct val="107000"/>
                </a:lnSpc>
                <a:spcAft>
                  <a:spcPts val="800"/>
                </a:spcAft>
              </a:pPr>
              <a:r>
                <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rPr>
                <a:t>+</a:t>
              </a:r>
              <a:r>
                <a:rPr lang="en-US" sz="1000" b="1" dirty="0">
                  <a:solidFill>
                    <a:srgbClr val="F79646"/>
                  </a:solidFill>
                  <a:latin typeface="DM Sans Bold" panose="020B0604020202020204" charset="0"/>
                  <a:ea typeface="Tahoma" panose="020B0604030504040204" pitchFamily="34" charset="0"/>
                  <a:cs typeface="Times New Roman" panose="02020603050405020304" pitchFamily="18" charset="0"/>
                </a:rPr>
                <a:t>7896</a:t>
              </a:r>
              <a:endPar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xmlns="" id="{3026ED88-AD31-4E7B-9E02-9D639E6688F4}"/>
                </a:ext>
              </a:extLst>
            </p:cNvPr>
            <p:cNvSpPr txBox="1"/>
            <p:nvPr/>
          </p:nvSpPr>
          <p:spPr>
            <a:xfrm>
              <a:off x="3857789" y="2002591"/>
              <a:ext cx="530138" cy="175653"/>
            </a:xfrm>
            <a:prstGeom prst="rect">
              <a:avLst/>
            </a:prstGeom>
            <a:noFill/>
          </p:spPr>
          <p:txBody>
            <a:bodyPr wrap="square">
              <a:spAutoFit/>
            </a:bodyPr>
            <a:lstStyle/>
            <a:p>
              <a:pPr>
                <a:lnSpc>
                  <a:spcPct val="107000"/>
                </a:lnSpc>
                <a:spcAft>
                  <a:spcPts val="800"/>
                </a:spcAft>
              </a:pPr>
              <a:r>
                <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rPr>
                <a:t>+</a:t>
              </a:r>
              <a:r>
                <a:rPr lang="en-US" sz="1000" b="1" dirty="0">
                  <a:solidFill>
                    <a:srgbClr val="F79646"/>
                  </a:solidFill>
                  <a:latin typeface="DM Sans Bold" panose="020B0604020202020204" charset="0"/>
                  <a:ea typeface="Tahoma" panose="020B0604030504040204" pitchFamily="34" charset="0"/>
                  <a:cs typeface="Times New Roman" panose="02020603050405020304" pitchFamily="18" charset="0"/>
                </a:rPr>
                <a:t>7000</a:t>
              </a:r>
              <a:endPar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endParaRPr>
            </a:p>
          </p:txBody>
        </p:sp>
        <p:sp>
          <p:nvSpPr>
            <p:cNvPr id="50" name="TextBox 49">
              <a:extLst>
                <a:ext uri="{FF2B5EF4-FFF2-40B4-BE49-F238E27FC236}">
                  <a16:creationId xmlns:a16="http://schemas.microsoft.com/office/drawing/2014/main" xmlns="" id="{B2E255F8-AFED-415A-91D0-EF92C9D65B6F}"/>
                </a:ext>
              </a:extLst>
            </p:cNvPr>
            <p:cNvSpPr txBox="1"/>
            <p:nvPr/>
          </p:nvSpPr>
          <p:spPr>
            <a:xfrm>
              <a:off x="2473644" y="2375208"/>
              <a:ext cx="530138" cy="175653"/>
            </a:xfrm>
            <a:prstGeom prst="rect">
              <a:avLst/>
            </a:prstGeom>
            <a:noFill/>
          </p:spPr>
          <p:txBody>
            <a:bodyPr wrap="square">
              <a:spAutoFit/>
            </a:bodyPr>
            <a:lstStyle/>
            <a:p>
              <a:pPr>
                <a:lnSpc>
                  <a:spcPct val="107000"/>
                </a:lnSpc>
                <a:spcAft>
                  <a:spcPts val="800"/>
                </a:spcAft>
              </a:pPr>
              <a:r>
                <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rPr>
                <a:t>+6901</a:t>
              </a:r>
            </a:p>
          </p:txBody>
        </p:sp>
        <p:sp>
          <p:nvSpPr>
            <p:cNvPr id="51" name="TextBox 50">
              <a:extLst>
                <a:ext uri="{FF2B5EF4-FFF2-40B4-BE49-F238E27FC236}">
                  <a16:creationId xmlns:a16="http://schemas.microsoft.com/office/drawing/2014/main" xmlns="" id="{BA48827F-1C6E-4854-AC13-7DE7676E02C7}"/>
                </a:ext>
              </a:extLst>
            </p:cNvPr>
            <p:cNvSpPr txBox="1"/>
            <p:nvPr/>
          </p:nvSpPr>
          <p:spPr>
            <a:xfrm>
              <a:off x="1903996" y="2780765"/>
              <a:ext cx="2306845" cy="378789"/>
            </a:xfrm>
            <a:prstGeom prst="rect">
              <a:avLst/>
            </a:prstGeom>
            <a:noFill/>
          </p:spPr>
          <p:txBody>
            <a:bodyPr wrap="square">
              <a:spAutoFit/>
            </a:bodyPr>
            <a:lstStyle/>
            <a:p>
              <a:pPr>
                <a:lnSpc>
                  <a:spcPct val="107000"/>
                </a:lnSpc>
                <a:spcAft>
                  <a:spcPts val="800"/>
                </a:spcAft>
              </a:pPr>
              <a:r>
                <a:rPr lang="en-US" sz="1150" b="1" dirty="0" err="1">
                  <a:solidFill>
                    <a:schemeClr val="bg1"/>
                  </a:solidFill>
                  <a:effectLst/>
                  <a:latin typeface="DM Sans Bold" panose="020B0604020202020204" charset="0"/>
                  <a:ea typeface="Tahoma" panose="020B0604030504040204" pitchFamily="34" charset="0"/>
                  <a:cs typeface="Times New Roman" panose="02020603050405020304" pitchFamily="18" charset="0"/>
                </a:rPr>
                <a:t>楼内教学面积</a:t>
              </a:r>
              <a:endParaRPr lang="en-US" sz="115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a:p>
              <a:pPr>
                <a:lnSpc>
                  <a:spcPct val="107000"/>
                </a:lnSpc>
                <a:spcAft>
                  <a:spcPts val="800"/>
                </a:spcAft>
              </a:pPr>
              <a:endParaRPr lang="en-US" sz="100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sp>
          <p:nvSpPr>
            <p:cNvPr id="52" name="TextBox 51">
              <a:extLst>
                <a:ext uri="{FF2B5EF4-FFF2-40B4-BE49-F238E27FC236}">
                  <a16:creationId xmlns:a16="http://schemas.microsoft.com/office/drawing/2014/main" xmlns="" id="{78BEFE8C-9F1D-4725-A828-6835F0EDC85E}"/>
                </a:ext>
              </a:extLst>
            </p:cNvPr>
            <p:cNvSpPr txBox="1"/>
            <p:nvPr/>
          </p:nvSpPr>
          <p:spPr>
            <a:xfrm>
              <a:off x="381306" y="2016432"/>
              <a:ext cx="1985439" cy="378789"/>
            </a:xfrm>
            <a:prstGeom prst="rect">
              <a:avLst/>
            </a:prstGeom>
            <a:noFill/>
          </p:spPr>
          <p:txBody>
            <a:bodyPr wrap="square">
              <a:spAutoFit/>
            </a:bodyPr>
            <a:lstStyle/>
            <a:p>
              <a:pPr>
                <a:lnSpc>
                  <a:spcPct val="107000"/>
                </a:lnSpc>
                <a:spcAft>
                  <a:spcPts val="800"/>
                </a:spcAft>
              </a:pPr>
              <a:r>
                <a:rPr lang="en-US" sz="1150" b="1" dirty="0" err="1">
                  <a:solidFill>
                    <a:schemeClr val="bg1"/>
                  </a:solidFill>
                  <a:effectLst/>
                  <a:latin typeface="DM Sans Bold" panose="020B0604020202020204" charset="0"/>
                  <a:ea typeface="Tahoma" panose="020B0604030504040204" pitchFamily="34" charset="0"/>
                  <a:cs typeface="Times New Roman" panose="02020603050405020304" pitchFamily="18" charset="0"/>
                </a:rPr>
                <a:t>教学楼容量变化</a:t>
              </a:r>
              <a:endParaRPr lang="en-US" sz="115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a:p>
              <a:pPr>
                <a:lnSpc>
                  <a:spcPct val="107000"/>
                </a:lnSpc>
                <a:spcAft>
                  <a:spcPts val="800"/>
                </a:spcAft>
              </a:pPr>
              <a:endParaRPr lang="en-US" sz="100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grpSp>
      <p:grpSp>
        <p:nvGrpSpPr>
          <p:cNvPr id="71" name="Группа 70">
            <a:extLst>
              <a:ext uri="{FF2B5EF4-FFF2-40B4-BE49-F238E27FC236}">
                <a16:creationId xmlns:a16="http://schemas.microsoft.com/office/drawing/2014/main" xmlns="" id="{0B8F8DDE-D6DD-47AF-A258-0F94CD1DF740}"/>
              </a:ext>
            </a:extLst>
          </p:cNvPr>
          <p:cNvGrpSpPr/>
          <p:nvPr/>
        </p:nvGrpSpPr>
        <p:grpSpPr>
          <a:xfrm>
            <a:off x="1355981" y="5143504"/>
            <a:ext cx="3141086" cy="718768"/>
            <a:chOff x="198894" y="3599022"/>
            <a:chExt cx="1783110" cy="459081"/>
          </a:xfrm>
        </p:grpSpPr>
        <p:sp>
          <p:nvSpPr>
            <p:cNvPr id="72" name="Прямоугольник: скругленные углы 71">
              <a:extLst>
                <a:ext uri="{FF2B5EF4-FFF2-40B4-BE49-F238E27FC236}">
                  <a16:creationId xmlns:a16="http://schemas.microsoft.com/office/drawing/2014/main" xmlns="" id="{E4C970DB-EB74-4A2A-B54E-961D8024640A}"/>
                </a:ext>
              </a:extLst>
            </p:cNvPr>
            <p:cNvSpPr/>
            <p:nvPr/>
          </p:nvSpPr>
          <p:spPr>
            <a:xfrm>
              <a:off x="241253" y="3599022"/>
              <a:ext cx="1740751" cy="45908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srgbClr val="051D40"/>
                </a:solidFill>
                <a:latin typeface="DM Sans Bold" panose="020B0604020202020204" charset="0"/>
              </a:endParaRPr>
            </a:p>
          </p:txBody>
        </p:sp>
        <p:sp>
          <p:nvSpPr>
            <p:cNvPr id="73" name="TextBox 72">
              <a:extLst>
                <a:ext uri="{FF2B5EF4-FFF2-40B4-BE49-F238E27FC236}">
                  <a16:creationId xmlns:a16="http://schemas.microsoft.com/office/drawing/2014/main" xmlns="" id="{202640C5-9632-463D-A973-156205CFAAA2}"/>
                </a:ext>
              </a:extLst>
            </p:cNvPr>
            <p:cNvSpPr txBox="1"/>
            <p:nvPr/>
          </p:nvSpPr>
          <p:spPr>
            <a:xfrm>
              <a:off x="233097" y="3639607"/>
              <a:ext cx="1730295" cy="20219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ct val="107000"/>
                </a:lnSpc>
                <a:spcAft>
                  <a:spcPts val="800"/>
                </a:spcAft>
              </a:pPr>
              <a:r>
                <a:rPr lang="en-US" sz="1400" b="1" dirty="0" err="1">
                  <a:solidFill>
                    <a:srgbClr val="051D40"/>
                  </a:solidFill>
                  <a:effectLst/>
                  <a:latin typeface="DM Sans Bold" panose="020B0604020202020204" charset="0"/>
                  <a:ea typeface="Tahoma" panose="020B0604030504040204" pitchFamily="34" charset="0"/>
                  <a:cs typeface="Times New Roman" panose="02020603050405020304" pitchFamily="18" charset="0"/>
                </a:rPr>
                <a:t>使用面积 45 650.2 m²</a:t>
              </a:r>
            </a:p>
          </p:txBody>
        </p:sp>
        <p:sp>
          <p:nvSpPr>
            <p:cNvPr id="74" name="TextBox 73">
              <a:extLst>
                <a:ext uri="{FF2B5EF4-FFF2-40B4-BE49-F238E27FC236}">
                  <a16:creationId xmlns:a16="http://schemas.microsoft.com/office/drawing/2014/main" xmlns="" id="{C9CF56EF-8B35-4596-8473-5F647FD2FE83}"/>
                </a:ext>
              </a:extLst>
            </p:cNvPr>
            <p:cNvSpPr txBox="1"/>
            <p:nvPr/>
          </p:nvSpPr>
          <p:spPr>
            <a:xfrm>
              <a:off x="198894" y="3812528"/>
              <a:ext cx="1736371" cy="20161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ct val="107000"/>
                </a:lnSpc>
                <a:spcAft>
                  <a:spcPts val="800"/>
                </a:spcAft>
              </a:pPr>
              <a:r>
                <a:rPr lang="en-US" sz="1400" b="1" dirty="0" err="1">
                  <a:solidFill>
                    <a:srgbClr val="051D40"/>
                  </a:solidFill>
                  <a:latin typeface="DM Sans Bold" panose="020B0604020202020204" charset="0"/>
                  <a:ea typeface="Tahoma" panose="020B0604030504040204" pitchFamily="34" charset="0"/>
                  <a:cs typeface="Times New Roman" panose="02020603050405020304" pitchFamily="18" charset="0"/>
                </a:rPr>
                <a:t>教学面积 32 687.3 m²</a:t>
              </a:r>
              <a:endParaRPr lang="en-US" sz="1400" b="1" dirty="0">
                <a:solidFill>
                  <a:srgbClr val="051D40"/>
                </a:solidFill>
                <a:latin typeface="DM Sans Bold" panose="020B0604020202020204" charset="0"/>
                <a:ea typeface="Tahoma" panose="020B0604030504040204" pitchFamily="34" charset="0"/>
                <a:cs typeface="Times New Roman" panose="02020603050405020304" pitchFamily="18" charset="0"/>
              </a:endParaRPr>
            </a:p>
          </p:txBody>
        </p:sp>
      </p:grpSp>
      <p:grpSp>
        <p:nvGrpSpPr>
          <p:cNvPr id="75" name="Группа 74">
            <a:extLst>
              <a:ext uri="{FF2B5EF4-FFF2-40B4-BE49-F238E27FC236}">
                <a16:creationId xmlns:a16="http://schemas.microsoft.com/office/drawing/2014/main" xmlns="" id="{D2CD2F56-FEC8-4287-82A2-4F65076419F2}"/>
              </a:ext>
            </a:extLst>
          </p:cNvPr>
          <p:cNvGrpSpPr/>
          <p:nvPr/>
        </p:nvGrpSpPr>
        <p:grpSpPr>
          <a:xfrm>
            <a:off x="2960792" y="5982172"/>
            <a:ext cx="2447961" cy="640180"/>
            <a:chOff x="2025168" y="3612467"/>
            <a:chExt cx="1907151" cy="459016"/>
          </a:xfrm>
        </p:grpSpPr>
        <p:sp>
          <p:nvSpPr>
            <p:cNvPr id="76" name="Прямоугольник: скругленные углы 75">
              <a:extLst>
                <a:ext uri="{FF2B5EF4-FFF2-40B4-BE49-F238E27FC236}">
                  <a16:creationId xmlns:a16="http://schemas.microsoft.com/office/drawing/2014/main" xmlns="" id="{0BC9DAE8-52B0-47EA-B62D-53575E0F4AC9}"/>
                </a:ext>
              </a:extLst>
            </p:cNvPr>
            <p:cNvSpPr/>
            <p:nvPr/>
          </p:nvSpPr>
          <p:spPr>
            <a:xfrm>
              <a:off x="2169516" y="3612467"/>
              <a:ext cx="1740751" cy="40741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1000" b="1" dirty="0">
                <a:solidFill>
                  <a:schemeClr val="accent5">
                    <a:lumMod val="75000"/>
                  </a:schemeClr>
                </a:solidFill>
                <a:latin typeface="DM Sans Bold" panose="020B0604020202020204" charset="0"/>
                <a:cs typeface="Times New Roman" panose="02020603050405020304" pitchFamily="18" charset="0"/>
              </a:endParaRPr>
            </a:p>
          </p:txBody>
        </p:sp>
        <p:sp>
          <p:nvSpPr>
            <p:cNvPr id="77" name="TextBox 76">
              <a:extLst>
                <a:ext uri="{FF2B5EF4-FFF2-40B4-BE49-F238E27FC236}">
                  <a16:creationId xmlns:a16="http://schemas.microsoft.com/office/drawing/2014/main" xmlns="" id="{0DF3366A-1D54-48A7-BCA3-6DB9D38A7A9E}"/>
                </a:ext>
              </a:extLst>
            </p:cNvPr>
            <p:cNvSpPr txBox="1"/>
            <p:nvPr/>
          </p:nvSpPr>
          <p:spPr>
            <a:xfrm>
              <a:off x="2025168" y="3696328"/>
              <a:ext cx="1907151" cy="37515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r>
                <a:rPr lang="en-US" sz="1400" b="1" dirty="0">
                  <a:solidFill>
                    <a:srgbClr val="051D40"/>
                  </a:solidFill>
                  <a:latin typeface="DM Sans Bold" panose="020B0604020202020204" charset="0"/>
                  <a:cs typeface="Times New Roman" panose="02020603050405020304" pitchFamily="18" charset="0"/>
                </a:rPr>
                <a:t>班次系数 2</a:t>
              </a:r>
            </a:p>
          </p:txBody>
        </p:sp>
      </p:grpSp>
      <p:grpSp>
        <p:nvGrpSpPr>
          <p:cNvPr id="78" name="Группа 77">
            <a:extLst>
              <a:ext uri="{FF2B5EF4-FFF2-40B4-BE49-F238E27FC236}">
                <a16:creationId xmlns:a16="http://schemas.microsoft.com/office/drawing/2014/main" xmlns="" id="{4E26892B-45B1-4906-8FBC-EEB61C72E2ED}"/>
              </a:ext>
            </a:extLst>
          </p:cNvPr>
          <p:cNvGrpSpPr/>
          <p:nvPr/>
        </p:nvGrpSpPr>
        <p:grpSpPr>
          <a:xfrm>
            <a:off x="327522" y="5966161"/>
            <a:ext cx="2494134" cy="584226"/>
            <a:chOff x="175985" y="4113535"/>
            <a:chExt cx="1806019" cy="384050"/>
          </a:xfrm>
        </p:grpSpPr>
        <p:sp>
          <p:nvSpPr>
            <p:cNvPr id="79" name="Прямоугольник: скругленные углы 78">
              <a:extLst>
                <a:ext uri="{FF2B5EF4-FFF2-40B4-BE49-F238E27FC236}">
                  <a16:creationId xmlns:a16="http://schemas.microsoft.com/office/drawing/2014/main" xmlns="" id="{437C268F-A3E6-4B8C-A421-499DA2E23383}"/>
                </a:ext>
              </a:extLst>
            </p:cNvPr>
            <p:cNvSpPr/>
            <p:nvPr/>
          </p:nvSpPr>
          <p:spPr>
            <a:xfrm>
              <a:off x="241253" y="4113535"/>
              <a:ext cx="1740751" cy="38405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atin typeface="DM Sans Bold" panose="020B0604020202020204" charset="0"/>
              </a:endParaRPr>
            </a:p>
          </p:txBody>
        </p:sp>
        <p:sp>
          <p:nvSpPr>
            <p:cNvPr id="80" name="TextBox 79">
              <a:extLst>
                <a:ext uri="{FF2B5EF4-FFF2-40B4-BE49-F238E27FC236}">
                  <a16:creationId xmlns:a16="http://schemas.microsoft.com/office/drawing/2014/main" xmlns="" id="{14F24DB1-7449-4AF8-B8A9-A635AB43E455}"/>
                </a:ext>
              </a:extLst>
            </p:cNvPr>
            <p:cNvSpPr txBox="1"/>
            <p:nvPr/>
          </p:nvSpPr>
          <p:spPr>
            <a:xfrm>
              <a:off x="175985" y="4195850"/>
              <a:ext cx="1796290" cy="20232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r>
                <a:rPr lang="en-US" sz="1400" b="1" dirty="0">
                  <a:solidFill>
                    <a:srgbClr val="051D40"/>
                  </a:solidFill>
                  <a:latin typeface="DM Sans Bold" panose="020B0604020202020204" charset="0"/>
                  <a:cs typeface="Times New Roman" panose="02020603050405020304" pitchFamily="18" charset="0"/>
                </a:rPr>
                <a:t>每生 4.2 m²</a:t>
              </a:r>
            </a:p>
          </p:txBody>
        </p:sp>
      </p:grpSp>
      <p:cxnSp>
        <p:nvCxnSpPr>
          <p:cNvPr id="81" name="Прямая соединительная линия 80">
            <a:extLst>
              <a:ext uri="{FF2B5EF4-FFF2-40B4-BE49-F238E27FC236}">
                <a16:creationId xmlns:a16="http://schemas.microsoft.com/office/drawing/2014/main" xmlns="" id="{31E6ADD3-D05E-4956-BB80-16943171AA16}"/>
              </a:ext>
            </a:extLst>
          </p:cNvPr>
          <p:cNvCxnSpPr/>
          <p:nvPr/>
        </p:nvCxnSpPr>
        <p:spPr>
          <a:xfrm flipV="1">
            <a:off x="921463" y="6656704"/>
            <a:ext cx="3963480" cy="19110"/>
          </a:xfrm>
          <a:prstGeom prst="line">
            <a:avLst/>
          </a:prstGeom>
          <a:ln>
            <a:solidFill>
              <a:schemeClr val="accent5">
                <a:lumMod val="40000"/>
                <a:lumOff val="60000"/>
              </a:schemeClr>
            </a:solidFill>
          </a:ln>
        </p:spPr>
        <p:style>
          <a:lnRef idx="1">
            <a:schemeClr val="accent5"/>
          </a:lnRef>
          <a:fillRef idx="0">
            <a:schemeClr val="accent5"/>
          </a:fillRef>
          <a:effectRef idx="0">
            <a:schemeClr val="accent5"/>
          </a:effectRef>
          <a:fontRef idx="minor">
            <a:schemeClr val="tx1"/>
          </a:fontRef>
        </p:style>
      </p:cxnSp>
      <p:sp>
        <p:nvSpPr>
          <p:cNvPr id="82" name="TextBox 81">
            <a:extLst>
              <a:ext uri="{FF2B5EF4-FFF2-40B4-BE49-F238E27FC236}">
                <a16:creationId xmlns:a16="http://schemas.microsoft.com/office/drawing/2014/main" xmlns="" id="{8410A9E8-AC57-4DB7-94AD-499A96C4E7C5}"/>
              </a:ext>
            </a:extLst>
          </p:cNvPr>
          <p:cNvSpPr txBox="1"/>
          <p:nvPr/>
        </p:nvSpPr>
        <p:spPr>
          <a:xfrm>
            <a:off x="6442753" y="7353300"/>
            <a:ext cx="5739077" cy="738664"/>
          </a:xfrm>
          <a:prstGeom prst="rect">
            <a:avLst/>
          </a:prstGeom>
          <a:noFill/>
        </p:spPr>
        <p:txBody>
          <a:bodyPr wrap="square">
            <a:spAutoFit/>
          </a:bodyPr>
          <a:lstStyle/>
          <a:p>
            <a:pPr algn="ct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附加基础设施项目建设</a:t>
            </a:r>
          </a:p>
          <a:p>
            <a:pPr algn="ctr"/>
            <a:endParaRPr lang="en-US" sz="1000" b="1" dirty="0">
              <a:solidFill>
                <a:schemeClr val="accent5">
                  <a:lumMod val="75000"/>
                </a:schemeClr>
              </a:solidFill>
              <a:latin typeface="DM Sans Bold" panose="020B0604020202020204" charset="0"/>
              <a:cs typeface="Times New Roman" panose="02020603050405020304" pitchFamily="18" charset="0"/>
            </a:endParaRPr>
          </a:p>
        </p:txBody>
      </p:sp>
      <p:sp>
        <p:nvSpPr>
          <p:cNvPr id="83" name="TextBox 82">
            <a:extLst>
              <a:ext uri="{FF2B5EF4-FFF2-40B4-BE49-F238E27FC236}">
                <a16:creationId xmlns:a16="http://schemas.microsoft.com/office/drawing/2014/main" xmlns="" id="{3F875D4B-A249-4BB3-8C02-2FBFF2807E58}"/>
              </a:ext>
            </a:extLst>
          </p:cNvPr>
          <p:cNvSpPr txBox="1"/>
          <p:nvPr/>
        </p:nvSpPr>
        <p:spPr>
          <a:xfrm>
            <a:off x="849575" y="7894098"/>
            <a:ext cx="566657" cy="284565"/>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2023</a:t>
            </a:r>
          </a:p>
        </p:txBody>
      </p:sp>
      <p:sp>
        <p:nvSpPr>
          <p:cNvPr id="84" name="TextBox 83">
            <a:extLst>
              <a:ext uri="{FF2B5EF4-FFF2-40B4-BE49-F238E27FC236}">
                <a16:creationId xmlns:a16="http://schemas.microsoft.com/office/drawing/2014/main" xmlns="" id="{B23A331E-0D0A-46B7-AA91-76755CE84DB2}"/>
              </a:ext>
            </a:extLst>
          </p:cNvPr>
          <p:cNvSpPr txBox="1"/>
          <p:nvPr/>
        </p:nvSpPr>
        <p:spPr>
          <a:xfrm>
            <a:off x="3904086" y="9157075"/>
            <a:ext cx="1607122"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2027-30</a:t>
            </a:r>
          </a:p>
        </p:txBody>
      </p:sp>
      <p:sp>
        <p:nvSpPr>
          <p:cNvPr id="85" name="TextBox 84">
            <a:extLst>
              <a:ext uri="{FF2B5EF4-FFF2-40B4-BE49-F238E27FC236}">
                <a16:creationId xmlns:a16="http://schemas.microsoft.com/office/drawing/2014/main" xmlns="" id="{6CE3111A-3420-4B6F-B87D-F1238E29F593}"/>
              </a:ext>
            </a:extLst>
          </p:cNvPr>
          <p:cNvSpPr txBox="1"/>
          <p:nvPr/>
        </p:nvSpPr>
        <p:spPr>
          <a:xfrm>
            <a:off x="1753064" y="9177885"/>
            <a:ext cx="847197"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2025-26</a:t>
            </a:r>
          </a:p>
        </p:txBody>
      </p:sp>
      <p:sp>
        <p:nvSpPr>
          <p:cNvPr id="86" name="TextBox 85">
            <a:extLst>
              <a:ext uri="{FF2B5EF4-FFF2-40B4-BE49-F238E27FC236}">
                <a16:creationId xmlns:a16="http://schemas.microsoft.com/office/drawing/2014/main" xmlns="" id="{EE9F171C-0D52-49F3-A777-FB90C43D82E7}"/>
              </a:ext>
            </a:extLst>
          </p:cNvPr>
          <p:cNvSpPr txBox="1"/>
          <p:nvPr/>
        </p:nvSpPr>
        <p:spPr>
          <a:xfrm>
            <a:off x="4707647" y="7949235"/>
            <a:ext cx="838200"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2025-</a:t>
            </a:r>
            <a:r>
              <a:rPr lang="ru-RU" sz="1200" b="1" dirty="0">
                <a:solidFill>
                  <a:schemeClr val="bg1"/>
                </a:solidFill>
                <a:highlight>
                  <a:srgbClr val="0000FF"/>
                </a:highlight>
                <a:ea typeface="Tahoma" panose="020B0604030504040204" pitchFamily="34" charset="0"/>
                <a:cs typeface="Times New Roman" panose="02020603050405020304" pitchFamily="18" charset="0"/>
              </a:rPr>
              <a:t>30</a:t>
            </a:r>
            <a:endPar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endParaRPr>
          </a:p>
        </p:txBody>
      </p:sp>
      <p:sp>
        <p:nvSpPr>
          <p:cNvPr id="87" name="TextBox 86">
            <a:extLst>
              <a:ext uri="{FF2B5EF4-FFF2-40B4-BE49-F238E27FC236}">
                <a16:creationId xmlns:a16="http://schemas.microsoft.com/office/drawing/2014/main" xmlns="" id="{AC87FCC7-BBC3-4B1C-8F3A-E7C4A6C86470}"/>
              </a:ext>
            </a:extLst>
          </p:cNvPr>
          <p:cNvSpPr txBox="1"/>
          <p:nvPr/>
        </p:nvSpPr>
        <p:spPr>
          <a:xfrm>
            <a:off x="3030114" y="7886873"/>
            <a:ext cx="656147"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2024</a:t>
            </a:r>
          </a:p>
        </p:txBody>
      </p:sp>
      <p:sp>
        <p:nvSpPr>
          <p:cNvPr id="88" name="TextBox 87">
            <a:extLst>
              <a:ext uri="{FF2B5EF4-FFF2-40B4-BE49-F238E27FC236}">
                <a16:creationId xmlns:a16="http://schemas.microsoft.com/office/drawing/2014/main" xmlns="" id="{E042DEA5-B0E7-4054-9906-D8613804EF21}"/>
              </a:ext>
            </a:extLst>
          </p:cNvPr>
          <p:cNvSpPr txBox="1"/>
          <p:nvPr/>
        </p:nvSpPr>
        <p:spPr>
          <a:xfrm>
            <a:off x="2118416" y="8073146"/>
            <a:ext cx="2042487" cy="461665"/>
          </a:xfrm>
          <a:prstGeom prst="rect">
            <a:avLst/>
          </a:prstGeom>
          <a:noFill/>
        </p:spPr>
        <p:txBody>
          <a:bodyPr wrap="square">
            <a:spAutoFit/>
          </a:bodyPr>
          <a:lstStyle/>
          <a:p>
            <a:pPr algn="ctr"/>
            <a:r>
              <a:rPr lang="ru-RU" sz="1200" b="1" dirty="0">
                <a:solidFill>
                  <a:schemeClr val="bg1"/>
                </a:solidFill>
                <a:cs typeface="Times New Roman" panose="02020603050405020304" pitchFamily="18" charset="0"/>
              </a:rPr>
              <a:t>7500座教学楼</a:t>
            </a:r>
            <a:r>
              <a:rPr lang="en-US" sz="1200" b="1" dirty="0">
                <a:solidFill>
                  <a:schemeClr val="bg1"/>
                </a:solidFill>
                <a:latin typeface="DM Sans Bold" panose="020B0604020202020204" charset="0"/>
                <a:cs typeface="Times New Roman" panose="02020603050405020304" pitchFamily="18" charset="0"/>
              </a:rPr>
              <a:t/>
            </a:r>
            <a:br>
              <a:rPr lang="en-US" sz="1200" b="1" dirty="0">
                <a:solidFill>
                  <a:schemeClr val="bg1"/>
                </a:solidFill>
                <a:latin typeface="DM Sans Bold" panose="020B0604020202020204" charset="0"/>
                <a:cs typeface="Times New Roman" panose="02020603050405020304" pitchFamily="18" charset="0"/>
              </a:rPr>
            </a:br>
            <a:endParaRPr lang="en-US" sz="1200" b="1" dirty="0">
              <a:solidFill>
                <a:schemeClr val="bg1"/>
              </a:solidFill>
              <a:latin typeface="DM Sans Bold" panose="020B0604020202020204" charset="0"/>
              <a:cs typeface="Times New Roman" panose="02020603050405020304" pitchFamily="18" charset="0"/>
            </a:endParaRPr>
          </a:p>
        </p:txBody>
      </p:sp>
      <p:sp>
        <p:nvSpPr>
          <p:cNvPr id="89" name="TextBox 88">
            <a:extLst>
              <a:ext uri="{FF2B5EF4-FFF2-40B4-BE49-F238E27FC236}">
                <a16:creationId xmlns:a16="http://schemas.microsoft.com/office/drawing/2014/main" xmlns="" id="{42F03B35-DE56-4D5A-B9BE-06B0C18BF6F2}"/>
              </a:ext>
            </a:extLst>
          </p:cNvPr>
          <p:cNvSpPr txBox="1"/>
          <p:nvPr/>
        </p:nvSpPr>
        <p:spPr>
          <a:xfrm>
            <a:off x="3764551" y="8094965"/>
            <a:ext cx="2549233" cy="461665"/>
          </a:xfrm>
          <a:prstGeom prst="rect">
            <a:avLst/>
          </a:prstGeom>
          <a:noFill/>
        </p:spPr>
        <p:txBody>
          <a:bodyPr wrap="square">
            <a:spAutoFit/>
          </a:bodyPr>
          <a:lstStyle/>
          <a:p>
            <a:pPr algn="ctr"/>
            <a:r>
              <a:rPr lang="en-US" sz="1200" b="1" dirty="0">
                <a:solidFill>
                  <a:schemeClr val="bg1"/>
                </a:solidFill>
                <a:latin typeface="DM Sans Bold" panose="020B0604020202020204" charset="0"/>
                <a:cs typeface="Times New Roman" panose="02020603050405020304" pitchFamily="18" charset="0"/>
              </a:rPr>
              <a:t>2000座学生宿舍楼</a:t>
            </a:r>
            <a:br>
              <a:rPr lang="en-US" sz="1200" b="1" dirty="0">
                <a:solidFill>
                  <a:schemeClr val="bg1"/>
                </a:solidFill>
                <a:latin typeface="DM Sans Bold" panose="020B0604020202020204" charset="0"/>
                <a:cs typeface="Times New Roman" panose="02020603050405020304" pitchFamily="18" charset="0"/>
              </a:rPr>
            </a:br>
            <a:endParaRPr lang="en-US" sz="1200" b="1" dirty="0">
              <a:solidFill>
                <a:schemeClr val="bg1"/>
              </a:solidFill>
              <a:latin typeface="DM Sans Bold" panose="020B0604020202020204" charset="0"/>
              <a:cs typeface="Times New Roman" panose="02020603050405020304" pitchFamily="18" charset="0"/>
            </a:endParaRPr>
          </a:p>
        </p:txBody>
      </p:sp>
      <p:sp>
        <p:nvSpPr>
          <p:cNvPr id="90" name="TextBox 89">
            <a:extLst>
              <a:ext uri="{FF2B5EF4-FFF2-40B4-BE49-F238E27FC236}">
                <a16:creationId xmlns:a16="http://schemas.microsoft.com/office/drawing/2014/main" xmlns="" id="{985FB2BA-1C76-46E0-BACB-6617D4806855}"/>
              </a:ext>
            </a:extLst>
          </p:cNvPr>
          <p:cNvSpPr txBox="1"/>
          <p:nvPr/>
        </p:nvSpPr>
        <p:spPr>
          <a:xfrm>
            <a:off x="2384388" y="9367027"/>
            <a:ext cx="3812568" cy="461665"/>
          </a:xfrm>
          <a:prstGeom prst="rect">
            <a:avLst/>
          </a:prstGeom>
          <a:noFill/>
        </p:spPr>
        <p:txBody>
          <a:bodyPr wrap="square">
            <a:spAutoFit/>
          </a:bodyPr>
          <a:lstStyle/>
          <a:p>
            <a:pPr algn="ctr"/>
            <a:r>
              <a:rPr lang="en-US" sz="1200" b="1" dirty="0" err="1">
                <a:solidFill>
                  <a:schemeClr val="bg1"/>
                </a:solidFill>
                <a:latin typeface="DM Sans Bold" panose="020B0604020202020204" charset="0"/>
                <a:cs typeface="Times New Roman" panose="02020603050405020304" pitchFamily="18" charset="0"/>
              </a:rPr>
              <a:t>室内外体育设施</a:t>
            </a:r>
            <a:r>
              <a:rPr lang="en-US" sz="1200" b="1" dirty="0">
                <a:solidFill>
                  <a:schemeClr val="bg1"/>
                </a:solidFill>
                <a:latin typeface="DM Sans Bold" panose="020B0604020202020204" charset="0"/>
                <a:cs typeface="Times New Roman" panose="02020603050405020304" pitchFamily="18" charset="0"/>
              </a:rPr>
              <a:t/>
            </a:r>
            <a:br>
              <a:rPr lang="en-US" sz="1200" b="1" dirty="0">
                <a:solidFill>
                  <a:schemeClr val="bg1"/>
                </a:solidFill>
                <a:latin typeface="DM Sans Bold" panose="020B0604020202020204" charset="0"/>
                <a:cs typeface="Times New Roman" panose="02020603050405020304" pitchFamily="18" charset="0"/>
              </a:rPr>
            </a:br>
            <a:endParaRPr lang="en-US" sz="1200" b="1" dirty="0">
              <a:solidFill>
                <a:schemeClr val="bg1"/>
              </a:solidFill>
              <a:latin typeface="DM Sans Bold" panose="020B0604020202020204" charset="0"/>
              <a:cs typeface="Times New Roman" panose="02020603050405020304" pitchFamily="18" charset="0"/>
            </a:endParaRPr>
          </a:p>
        </p:txBody>
      </p:sp>
      <p:sp>
        <p:nvSpPr>
          <p:cNvPr id="91" name="TextBox 90">
            <a:extLst>
              <a:ext uri="{FF2B5EF4-FFF2-40B4-BE49-F238E27FC236}">
                <a16:creationId xmlns:a16="http://schemas.microsoft.com/office/drawing/2014/main" xmlns="" id="{EC30AB3B-027C-4E7A-93D6-222CE09A83E7}"/>
              </a:ext>
            </a:extLst>
          </p:cNvPr>
          <p:cNvSpPr txBox="1"/>
          <p:nvPr/>
        </p:nvSpPr>
        <p:spPr>
          <a:xfrm>
            <a:off x="621149" y="9392366"/>
            <a:ext cx="2858501" cy="461665"/>
          </a:xfrm>
          <a:prstGeom prst="rect">
            <a:avLst/>
          </a:prstGeom>
          <a:noFill/>
        </p:spPr>
        <p:txBody>
          <a:bodyPr wrap="square">
            <a:spAutoFit/>
          </a:bodyPr>
          <a:lstStyle/>
          <a:p>
            <a:pPr algn="ctr"/>
            <a:r>
              <a:rPr lang="en-US" sz="1200" b="1" dirty="0">
                <a:solidFill>
                  <a:schemeClr val="bg1"/>
                </a:solidFill>
                <a:latin typeface="DM Sans Bold" panose="020B0604020202020204" charset="0"/>
                <a:cs typeface="Times New Roman" panose="02020603050405020304" pitchFamily="18" charset="0"/>
              </a:rPr>
              <a:t>为教职工建设68套抵押住房</a:t>
            </a:r>
            <a:br>
              <a:rPr lang="en-US" sz="1200" b="1" dirty="0">
                <a:solidFill>
                  <a:schemeClr val="bg1"/>
                </a:solidFill>
                <a:latin typeface="DM Sans Bold" panose="020B0604020202020204" charset="0"/>
                <a:cs typeface="Times New Roman" panose="02020603050405020304" pitchFamily="18" charset="0"/>
              </a:rPr>
            </a:br>
            <a:endParaRPr lang="en-US" sz="1200" b="1" dirty="0">
              <a:solidFill>
                <a:schemeClr val="bg1"/>
              </a:solidFill>
              <a:latin typeface="DM Sans Bold" panose="020B0604020202020204" charset="0"/>
              <a:cs typeface="Times New Roman" panose="02020603050405020304" pitchFamily="18" charset="0"/>
            </a:endParaRPr>
          </a:p>
        </p:txBody>
      </p:sp>
      <p:sp>
        <p:nvSpPr>
          <p:cNvPr id="92" name="TextBox 91">
            <a:extLst>
              <a:ext uri="{FF2B5EF4-FFF2-40B4-BE49-F238E27FC236}">
                <a16:creationId xmlns:a16="http://schemas.microsoft.com/office/drawing/2014/main" xmlns="" id="{A90EA7A4-0526-479F-9DAB-9607155F3E04}"/>
              </a:ext>
            </a:extLst>
          </p:cNvPr>
          <p:cNvSpPr txBox="1"/>
          <p:nvPr/>
        </p:nvSpPr>
        <p:spPr>
          <a:xfrm>
            <a:off x="96700" y="8075887"/>
            <a:ext cx="2085937" cy="461665"/>
          </a:xfrm>
          <a:prstGeom prst="rect">
            <a:avLst/>
          </a:prstGeom>
          <a:noFill/>
        </p:spPr>
        <p:txBody>
          <a:bodyPr wrap="square">
            <a:spAutoFit/>
          </a:bodyPr>
          <a:lstStyle/>
          <a:p>
            <a:pPr algn="ctr"/>
            <a:r>
              <a:rPr lang="en-US" sz="1200" b="1" dirty="0" err="1">
                <a:solidFill>
                  <a:schemeClr val="bg1"/>
                </a:solidFill>
                <a:latin typeface="DM Sans Bold" panose="020B0604020202020204" charset="0"/>
                <a:cs typeface="Times New Roman" panose="02020603050405020304" pitchFamily="18" charset="0"/>
              </a:rPr>
              <a:t>医学院楼</a:t>
            </a:r>
            <a:r>
              <a:rPr lang="en-US" sz="1200" b="1" dirty="0">
                <a:solidFill>
                  <a:schemeClr val="bg1"/>
                </a:solidFill>
                <a:latin typeface="DM Sans Bold" panose="020B0604020202020204" charset="0"/>
                <a:cs typeface="Times New Roman" panose="02020603050405020304" pitchFamily="18" charset="0"/>
              </a:rPr>
              <a:t/>
            </a:r>
            <a:br>
              <a:rPr lang="en-US" sz="1200" b="1" dirty="0">
                <a:solidFill>
                  <a:schemeClr val="bg1"/>
                </a:solidFill>
                <a:latin typeface="DM Sans Bold" panose="020B0604020202020204" charset="0"/>
                <a:cs typeface="Times New Roman" panose="02020603050405020304" pitchFamily="18" charset="0"/>
              </a:rPr>
            </a:br>
            <a:endParaRPr lang="en-US" sz="1200" b="1" dirty="0">
              <a:solidFill>
                <a:schemeClr val="bg1"/>
              </a:solidFill>
              <a:latin typeface="DM Sans Bold" panose="020B0604020202020204" charset="0"/>
              <a:cs typeface="Times New Roman" panose="02020603050405020304" pitchFamily="18" charset="0"/>
            </a:endParaRPr>
          </a:p>
        </p:txBody>
      </p:sp>
      <p:sp>
        <p:nvSpPr>
          <p:cNvPr id="93" name="TextBox 92">
            <a:extLst>
              <a:ext uri="{FF2B5EF4-FFF2-40B4-BE49-F238E27FC236}">
                <a16:creationId xmlns:a16="http://schemas.microsoft.com/office/drawing/2014/main" xmlns="" id="{A7C1ECFE-CC16-4613-8D67-BCE356EA6886}"/>
              </a:ext>
            </a:extLst>
          </p:cNvPr>
          <p:cNvSpPr txBox="1"/>
          <p:nvPr/>
        </p:nvSpPr>
        <p:spPr>
          <a:xfrm>
            <a:off x="8355819" y="1510908"/>
            <a:ext cx="3112238" cy="348557"/>
          </a:xfrm>
          <a:prstGeom prst="rect">
            <a:avLst/>
          </a:prstGeom>
          <a:noFill/>
        </p:spPr>
        <p:txBody>
          <a:bodyPr wrap="square">
            <a:spAutoFit/>
          </a:bodyPr>
          <a:lstStyle/>
          <a:p>
            <a:pPr>
              <a:lnSpc>
                <a:spcPct val="107000"/>
              </a:lnSpc>
              <a:spcAft>
                <a:spcPts val="800"/>
              </a:spcAft>
            </a:pP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大学用地面积</a:t>
            </a:r>
          </a:p>
        </p:txBody>
      </p:sp>
      <p:cxnSp>
        <p:nvCxnSpPr>
          <p:cNvPr id="94" name="Прямая соединительная линия 93">
            <a:extLst>
              <a:ext uri="{FF2B5EF4-FFF2-40B4-BE49-F238E27FC236}">
                <a16:creationId xmlns:a16="http://schemas.microsoft.com/office/drawing/2014/main" xmlns="" id="{61B16880-CF8A-4976-9F2A-7D577BBF2FDC}"/>
              </a:ext>
            </a:extLst>
          </p:cNvPr>
          <p:cNvCxnSpPr/>
          <p:nvPr/>
        </p:nvCxnSpPr>
        <p:spPr>
          <a:xfrm flipV="1">
            <a:off x="7548939" y="4438590"/>
            <a:ext cx="3963480" cy="19110"/>
          </a:xfrm>
          <a:prstGeom prst="line">
            <a:avLst/>
          </a:prstGeom>
          <a:ln>
            <a:solidFill>
              <a:schemeClr val="accent5">
                <a:lumMod val="40000"/>
                <a:lumOff val="60000"/>
              </a:schemeClr>
            </a:solidFill>
          </a:ln>
        </p:spPr>
        <p:style>
          <a:lnRef idx="1">
            <a:schemeClr val="accent5"/>
          </a:lnRef>
          <a:fillRef idx="0">
            <a:schemeClr val="accent5"/>
          </a:fillRef>
          <a:effectRef idx="0">
            <a:schemeClr val="accent5"/>
          </a:effectRef>
          <a:fontRef idx="minor">
            <a:schemeClr val="tx1"/>
          </a:fontRef>
        </p:style>
      </p:cxnSp>
      <p:sp>
        <p:nvSpPr>
          <p:cNvPr id="95" name="TextBox 94">
            <a:extLst>
              <a:ext uri="{FF2B5EF4-FFF2-40B4-BE49-F238E27FC236}">
                <a16:creationId xmlns:a16="http://schemas.microsoft.com/office/drawing/2014/main" xmlns="" id="{C5CE84E0-86D5-4EC9-835A-8018C2B7F4BD}"/>
              </a:ext>
            </a:extLst>
          </p:cNvPr>
          <p:cNvSpPr txBox="1"/>
          <p:nvPr/>
        </p:nvSpPr>
        <p:spPr>
          <a:xfrm>
            <a:off x="6796542" y="4533900"/>
            <a:ext cx="5310143" cy="348557"/>
          </a:xfrm>
          <a:prstGeom prst="rect">
            <a:avLst/>
          </a:prstGeom>
          <a:noFill/>
        </p:spPr>
        <p:txBody>
          <a:bodyPr wrap="square">
            <a:spAutoFit/>
          </a:bodyPr>
          <a:lstStyle/>
          <a:p>
            <a:pPr algn="ctr">
              <a:lnSpc>
                <a:spcPct val="107000"/>
              </a:lnSpc>
              <a:spcAft>
                <a:spcPts val="800"/>
              </a:spcAft>
            </a:pP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大学教学楼容量</a:t>
            </a:r>
          </a:p>
        </p:txBody>
      </p:sp>
      <p:graphicFrame>
        <p:nvGraphicFramePr>
          <p:cNvPr id="96" name="Таблица 95">
            <a:extLst>
              <a:ext uri="{FF2B5EF4-FFF2-40B4-BE49-F238E27FC236}">
                <a16:creationId xmlns:a16="http://schemas.microsoft.com/office/drawing/2014/main" xmlns="" id="{26F8F126-A3F7-4B71-A77F-1B5FE0D27D56}"/>
              </a:ext>
            </a:extLst>
          </p:cNvPr>
          <p:cNvGraphicFramePr>
            <a:graphicFrameLocks noGrp="1"/>
          </p:cNvGraphicFramePr>
          <p:nvPr>
            <p:extLst>
              <p:ext uri="{D42A27DB-BD31-4B8C-83A1-F6EECF244321}">
                <p14:modId xmlns:p14="http://schemas.microsoft.com/office/powerpoint/2010/main" val="2475131793"/>
              </p:ext>
            </p:extLst>
          </p:nvPr>
        </p:nvGraphicFramePr>
        <p:xfrm>
          <a:off x="6563468" y="4914900"/>
          <a:ext cx="5618365" cy="2271542"/>
        </p:xfrm>
        <a:graphic>
          <a:graphicData uri="http://schemas.openxmlformats.org/drawingml/2006/table">
            <a:tbl>
              <a:tblPr>
                <a:tableStyleId>{3C2FFA5D-87B4-456A-9821-1D502468CF0F}</a:tableStyleId>
              </a:tblPr>
              <a:tblGrid>
                <a:gridCol w="2893740">
                  <a:extLst>
                    <a:ext uri="{9D8B030D-6E8A-4147-A177-3AD203B41FA5}">
                      <a16:colId xmlns:a16="http://schemas.microsoft.com/office/drawing/2014/main" xmlns="" val="1697758280"/>
                    </a:ext>
                  </a:extLst>
                </a:gridCol>
                <a:gridCol w="901944">
                  <a:extLst>
                    <a:ext uri="{9D8B030D-6E8A-4147-A177-3AD203B41FA5}">
                      <a16:colId xmlns:a16="http://schemas.microsoft.com/office/drawing/2014/main" xmlns="" val="3410471065"/>
                    </a:ext>
                  </a:extLst>
                </a:gridCol>
                <a:gridCol w="1822681">
                  <a:extLst>
                    <a:ext uri="{9D8B030D-6E8A-4147-A177-3AD203B41FA5}">
                      <a16:colId xmlns:a16="http://schemas.microsoft.com/office/drawing/2014/main" xmlns="" val="210981598"/>
                    </a:ext>
                  </a:extLst>
                </a:gridCol>
              </a:tblGrid>
              <a:tr h="588510">
                <a:tc>
                  <a:txBody>
                    <a:bodyPr/>
                    <a:lstStyle/>
                    <a:p>
                      <a:pPr algn="ctr" fontAlgn="ctr"/>
                      <a:r>
                        <a:rPr lang="en-US" sz="1200" b="1" u="none" strike="noStrike" dirty="0" err="1">
                          <a:solidFill>
                            <a:srgbClr val="051D40"/>
                          </a:solidFill>
                          <a:effectLst/>
                          <a:latin typeface="DM Sans Bold" panose="020B0604020202020204" charset="0"/>
                        </a:rPr>
                        <a:t>设施名称</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err="1">
                          <a:solidFill>
                            <a:srgbClr val="051D40"/>
                          </a:solidFill>
                          <a:effectLst/>
                          <a:latin typeface="DM Sans Bold" panose="020B0604020202020204" charset="0"/>
                        </a:rPr>
                        <a:t>数量</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err="1">
                          <a:solidFill>
                            <a:srgbClr val="051D40"/>
                          </a:solidFill>
                          <a:effectLst/>
                          <a:latin typeface="DM Sans Bold" panose="020B0604020202020204" charset="0"/>
                        </a:rPr>
                        <a:t>教学面积 m²</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1402213980"/>
                  </a:ext>
                </a:extLst>
              </a:tr>
              <a:tr h="471291">
                <a:tc>
                  <a:txBody>
                    <a:bodyPr/>
                    <a:lstStyle/>
                    <a:p>
                      <a:pPr algn="ctr" fontAlgn="ctr"/>
                      <a:r>
                        <a:rPr lang="en-US" sz="1200" b="1" u="none" strike="noStrike" dirty="0" err="1">
                          <a:solidFill>
                            <a:srgbClr val="051D40"/>
                          </a:solidFill>
                          <a:effectLst/>
                          <a:latin typeface="DM Sans Bold" panose="020B0604020202020204" charset="0"/>
                        </a:rPr>
                        <a:t>教学楼</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4 </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32687,3</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863910877"/>
                  </a:ext>
                </a:extLst>
              </a:tr>
              <a:tr h="297181">
                <a:tc>
                  <a:txBody>
                    <a:bodyPr/>
                    <a:lstStyle/>
                    <a:p>
                      <a:pPr algn="ctr" fontAlgn="ctr"/>
                      <a:r>
                        <a:rPr lang="en-US" sz="1200" b="1" u="none" strike="noStrike" dirty="0" err="1">
                          <a:solidFill>
                            <a:srgbClr val="051D40"/>
                          </a:solidFill>
                          <a:effectLst/>
                          <a:latin typeface="DM Sans Bold" panose="020B0604020202020204" charset="0"/>
                        </a:rPr>
                        <a:t>教室</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148 </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31791,4 </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3483734580"/>
                  </a:ext>
                </a:extLst>
              </a:tr>
              <a:tr h="320198">
                <a:tc>
                  <a:txBody>
                    <a:bodyPr/>
                    <a:lstStyle/>
                    <a:p>
                      <a:pPr algn="ctr" fontAlgn="ctr"/>
                      <a:r>
                        <a:rPr lang="en-US" sz="1200" b="1" u="none" strike="noStrike" dirty="0" err="1">
                          <a:solidFill>
                            <a:srgbClr val="051D40"/>
                          </a:solidFill>
                          <a:effectLst/>
                          <a:latin typeface="DM Sans Bold" panose="020B0604020202020204" charset="0"/>
                        </a:rPr>
                        <a:t>实验室</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 9</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 435,7</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3187185773"/>
                  </a:ext>
                </a:extLst>
              </a:tr>
              <a:tr h="297181">
                <a:tc>
                  <a:txBody>
                    <a:bodyPr/>
                    <a:lstStyle/>
                    <a:p>
                      <a:pPr algn="ctr" fontAlgn="ctr"/>
                      <a:r>
                        <a:rPr lang="en-US" sz="1200" b="1" u="none" strike="noStrike">
                          <a:solidFill>
                            <a:srgbClr val="051D40"/>
                          </a:solidFill>
                          <a:effectLst/>
                          <a:latin typeface="DM Sans Bold" panose="020B0604020202020204" charset="0"/>
                        </a:rPr>
                        <a:t>计算机室</a:t>
                      </a:r>
                      <a:endParaRPr lang="en-US" sz="1200" b="1" i="0" u="none" strike="noStrike">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 10</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460,2 </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2979718309"/>
                  </a:ext>
                </a:extLst>
              </a:tr>
              <a:tr h="297181">
                <a:tc>
                  <a:txBody>
                    <a:bodyPr/>
                    <a:lstStyle/>
                    <a:p>
                      <a:pPr algn="ctr" fontAlgn="ctr"/>
                      <a:r>
                        <a:rPr lang="en-US" sz="1200" b="1" u="none" strike="noStrike" dirty="0" err="1">
                          <a:solidFill>
                            <a:srgbClr val="051D40"/>
                          </a:solidFill>
                          <a:effectLst/>
                          <a:latin typeface="DM Sans Bold" panose="020B0604020202020204" charset="0"/>
                        </a:rPr>
                        <a:t>教学辅助楼</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GB" sz="1200" b="1" u="none" strike="noStrike" dirty="0">
                          <a:solidFill>
                            <a:srgbClr val="051D40"/>
                          </a:solidFill>
                          <a:effectLst/>
                          <a:latin typeface="DM Sans Bold" panose="020B0604020202020204" charset="0"/>
                        </a:rPr>
                        <a:t>2</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200" b="1" u="none" strike="noStrike" dirty="0">
                          <a:solidFill>
                            <a:srgbClr val="051D40"/>
                          </a:solidFill>
                          <a:effectLst/>
                          <a:latin typeface="DM Sans Bold" panose="020B0604020202020204" charset="0"/>
                        </a:rPr>
                        <a:t>1482,8</a:t>
                      </a:r>
                      <a:endParaRPr lang="en-US" sz="12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2160562018"/>
                  </a:ext>
                </a:extLst>
              </a:tr>
            </a:tbl>
          </a:graphicData>
        </a:graphic>
      </p:graphicFrame>
      <p:cxnSp>
        <p:nvCxnSpPr>
          <p:cNvPr id="97" name="Прямая соединительная линия 96">
            <a:extLst>
              <a:ext uri="{FF2B5EF4-FFF2-40B4-BE49-F238E27FC236}">
                <a16:creationId xmlns:a16="http://schemas.microsoft.com/office/drawing/2014/main" xmlns="" id="{018B090E-5047-4E8D-BDFC-C1B74AD66DC0}"/>
              </a:ext>
            </a:extLst>
          </p:cNvPr>
          <p:cNvCxnSpPr/>
          <p:nvPr/>
        </p:nvCxnSpPr>
        <p:spPr>
          <a:xfrm flipV="1">
            <a:off x="7548939" y="7277100"/>
            <a:ext cx="3963480" cy="19110"/>
          </a:xfrm>
          <a:prstGeom prst="line">
            <a:avLst/>
          </a:prstGeom>
          <a:ln>
            <a:solidFill>
              <a:schemeClr val="accent5">
                <a:lumMod val="40000"/>
                <a:lumOff val="60000"/>
              </a:schemeClr>
            </a:solidFill>
          </a:ln>
        </p:spPr>
        <p:style>
          <a:lnRef idx="1">
            <a:schemeClr val="accent5"/>
          </a:lnRef>
          <a:fillRef idx="0">
            <a:schemeClr val="accent5"/>
          </a:fillRef>
          <a:effectRef idx="0">
            <a:schemeClr val="accent5"/>
          </a:effectRef>
          <a:fontRef idx="minor">
            <a:schemeClr val="tx1"/>
          </a:fontRef>
        </p:style>
      </p:cxnSp>
      <p:sp>
        <p:nvSpPr>
          <p:cNvPr id="98" name="TextBox 97">
            <a:extLst>
              <a:ext uri="{FF2B5EF4-FFF2-40B4-BE49-F238E27FC236}">
                <a16:creationId xmlns:a16="http://schemas.microsoft.com/office/drawing/2014/main" xmlns="" id="{7994A125-5509-4645-9328-C22730323DA9}"/>
              </a:ext>
            </a:extLst>
          </p:cNvPr>
          <p:cNvSpPr txBox="1"/>
          <p:nvPr/>
        </p:nvSpPr>
        <p:spPr>
          <a:xfrm>
            <a:off x="763129" y="6893480"/>
            <a:ext cx="4927350" cy="492443"/>
          </a:xfrm>
          <a:prstGeom prst="rect">
            <a:avLst/>
          </a:prstGeom>
          <a:noFill/>
        </p:spPr>
        <p:txBody>
          <a:bodyPr wrap="square">
            <a:spAutoFit/>
          </a:bodyPr>
          <a:lstStyle/>
          <a:p>
            <a:pPr algn="ct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新建教学名额</a:t>
            </a:r>
          </a:p>
          <a:p>
            <a:pPr algn="ctr"/>
            <a:endParaRPr lang="en-US" sz="1000" b="1" dirty="0">
              <a:solidFill>
                <a:schemeClr val="accent5">
                  <a:lumMod val="75000"/>
                </a:schemeClr>
              </a:solidFill>
              <a:latin typeface="DM Sans Bold" panose="020B0604020202020204" charset="0"/>
              <a:cs typeface="Times New Roman" panose="02020603050405020304" pitchFamily="18" charset="0"/>
            </a:endParaRPr>
          </a:p>
        </p:txBody>
      </p:sp>
      <p:sp>
        <p:nvSpPr>
          <p:cNvPr id="99" name="TextBox 98">
            <a:extLst>
              <a:ext uri="{FF2B5EF4-FFF2-40B4-BE49-F238E27FC236}">
                <a16:creationId xmlns:a16="http://schemas.microsoft.com/office/drawing/2014/main" xmlns="" id="{61229093-AEBA-4F17-A09D-6B8A727B4611}"/>
              </a:ext>
            </a:extLst>
          </p:cNvPr>
          <p:cNvSpPr txBox="1"/>
          <p:nvPr/>
        </p:nvSpPr>
        <p:spPr>
          <a:xfrm>
            <a:off x="7443764" y="7734674"/>
            <a:ext cx="2005036"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2022 -2023-yy</a:t>
            </a:r>
          </a:p>
        </p:txBody>
      </p:sp>
      <p:sp>
        <p:nvSpPr>
          <p:cNvPr id="100" name="TextBox 99">
            <a:extLst>
              <a:ext uri="{FF2B5EF4-FFF2-40B4-BE49-F238E27FC236}">
                <a16:creationId xmlns:a16="http://schemas.microsoft.com/office/drawing/2014/main" xmlns="" id="{FED4BEA3-D4C4-435F-976E-65A734B80A5C}"/>
              </a:ext>
            </a:extLst>
          </p:cNvPr>
          <p:cNvSpPr txBox="1"/>
          <p:nvPr/>
        </p:nvSpPr>
        <p:spPr>
          <a:xfrm>
            <a:off x="8686800" y="8748094"/>
            <a:ext cx="1508658"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2026 -2027-yy</a:t>
            </a:r>
          </a:p>
        </p:txBody>
      </p:sp>
      <p:sp>
        <p:nvSpPr>
          <p:cNvPr id="101" name="TextBox 100">
            <a:extLst>
              <a:ext uri="{FF2B5EF4-FFF2-40B4-BE49-F238E27FC236}">
                <a16:creationId xmlns:a16="http://schemas.microsoft.com/office/drawing/2014/main" xmlns="" id="{A96A42AD-FA73-44E0-9E93-40E3A75B6A39}"/>
              </a:ext>
            </a:extLst>
          </p:cNvPr>
          <p:cNvSpPr txBox="1"/>
          <p:nvPr/>
        </p:nvSpPr>
        <p:spPr>
          <a:xfrm>
            <a:off x="10264179" y="7734300"/>
            <a:ext cx="1470621" cy="284565"/>
          </a:xfrm>
          <a:prstGeom prst="rect">
            <a:avLst/>
          </a:prstGeom>
          <a:noFill/>
        </p:spPr>
        <p:txBody>
          <a:bodyPr wrap="square">
            <a:spAutoFit/>
          </a:bodyPr>
          <a:lstStyle/>
          <a:p>
            <a:pPr>
              <a:lnSpc>
                <a:spcPct val="107000"/>
              </a:lnSpc>
              <a:spcAft>
                <a:spcPts val="800"/>
              </a:spcAft>
            </a:pPr>
            <a:r>
              <a:rPr lang="en-US" sz="1200" b="1" dirty="0">
                <a:solidFill>
                  <a:schemeClr val="bg1"/>
                </a:solidFill>
                <a:highlight>
                  <a:srgbClr val="0000FF"/>
                </a:highlight>
                <a:latin typeface="DM Sans Bold" panose="020B0604020202020204" charset="0"/>
                <a:ea typeface="Tahoma" panose="020B0604030504040204" pitchFamily="34" charset="0"/>
                <a:cs typeface="Times New Roman" panose="02020603050405020304" pitchFamily="18" charset="0"/>
              </a:rPr>
              <a:t>2027 -2030-yy</a:t>
            </a:r>
          </a:p>
        </p:txBody>
      </p:sp>
      <p:sp>
        <p:nvSpPr>
          <p:cNvPr id="102" name="TextBox 101">
            <a:extLst>
              <a:ext uri="{FF2B5EF4-FFF2-40B4-BE49-F238E27FC236}">
                <a16:creationId xmlns:a16="http://schemas.microsoft.com/office/drawing/2014/main" xmlns="" id="{7400EC29-134C-47CD-BD29-21FF2BA8B920}"/>
              </a:ext>
            </a:extLst>
          </p:cNvPr>
          <p:cNvSpPr txBox="1"/>
          <p:nvPr/>
        </p:nvSpPr>
        <p:spPr>
          <a:xfrm>
            <a:off x="6733206" y="8113694"/>
            <a:ext cx="2486994" cy="492443"/>
          </a:xfrm>
          <a:prstGeom prst="rect">
            <a:avLst/>
          </a:prstGeom>
          <a:noFill/>
        </p:spPr>
        <p:txBody>
          <a:bodyPr wrap="square">
            <a:spAutoFit/>
          </a:bodyPr>
          <a:lstStyle/>
          <a:p>
            <a:pPr algn="ctr"/>
            <a:r>
              <a:rPr lang="en-GB" sz="1300" b="1" dirty="0">
                <a:solidFill>
                  <a:srgbClr val="051D40"/>
                </a:solidFill>
                <a:latin typeface="DM Sans Bold" panose="020B0604020202020204" charset="0"/>
                <a:cs typeface="Times New Roman" panose="02020603050405020304" pitchFamily="18" charset="0"/>
              </a:rPr>
              <a:t>建立医疗诊断中心</a:t>
            </a:r>
            <a:endParaRPr lang="en-US" sz="1300" b="1" dirty="0">
              <a:solidFill>
                <a:srgbClr val="051D40"/>
              </a:solidFill>
              <a:latin typeface="DM Sans Bold" panose="020B0604020202020204" charset="0"/>
              <a:cs typeface="Times New Roman" panose="02020603050405020304" pitchFamily="18" charset="0"/>
            </a:endParaRPr>
          </a:p>
        </p:txBody>
      </p:sp>
      <p:sp>
        <p:nvSpPr>
          <p:cNvPr id="103" name="TextBox 102">
            <a:extLst>
              <a:ext uri="{FF2B5EF4-FFF2-40B4-BE49-F238E27FC236}">
                <a16:creationId xmlns:a16="http://schemas.microsoft.com/office/drawing/2014/main" xmlns="" id="{E62CF41D-37BC-4992-B233-7E3C39CA1D79}"/>
              </a:ext>
            </a:extLst>
          </p:cNvPr>
          <p:cNvSpPr txBox="1"/>
          <p:nvPr/>
        </p:nvSpPr>
        <p:spPr>
          <a:xfrm>
            <a:off x="9015470" y="8024140"/>
            <a:ext cx="3368277" cy="692497"/>
          </a:xfrm>
          <a:prstGeom prst="rect">
            <a:avLst/>
          </a:prstGeom>
          <a:noFill/>
        </p:spPr>
        <p:txBody>
          <a:bodyPr wrap="square">
            <a:spAutoFit/>
          </a:bodyPr>
          <a:lstStyle/>
          <a:p>
            <a:pPr algn="ctr"/>
            <a:r>
              <a:rPr lang="en-US" sz="1300" b="1" dirty="0" err="1">
                <a:solidFill>
                  <a:srgbClr val="051D40"/>
                </a:solidFill>
                <a:latin typeface="DM Sans Bold" panose="020B0604020202020204" charset="0"/>
                <a:cs typeface="Times New Roman" panose="02020603050405020304" pitchFamily="18" charset="0"/>
              </a:rPr>
              <a:t>改善服务和数字营销</a:t>
            </a:r>
            <a:r>
              <a:rPr lang="en-US" sz="1300" b="1" dirty="0">
                <a:solidFill>
                  <a:srgbClr val="051D40"/>
                </a:solidFill>
                <a:latin typeface="DM Sans Bold" panose="020B0604020202020204" charset="0"/>
                <a:cs typeface="Times New Roman" panose="02020603050405020304" pitchFamily="18" charset="0"/>
              </a:rPr>
              <a:t/>
            </a:r>
            <a:br>
              <a:rPr lang="en-US" sz="1300" b="1" dirty="0">
                <a:solidFill>
                  <a:srgbClr val="051D40"/>
                </a:solidFill>
                <a:latin typeface="DM Sans Bold" panose="020B0604020202020204" charset="0"/>
                <a:cs typeface="Times New Roman" panose="02020603050405020304" pitchFamily="18" charset="0"/>
              </a:rPr>
            </a:br>
            <a:r>
              <a:rPr lang="en-US" sz="1300" b="1" dirty="0">
                <a:solidFill>
                  <a:srgbClr val="051D40"/>
                </a:solidFill>
                <a:latin typeface="DM Sans Bold" panose="020B0604020202020204" charset="0"/>
                <a:cs typeface="Times New Roman" panose="02020603050405020304" pitchFamily="18" charset="0"/>
              </a:rPr>
              <a:t/>
            </a:r>
            <a:br>
              <a:rPr lang="en-US" sz="1300" b="1" dirty="0">
                <a:solidFill>
                  <a:srgbClr val="051D40"/>
                </a:solidFill>
                <a:latin typeface="DM Sans Bold" panose="020B0604020202020204" charset="0"/>
                <a:cs typeface="Times New Roman" panose="02020603050405020304" pitchFamily="18" charset="0"/>
              </a:rPr>
            </a:br>
            <a:endParaRPr lang="en-US" sz="1300" b="1" dirty="0">
              <a:solidFill>
                <a:srgbClr val="051D40"/>
              </a:solidFill>
              <a:latin typeface="DM Sans Bold" panose="020B0604020202020204" charset="0"/>
              <a:cs typeface="Times New Roman" panose="02020603050405020304" pitchFamily="18" charset="0"/>
            </a:endParaRPr>
          </a:p>
        </p:txBody>
      </p:sp>
      <p:sp>
        <p:nvSpPr>
          <p:cNvPr id="104" name="TextBox 103">
            <a:extLst>
              <a:ext uri="{FF2B5EF4-FFF2-40B4-BE49-F238E27FC236}">
                <a16:creationId xmlns:a16="http://schemas.microsoft.com/office/drawing/2014/main" xmlns="" id="{874AE898-29F7-4C2C-9103-2FE2A12619A2}"/>
              </a:ext>
            </a:extLst>
          </p:cNvPr>
          <p:cNvSpPr txBox="1"/>
          <p:nvPr/>
        </p:nvSpPr>
        <p:spPr>
          <a:xfrm>
            <a:off x="7351165" y="9089123"/>
            <a:ext cx="3773393" cy="738664"/>
          </a:xfrm>
          <a:prstGeom prst="rect">
            <a:avLst/>
          </a:prstGeom>
          <a:noFill/>
        </p:spPr>
        <p:txBody>
          <a:bodyPr wrap="square">
            <a:spAutoFit/>
          </a:bodyPr>
          <a:lstStyle/>
          <a:p>
            <a:pPr algn="ctr"/>
            <a:r>
              <a:rPr lang="en-US" sz="1400" b="1" dirty="0" err="1">
                <a:solidFill>
                  <a:srgbClr val="051D40"/>
                </a:solidFill>
                <a:latin typeface="DM Sans Bold" panose="020B0604020202020204" charset="0"/>
                <a:cs typeface="Times New Roman" panose="02020603050405020304" pitchFamily="18" charset="0"/>
              </a:rPr>
              <a:t>建立语言教学、IT培训和医疗课程培训中心</a:t>
            </a:r>
            <a:r>
              <a:rPr lang="en-US" sz="1400" b="1" dirty="0">
                <a:solidFill>
                  <a:srgbClr val="051D40"/>
                </a:solidFill>
                <a:latin typeface="DM Sans Bold" panose="020B0604020202020204" charset="0"/>
                <a:cs typeface="Times New Roman" panose="02020603050405020304" pitchFamily="18" charset="0"/>
              </a:rPr>
              <a:t/>
            </a:r>
            <a:br>
              <a:rPr lang="en-US" sz="1400" b="1" dirty="0">
                <a:solidFill>
                  <a:srgbClr val="051D40"/>
                </a:solidFill>
                <a:latin typeface="DM Sans Bold" panose="020B0604020202020204" charset="0"/>
                <a:cs typeface="Times New Roman" panose="02020603050405020304" pitchFamily="18" charset="0"/>
              </a:rPr>
            </a:br>
            <a:r>
              <a:rPr lang="en-US" sz="1400" b="1" dirty="0">
                <a:solidFill>
                  <a:srgbClr val="051D40"/>
                </a:solidFill>
                <a:latin typeface="DM Sans Bold" panose="020B0604020202020204" charset="0"/>
                <a:cs typeface="Times New Roman" panose="02020603050405020304" pitchFamily="18" charset="0"/>
              </a:rPr>
              <a:t/>
            </a:r>
            <a:br>
              <a:rPr lang="en-US" sz="1400" b="1" dirty="0">
                <a:solidFill>
                  <a:srgbClr val="051D40"/>
                </a:solidFill>
                <a:latin typeface="DM Sans Bold" panose="020B0604020202020204" charset="0"/>
                <a:cs typeface="Times New Roman" panose="02020603050405020304" pitchFamily="18" charset="0"/>
              </a:rPr>
            </a:br>
            <a:endParaRPr lang="en-US" sz="1400" b="1" dirty="0">
              <a:solidFill>
                <a:srgbClr val="051D40"/>
              </a:solidFill>
              <a:latin typeface="DM Sans Bold" panose="020B0604020202020204" charset="0"/>
              <a:cs typeface="Times New Roman" panose="02020603050405020304" pitchFamily="18" charset="0"/>
            </a:endParaRPr>
          </a:p>
        </p:txBody>
      </p:sp>
      <p:sp>
        <p:nvSpPr>
          <p:cNvPr id="105" name="TextBox 104">
            <a:extLst>
              <a:ext uri="{FF2B5EF4-FFF2-40B4-BE49-F238E27FC236}">
                <a16:creationId xmlns:a16="http://schemas.microsoft.com/office/drawing/2014/main" xmlns="" id="{FA61FB76-5773-4D76-8E6C-A16047859C55}"/>
              </a:ext>
            </a:extLst>
          </p:cNvPr>
          <p:cNvSpPr txBox="1"/>
          <p:nvPr/>
        </p:nvSpPr>
        <p:spPr>
          <a:xfrm>
            <a:off x="14444973" y="1518343"/>
            <a:ext cx="2798717" cy="348557"/>
          </a:xfrm>
          <a:prstGeom prst="rect">
            <a:avLst/>
          </a:prstGeom>
          <a:noFill/>
        </p:spPr>
        <p:txBody>
          <a:bodyPr wrap="square">
            <a:spAutoFit/>
          </a:bodyPr>
          <a:lstStyle/>
          <a:p>
            <a:pPr>
              <a:lnSpc>
                <a:spcPct val="107000"/>
              </a:lnSpc>
              <a:spcAft>
                <a:spcPts val="800"/>
              </a:spcAft>
            </a:pP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学生宿舍</a:t>
            </a:r>
          </a:p>
        </p:txBody>
      </p:sp>
      <p:sp>
        <p:nvSpPr>
          <p:cNvPr id="107" name="TextBox 106">
            <a:extLst>
              <a:ext uri="{FF2B5EF4-FFF2-40B4-BE49-F238E27FC236}">
                <a16:creationId xmlns:a16="http://schemas.microsoft.com/office/drawing/2014/main" xmlns="" id="{5D538BA6-5D9E-4033-ABF1-6FFCAF5F2FFC}"/>
              </a:ext>
            </a:extLst>
          </p:cNvPr>
          <p:cNvSpPr txBox="1"/>
          <p:nvPr/>
        </p:nvSpPr>
        <p:spPr>
          <a:xfrm>
            <a:off x="17325166" y="3722348"/>
            <a:ext cx="1010859" cy="461665"/>
          </a:xfrm>
          <a:prstGeom prst="rect">
            <a:avLst/>
          </a:prstGeom>
          <a:noFill/>
        </p:spPr>
        <p:txBody>
          <a:bodyPr wrap="square">
            <a:spAutoFit/>
          </a:bodyPr>
          <a:lstStyle/>
          <a:p>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1650</a:t>
            </a:r>
          </a:p>
          <a:p>
            <a:endParaRPr lang="en-US" sz="1200" dirty="0">
              <a:solidFill>
                <a:schemeClr val="bg1"/>
              </a:solidFill>
              <a:latin typeface="DM Sans Bold" panose="020B0604020202020204" charset="0"/>
            </a:endParaRPr>
          </a:p>
        </p:txBody>
      </p:sp>
      <p:sp>
        <p:nvSpPr>
          <p:cNvPr id="108" name="TextBox 107">
            <a:extLst>
              <a:ext uri="{FF2B5EF4-FFF2-40B4-BE49-F238E27FC236}">
                <a16:creationId xmlns:a16="http://schemas.microsoft.com/office/drawing/2014/main" xmlns="" id="{F5220F7F-30EF-4F6A-8D22-5380FE017C4F}"/>
              </a:ext>
            </a:extLst>
          </p:cNvPr>
          <p:cNvSpPr txBox="1"/>
          <p:nvPr/>
        </p:nvSpPr>
        <p:spPr>
          <a:xfrm>
            <a:off x="12580657" y="4732227"/>
            <a:ext cx="1010859" cy="276999"/>
          </a:xfrm>
          <a:prstGeom prst="rect">
            <a:avLst/>
          </a:prstGeom>
          <a:noFill/>
        </p:spPr>
        <p:txBody>
          <a:bodyPr wrap="square">
            <a:spAutoFit/>
          </a:bodyPr>
          <a:lstStyle/>
          <a:p>
            <a:r>
              <a:rPr lang="en-GB" sz="1200" b="1" dirty="0">
                <a:solidFill>
                  <a:schemeClr val="bg1"/>
                </a:solidFill>
                <a:latin typeface="DM Sans Bold" panose="020B0604020202020204" charset="0"/>
              </a:rPr>
              <a:t>200</a:t>
            </a:r>
            <a:endParaRPr lang="en-US" sz="1200" b="1" dirty="0">
              <a:solidFill>
                <a:schemeClr val="bg1"/>
              </a:solidFill>
              <a:latin typeface="DM Sans Bold" panose="020B0604020202020204" charset="0"/>
            </a:endParaRPr>
          </a:p>
        </p:txBody>
      </p:sp>
      <p:sp>
        <p:nvSpPr>
          <p:cNvPr id="109" name="TextBox 108">
            <a:extLst>
              <a:ext uri="{FF2B5EF4-FFF2-40B4-BE49-F238E27FC236}">
                <a16:creationId xmlns:a16="http://schemas.microsoft.com/office/drawing/2014/main" xmlns="" id="{68BE4E3B-AE25-4104-BAF1-671737574380}"/>
              </a:ext>
            </a:extLst>
          </p:cNvPr>
          <p:cNvSpPr txBox="1"/>
          <p:nvPr/>
        </p:nvSpPr>
        <p:spPr>
          <a:xfrm>
            <a:off x="17453410" y="3390735"/>
            <a:ext cx="770451" cy="252441"/>
          </a:xfrm>
          <a:prstGeom prst="rect">
            <a:avLst/>
          </a:prstGeom>
          <a:noFill/>
        </p:spPr>
        <p:txBody>
          <a:bodyPr wrap="square">
            <a:spAutoFit/>
          </a:bodyPr>
          <a:lstStyle/>
          <a:p>
            <a:pPr>
              <a:lnSpc>
                <a:spcPct val="107000"/>
              </a:lnSpc>
              <a:spcAft>
                <a:spcPts val="800"/>
              </a:spcAft>
            </a:pPr>
            <a:r>
              <a:rPr lang="en-US" sz="1000" b="1" dirty="0">
                <a:solidFill>
                  <a:schemeClr val="accent6"/>
                </a:solidFill>
                <a:effectLst/>
                <a:latin typeface="DM Sans Bold" panose="020B0604020202020204" charset="0"/>
                <a:ea typeface="Tahoma" panose="020B0604030504040204" pitchFamily="34" charset="0"/>
                <a:cs typeface="Times New Roman" panose="02020603050405020304" pitchFamily="18" charset="0"/>
              </a:rPr>
              <a:t>+1500</a:t>
            </a:r>
          </a:p>
        </p:txBody>
      </p:sp>
      <p:sp>
        <p:nvSpPr>
          <p:cNvPr id="110" name="TextBox 109">
            <a:extLst>
              <a:ext uri="{FF2B5EF4-FFF2-40B4-BE49-F238E27FC236}">
                <a16:creationId xmlns:a16="http://schemas.microsoft.com/office/drawing/2014/main" xmlns="" id="{A6485F51-7147-4702-B6EE-574F956C1648}"/>
              </a:ext>
            </a:extLst>
          </p:cNvPr>
          <p:cNvSpPr txBox="1"/>
          <p:nvPr/>
        </p:nvSpPr>
        <p:spPr>
          <a:xfrm>
            <a:off x="12649498" y="4089055"/>
            <a:ext cx="770451" cy="252441"/>
          </a:xfrm>
          <a:prstGeom prst="rect">
            <a:avLst/>
          </a:prstGeom>
          <a:noFill/>
        </p:spPr>
        <p:txBody>
          <a:bodyPr wrap="square">
            <a:spAutoFit/>
          </a:bodyPr>
          <a:lstStyle/>
          <a:p>
            <a:pPr>
              <a:lnSpc>
                <a:spcPct val="107000"/>
              </a:lnSpc>
              <a:spcAft>
                <a:spcPts val="800"/>
              </a:spcAft>
            </a:pPr>
            <a:r>
              <a:rPr lang="en-US" sz="1000" b="1" dirty="0">
                <a:solidFill>
                  <a:schemeClr val="accent6"/>
                </a:solidFill>
                <a:effectLst/>
                <a:latin typeface="DM Sans Bold" panose="020B0604020202020204" charset="0"/>
                <a:ea typeface="Tahoma" panose="020B0604030504040204" pitchFamily="34" charset="0"/>
                <a:cs typeface="Times New Roman" panose="02020603050405020304" pitchFamily="18" charset="0"/>
              </a:rPr>
              <a:t>+50</a:t>
            </a:r>
          </a:p>
        </p:txBody>
      </p:sp>
      <p:grpSp>
        <p:nvGrpSpPr>
          <p:cNvPr id="111" name="Группа 110">
            <a:extLst>
              <a:ext uri="{FF2B5EF4-FFF2-40B4-BE49-F238E27FC236}">
                <a16:creationId xmlns:a16="http://schemas.microsoft.com/office/drawing/2014/main" xmlns="" id="{D6EC3832-37BB-44B1-8566-5D286434F7DC}"/>
              </a:ext>
            </a:extLst>
          </p:cNvPr>
          <p:cNvGrpSpPr/>
          <p:nvPr/>
        </p:nvGrpSpPr>
        <p:grpSpPr>
          <a:xfrm>
            <a:off x="12756709" y="1928554"/>
            <a:ext cx="5502723" cy="3372061"/>
            <a:chOff x="8181435" y="1098528"/>
            <a:chExt cx="4119157" cy="3414260"/>
          </a:xfrm>
        </p:grpSpPr>
        <p:cxnSp>
          <p:nvCxnSpPr>
            <p:cNvPr id="112" name="Прямая соединительная линия 111">
              <a:extLst>
                <a:ext uri="{FF2B5EF4-FFF2-40B4-BE49-F238E27FC236}">
                  <a16:creationId xmlns:a16="http://schemas.microsoft.com/office/drawing/2014/main" xmlns="" id="{ABD5FD99-784B-48DA-876A-53711AD52A87}"/>
                </a:ext>
              </a:extLst>
            </p:cNvPr>
            <p:cNvCxnSpPr>
              <a:cxnSpLocks/>
            </p:cNvCxnSpPr>
            <p:nvPr/>
          </p:nvCxnSpPr>
          <p:spPr>
            <a:xfrm>
              <a:off x="8602617" y="1145757"/>
              <a:ext cx="9727" cy="3240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Прямая соединительная линия 112">
              <a:extLst>
                <a:ext uri="{FF2B5EF4-FFF2-40B4-BE49-F238E27FC236}">
                  <a16:creationId xmlns:a16="http://schemas.microsoft.com/office/drawing/2014/main" xmlns="" id="{9351B94B-2629-4A49-BCAB-9D84EE6F16CB}"/>
                </a:ext>
              </a:extLst>
            </p:cNvPr>
            <p:cNvCxnSpPr>
              <a:cxnSpLocks/>
            </p:cNvCxnSpPr>
            <p:nvPr/>
          </p:nvCxnSpPr>
          <p:spPr>
            <a:xfrm>
              <a:off x="9315517" y="1166305"/>
              <a:ext cx="0" cy="32204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Прямая соединительная линия 113">
              <a:extLst>
                <a:ext uri="{FF2B5EF4-FFF2-40B4-BE49-F238E27FC236}">
                  <a16:creationId xmlns:a16="http://schemas.microsoft.com/office/drawing/2014/main" xmlns="" id="{B0B651C6-2D21-4228-8D58-8209A176F9AF}"/>
                </a:ext>
              </a:extLst>
            </p:cNvPr>
            <p:cNvCxnSpPr>
              <a:cxnSpLocks/>
            </p:cNvCxnSpPr>
            <p:nvPr/>
          </p:nvCxnSpPr>
          <p:spPr>
            <a:xfrm>
              <a:off x="10038164" y="1178214"/>
              <a:ext cx="0" cy="3176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Прямая соединительная линия 114">
              <a:extLst>
                <a:ext uri="{FF2B5EF4-FFF2-40B4-BE49-F238E27FC236}">
                  <a16:creationId xmlns:a16="http://schemas.microsoft.com/office/drawing/2014/main" xmlns="" id="{756A2B74-DFA2-4298-A782-D24F1E875559}"/>
                </a:ext>
              </a:extLst>
            </p:cNvPr>
            <p:cNvCxnSpPr>
              <a:cxnSpLocks/>
            </p:cNvCxnSpPr>
            <p:nvPr/>
          </p:nvCxnSpPr>
          <p:spPr>
            <a:xfrm>
              <a:off x="11370065" y="1166305"/>
              <a:ext cx="0" cy="31882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Прямая соединительная линия 115">
              <a:extLst>
                <a:ext uri="{FF2B5EF4-FFF2-40B4-BE49-F238E27FC236}">
                  <a16:creationId xmlns:a16="http://schemas.microsoft.com/office/drawing/2014/main" xmlns="" id="{B0932310-4A9E-47B0-B14B-2390A280AA36}"/>
                </a:ext>
              </a:extLst>
            </p:cNvPr>
            <p:cNvCxnSpPr>
              <a:cxnSpLocks/>
            </p:cNvCxnSpPr>
            <p:nvPr/>
          </p:nvCxnSpPr>
          <p:spPr>
            <a:xfrm>
              <a:off x="10674672" y="1163089"/>
              <a:ext cx="0" cy="31520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Прямая соединительная линия 116">
              <a:extLst>
                <a:ext uri="{FF2B5EF4-FFF2-40B4-BE49-F238E27FC236}">
                  <a16:creationId xmlns:a16="http://schemas.microsoft.com/office/drawing/2014/main" xmlns="" id="{769E7426-E754-4F39-92ED-52A313FD2EA4}"/>
                </a:ext>
              </a:extLst>
            </p:cNvPr>
            <p:cNvCxnSpPr>
              <a:cxnSpLocks/>
            </p:cNvCxnSpPr>
            <p:nvPr/>
          </p:nvCxnSpPr>
          <p:spPr>
            <a:xfrm>
              <a:off x="11950746" y="1145757"/>
              <a:ext cx="0" cy="3171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a:extLst>
                <a:ext uri="{FF2B5EF4-FFF2-40B4-BE49-F238E27FC236}">
                  <a16:creationId xmlns:a16="http://schemas.microsoft.com/office/drawing/2014/main" xmlns="" id="{9195F90B-FC1C-4016-9E9B-CA7536B69B7A}"/>
                </a:ext>
              </a:extLst>
            </p:cNvPr>
            <p:cNvCxnSpPr>
              <a:cxnSpLocks/>
              <a:endCxn id="122" idx="3"/>
            </p:cNvCxnSpPr>
            <p:nvPr/>
          </p:nvCxnSpPr>
          <p:spPr>
            <a:xfrm flipV="1">
              <a:off x="8797759" y="1891457"/>
              <a:ext cx="917526" cy="406660"/>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cxnSp>
          <p:nvCxnSpPr>
            <p:cNvPr id="119" name="Прямая соединительная линия 118">
              <a:extLst>
                <a:ext uri="{FF2B5EF4-FFF2-40B4-BE49-F238E27FC236}">
                  <a16:creationId xmlns:a16="http://schemas.microsoft.com/office/drawing/2014/main" xmlns="" id="{E223DA98-63D6-4510-850C-8B2B1EAAA349}"/>
                </a:ext>
              </a:extLst>
            </p:cNvPr>
            <p:cNvCxnSpPr>
              <a:cxnSpLocks/>
            </p:cNvCxnSpPr>
            <p:nvPr/>
          </p:nvCxnSpPr>
          <p:spPr>
            <a:xfrm flipV="1">
              <a:off x="9731980" y="1427781"/>
              <a:ext cx="1937047" cy="43043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20" name="Овал 119">
              <a:extLst>
                <a:ext uri="{FF2B5EF4-FFF2-40B4-BE49-F238E27FC236}">
                  <a16:creationId xmlns:a16="http://schemas.microsoft.com/office/drawing/2014/main" xmlns="" id="{10B75A55-43EF-4936-856D-196F27600EFB}"/>
                </a:ext>
              </a:extLst>
            </p:cNvPr>
            <p:cNvSpPr/>
            <p:nvPr/>
          </p:nvSpPr>
          <p:spPr>
            <a:xfrm>
              <a:off x="10981098" y="1528099"/>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1" name="Овал 120">
              <a:extLst>
                <a:ext uri="{FF2B5EF4-FFF2-40B4-BE49-F238E27FC236}">
                  <a16:creationId xmlns:a16="http://schemas.microsoft.com/office/drawing/2014/main" xmlns="" id="{3F4E8911-3992-437D-BDAC-DD45BF3F7A9A}"/>
                </a:ext>
              </a:extLst>
            </p:cNvPr>
            <p:cNvSpPr/>
            <p:nvPr/>
          </p:nvSpPr>
          <p:spPr>
            <a:xfrm>
              <a:off x="10368422" y="1642385"/>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2" name="Овал 121">
              <a:extLst>
                <a:ext uri="{FF2B5EF4-FFF2-40B4-BE49-F238E27FC236}">
                  <a16:creationId xmlns:a16="http://schemas.microsoft.com/office/drawing/2014/main" xmlns="" id="{606D12F3-17DC-4ABA-A3F5-9D96CD3978DF}"/>
                </a:ext>
              </a:extLst>
            </p:cNvPr>
            <p:cNvSpPr/>
            <p:nvPr/>
          </p:nvSpPr>
          <p:spPr>
            <a:xfrm>
              <a:off x="9698236" y="1793908"/>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3" name="Овал 122">
              <a:extLst>
                <a:ext uri="{FF2B5EF4-FFF2-40B4-BE49-F238E27FC236}">
                  <a16:creationId xmlns:a16="http://schemas.microsoft.com/office/drawing/2014/main" xmlns="" id="{AC84824C-B76B-4222-8188-343240909F5F}"/>
                </a:ext>
              </a:extLst>
            </p:cNvPr>
            <p:cNvSpPr/>
            <p:nvPr/>
          </p:nvSpPr>
          <p:spPr>
            <a:xfrm>
              <a:off x="8724837" y="2241634"/>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4" name="Овал 123">
              <a:extLst>
                <a:ext uri="{FF2B5EF4-FFF2-40B4-BE49-F238E27FC236}">
                  <a16:creationId xmlns:a16="http://schemas.microsoft.com/office/drawing/2014/main" xmlns="" id="{9B9D5EDF-32E5-4BDB-8C86-94B5C5A7AA9C}"/>
                </a:ext>
              </a:extLst>
            </p:cNvPr>
            <p:cNvSpPr/>
            <p:nvPr/>
          </p:nvSpPr>
          <p:spPr>
            <a:xfrm>
              <a:off x="11584407" y="1360112"/>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cxnSp>
          <p:nvCxnSpPr>
            <p:cNvPr id="125" name="Прямая соединительная линия 124">
              <a:extLst>
                <a:ext uri="{FF2B5EF4-FFF2-40B4-BE49-F238E27FC236}">
                  <a16:creationId xmlns:a16="http://schemas.microsoft.com/office/drawing/2014/main" xmlns="" id="{F99CF917-FE39-4D07-A8A3-33E0C301C058}"/>
                </a:ext>
              </a:extLst>
            </p:cNvPr>
            <p:cNvCxnSpPr/>
            <p:nvPr/>
          </p:nvCxnSpPr>
          <p:spPr>
            <a:xfrm flipV="1">
              <a:off x="8216854" y="2872848"/>
              <a:ext cx="3619500" cy="746847"/>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26" name="Овал 125">
              <a:extLst>
                <a:ext uri="{FF2B5EF4-FFF2-40B4-BE49-F238E27FC236}">
                  <a16:creationId xmlns:a16="http://schemas.microsoft.com/office/drawing/2014/main" xmlns="" id="{93791F79-1B15-4A9E-815D-86762E0A19E8}"/>
                </a:ext>
              </a:extLst>
            </p:cNvPr>
            <p:cNvSpPr/>
            <p:nvPr/>
          </p:nvSpPr>
          <p:spPr>
            <a:xfrm>
              <a:off x="8181435" y="3558864"/>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7" name="Овал 126">
              <a:extLst>
                <a:ext uri="{FF2B5EF4-FFF2-40B4-BE49-F238E27FC236}">
                  <a16:creationId xmlns:a16="http://schemas.microsoft.com/office/drawing/2014/main" xmlns="" id="{43C42B3C-4BF6-4691-BD2D-720A579FC6CD}"/>
                </a:ext>
              </a:extLst>
            </p:cNvPr>
            <p:cNvSpPr/>
            <p:nvPr/>
          </p:nvSpPr>
          <p:spPr>
            <a:xfrm>
              <a:off x="10971741" y="2957630"/>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8" name="Овал 127">
              <a:extLst>
                <a:ext uri="{FF2B5EF4-FFF2-40B4-BE49-F238E27FC236}">
                  <a16:creationId xmlns:a16="http://schemas.microsoft.com/office/drawing/2014/main" xmlns="" id="{F02CD4EA-C241-4FB0-8B41-FFED7332166A}"/>
                </a:ext>
              </a:extLst>
            </p:cNvPr>
            <p:cNvSpPr/>
            <p:nvPr/>
          </p:nvSpPr>
          <p:spPr>
            <a:xfrm>
              <a:off x="10317502" y="3109079"/>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29" name="Овал 128">
              <a:extLst>
                <a:ext uri="{FF2B5EF4-FFF2-40B4-BE49-F238E27FC236}">
                  <a16:creationId xmlns:a16="http://schemas.microsoft.com/office/drawing/2014/main" xmlns="" id="{955FCE2D-3571-457C-883E-EA565559C09E}"/>
                </a:ext>
              </a:extLst>
            </p:cNvPr>
            <p:cNvSpPr/>
            <p:nvPr/>
          </p:nvSpPr>
          <p:spPr>
            <a:xfrm>
              <a:off x="9657076" y="3246271"/>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30" name="Овал 129">
              <a:extLst>
                <a:ext uri="{FF2B5EF4-FFF2-40B4-BE49-F238E27FC236}">
                  <a16:creationId xmlns:a16="http://schemas.microsoft.com/office/drawing/2014/main" xmlns="" id="{27A441A5-42E7-4E86-884D-1E4D32644FEF}"/>
                </a:ext>
              </a:extLst>
            </p:cNvPr>
            <p:cNvSpPr/>
            <p:nvPr/>
          </p:nvSpPr>
          <p:spPr>
            <a:xfrm>
              <a:off x="8950883" y="3412099"/>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31" name="Овал 130">
              <a:extLst>
                <a:ext uri="{FF2B5EF4-FFF2-40B4-BE49-F238E27FC236}">
                  <a16:creationId xmlns:a16="http://schemas.microsoft.com/office/drawing/2014/main" xmlns="" id="{1716E952-E63B-4096-B3F9-4C4B98F926AE}"/>
                </a:ext>
              </a:extLst>
            </p:cNvPr>
            <p:cNvSpPr/>
            <p:nvPr/>
          </p:nvSpPr>
          <p:spPr>
            <a:xfrm>
              <a:off x="11794175" y="2812593"/>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grpSp>
          <p:nvGrpSpPr>
            <p:cNvPr id="132" name="Группа 131">
              <a:extLst>
                <a:ext uri="{FF2B5EF4-FFF2-40B4-BE49-F238E27FC236}">
                  <a16:creationId xmlns:a16="http://schemas.microsoft.com/office/drawing/2014/main" xmlns="" id="{FE60C904-1A3D-4830-BB97-A1CB4AA943E5}"/>
                </a:ext>
              </a:extLst>
            </p:cNvPr>
            <p:cNvGrpSpPr/>
            <p:nvPr/>
          </p:nvGrpSpPr>
          <p:grpSpPr>
            <a:xfrm>
              <a:off x="8256419" y="3875542"/>
              <a:ext cx="3563490" cy="425508"/>
              <a:chOff x="8144642" y="3721108"/>
              <a:chExt cx="3563490" cy="425508"/>
            </a:xfrm>
          </p:grpSpPr>
          <p:cxnSp>
            <p:nvCxnSpPr>
              <p:cNvPr id="166" name="Прямая соединительная линия 165">
                <a:extLst>
                  <a:ext uri="{FF2B5EF4-FFF2-40B4-BE49-F238E27FC236}">
                    <a16:creationId xmlns:a16="http://schemas.microsoft.com/office/drawing/2014/main" xmlns="" id="{95FF7F34-D70C-4793-A0CE-AB36B0928106}"/>
                  </a:ext>
                </a:extLst>
              </p:cNvPr>
              <p:cNvCxnSpPr>
                <a:cxnSpLocks/>
              </p:cNvCxnSpPr>
              <p:nvPr/>
            </p:nvCxnSpPr>
            <p:spPr>
              <a:xfrm>
                <a:off x="8181435" y="3820759"/>
                <a:ext cx="3519389" cy="294041"/>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67" name="Овал 166">
                <a:extLst>
                  <a:ext uri="{FF2B5EF4-FFF2-40B4-BE49-F238E27FC236}">
                    <a16:creationId xmlns:a16="http://schemas.microsoft.com/office/drawing/2014/main" xmlns="" id="{E06F5F4D-BA63-4DB2-A733-A14529BCF142}"/>
                  </a:ext>
                </a:extLst>
              </p:cNvPr>
              <p:cNvSpPr/>
              <p:nvPr/>
            </p:nvSpPr>
            <p:spPr>
              <a:xfrm>
                <a:off x="8144642" y="3721108"/>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68" name="Овал 167">
                <a:extLst>
                  <a:ext uri="{FF2B5EF4-FFF2-40B4-BE49-F238E27FC236}">
                    <a16:creationId xmlns:a16="http://schemas.microsoft.com/office/drawing/2014/main" xmlns="" id="{6A867122-EC71-475E-AF5A-1042078B8734}"/>
                  </a:ext>
                </a:extLst>
              </p:cNvPr>
              <p:cNvSpPr/>
              <p:nvPr/>
            </p:nvSpPr>
            <p:spPr>
              <a:xfrm>
                <a:off x="9685323" y="3873048"/>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69" name="Овал 168">
                <a:extLst>
                  <a:ext uri="{FF2B5EF4-FFF2-40B4-BE49-F238E27FC236}">
                    <a16:creationId xmlns:a16="http://schemas.microsoft.com/office/drawing/2014/main" xmlns="" id="{20401A69-A26B-40E5-9ABB-1805BC7D5EE6}"/>
                  </a:ext>
                </a:extLst>
              </p:cNvPr>
              <p:cNvSpPr/>
              <p:nvPr/>
            </p:nvSpPr>
            <p:spPr>
              <a:xfrm>
                <a:off x="8933278" y="3806521"/>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70" name="Овал 169">
                <a:extLst>
                  <a:ext uri="{FF2B5EF4-FFF2-40B4-BE49-F238E27FC236}">
                    <a16:creationId xmlns:a16="http://schemas.microsoft.com/office/drawing/2014/main" xmlns="" id="{BA62BC11-7210-4AF8-AC6F-4517CC25AFCE}"/>
                  </a:ext>
                </a:extLst>
              </p:cNvPr>
              <p:cNvSpPr/>
              <p:nvPr/>
            </p:nvSpPr>
            <p:spPr>
              <a:xfrm>
                <a:off x="10298210" y="3930191"/>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sp>
            <p:nvSpPr>
              <p:cNvPr id="171" name="Овал 170">
                <a:extLst>
                  <a:ext uri="{FF2B5EF4-FFF2-40B4-BE49-F238E27FC236}">
                    <a16:creationId xmlns:a16="http://schemas.microsoft.com/office/drawing/2014/main" xmlns="" id="{2FA381B5-5145-4A90-BE33-ADCFCFBDFF23}"/>
                  </a:ext>
                </a:extLst>
              </p:cNvPr>
              <p:cNvSpPr/>
              <p:nvPr/>
            </p:nvSpPr>
            <p:spPr>
              <a:xfrm>
                <a:off x="11044792" y="3997028"/>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DM Sans Bold" panose="020B0604020202020204" charset="0"/>
                </a:endParaRPr>
              </a:p>
            </p:txBody>
          </p:sp>
          <p:sp>
            <p:nvSpPr>
              <p:cNvPr id="172" name="Овал 171">
                <a:extLst>
                  <a:ext uri="{FF2B5EF4-FFF2-40B4-BE49-F238E27FC236}">
                    <a16:creationId xmlns:a16="http://schemas.microsoft.com/office/drawing/2014/main" xmlns="" id="{9DC8A42C-7E73-477D-9E6E-F36BE972EC5D}"/>
                  </a:ext>
                </a:extLst>
              </p:cNvPr>
              <p:cNvSpPr/>
              <p:nvPr/>
            </p:nvSpPr>
            <p:spPr>
              <a:xfrm>
                <a:off x="11591715" y="4032330"/>
                <a:ext cx="116417" cy="114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DM Sans Bold" panose="020B0604020202020204" charset="0"/>
                </a:endParaRPr>
              </a:p>
            </p:txBody>
          </p:sp>
        </p:grpSp>
        <p:sp>
          <p:nvSpPr>
            <p:cNvPr id="133" name="TextBox 132">
              <a:extLst>
                <a:ext uri="{FF2B5EF4-FFF2-40B4-BE49-F238E27FC236}">
                  <a16:creationId xmlns:a16="http://schemas.microsoft.com/office/drawing/2014/main" xmlns="" id="{E51E83A3-10BC-4EDD-8D13-B251CB9A7F84}"/>
                </a:ext>
              </a:extLst>
            </p:cNvPr>
            <p:cNvSpPr txBox="1"/>
            <p:nvPr/>
          </p:nvSpPr>
          <p:spPr>
            <a:xfrm>
              <a:off x="8722143" y="1116016"/>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2023</a:t>
              </a:r>
            </a:p>
          </p:txBody>
        </p:sp>
        <p:sp>
          <p:nvSpPr>
            <p:cNvPr id="134" name="TextBox 133">
              <a:extLst>
                <a:ext uri="{FF2B5EF4-FFF2-40B4-BE49-F238E27FC236}">
                  <a16:creationId xmlns:a16="http://schemas.microsoft.com/office/drawing/2014/main" xmlns="" id="{28A9B80E-EA33-4F09-B128-854F6B22D8CA}"/>
                </a:ext>
              </a:extLst>
            </p:cNvPr>
            <p:cNvSpPr txBox="1"/>
            <p:nvPr/>
          </p:nvSpPr>
          <p:spPr>
            <a:xfrm>
              <a:off x="10772489" y="1106058"/>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2026</a:t>
              </a:r>
            </a:p>
          </p:txBody>
        </p:sp>
        <p:sp>
          <p:nvSpPr>
            <p:cNvPr id="135" name="TextBox 134">
              <a:extLst>
                <a:ext uri="{FF2B5EF4-FFF2-40B4-BE49-F238E27FC236}">
                  <a16:creationId xmlns:a16="http://schemas.microsoft.com/office/drawing/2014/main" xmlns="" id="{117CA1BA-B1D1-4C8F-A497-F9DDF95532D9}"/>
                </a:ext>
              </a:extLst>
            </p:cNvPr>
            <p:cNvSpPr txBox="1"/>
            <p:nvPr/>
          </p:nvSpPr>
          <p:spPr>
            <a:xfrm>
              <a:off x="11405716" y="1106058"/>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2027</a:t>
              </a:r>
            </a:p>
          </p:txBody>
        </p:sp>
        <p:sp>
          <p:nvSpPr>
            <p:cNvPr id="136" name="TextBox 135">
              <a:extLst>
                <a:ext uri="{FF2B5EF4-FFF2-40B4-BE49-F238E27FC236}">
                  <a16:creationId xmlns:a16="http://schemas.microsoft.com/office/drawing/2014/main" xmlns="" id="{AC3B384C-49AA-45A2-9BE5-1FB6866CE435}"/>
                </a:ext>
              </a:extLst>
            </p:cNvPr>
            <p:cNvSpPr txBox="1"/>
            <p:nvPr/>
          </p:nvSpPr>
          <p:spPr>
            <a:xfrm>
              <a:off x="10160891" y="1098528"/>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2025</a:t>
              </a:r>
            </a:p>
          </p:txBody>
        </p:sp>
        <p:sp>
          <p:nvSpPr>
            <p:cNvPr id="137" name="TextBox 136">
              <a:extLst>
                <a:ext uri="{FF2B5EF4-FFF2-40B4-BE49-F238E27FC236}">
                  <a16:creationId xmlns:a16="http://schemas.microsoft.com/office/drawing/2014/main" xmlns="" id="{3013119C-2F0A-4481-B67D-9242B3F16809}"/>
                </a:ext>
              </a:extLst>
            </p:cNvPr>
            <p:cNvSpPr txBox="1"/>
            <p:nvPr/>
          </p:nvSpPr>
          <p:spPr>
            <a:xfrm>
              <a:off x="9455874" y="1116016"/>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2024</a:t>
              </a:r>
            </a:p>
          </p:txBody>
        </p:sp>
        <p:sp>
          <p:nvSpPr>
            <p:cNvPr id="138" name="TextBox 137">
              <a:extLst>
                <a:ext uri="{FF2B5EF4-FFF2-40B4-BE49-F238E27FC236}">
                  <a16:creationId xmlns:a16="http://schemas.microsoft.com/office/drawing/2014/main" xmlns="" id="{076AA24A-8237-4C85-A862-A858C1D5F010}"/>
                </a:ext>
              </a:extLst>
            </p:cNvPr>
            <p:cNvSpPr txBox="1"/>
            <p:nvPr/>
          </p:nvSpPr>
          <p:spPr>
            <a:xfrm>
              <a:off x="8565765" y="2286103"/>
              <a:ext cx="756696" cy="280465"/>
            </a:xfrm>
            <a:prstGeom prst="rect">
              <a:avLst/>
            </a:prstGeom>
            <a:noFill/>
          </p:spPr>
          <p:txBody>
            <a:bodyPr wrap="square">
              <a:spAutoFit/>
            </a:bodyPr>
            <a:lstStyle/>
            <a:p>
              <a:r>
                <a:rPr lang="ru-RU" sz="1200" b="1" dirty="0">
                  <a:solidFill>
                    <a:schemeClr val="bg1"/>
                  </a:solidFill>
                </a:rPr>
                <a:t>200</a:t>
              </a:r>
              <a:endParaRPr lang="en-US" sz="1200" b="1" dirty="0">
                <a:solidFill>
                  <a:schemeClr val="bg1"/>
                </a:solidFill>
                <a:latin typeface="DM Sans Bold" panose="020B0604020202020204" charset="0"/>
              </a:endParaRPr>
            </a:p>
          </p:txBody>
        </p:sp>
        <p:sp>
          <p:nvSpPr>
            <p:cNvPr id="139" name="TextBox 138">
              <a:extLst>
                <a:ext uri="{FF2B5EF4-FFF2-40B4-BE49-F238E27FC236}">
                  <a16:creationId xmlns:a16="http://schemas.microsoft.com/office/drawing/2014/main" xmlns="" id="{46638E8C-5D5F-4959-AD3E-BFA8F785C1E2}"/>
                </a:ext>
              </a:extLst>
            </p:cNvPr>
            <p:cNvSpPr txBox="1"/>
            <p:nvPr/>
          </p:nvSpPr>
          <p:spPr>
            <a:xfrm>
              <a:off x="10776675" y="1631577"/>
              <a:ext cx="756696" cy="280465"/>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10</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00</a:t>
              </a:r>
              <a:endParaRPr lang="en-US" sz="1200" dirty="0">
                <a:solidFill>
                  <a:schemeClr val="bg1"/>
                </a:solidFill>
                <a:latin typeface="DM Sans Bold" panose="020B0604020202020204" charset="0"/>
              </a:endParaRPr>
            </a:p>
          </p:txBody>
        </p:sp>
        <p:sp>
          <p:nvSpPr>
            <p:cNvPr id="140" name="TextBox 139">
              <a:extLst>
                <a:ext uri="{FF2B5EF4-FFF2-40B4-BE49-F238E27FC236}">
                  <a16:creationId xmlns:a16="http://schemas.microsoft.com/office/drawing/2014/main" xmlns="" id="{D320F243-412D-42EA-9041-659B201AD9F6}"/>
                </a:ext>
              </a:extLst>
            </p:cNvPr>
            <p:cNvSpPr txBox="1"/>
            <p:nvPr/>
          </p:nvSpPr>
          <p:spPr>
            <a:xfrm>
              <a:off x="10158951" y="1746901"/>
              <a:ext cx="756696" cy="280465"/>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50</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a:t>
              </a:r>
              <a:endParaRPr lang="en-US" sz="1200" dirty="0">
                <a:solidFill>
                  <a:schemeClr val="bg1"/>
                </a:solidFill>
                <a:latin typeface="DM Sans Bold" panose="020B0604020202020204" charset="0"/>
              </a:endParaRPr>
            </a:p>
          </p:txBody>
        </p:sp>
        <p:sp>
          <p:nvSpPr>
            <p:cNvPr id="141" name="TextBox 140">
              <a:extLst>
                <a:ext uri="{FF2B5EF4-FFF2-40B4-BE49-F238E27FC236}">
                  <a16:creationId xmlns:a16="http://schemas.microsoft.com/office/drawing/2014/main" xmlns="" id="{EFBF011B-5439-4F5C-BED2-04756CFA843E}"/>
                </a:ext>
              </a:extLst>
            </p:cNvPr>
            <p:cNvSpPr txBox="1"/>
            <p:nvPr/>
          </p:nvSpPr>
          <p:spPr>
            <a:xfrm>
              <a:off x="9526469" y="1919194"/>
              <a:ext cx="756696" cy="280465"/>
            </a:xfrm>
            <a:prstGeom prst="rect">
              <a:avLst/>
            </a:prstGeom>
            <a:noFill/>
          </p:spPr>
          <p:txBody>
            <a:bodyPr wrap="square">
              <a:spAutoFit/>
            </a:bodyPr>
            <a:lstStyle/>
            <a:p>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250</a:t>
              </a:r>
              <a:endParaRPr lang="en-US" sz="1200" dirty="0">
                <a:solidFill>
                  <a:schemeClr val="bg1"/>
                </a:solidFill>
                <a:latin typeface="DM Sans Bold" panose="020B0604020202020204" charset="0"/>
              </a:endParaRPr>
            </a:p>
          </p:txBody>
        </p:sp>
        <p:sp>
          <p:nvSpPr>
            <p:cNvPr id="142" name="TextBox 141">
              <a:extLst>
                <a:ext uri="{FF2B5EF4-FFF2-40B4-BE49-F238E27FC236}">
                  <a16:creationId xmlns:a16="http://schemas.microsoft.com/office/drawing/2014/main" xmlns="" id="{8EA568E2-D371-4DFF-8F42-DE79332990BD}"/>
                </a:ext>
              </a:extLst>
            </p:cNvPr>
            <p:cNvSpPr txBox="1"/>
            <p:nvPr/>
          </p:nvSpPr>
          <p:spPr>
            <a:xfrm>
              <a:off x="11414627" y="1479486"/>
              <a:ext cx="756696" cy="280465"/>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2</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000</a:t>
              </a:r>
            </a:p>
          </p:txBody>
        </p:sp>
        <p:sp>
          <p:nvSpPr>
            <p:cNvPr id="143" name="TextBox 142">
              <a:extLst>
                <a:ext uri="{FF2B5EF4-FFF2-40B4-BE49-F238E27FC236}">
                  <a16:creationId xmlns:a16="http://schemas.microsoft.com/office/drawing/2014/main" xmlns="" id="{2DC5B8C8-C59A-4DA0-BD98-E8537841C3F8}"/>
                </a:ext>
              </a:extLst>
            </p:cNvPr>
            <p:cNvSpPr txBox="1"/>
            <p:nvPr/>
          </p:nvSpPr>
          <p:spPr>
            <a:xfrm>
              <a:off x="8616340" y="2457421"/>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2023</a:t>
              </a:r>
            </a:p>
          </p:txBody>
        </p:sp>
        <p:sp>
          <p:nvSpPr>
            <p:cNvPr id="144" name="TextBox 143">
              <a:extLst>
                <a:ext uri="{FF2B5EF4-FFF2-40B4-BE49-F238E27FC236}">
                  <a16:creationId xmlns:a16="http://schemas.microsoft.com/office/drawing/2014/main" xmlns="" id="{B151671E-DD8F-41FF-9DF0-35E5FF593269}"/>
                </a:ext>
              </a:extLst>
            </p:cNvPr>
            <p:cNvSpPr txBox="1"/>
            <p:nvPr/>
          </p:nvSpPr>
          <p:spPr>
            <a:xfrm>
              <a:off x="9389117" y="2439000"/>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2024</a:t>
              </a:r>
            </a:p>
          </p:txBody>
        </p:sp>
        <p:sp>
          <p:nvSpPr>
            <p:cNvPr id="145" name="TextBox 144">
              <a:extLst>
                <a:ext uri="{FF2B5EF4-FFF2-40B4-BE49-F238E27FC236}">
                  <a16:creationId xmlns:a16="http://schemas.microsoft.com/office/drawing/2014/main" xmlns="" id="{2EA0B42F-2D42-4748-8D7F-C3DEE507032A}"/>
                </a:ext>
              </a:extLst>
            </p:cNvPr>
            <p:cNvSpPr txBox="1"/>
            <p:nvPr/>
          </p:nvSpPr>
          <p:spPr>
            <a:xfrm>
              <a:off x="10105829" y="2447857"/>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2026</a:t>
              </a:r>
            </a:p>
          </p:txBody>
        </p:sp>
        <p:sp>
          <p:nvSpPr>
            <p:cNvPr id="146" name="TextBox 145">
              <a:extLst>
                <a:ext uri="{FF2B5EF4-FFF2-40B4-BE49-F238E27FC236}">
                  <a16:creationId xmlns:a16="http://schemas.microsoft.com/office/drawing/2014/main" xmlns="" id="{9A4FCDF1-91F3-45E9-9864-FFBCC9B0070D}"/>
                </a:ext>
              </a:extLst>
            </p:cNvPr>
            <p:cNvSpPr txBox="1"/>
            <p:nvPr/>
          </p:nvSpPr>
          <p:spPr>
            <a:xfrm>
              <a:off x="10765533" y="2476517"/>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2026</a:t>
              </a:r>
            </a:p>
          </p:txBody>
        </p:sp>
        <p:sp>
          <p:nvSpPr>
            <p:cNvPr id="147" name="TextBox 146">
              <a:extLst>
                <a:ext uri="{FF2B5EF4-FFF2-40B4-BE49-F238E27FC236}">
                  <a16:creationId xmlns:a16="http://schemas.microsoft.com/office/drawing/2014/main" xmlns="" id="{131F0D50-B090-44B9-A55A-127212413683}"/>
                </a:ext>
              </a:extLst>
            </p:cNvPr>
            <p:cNvSpPr txBox="1"/>
            <p:nvPr/>
          </p:nvSpPr>
          <p:spPr>
            <a:xfrm>
              <a:off x="11380817" y="2409889"/>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2027</a:t>
              </a:r>
            </a:p>
          </p:txBody>
        </p:sp>
        <p:sp>
          <p:nvSpPr>
            <p:cNvPr id="148" name="TextBox 147">
              <a:extLst>
                <a:ext uri="{FF2B5EF4-FFF2-40B4-BE49-F238E27FC236}">
                  <a16:creationId xmlns:a16="http://schemas.microsoft.com/office/drawing/2014/main" xmlns="" id="{375FC5BB-F0FC-4EFA-9B69-E5F9BE731302}"/>
                </a:ext>
              </a:extLst>
            </p:cNvPr>
            <p:cNvSpPr txBox="1"/>
            <p:nvPr/>
          </p:nvSpPr>
          <p:spPr>
            <a:xfrm>
              <a:off x="9152956" y="2171773"/>
              <a:ext cx="3147636" cy="263715"/>
            </a:xfrm>
            <a:prstGeom prst="rect">
              <a:avLst/>
            </a:prstGeom>
            <a:noFill/>
          </p:spPr>
          <p:txBody>
            <a:bodyPr wrap="square">
              <a:spAutoFit/>
            </a:bodyPr>
            <a:lstStyle/>
            <a:p>
              <a:pPr>
                <a:lnSpc>
                  <a:spcPct val="107000"/>
                </a:lnSpc>
                <a:spcAft>
                  <a:spcPts val="800"/>
                </a:spcAft>
              </a:pPr>
              <a:r>
                <a:rPr lang="en-US" sz="1050" b="1" dirty="0" err="1">
                  <a:solidFill>
                    <a:schemeClr val="bg1"/>
                  </a:solidFill>
                  <a:effectLst/>
                  <a:latin typeface="DM Sans Bold" panose="020B0604020202020204" charset="0"/>
                  <a:ea typeface="Tahoma" panose="020B0604030504040204" pitchFamily="34" charset="0"/>
                  <a:cs typeface="Times New Roman" panose="02020603050405020304" pitchFamily="18" charset="0"/>
                </a:rPr>
                <a:t>学生宿舍剩余需求</a:t>
              </a:r>
              <a:endParaRPr lang="en-US" sz="105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sp>
          <p:nvSpPr>
            <p:cNvPr id="149" name="TextBox 148">
              <a:extLst>
                <a:ext uri="{FF2B5EF4-FFF2-40B4-BE49-F238E27FC236}">
                  <a16:creationId xmlns:a16="http://schemas.microsoft.com/office/drawing/2014/main" xmlns="" id="{D0980B8F-06B1-44DF-939A-3C7FF139DCA9}"/>
                </a:ext>
              </a:extLst>
            </p:cNvPr>
            <p:cNvSpPr txBox="1"/>
            <p:nvPr/>
          </p:nvSpPr>
          <p:spPr>
            <a:xfrm>
              <a:off x="8764914" y="3600521"/>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2023</a:t>
              </a:r>
            </a:p>
          </p:txBody>
        </p:sp>
        <p:sp>
          <p:nvSpPr>
            <p:cNvPr id="150" name="TextBox 149">
              <a:extLst>
                <a:ext uri="{FF2B5EF4-FFF2-40B4-BE49-F238E27FC236}">
                  <a16:creationId xmlns:a16="http://schemas.microsoft.com/office/drawing/2014/main" xmlns="" id="{F822B928-8B09-47F9-9154-AE4D7B1CF6D8}"/>
                </a:ext>
              </a:extLst>
            </p:cNvPr>
            <p:cNvSpPr txBox="1"/>
            <p:nvPr/>
          </p:nvSpPr>
          <p:spPr>
            <a:xfrm>
              <a:off x="9484759" y="3597564"/>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2024</a:t>
              </a:r>
            </a:p>
          </p:txBody>
        </p:sp>
        <p:sp>
          <p:nvSpPr>
            <p:cNvPr id="151" name="TextBox 150">
              <a:extLst>
                <a:ext uri="{FF2B5EF4-FFF2-40B4-BE49-F238E27FC236}">
                  <a16:creationId xmlns:a16="http://schemas.microsoft.com/office/drawing/2014/main" xmlns="" id="{3CAE5842-C506-4677-9B88-4F3ABCD8E96A}"/>
                </a:ext>
              </a:extLst>
            </p:cNvPr>
            <p:cNvSpPr txBox="1"/>
            <p:nvPr/>
          </p:nvSpPr>
          <p:spPr>
            <a:xfrm>
              <a:off x="10162513" y="3617615"/>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2026</a:t>
              </a:r>
            </a:p>
          </p:txBody>
        </p:sp>
        <p:sp>
          <p:nvSpPr>
            <p:cNvPr id="152" name="TextBox 151">
              <a:extLst>
                <a:ext uri="{FF2B5EF4-FFF2-40B4-BE49-F238E27FC236}">
                  <a16:creationId xmlns:a16="http://schemas.microsoft.com/office/drawing/2014/main" xmlns="" id="{C6EF952E-7C3C-4CEC-AC47-AB9683201C05}"/>
                </a:ext>
              </a:extLst>
            </p:cNvPr>
            <p:cNvSpPr txBox="1"/>
            <p:nvPr/>
          </p:nvSpPr>
          <p:spPr>
            <a:xfrm>
              <a:off x="10818836" y="3610624"/>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2026</a:t>
              </a:r>
            </a:p>
          </p:txBody>
        </p:sp>
        <p:sp>
          <p:nvSpPr>
            <p:cNvPr id="153" name="TextBox 152">
              <a:extLst>
                <a:ext uri="{FF2B5EF4-FFF2-40B4-BE49-F238E27FC236}">
                  <a16:creationId xmlns:a16="http://schemas.microsoft.com/office/drawing/2014/main" xmlns="" id="{0F09B663-6BA6-41B7-9A89-E70AC4647CEF}"/>
                </a:ext>
              </a:extLst>
            </p:cNvPr>
            <p:cNvSpPr txBox="1"/>
            <p:nvPr/>
          </p:nvSpPr>
          <p:spPr>
            <a:xfrm>
              <a:off x="11441537" y="3591110"/>
              <a:ext cx="566657" cy="288126"/>
            </a:xfrm>
            <a:prstGeom prst="rect">
              <a:avLst/>
            </a:prstGeom>
            <a:noFill/>
          </p:spPr>
          <p:txBody>
            <a:bodyPr wrap="square">
              <a:spAutoFit/>
            </a:bodyPr>
            <a:lstStyle/>
            <a:p>
              <a:pPr>
                <a:lnSpc>
                  <a:spcPct val="107000"/>
                </a:lnSpc>
                <a:spcAft>
                  <a:spcPts val="800"/>
                </a:spcAft>
              </a:pPr>
              <a:r>
                <a:rPr lang="en-US" sz="1200" b="1" dirty="0">
                  <a:solidFill>
                    <a:schemeClr val="bg1"/>
                  </a:solidFill>
                  <a:effectLst/>
                  <a:highlight>
                    <a:srgbClr val="0000FF"/>
                  </a:highlight>
                  <a:latin typeface="DM Sans Bold" panose="020B0604020202020204" charset="0"/>
                  <a:ea typeface="Tahoma" panose="020B0604030504040204" pitchFamily="34" charset="0"/>
                  <a:cs typeface="Times New Roman" panose="02020603050405020304" pitchFamily="18" charset="0"/>
                </a:rPr>
                <a:t>2027</a:t>
              </a:r>
            </a:p>
          </p:txBody>
        </p:sp>
        <p:sp>
          <p:nvSpPr>
            <p:cNvPr id="154" name="TextBox 153">
              <a:extLst>
                <a:ext uri="{FF2B5EF4-FFF2-40B4-BE49-F238E27FC236}">
                  <a16:creationId xmlns:a16="http://schemas.microsoft.com/office/drawing/2014/main" xmlns="" id="{FCB3B4E7-6E4B-48C2-9D26-440FE9A1C1A6}"/>
                </a:ext>
              </a:extLst>
            </p:cNvPr>
            <p:cNvSpPr txBox="1"/>
            <p:nvPr/>
          </p:nvSpPr>
          <p:spPr>
            <a:xfrm>
              <a:off x="8192054" y="3555098"/>
              <a:ext cx="756696" cy="280465"/>
            </a:xfrm>
            <a:prstGeom prst="rect">
              <a:avLst/>
            </a:prstGeom>
            <a:noFill/>
          </p:spPr>
          <p:txBody>
            <a:bodyPr wrap="square">
              <a:spAutoFit/>
            </a:bodyPr>
            <a:lstStyle/>
            <a:p>
              <a:r>
                <a:rPr lang="en-GB" sz="1200" b="1" dirty="0">
                  <a:solidFill>
                    <a:schemeClr val="bg1"/>
                  </a:solidFill>
                  <a:latin typeface="DM Sans Bold" panose="020B0604020202020204" charset="0"/>
                  <a:ea typeface="Tahoma" panose="020B0604030504040204" pitchFamily="34" charset="0"/>
                  <a:cs typeface="Times New Roman" panose="02020603050405020304" pitchFamily="18" charset="0"/>
                </a:rPr>
                <a:t>2</a:t>
              </a:r>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00</a:t>
              </a:r>
              <a:endParaRPr lang="en-US" sz="1200" dirty="0">
                <a:solidFill>
                  <a:schemeClr val="bg1"/>
                </a:solidFill>
                <a:latin typeface="DM Sans Bold" panose="020B0604020202020204" charset="0"/>
              </a:endParaRPr>
            </a:p>
          </p:txBody>
        </p:sp>
        <p:sp>
          <p:nvSpPr>
            <p:cNvPr id="155" name="TextBox 154">
              <a:extLst>
                <a:ext uri="{FF2B5EF4-FFF2-40B4-BE49-F238E27FC236}">
                  <a16:creationId xmlns:a16="http://schemas.microsoft.com/office/drawing/2014/main" xmlns="" id="{D144D1C9-3DF3-4251-B158-CAD17C41879A}"/>
                </a:ext>
              </a:extLst>
            </p:cNvPr>
            <p:cNvSpPr txBox="1"/>
            <p:nvPr/>
          </p:nvSpPr>
          <p:spPr>
            <a:xfrm>
              <a:off x="9526469" y="3318665"/>
              <a:ext cx="756696" cy="280465"/>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25</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a:t>
              </a:r>
            </a:p>
          </p:txBody>
        </p:sp>
        <p:sp>
          <p:nvSpPr>
            <p:cNvPr id="156" name="TextBox 155">
              <a:extLst>
                <a:ext uri="{FF2B5EF4-FFF2-40B4-BE49-F238E27FC236}">
                  <a16:creationId xmlns:a16="http://schemas.microsoft.com/office/drawing/2014/main" xmlns="" id="{33AA5073-8C24-4A52-9DA4-6BA1D9000346}"/>
                </a:ext>
              </a:extLst>
            </p:cNvPr>
            <p:cNvSpPr txBox="1"/>
            <p:nvPr/>
          </p:nvSpPr>
          <p:spPr>
            <a:xfrm>
              <a:off x="10783546" y="3080294"/>
              <a:ext cx="756696" cy="467442"/>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75</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a:t>
              </a:r>
            </a:p>
            <a:p>
              <a:endParaRPr lang="en-US" sz="1200" dirty="0">
                <a:solidFill>
                  <a:schemeClr val="bg1"/>
                </a:solidFill>
                <a:latin typeface="DM Sans Bold" panose="020B0604020202020204" charset="0"/>
              </a:endParaRPr>
            </a:p>
          </p:txBody>
        </p:sp>
        <p:sp>
          <p:nvSpPr>
            <p:cNvPr id="157" name="TextBox 156">
              <a:extLst>
                <a:ext uri="{FF2B5EF4-FFF2-40B4-BE49-F238E27FC236}">
                  <a16:creationId xmlns:a16="http://schemas.microsoft.com/office/drawing/2014/main" xmlns="" id="{E685BA78-DCC4-4BAF-80DF-7BBCB0A0F4CD}"/>
                </a:ext>
              </a:extLst>
            </p:cNvPr>
            <p:cNvSpPr txBox="1"/>
            <p:nvPr/>
          </p:nvSpPr>
          <p:spPr>
            <a:xfrm>
              <a:off x="8982066" y="3394784"/>
              <a:ext cx="756696" cy="280465"/>
            </a:xfrm>
            <a:prstGeom prst="rect">
              <a:avLst/>
            </a:prstGeom>
            <a:noFill/>
          </p:spPr>
          <p:txBody>
            <a:bodyPr wrap="square">
              <a:spAutoFit/>
            </a:bodyPr>
            <a:lstStyle/>
            <a:p>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50</a:t>
              </a:r>
            </a:p>
          </p:txBody>
        </p:sp>
        <p:sp>
          <p:nvSpPr>
            <p:cNvPr id="158" name="TextBox 157">
              <a:extLst>
                <a:ext uri="{FF2B5EF4-FFF2-40B4-BE49-F238E27FC236}">
                  <a16:creationId xmlns:a16="http://schemas.microsoft.com/office/drawing/2014/main" xmlns="" id="{ACAFACEF-D6DB-4FEC-9F46-A064585F1703}"/>
                </a:ext>
              </a:extLst>
            </p:cNvPr>
            <p:cNvSpPr txBox="1"/>
            <p:nvPr/>
          </p:nvSpPr>
          <p:spPr>
            <a:xfrm>
              <a:off x="8802207" y="4038536"/>
              <a:ext cx="756696" cy="280465"/>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20</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a:t>
              </a:r>
              <a:endParaRPr lang="en-US" sz="1200" dirty="0">
                <a:solidFill>
                  <a:schemeClr val="bg1"/>
                </a:solidFill>
                <a:latin typeface="DM Sans Bold" panose="020B0604020202020204" charset="0"/>
              </a:endParaRPr>
            </a:p>
          </p:txBody>
        </p:sp>
        <p:sp>
          <p:nvSpPr>
            <p:cNvPr id="159" name="TextBox 158">
              <a:extLst>
                <a:ext uri="{FF2B5EF4-FFF2-40B4-BE49-F238E27FC236}">
                  <a16:creationId xmlns:a16="http://schemas.microsoft.com/office/drawing/2014/main" xmlns="" id="{184B70E2-F1C7-4C31-9262-213060D93CBA}"/>
                </a:ext>
              </a:extLst>
            </p:cNvPr>
            <p:cNvSpPr txBox="1"/>
            <p:nvPr/>
          </p:nvSpPr>
          <p:spPr>
            <a:xfrm>
              <a:off x="10258569" y="4156862"/>
              <a:ext cx="756696" cy="280465"/>
            </a:xfrm>
            <a:prstGeom prst="rect">
              <a:avLst/>
            </a:prstGeom>
            <a:noFill/>
          </p:spPr>
          <p:txBody>
            <a:bodyPr wrap="square">
              <a:spAutoFit/>
            </a:bodyPr>
            <a:lstStyle/>
            <a:p>
              <a:r>
                <a:rPr lang="en-GB" sz="1200" b="1" dirty="0">
                  <a:solidFill>
                    <a:schemeClr val="bg1"/>
                  </a:solidFill>
                  <a:latin typeface="DM Sans Bold" panose="020B0604020202020204" charset="0"/>
                  <a:ea typeface="Tahoma" panose="020B0604030504040204" pitchFamily="34" charset="0"/>
                  <a:cs typeface="Times New Roman" panose="02020603050405020304" pitchFamily="18" charset="0"/>
                </a:rPr>
                <a:t>25</a:t>
              </a:r>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0</a:t>
              </a:r>
              <a:endParaRPr lang="en-US" sz="1200" dirty="0">
                <a:solidFill>
                  <a:schemeClr val="bg1"/>
                </a:solidFill>
                <a:latin typeface="DM Sans Bold" panose="020B0604020202020204" charset="0"/>
              </a:endParaRPr>
            </a:p>
          </p:txBody>
        </p:sp>
        <p:sp>
          <p:nvSpPr>
            <p:cNvPr id="160" name="TextBox 159">
              <a:extLst>
                <a:ext uri="{FF2B5EF4-FFF2-40B4-BE49-F238E27FC236}">
                  <a16:creationId xmlns:a16="http://schemas.microsoft.com/office/drawing/2014/main" xmlns="" id="{53F261C0-63A7-4D20-8ACC-5689EE32AF70}"/>
                </a:ext>
              </a:extLst>
            </p:cNvPr>
            <p:cNvSpPr txBox="1"/>
            <p:nvPr/>
          </p:nvSpPr>
          <p:spPr>
            <a:xfrm>
              <a:off x="9630374" y="4082685"/>
              <a:ext cx="756696" cy="280465"/>
            </a:xfrm>
            <a:prstGeom prst="rect">
              <a:avLst/>
            </a:prstGeom>
            <a:noFill/>
          </p:spPr>
          <p:txBody>
            <a:bodyPr wrap="square">
              <a:spAutoFit/>
            </a:bodyPr>
            <a:lstStyle/>
            <a:p>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50</a:t>
              </a:r>
              <a:endParaRPr lang="en-US" sz="1200" dirty="0">
                <a:solidFill>
                  <a:schemeClr val="bg1"/>
                </a:solidFill>
                <a:latin typeface="DM Sans Bold" panose="020B0604020202020204" charset="0"/>
              </a:endParaRPr>
            </a:p>
          </p:txBody>
        </p:sp>
        <p:sp>
          <p:nvSpPr>
            <p:cNvPr id="161" name="TextBox 160">
              <a:extLst>
                <a:ext uri="{FF2B5EF4-FFF2-40B4-BE49-F238E27FC236}">
                  <a16:creationId xmlns:a16="http://schemas.microsoft.com/office/drawing/2014/main" xmlns="" id="{ED272D6D-EBC3-4097-BE30-FC74EB245BBD}"/>
                </a:ext>
              </a:extLst>
            </p:cNvPr>
            <p:cNvSpPr txBox="1"/>
            <p:nvPr/>
          </p:nvSpPr>
          <p:spPr>
            <a:xfrm>
              <a:off x="10868916" y="4216065"/>
              <a:ext cx="756696" cy="280465"/>
            </a:xfrm>
            <a:prstGeom prst="rect">
              <a:avLst/>
            </a:prstGeom>
            <a:noFill/>
          </p:spPr>
          <p:txBody>
            <a:bodyPr wrap="square">
              <a:spAutoFit/>
            </a:bodyPr>
            <a:lstStyle/>
            <a:p>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250</a:t>
              </a:r>
              <a:endParaRPr lang="en-US" sz="1200" dirty="0">
                <a:solidFill>
                  <a:schemeClr val="bg1"/>
                </a:solidFill>
                <a:latin typeface="DM Sans Bold" panose="020B0604020202020204" charset="0"/>
              </a:endParaRPr>
            </a:p>
          </p:txBody>
        </p:sp>
        <p:sp>
          <p:nvSpPr>
            <p:cNvPr id="162" name="TextBox 161">
              <a:extLst>
                <a:ext uri="{FF2B5EF4-FFF2-40B4-BE49-F238E27FC236}">
                  <a16:creationId xmlns:a16="http://schemas.microsoft.com/office/drawing/2014/main" xmlns="" id="{8E1BEB07-9B4D-4986-8429-A2EB4263BB12}"/>
                </a:ext>
              </a:extLst>
            </p:cNvPr>
            <p:cNvSpPr txBox="1"/>
            <p:nvPr/>
          </p:nvSpPr>
          <p:spPr>
            <a:xfrm>
              <a:off x="11468900" y="4232323"/>
              <a:ext cx="756696" cy="280465"/>
            </a:xfrm>
            <a:prstGeom prst="rect">
              <a:avLst/>
            </a:prstGeom>
            <a:noFill/>
          </p:spPr>
          <p:txBody>
            <a:bodyPr wrap="square">
              <a:spAutoFit/>
            </a:bodyPr>
            <a:lstStyle/>
            <a:p>
              <a:r>
                <a:rPr lang="en-US" sz="1200" b="1" dirty="0">
                  <a:solidFill>
                    <a:schemeClr val="bg1"/>
                  </a:solidFill>
                  <a:latin typeface="DM Sans Bold" panose="020B0604020202020204" charset="0"/>
                  <a:ea typeface="Tahoma" panose="020B0604030504040204" pitchFamily="34" charset="0"/>
                  <a:cs typeface="Times New Roman" panose="02020603050405020304" pitchFamily="18" charset="0"/>
                </a:rPr>
                <a:t>35</a:t>
              </a:r>
              <a:r>
                <a:rPr lang="en-US" sz="120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0</a:t>
              </a:r>
              <a:endParaRPr lang="en-US" sz="1200" dirty="0">
                <a:solidFill>
                  <a:schemeClr val="bg1"/>
                </a:solidFill>
                <a:latin typeface="DM Sans Bold" panose="020B0604020202020204" charset="0"/>
              </a:endParaRPr>
            </a:p>
          </p:txBody>
        </p:sp>
        <p:sp>
          <p:nvSpPr>
            <p:cNvPr id="163" name="TextBox 162">
              <a:extLst>
                <a:ext uri="{FF2B5EF4-FFF2-40B4-BE49-F238E27FC236}">
                  <a16:creationId xmlns:a16="http://schemas.microsoft.com/office/drawing/2014/main" xmlns="" id="{4616F94C-C9D4-4F71-8ACF-2F411B314619}"/>
                </a:ext>
              </a:extLst>
            </p:cNvPr>
            <p:cNvSpPr txBox="1"/>
            <p:nvPr/>
          </p:nvSpPr>
          <p:spPr>
            <a:xfrm>
              <a:off x="9329095" y="3034082"/>
              <a:ext cx="576734" cy="255600"/>
            </a:xfrm>
            <a:prstGeom prst="rect">
              <a:avLst/>
            </a:prstGeom>
            <a:noFill/>
          </p:spPr>
          <p:txBody>
            <a:bodyPr wrap="square">
              <a:spAutoFit/>
            </a:bodyPr>
            <a:lstStyle/>
            <a:p>
              <a:pPr>
                <a:lnSpc>
                  <a:spcPct val="107000"/>
                </a:lnSpc>
                <a:spcAft>
                  <a:spcPts val="800"/>
                </a:spcAft>
              </a:pPr>
              <a:r>
                <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rPr>
                <a:t>+250</a:t>
              </a:r>
            </a:p>
          </p:txBody>
        </p:sp>
        <p:sp>
          <p:nvSpPr>
            <p:cNvPr id="164" name="TextBox 163">
              <a:extLst>
                <a:ext uri="{FF2B5EF4-FFF2-40B4-BE49-F238E27FC236}">
                  <a16:creationId xmlns:a16="http://schemas.microsoft.com/office/drawing/2014/main" xmlns="" id="{77BC6FC1-8D1F-4C38-A662-85180F84A619}"/>
                </a:ext>
              </a:extLst>
            </p:cNvPr>
            <p:cNvSpPr txBox="1"/>
            <p:nvPr/>
          </p:nvSpPr>
          <p:spPr>
            <a:xfrm>
              <a:off x="10072677" y="2903339"/>
              <a:ext cx="576734" cy="255600"/>
            </a:xfrm>
            <a:prstGeom prst="rect">
              <a:avLst/>
            </a:prstGeom>
            <a:noFill/>
          </p:spPr>
          <p:txBody>
            <a:bodyPr wrap="square">
              <a:spAutoFit/>
            </a:bodyPr>
            <a:lstStyle/>
            <a:p>
              <a:pPr>
                <a:lnSpc>
                  <a:spcPct val="107000"/>
                </a:lnSpc>
                <a:spcAft>
                  <a:spcPts val="800"/>
                </a:spcAft>
              </a:pPr>
              <a:r>
                <a:rPr lang="en-US" sz="1000" b="1" dirty="0">
                  <a:solidFill>
                    <a:srgbClr val="F79646"/>
                  </a:solidFill>
                  <a:effectLst/>
                  <a:latin typeface="DM Sans Bold" panose="020B0604020202020204" charset="0"/>
                  <a:ea typeface="Tahoma" panose="020B0604030504040204" pitchFamily="34" charset="0"/>
                  <a:cs typeface="Times New Roman" panose="02020603050405020304" pitchFamily="18" charset="0"/>
                </a:rPr>
                <a:t>+500</a:t>
              </a:r>
            </a:p>
          </p:txBody>
        </p:sp>
        <p:sp>
          <p:nvSpPr>
            <p:cNvPr id="165" name="TextBox 164">
              <a:extLst>
                <a:ext uri="{FF2B5EF4-FFF2-40B4-BE49-F238E27FC236}">
                  <a16:creationId xmlns:a16="http://schemas.microsoft.com/office/drawing/2014/main" xmlns="" id="{D2152596-0C8C-47B5-83F5-B8A7F11D439E}"/>
                </a:ext>
              </a:extLst>
            </p:cNvPr>
            <p:cNvSpPr txBox="1"/>
            <p:nvPr/>
          </p:nvSpPr>
          <p:spPr>
            <a:xfrm>
              <a:off x="10175764" y="3219553"/>
              <a:ext cx="1849625" cy="438747"/>
            </a:xfrm>
            <a:prstGeom prst="rect">
              <a:avLst/>
            </a:prstGeom>
            <a:noFill/>
          </p:spPr>
          <p:txBody>
            <a:bodyPr wrap="square">
              <a:spAutoFit/>
            </a:bodyPr>
            <a:lstStyle/>
            <a:p>
              <a:pPr algn="r">
                <a:lnSpc>
                  <a:spcPct val="107000"/>
                </a:lnSpc>
                <a:spcAft>
                  <a:spcPts val="800"/>
                </a:spcAft>
              </a:pPr>
              <a:r>
                <a:rPr lang="en-US" sz="1050" b="1" dirty="0" err="1">
                  <a:solidFill>
                    <a:schemeClr val="bg1"/>
                  </a:solidFill>
                  <a:effectLst/>
                  <a:latin typeface="DM Sans Bold" panose="020B0604020202020204" charset="0"/>
                  <a:ea typeface="Tahoma" panose="020B0604030504040204" pitchFamily="34" charset="0"/>
                  <a:cs typeface="Times New Roman" panose="02020603050405020304" pitchFamily="18" charset="0"/>
                </a:rPr>
                <a:t>学生宿舍剩余需求</a:t>
              </a:r>
              <a:r>
                <a:rPr lang="en-US" sz="105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t/>
              </a:r>
              <a:br>
                <a:rPr lang="en-US" sz="1050" b="1" dirty="0">
                  <a:solidFill>
                    <a:schemeClr val="bg1"/>
                  </a:solidFill>
                  <a:effectLst/>
                  <a:latin typeface="DM Sans Bold" panose="020B0604020202020204" charset="0"/>
                  <a:ea typeface="Tahoma" panose="020B0604030504040204" pitchFamily="34" charset="0"/>
                  <a:cs typeface="Times New Roman" panose="02020603050405020304" pitchFamily="18" charset="0"/>
                </a:rPr>
              </a:br>
              <a:endParaRPr lang="en-US" sz="1050" b="1" dirty="0">
                <a:solidFill>
                  <a:schemeClr val="bg1"/>
                </a:solidFill>
                <a:effectLst/>
                <a:latin typeface="DM Sans Bold" panose="020B0604020202020204" charset="0"/>
                <a:ea typeface="Tahoma" panose="020B0604030504040204" pitchFamily="34" charset="0"/>
                <a:cs typeface="Times New Roman" panose="02020603050405020304" pitchFamily="18" charset="0"/>
              </a:endParaRPr>
            </a:p>
          </p:txBody>
        </p:sp>
      </p:grpSp>
      <p:graphicFrame>
        <p:nvGraphicFramePr>
          <p:cNvPr id="173" name="Таблица 172">
            <a:extLst>
              <a:ext uri="{FF2B5EF4-FFF2-40B4-BE49-F238E27FC236}">
                <a16:creationId xmlns:a16="http://schemas.microsoft.com/office/drawing/2014/main" xmlns="" id="{46056453-7679-49AA-A20D-E575252C0376}"/>
              </a:ext>
            </a:extLst>
          </p:cNvPr>
          <p:cNvGraphicFramePr>
            <a:graphicFrameLocks noGrp="1"/>
          </p:cNvGraphicFramePr>
          <p:nvPr>
            <p:extLst>
              <p:ext uri="{D42A27DB-BD31-4B8C-83A1-F6EECF244321}">
                <p14:modId xmlns:p14="http://schemas.microsoft.com/office/powerpoint/2010/main" val="1783783288"/>
              </p:ext>
            </p:extLst>
          </p:nvPr>
        </p:nvGraphicFramePr>
        <p:xfrm>
          <a:off x="12589053" y="6046819"/>
          <a:ext cx="5371425" cy="1697561"/>
        </p:xfrm>
        <a:graphic>
          <a:graphicData uri="http://schemas.openxmlformats.org/drawingml/2006/table">
            <a:tbl>
              <a:tblPr>
                <a:tableStyleId>{3C2FFA5D-87B4-456A-9821-1D502468CF0F}</a:tableStyleId>
              </a:tblPr>
              <a:tblGrid>
                <a:gridCol w="422286">
                  <a:extLst>
                    <a:ext uri="{9D8B030D-6E8A-4147-A177-3AD203B41FA5}">
                      <a16:colId xmlns:a16="http://schemas.microsoft.com/office/drawing/2014/main" xmlns="" val="3221827101"/>
                    </a:ext>
                  </a:extLst>
                </a:gridCol>
                <a:gridCol w="1541844">
                  <a:extLst>
                    <a:ext uri="{9D8B030D-6E8A-4147-A177-3AD203B41FA5}">
                      <a16:colId xmlns:a16="http://schemas.microsoft.com/office/drawing/2014/main" xmlns="" val="2099833603"/>
                    </a:ext>
                  </a:extLst>
                </a:gridCol>
                <a:gridCol w="1317867">
                  <a:extLst>
                    <a:ext uri="{9D8B030D-6E8A-4147-A177-3AD203B41FA5}">
                      <a16:colId xmlns:a16="http://schemas.microsoft.com/office/drawing/2014/main" xmlns="" val="2830177320"/>
                    </a:ext>
                  </a:extLst>
                </a:gridCol>
                <a:gridCol w="1012021">
                  <a:extLst>
                    <a:ext uri="{9D8B030D-6E8A-4147-A177-3AD203B41FA5}">
                      <a16:colId xmlns:a16="http://schemas.microsoft.com/office/drawing/2014/main" xmlns="" val="1281292787"/>
                    </a:ext>
                  </a:extLst>
                </a:gridCol>
                <a:gridCol w="1077407">
                  <a:extLst>
                    <a:ext uri="{9D8B030D-6E8A-4147-A177-3AD203B41FA5}">
                      <a16:colId xmlns:a16="http://schemas.microsoft.com/office/drawing/2014/main" xmlns="" val="2643898675"/>
                    </a:ext>
                  </a:extLst>
                </a:gridCol>
              </a:tblGrid>
              <a:tr h="427630">
                <a:tc>
                  <a:txBody>
                    <a:bodyPr/>
                    <a:lstStyle/>
                    <a:p>
                      <a:pPr algn="ctr" fontAlgn="ctr"/>
                      <a:r>
                        <a:rPr lang="en-US" sz="1000" b="1" u="none" strike="noStrike" dirty="0">
                          <a:solidFill>
                            <a:srgbClr val="051D40"/>
                          </a:solidFill>
                          <a:effectLst/>
                          <a:latin typeface="DM Sans Bold" panose="020B0604020202020204" charset="0"/>
                        </a:rPr>
                        <a:t>№</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err="1">
                          <a:solidFill>
                            <a:srgbClr val="051D40"/>
                          </a:solidFill>
                          <a:effectLst/>
                          <a:latin typeface="DM Sans Bold" panose="020B0604020202020204" charset="0"/>
                        </a:rPr>
                        <a:t>课程名称</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err="1">
                          <a:solidFill>
                            <a:srgbClr val="051D40"/>
                          </a:solidFill>
                          <a:effectLst/>
                          <a:latin typeface="DM Sans Bold" panose="020B0604020202020204" charset="0"/>
                        </a:rPr>
                        <a:t>专业</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err="1">
                          <a:solidFill>
                            <a:srgbClr val="051D40"/>
                          </a:solidFill>
                          <a:effectLst/>
                          <a:latin typeface="DM Sans Bold" panose="020B0604020202020204" charset="0"/>
                        </a:rPr>
                        <a:t>参与人数</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GB" sz="1000" b="1" u="none" strike="noStrike" dirty="0" err="1">
                          <a:solidFill>
                            <a:srgbClr val="051D40"/>
                          </a:solidFill>
                          <a:effectLst/>
                          <a:latin typeface="DM Sans Bold" panose="020B0604020202020204" charset="0"/>
                        </a:rPr>
                        <a:t>创建时间</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3292744925"/>
                  </a:ext>
                </a:extLst>
              </a:tr>
              <a:tr h="427630">
                <a:tc>
                  <a:txBody>
                    <a:bodyPr/>
                    <a:lstStyle/>
                    <a:p>
                      <a:pPr algn="ctr" fontAlgn="ctr"/>
                      <a:r>
                        <a:rPr lang="en-US" sz="1000" b="1" u="none" strike="noStrike" dirty="0">
                          <a:solidFill>
                            <a:srgbClr val="051D40"/>
                          </a:solidFill>
                          <a:effectLst/>
                          <a:latin typeface="DM Sans Bold" panose="020B0604020202020204" charset="0"/>
                        </a:rPr>
                        <a:t>1</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dirty="0" err="1">
                          <a:solidFill>
                            <a:srgbClr val="051D40"/>
                          </a:solidFill>
                          <a:latin typeface="DM Sans Bold" panose="020B0604020202020204" charset="0"/>
                        </a:rPr>
                        <a:t>语言教学中心</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err="1">
                          <a:solidFill>
                            <a:srgbClr val="051D40"/>
                          </a:solidFill>
                          <a:effectLst/>
                          <a:latin typeface="DM Sans Bold" panose="020B0604020202020204" charset="0"/>
                        </a:rPr>
                        <a:t>英语、土耳其语、俄语</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 800</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2024 </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1734495267"/>
                  </a:ext>
                </a:extLst>
              </a:tr>
              <a:tr h="842301">
                <a:tc>
                  <a:txBody>
                    <a:bodyPr/>
                    <a:lstStyle/>
                    <a:p>
                      <a:pPr algn="ctr" fontAlgn="ctr"/>
                      <a:r>
                        <a:rPr lang="en-US" sz="1000" b="1" u="none" strike="noStrike">
                          <a:solidFill>
                            <a:srgbClr val="051D40"/>
                          </a:solidFill>
                          <a:effectLst/>
                          <a:latin typeface="DM Sans Bold" panose="020B0604020202020204" charset="0"/>
                        </a:rPr>
                        <a:t>2</a:t>
                      </a:r>
                      <a:endParaRPr lang="en-US" sz="1000" b="1" i="0" u="none" strike="noStrike">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err="1">
                          <a:solidFill>
                            <a:srgbClr val="051D40"/>
                          </a:solidFill>
                          <a:effectLst/>
                          <a:latin typeface="DM Sans Bold" panose="020B0604020202020204" charset="0"/>
                        </a:rPr>
                        <a:t>职业培训中心</a:t>
                      </a:r>
                      <a:endParaRPr lang="en-US" sz="1000" b="1" u="none" strike="noStrike" kern="1200" dirty="0">
                        <a:solidFill>
                          <a:srgbClr val="051D40"/>
                        </a:solidFill>
                        <a:effectLst/>
                        <a:latin typeface="DM Sans Bold" panose="020B060402020202020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u="none" strike="noStrike" dirty="0" err="1">
                          <a:solidFill>
                            <a:srgbClr val="051D40"/>
                          </a:solidFill>
                          <a:effectLst/>
                          <a:latin typeface="DM Sans Bold" panose="020B0604020202020204" charset="0"/>
                        </a:rPr>
                        <a:t>护理学及技术牙科</a:t>
                      </a:r>
                      <a:endParaRPr lang="en-US" sz="1000" b="1" u="none" strike="noStrike" kern="1200" dirty="0">
                        <a:solidFill>
                          <a:srgbClr val="051D40"/>
                        </a:solidFill>
                        <a:effectLst/>
                        <a:latin typeface="DM Sans Bold" panose="020B0604020202020204" charset="0"/>
                      </a:endParaRPr>
                    </a:p>
                    <a:p>
                      <a:pPr algn="ctr" fontAlgn="ctr"/>
                      <a:r>
                        <a:rPr lang="en-US" sz="1000" b="1" u="none" strike="noStrike" dirty="0">
                          <a:solidFill>
                            <a:srgbClr val="051D40"/>
                          </a:solidFill>
                          <a:effectLst/>
                          <a:latin typeface="DM Sans Bold" panose="020B0604020202020204" charset="0"/>
                        </a:rPr>
                        <a:t> </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100 </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2025 </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784115947"/>
                  </a:ext>
                </a:extLst>
              </a:tr>
            </a:tbl>
          </a:graphicData>
        </a:graphic>
      </p:graphicFrame>
      <p:graphicFrame>
        <p:nvGraphicFramePr>
          <p:cNvPr id="175" name="Таблица 174">
            <a:extLst>
              <a:ext uri="{FF2B5EF4-FFF2-40B4-BE49-F238E27FC236}">
                <a16:creationId xmlns:a16="http://schemas.microsoft.com/office/drawing/2014/main" xmlns="" id="{41A5FD36-C614-491E-98BB-0EA0834C6942}"/>
              </a:ext>
            </a:extLst>
          </p:cNvPr>
          <p:cNvGraphicFramePr>
            <a:graphicFrameLocks noGrp="1"/>
          </p:cNvGraphicFramePr>
          <p:nvPr>
            <p:extLst>
              <p:ext uri="{D42A27DB-BD31-4B8C-83A1-F6EECF244321}">
                <p14:modId xmlns:p14="http://schemas.microsoft.com/office/powerpoint/2010/main" val="3659029521"/>
              </p:ext>
            </p:extLst>
          </p:nvPr>
        </p:nvGraphicFramePr>
        <p:xfrm>
          <a:off x="12605712" y="8267700"/>
          <a:ext cx="5354766" cy="1665007"/>
        </p:xfrm>
        <a:graphic>
          <a:graphicData uri="http://schemas.openxmlformats.org/drawingml/2006/table">
            <a:tbl>
              <a:tblPr>
                <a:tableStyleId>{3C2FFA5D-87B4-456A-9821-1D502468CF0F}</a:tableStyleId>
              </a:tblPr>
              <a:tblGrid>
                <a:gridCol w="498537">
                  <a:extLst>
                    <a:ext uri="{9D8B030D-6E8A-4147-A177-3AD203B41FA5}">
                      <a16:colId xmlns:a16="http://schemas.microsoft.com/office/drawing/2014/main" xmlns="" val="3221827101"/>
                    </a:ext>
                  </a:extLst>
                </a:gridCol>
                <a:gridCol w="1827730">
                  <a:extLst>
                    <a:ext uri="{9D8B030D-6E8A-4147-A177-3AD203B41FA5}">
                      <a16:colId xmlns:a16="http://schemas.microsoft.com/office/drawing/2014/main" xmlns="" val="2830177320"/>
                    </a:ext>
                  </a:extLst>
                </a:gridCol>
                <a:gridCol w="1726244">
                  <a:extLst>
                    <a:ext uri="{9D8B030D-6E8A-4147-A177-3AD203B41FA5}">
                      <a16:colId xmlns:a16="http://schemas.microsoft.com/office/drawing/2014/main" xmlns="" val="1281292787"/>
                    </a:ext>
                  </a:extLst>
                </a:gridCol>
                <a:gridCol w="1302255">
                  <a:extLst>
                    <a:ext uri="{9D8B030D-6E8A-4147-A177-3AD203B41FA5}">
                      <a16:colId xmlns:a16="http://schemas.microsoft.com/office/drawing/2014/main" xmlns="" val="2643898675"/>
                    </a:ext>
                  </a:extLst>
                </a:gridCol>
              </a:tblGrid>
              <a:tr h="717824">
                <a:tc>
                  <a:txBody>
                    <a:bodyPr/>
                    <a:lstStyle/>
                    <a:p>
                      <a:pPr algn="ctr" fontAlgn="ctr"/>
                      <a:r>
                        <a:rPr lang="en-US" sz="1000" b="1" u="none" strike="noStrike" dirty="0">
                          <a:solidFill>
                            <a:srgbClr val="051D40"/>
                          </a:solidFill>
                          <a:effectLst/>
                          <a:latin typeface="DM Sans Bold" panose="020B0604020202020204" charset="0"/>
                        </a:rPr>
                        <a:t>№</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GB" sz="1000" b="1" u="none" strike="noStrike" dirty="0">
                          <a:solidFill>
                            <a:srgbClr val="051D40"/>
                          </a:solidFill>
                          <a:effectLst/>
                          <a:latin typeface="DM Sans Bold" panose="020B0604020202020204" charset="0"/>
                        </a:rPr>
                        <a:t>租用楼名称</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err="1">
                          <a:solidFill>
                            <a:srgbClr val="051D40"/>
                          </a:solidFill>
                          <a:effectLst/>
                          <a:latin typeface="DM Sans Bold" panose="020B0604020202020204" charset="0"/>
                        </a:rPr>
                        <a:t>租用教室数量</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GB" sz="1000" b="1" u="none" strike="noStrike" dirty="0" err="1">
                          <a:solidFill>
                            <a:srgbClr val="051D40"/>
                          </a:solidFill>
                          <a:effectLst/>
                          <a:latin typeface="DM Sans Bold" panose="020B0604020202020204" charset="0"/>
                        </a:rPr>
                        <a:t>租用面积 m²</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3292744925"/>
                  </a:ext>
                </a:extLst>
              </a:tr>
              <a:tr h="503881">
                <a:tc>
                  <a:txBody>
                    <a:bodyPr/>
                    <a:lstStyle/>
                    <a:p>
                      <a:pPr algn="ctr" fontAlgn="ctr"/>
                      <a:r>
                        <a:rPr lang="en-US" sz="1000" b="1" u="none" strike="noStrike" dirty="0">
                          <a:solidFill>
                            <a:srgbClr val="051D40"/>
                          </a:solidFill>
                          <a:effectLst/>
                          <a:latin typeface="DM Sans Bold" panose="020B0604020202020204" charset="0"/>
                        </a:rPr>
                        <a:t>1</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GB" sz="1000" b="1" u="none" strike="noStrike" dirty="0" err="1">
                          <a:solidFill>
                            <a:srgbClr val="051D40"/>
                          </a:solidFill>
                          <a:effectLst/>
                          <a:latin typeface="DM Sans Bold" panose="020B0604020202020204" charset="0"/>
                        </a:rPr>
                        <a:t>法律学院楼</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11</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606,6</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1734495267"/>
                  </a:ext>
                </a:extLst>
              </a:tr>
              <a:tr h="443302">
                <a:tc>
                  <a:txBody>
                    <a:bodyPr/>
                    <a:lstStyle/>
                    <a:p>
                      <a:pPr algn="ctr" fontAlgn="ctr"/>
                      <a:r>
                        <a:rPr lang="en-US" sz="1000" b="1" u="none" strike="noStrike">
                          <a:solidFill>
                            <a:srgbClr val="051D40"/>
                          </a:solidFill>
                          <a:effectLst/>
                          <a:latin typeface="DM Sans Bold" panose="020B0604020202020204" charset="0"/>
                        </a:rPr>
                        <a:t>2</a:t>
                      </a:r>
                      <a:endParaRPr lang="en-US" sz="1000" b="1" i="0" u="none" strike="noStrike">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rgbClr val="051D40"/>
                          </a:solidFill>
                          <a:effectLst/>
                          <a:latin typeface="DM Sans Bold" panose="020B0604020202020204" charset="0"/>
                        </a:rPr>
                        <a:t>体育学院楼</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5</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tc>
                  <a:txBody>
                    <a:bodyPr/>
                    <a:lstStyle/>
                    <a:p>
                      <a:pPr algn="ctr" fontAlgn="ctr"/>
                      <a:r>
                        <a:rPr lang="en-US" sz="1000" b="1" u="none" strike="noStrike" dirty="0">
                          <a:solidFill>
                            <a:srgbClr val="051D40"/>
                          </a:solidFill>
                          <a:effectLst/>
                          <a:latin typeface="DM Sans Bold" panose="020B0604020202020204" charset="0"/>
                        </a:rPr>
                        <a:t>876,2</a:t>
                      </a:r>
                      <a:endParaRPr lang="en-US" sz="1000" b="1" i="0" u="none" strike="noStrike" dirty="0">
                        <a:solidFill>
                          <a:srgbClr val="051D40"/>
                        </a:solidFill>
                        <a:effectLst/>
                        <a:latin typeface="DM Sans Bold" panose="020B0604020202020204" charset="0"/>
                        <a:cs typeface="Times New Roman" panose="02020603050405020304" pitchFamily="18" charset="0"/>
                      </a:endParaRPr>
                    </a:p>
                  </a:txBody>
                  <a:tcPr marL="9525" marR="9525" marT="9525" marB="0" anchor="ctr"/>
                </a:tc>
                <a:extLst>
                  <a:ext uri="{0D108BD9-81ED-4DB2-BD59-A6C34878D82A}">
                    <a16:rowId xmlns:a16="http://schemas.microsoft.com/office/drawing/2014/main" xmlns="" val="784115947"/>
                  </a:ext>
                </a:extLst>
              </a:tr>
            </a:tbl>
          </a:graphicData>
        </a:graphic>
      </p:graphicFrame>
      <p:sp>
        <p:nvSpPr>
          <p:cNvPr id="176" name="TextBox 175">
            <a:extLst>
              <a:ext uri="{FF2B5EF4-FFF2-40B4-BE49-F238E27FC236}">
                <a16:creationId xmlns:a16="http://schemas.microsoft.com/office/drawing/2014/main" xmlns="" id="{2F11386B-19B1-4EC8-BC8A-F557203CB7A2}"/>
              </a:ext>
            </a:extLst>
          </p:cNvPr>
          <p:cNvSpPr txBox="1"/>
          <p:nvPr/>
        </p:nvSpPr>
        <p:spPr>
          <a:xfrm>
            <a:off x="12389852" y="5402662"/>
            <a:ext cx="5946173" cy="612027"/>
          </a:xfrm>
          <a:prstGeom prst="rect">
            <a:avLst/>
          </a:prstGeom>
          <a:noFill/>
        </p:spPr>
        <p:txBody>
          <a:bodyPr wrap="square">
            <a:spAutoFit/>
          </a:bodyPr>
          <a:lstStyle/>
          <a:p>
            <a:pPr algn="ctr">
              <a:lnSpc>
                <a:spcPct val="107000"/>
              </a:lnSpc>
              <a:spcAft>
                <a:spcPts val="800"/>
              </a:spcAft>
            </a:pP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大学教学楼附设培训课程</a:t>
            </a:r>
            <a:b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br>
            <a:endPar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endParaRPr>
          </a:p>
        </p:txBody>
      </p:sp>
      <p:sp>
        <p:nvSpPr>
          <p:cNvPr id="177" name="TextBox 176">
            <a:extLst>
              <a:ext uri="{FF2B5EF4-FFF2-40B4-BE49-F238E27FC236}">
                <a16:creationId xmlns:a16="http://schemas.microsoft.com/office/drawing/2014/main" xmlns="" id="{F70ECF11-2177-4746-91BC-91539E41B172}"/>
              </a:ext>
            </a:extLst>
          </p:cNvPr>
          <p:cNvSpPr txBox="1"/>
          <p:nvPr/>
        </p:nvSpPr>
        <p:spPr>
          <a:xfrm>
            <a:off x="13012398" y="7824167"/>
            <a:ext cx="4948079" cy="348557"/>
          </a:xfrm>
          <a:prstGeom prst="rect">
            <a:avLst/>
          </a:prstGeom>
          <a:noFill/>
        </p:spPr>
        <p:txBody>
          <a:bodyPr wrap="square">
            <a:spAutoFit/>
          </a:bodyPr>
          <a:lstStyle/>
          <a:p>
            <a:pPr algn="ctr">
              <a:lnSpc>
                <a:spcPct val="107000"/>
              </a:lnSpc>
              <a:spcAft>
                <a:spcPts val="800"/>
              </a:spcAft>
            </a:pPr>
            <a:r>
              <a:rPr lang="en-US" sz="1600" b="1" dirty="0">
                <a:solidFill>
                  <a:schemeClr val="bg1"/>
                </a:solidFill>
                <a:latin typeface="DM Sans Bold" panose="020B0604020202020204" charset="0"/>
                <a:ea typeface="Tahoma" panose="020B0604030504040204" pitchFamily="34" charset="0"/>
                <a:cs typeface="Times New Roman" panose="02020603050405020304" pitchFamily="18" charset="0"/>
              </a:rPr>
              <a:t>大学租用教学楼</a:t>
            </a:r>
          </a:p>
        </p:txBody>
      </p:sp>
      <p:sp>
        <p:nvSpPr>
          <p:cNvPr id="178" name="AutoShape 2">
            <a:extLst>
              <a:ext uri="{FF2B5EF4-FFF2-40B4-BE49-F238E27FC236}">
                <a16:creationId xmlns:a16="http://schemas.microsoft.com/office/drawing/2014/main" xmlns="" id="{2CBF079D-3B49-494D-89F2-1CB375EBB6FA}"/>
              </a:ext>
            </a:extLst>
          </p:cNvPr>
          <p:cNvSpPr/>
          <p:nvPr/>
        </p:nvSpPr>
        <p:spPr>
          <a:xfrm>
            <a:off x="12344400" y="2919806"/>
            <a:ext cx="0" cy="4676296"/>
          </a:xfrm>
          <a:prstGeom prst="line">
            <a:avLst/>
          </a:prstGeom>
          <a:ln w="47625" cap="flat">
            <a:solidFill>
              <a:srgbClr val="FFFFFF"/>
            </a:solidFill>
            <a:prstDash val="solid"/>
            <a:headEnd type="none" w="sm" len="sm"/>
            <a:tailEnd type="none" w="sm" len="sm"/>
          </a:ln>
        </p:spPr>
      </p:sp>
      <p:cxnSp>
        <p:nvCxnSpPr>
          <p:cNvPr id="184" name="Прямая соединительная линия 183">
            <a:extLst>
              <a:ext uri="{FF2B5EF4-FFF2-40B4-BE49-F238E27FC236}">
                <a16:creationId xmlns:a16="http://schemas.microsoft.com/office/drawing/2014/main" xmlns="" id="{CBD29DA8-E435-4BB0-983C-01588B1DC274}"/>
              </a:ext>
            </a:extLst>
          </p:cNvPr>
          <p:cNvCxnSpPr/>
          <p:nvPr/>
        </p:nvCxnSpPr>
        <p:spPr>
          <a:xfrm flipV="1">
            <a:off x="1150063" y="5056504"/>
            <a:ext cx="3963480" cy="19110"/>
          </a:xfrm>
          <a:prstGeom prst="line">
            <a:avLst/>
          </a:prstGeom>
          <a:ln>
            <a:solidFill>
              <a:schemeClr val="accent5">
                <a:lumMod val="40000"/>
                <a:lumOff val="60000"/>
              </a:schemeClr>
            </a:solidFill>
          </a:ln>
        </p:spPr>
        <p:style>
          <a:lnRef idx="1">
            <a:schemeClr val="accent5"/>
          </a:lnRef>
          <a:fillRef idx="0">
            <a:schemeClr val="accent5"/>
          </a:fillRef>
          <a:effectRef idx="0">
            <a:schemeClr val="accent5"/>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111" name="Freeform 30">
            <a:extLst>
              <a:ext uri="{FF2B5EF4-FFF2-40B4-BE49-F238E27FC236}">
                <a16:creationId xmlns:a16="http://schemas.microsoft.com/office/drawing/2014/main" xmlns="" id="{6C400B0C-1027-448C-B7EC-AE718A54D734}"/>
              </a:ext>
            </a:extLst>
          </p:cNvPr>
          <p:cNvSpPr/>
          <p:nvPr/>
        </p:nvSpPr>
        <p:spPr>
          <a:xfrm>
            <a:off x="17442642" y="117096"/>
            <a:ext cx="9077445" cy="9077445"/>
          </a:xfrm>
          <a:custGeom>
            <a:avLst/>
            <a:gdLst/>
            <a:ahLst/>
            <a:cxnLst/>
            <a:rect l="l" t="t" r="r" b="b"/>
            <a:pathLst>
              <a:path w="9077445" h="9077445">
                <a:moveTo>
                  <a:pt x="0" y="0"/>
                </a:moveTo>
                <a:lnTo>
                  <a:pt x="9077444" y="0"/>
                </a:lnTo>
                <a:lnTo>
                  <a:pt x="9077444" y="9077445"/>
                </a:lnTo>
                <a:lnTo>
                  <a:pt x="0" y="907744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0" name="Freeform 30"/>
          <p:cNvSpPr/>
          <p:nvPr/>
        </p:nvSpPr>
        <p:spPr>
          <a:xfrm>
            <a:off x="-7659113" y="589044"/>
            <a:ext cx="9077445" cy="9077445"/>
          </a:xfrm>
          <a:custGeom>
            <a:avLst/>
            <a:gdLst/>
            <a:ahLst/>
            <a:cxnLst/>
            <a:rect l="l" t="t" r="r" b="b"/>
            <a:pathLst>
              <a:path w="9077445" h="9077445">
                <a:moveTo>
                  <a:pt x="0" y="0"/>
                </a:moveTo>
                <a:lnTo>
                  <a:pt x="9077444" y="0"/>
                </a:lnTo>
                <a:lnTo>
                  <a:pt x="9077444" y="9077445"/>
                </a:lnTo>
                <a:lnTo>
                  <a:pt x="0" y="907744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3" name="TextBox 33"/>
          <p:cNvSpPr txBox="1"/>
          <p:nvPr/>
        </p:nvSpPr>
        <p:spPr>
          <a:xfrm>
            <a:off x="18669000" y="8698"/>
            <a:ext cx="1690455" cy="973796"/>
          </a:xfrm>
          <a:prstGeom prst="rect">
            <a:avLst/>
          </a:prstGeom>
        </p:spPr>
        <p:txBody>
          <a:bodyPr lIns="0" tIns="0" rIns="0" bIns="0" rtlCol="0" anchor="t">
            <a:spAutoFit/>
          </a:bodyPr>
          <a:lstStyle/>
          <a:p>
            <a:pPr algn="ctr">
              <a:lnSpc>
                <a:spcPts val="7914"/>
              </a:lnSpc>
            </a:pPr>
            <a:r>
              <a:rPr lang="en-US" sz="5735" b="1" dirty="0">
                <a:solidFill>
                  <a:srgbClr val="FFFFFF"/>
                </a:solidFill>
                <a:latin typeface="DM Sans Bold"/>
                <a:ea typeface="DM Sans Bold"/>
                <a:cs typeface="DM Sans Bold"/>
                <a:sym typeface="DM Sans Bold"/>
              </a:rPr>
              <a:t>01</a:t>
            </a:r>
          </a:p>
        </p:txBody>
      </p:sp>
      <p:cxnSp>
        <p:nvCxnSpPr>
          <p:cNvPr id="6" name="Прямая соединительная линия 5">
            <a:extLst>
              <a:ext uri="{FF2B5EF4-FFF2-40B4-BE49-F238E27FC236}">
                <a16:creationId xmlns:a16="http://schemas.microsoft.com/office/drawing/2014/main" xmlns="" id="{BACDC718-1908-4002-ACAA-A54DE51E30EB}"/>
              </a:ext>
            </a:extLst>
          </p:cNvPr>
          <p:cNvCxnSpPr/>
          <p:nvPr/>
        </p:nvCxnSpPr>
        <p:spPr>
          <a:xfrm>
            <a:off x="2971800" y="571500"/>
            <a:ext cx="11759381" cy="0"/>
          </a:xfrm>
          <a:prstGeom prst="line">
            <a:avLst/>
          </a:prstGeom>
          <a:ln>
            <a:solidFill>
              <a:schemeClr val="accent5">
                <a:alpha val="50000"/>
              </a:schemeClr>
            </a:solidFill>
          </a:ln>
        </p:spPr>
        <p:style>
          <a:lnRef idx="1">
            <a:schemeClr val="accent5"/>
          </a:lnRef>
          <a:fillRef idx="0">
            <a:schemeClr val="accent5"/>
          </a:fillRef>
          <a:effectRef idx="0">
            <a:schemeClr val="accent5"/>
          </a:effectRef>
          <a:fontRef idx="minor">
            <a:schemeClr val="tx1"/>
          </a:fontRef>
        </p:style>
      </p:cxnSp>
      <p:sp>
        <p:nvSpPr>
          <p:cNvPr id="7" name="TextBox 6">
            <a:extLst>
              <a:ext uri="{FF2B5EF4-FFF2-40B4-BE49-F238E27FC236}">
                <a16:creationId xmlns:a16="http://schemas.microsoft.com/office/drawing/2014/main" xmlns="" id="{B935DC1D-91D1-499F-A939-C1400EAFA995}"/>
              </a:ext>
            </a:extLst>
          </p:cNvPr>
          <p:cNvSpPr txBox="1"/>
          <p:nvPr/>
        </p:nvSpPr>
        <p:spPr>
          <a:xfrm>
            <a:off x="78091" y="521534"/>
            <a:ext cx="9077445" cy="338554"/>
          </a:xfrm>
          <a:prstGeom prst="rect">
            <a:avLst/>
          </a:prstGeom>
          <a:noFill/>
        </p:spPr>
        <p:txBody>
          <a:bodyPr wrap="square">
            <a:spAutoFit/>
          </a:bodyPr>
          <a:lstStyle/>
          <a:p>
            <a:pPr indent="450215" algn="ctr">
              <a:spcAft>
                <a:spcPts val="800"/>
              </a:spcAft>
            </a:pPr>
            <a:r>
              <a:rPr lang="en-US" sz="1600" b="1" dirty="0">
                <a:solidFill>
                  <a:schemeClr val="bg1"/>
                </a:solidFill>
                <a:latin typeface="DM Sans Bold" panose="020B0604020202020204" charset="0"/>
                <a:ea typeface="Calibri" panose="020F0502020204030204" pitchFamily="34" charset="0"/>
              </a:rPr>
              <a:t>2022-2025年教学与科研实验室更新</a:t>
            </a:r>
            <a:endParaRPr lang="ru-RU" sz="1600" b="1" dirty="0">
              <a:solidFill>
                <a:schemeClr val="bg1"/>
              </a:solidFill>
              <a:ea typeface="Calibri" panose="020F0502020204030204" pitchFamily="34" charset="0"/>
            </a:endParaRPr>
          </a:p>
        </p:txBody>
      </p:sp>
      <p:sp>
        <p:nvSpPr>
          <p:cNvPr id="9" name="TextBox 8">
            <a:extLst>
              <a:ext uri="{FF2B5EF4-FFF2-40B4-BE49-F238E27FC236}">
                <a16:creationId xmlns:a16="http://schemas.microsoft.com/office/drawing/2014/main" xmlns="" id="{4DC83D58-409B-475A-B4E3-E3D9BD54A6A5}"/>
              </a:ext>
            </a:extLst>
          </p:cNvPr>
          <p:cNvSpPr txBox="1"/>
          <p:nvPr/>
        </p:nvSpPr>
        <p:spPr>
          <a:xfrm flipH="1">
            <a:off x="745423" y="860088"/>
            <a:ext cx="7788976" cy="625812"/>
          </a:xfrm>
          <a:prstGeom prst="rect">
            <a:avLst/>
          </a:prstGeom>
          <a:noFill/>
        </p:spPr>
        <p:txBody>
          <a:bodyPr wrap="square">
            <a:spAutoFit/>
          </a:bodyPr>
          <a:lstStyle/>
          <a:p>
            <a:pPr marL="0" marR="0" indent="450215" algn="ctr">
              <a:spcAft>
                <a:spcPts val="800"/>
              </a:spcAft>
            </a:pPr>
            <a:r>
              <a:rPr lang="en-US" sz="1600" b="1" dirty="0">
                <a:solidFill>
                  <a:schemeClr val="bg1"/>
                </a:solidFill>
                <a:latin typeface="DM Sans Bold" panose="020B0604020202020204" charset="0"/>
                <a:ea typeface="Calibri" panose="020F0502020204030204" pitchFamily="34" charset="0"/>
              </a:rPr>
              <a:t>教学实验室（大学资金）</a:t>
            </a:r>
          </a:p>
          <a:p>
            <a:pPr marL="0" marR="0" indent="450215" algn="ctr">
              <a:spcAft>
                <a:spcPts val="800"/>
              </a:spcAft>
            </a:pPr>
            <a:endParaRPr lang="ru-RU" sz="1200" dirty="0">
              <a:solidFill>
                <a:schemeClr val="accent1"/>
              </a:solidFill>
              <a:effectLst/>
              <a:latin typeface="Times New Roman" panose="02020603050405020304" pitchFamily="18" charset="0"/>
              <a:ea typeface="Calibri" panose="020F0502020204030204" pitchFamily="34" charset="0"/>
            </a:endParaRPr>
          </a:p>
        </p:txBody>
      </p:sp>
      <p:graphicFrame>
        <p:nvGraphicFramePr>
          <p:cNvPr id="69" name="Диаграмма 68">
            <a:extLst>
              <a:ext uri="{FF2B5EF4-FFF2-40B4-BE49-F238E27FC236}">
                <a16:creationId xmlns:a16="http://schemas.microsoft.com/office/drawing/2014/main" xmlns="" id="{1E6179FE-7557-40B6-9DEF-181FC4B77D7D}"/>
              </a:ext>
            </a:extLst>
          </p:cNvPr>
          <p:cNvGraphicFramePr/>
          <p:nvPr>
            <p:extLst>
              <p:ext uri="{D42A27DB-BD31-4B8C-83A1-F6EECF244321}">
                <p14:modId xmlns:p14="http://schemas.microsoft.com/office/powerpoint/2010/main" val="642727995"/>
              </p:ext>
            </p:extLst>
          </p:nvPr>
        </p:nvGraphicFramePr>
        <p:xfrm>
          <a:off x="745425" y="6732351"/>
          <a:ext cx="4392170" cy="3287949"/>
        </p:xfrm>
        <a:graphic>
          <a:graphicData uri="http://schemas.openxmlformats.org/drawingml/2006/chart">
            <c:chart xmlns:c="http://schemas.openxmlformats.org/drawingml/2006/chart" xmlns:r="http://schemas.openxmlformats.org/officeDocument/2006/relationships" r:id="rId4"/>
          </a:graphicData>
        </a:graphic>
      </p:graphicFrame>
      <p:sp>
        <p:nvSpPr>
          <p:cNvPr id="70" name="TextBox 69">
            <a:extLst>
              <a:ext uri="{FF2B5EF4-FFF2-40B4-BE49-F238E27FC236}">
                <a16:creationId xmlns:a16="http://schemas.microsoft.com/office/drawing/2014/main" xmlns="" id="{F076D934-86EA-4265-AEF7-300A111B10A8}"/>
              </a:ext>
            </a:extLst>
          </p:cNvPr>
          <p:cNvSpPr txBox="1"/>
          <p:nvPr/>
        </p:nvSpPr>
        <p:spPr>
          <a:xfrm>
            <a:off x="12741159" y="811464"/>
            <a:ext cx="3815104" cy="338554"/>
          </a:xfrm>
          <a:prstGeom prst="rect">
            <a:avLst/>
          </a:prstGeom>
          <a:noFill/>
        </p:spPr>
        <p:txBody>
          <a:bodyPr wrap="square">
            <a:spAutoFit/>
          </a:bodyPr>
          <a:lstStyle/>
          <a:p>
            <a:pPr indent="450215" algn="ctr">
              <a:spcAft>
                <a:spcPts val="800"/>
              </a:spcAft>
            </a:pPr>
            <a:r>
              <a:rPr lang="en-US" sz="1600" b="1" dirty="0">
                <a:solidFill>
                  <a:schemeClr val="bg1"/>
                </a:solidFill>
                <a:effectLst/>
                <a:latin typeface="DM Sans Bold" panose="020B0604020202020204" charset="0"/>
                <a:ea typeface="Calibri" panose="020F0502020204030204" pitchFamily="34" charset="0"/>
              </a:rPr>
              <a:t>科学学派</a:t>
            </a:r>
            <a:endParaRPr lang="en-US" sz="1600" dirty="0">
              <a:solidFill>
                <a:schemeClr val="bg1"/>
              </a:solidFill>
              <a:effectLst/>
              <a:latin typeface="DM Sans Bold" panose="020B0604020202020204" charset="0"/>
              <a:ea typeface="Calibri" panose="020F0502020204030204" pitchFamily="34" charset="0"/>
            </a:endParaRPr>
          </a:p>
        </p:txBody>
      </p:sp>
      <p:grpSp>
        <p:nvGrpSpPr>
          <p:cNvPr id="71" name="Группа 70">
            <a:extLst>
              <a:ext uri="{FF2B5EF4-FFF2-40B4-BE49-F238E27FC236}">
                <a16:creationId xmlns:a16="http://schemas.microsoft.com/office/drawing/2014/main" xmlns="" id="{EDAB7754-70CC-45F9-927D-AB8538CF220B}"/>
              </a:ext>
            </a:extLst>
          </p:cNvPr>
          <p:cNvGrpSpPr/>
          <p:nvPr/>
        </p:nvGrpSpPr>
        <p:grpSpPr>
          <a:xfrm>
            <a:off x="9349341" y="1181100"/>
            <a:ext cx="8557659" cy="5242626"/>
            <a:chOff x="6078481" y="564434"/>
            <a:chExt cx="6203737" cy="4050749"/>
          </a:xfrm>
        </p:grpSpPr>
        <p:sp>
          <p:nvSpPr>
            <p:cNvPr id="72" name="TextBox 71">
              <a:extLst>
                <a:ext uri="{FF2B5EF4-FFF2-40B4-BE49-F238E27FC236}">
                  <a16:creationId xmlns:a16="http://schemas.microsoft.com/office/drawing/2014/main" xmlns="" id="{56C9355D-6879-4B81-8890-1F4918A02DF7}"/>
                </a:ext>
              </a:extLst>
            </p:cNvPr>
            <p:cNvSpPr txBox="1"/>
            <p:nvPr/>
          </p:nvSpPr>
          <p:spPr>
            <a:xfrm>
              <a:off x="6078481" y="1831548"/>
              <a:ext cx="876097" cy="394656"/>
            </a:xfrm>
            <a:prstGeom prst="flowChartAlternateProcess">
              <a:avLst/>
            </a:prstGeom>
            <a:solidFill>
              <a:srgbClr val="092D58"/>
            </a:solidFill>
            <a:ln>
              <a:solidFill>
                <a:schemeClr val="bg1"/>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1200" dirty="0" err="1">
                  <a:solidFill>
                    <a:srgbClr val="4DD5FF"/>
                  </a:solidFill>
                  <a:effectLst/>
                  <a:latin typeface="DM Sans Bold" charset="0"/>
                  <a:ea typeface="Calibri" panose="020F0502020204030204" pitchFamily="34" charset="0"/>
                </a:rPr>
                <a:t>科学学派领域</a:t>
              </a:r>
              <a:endParaRPr lang="en-US" sz="1200" dirty="0">
                <a:solidFill>
                  <a:srgbClr val="4DD5FF"/>
                </a:solidFill>
                <a:latin typeface="DM Sans Bold" charset="0"/>
              </a:endParaRPr>
            </a:p>
          </p:txBody>
        </p:sp>
        <p:sp>
          <p:nvSpPr>
            <p:cNvPr id="73" name="TextBox 72">
              <a:extLst>
                <a:ext uri="{FF2B5EF4-FFF2-40B4-BE49-F238E27FC236}">
                  <a16:creationId xmlns:a16="http://schemas.microsoft.com/office/drawing/2014/main" xmlns="" id="{CAEFC216-2DB9-4DCB-BC8B-86A0230EDE70}"/>
                </a:ext>
              </a:extLst>
            </p:cNvPr>
            <p:cNvSpPr txBox="1"/>
            <p:nvPr/>
          </p:nvSpPr>
          <p:spPr>
            <a:xfrm>
              <a:off x="7084028" y="603078"/>
              <a:ext cx="854135"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化学</a:t>
              </a:r>
              <a:endParaRPr lang="en-US" sz="1200" dirty="0">
                <a:solidFill>
                  <a:srgbClr val="4DD5FF"/>
                </a:solidFill>
                <a:latin typeface="DM Sans Bold" charset="0"/>
              </a:endParaRPr>
            </a:p>
          </p:txBody>
        </p:sp>
        <p:sp>
          <p:nvSpPr>
            <p:cNvPr id="74" name="TextBox 73">
              <a:extLst>
                <a:ext uri="{FF2B5EF4-FFF2-40B4-BE49-F238E27FC236}">
                  <a16:creationId xmlns:a16="http://schemas.microsoft.com/office/drawing/2014/main" xmlns="" id="{381A80F0-DA1F-49D0-BBA4-727EB504EDAD}"/>
                </a:ext>
              </a:extLst>
            </p:cNvPr>
            <p:cNvSpPr txBox="1"/>
            <p:nvPr/>
          </p:nvSpPr>
          <p:spPr>
            <a:xfrm>
              <a:off x="7084028" y="1057540"/>
              <a:ext cx="846590"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生物物理学</a:t>
              </a:r>
              <a:endParaRPr lang="en-US" sz="1200" dirty="0">
                <a:solidFill>
                  <a:srgbClr val="4DD5FF"/>
                </a:solidFill>
                <a:latin typeface="DM Sans Bold" charset="0"/>
              </a:endParaRPr>
            </a:p>
          </p:txBody>
        </p:sp>
        <p:sp>
          <p:nvSpPr>
            <p:cNvPr id="75" name="TextBox 74">
              <a:extLst>
                <a:ext uri="{FF2B5EF4-FFF2-40B4-BE49-F238E27FC236}">
                  <a16:creationId xmlns:a16="http://schemas.microsoft.com/office/drawing/2014/main" xmlns="" id="{2B704511-910C-4EC8-B5D8-4FDC460C3FF8}"/>
                </a:ext>
              </a:extLst>
            </p:cNvPr>
            <p:cNvSpPr txBox="1"/>
            <p:nvPr/>
          </p:nvSpPr>
          <p:spPr>
            <a:xfrm>
              <a:off x="7066692" y="1496122"/>
              <a:ext cx="864000"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生物学</a:t>
              </a:r>
              <a:endParaRPr lang="en-US" sz="1200" dirty="0">
                <a:solidFill>
                  <a:srgbClr val="4DD5FF"/>
                </a:solidFill>
                <a:latin typeface="DM Sans Bold" charset="0"/>
              </a:endParaRPr>
            </a:p>
          </p:txBody>
        </p:sp>
        <p:sp>
          <p:nvSpPr>
            <p:cNvPr id="76" name="TextBox 75">
              <a:extLst>
                <a:ext uri="{FF2B5EF4-FFF2-40B4-BE49-F238E27FC236}">
                  <a16:creationId xmlns:a16="http://schemas.microsoft.com/office/drawing/2014/main" xmlns="" id="{D5BB9CF9-1E41-473A-980F-5D37E09E66DD}"/>
                </a:ext>
              </a:extLst>
            </p:cNvPr>
            <p:cNvSpPr txBox="1"/>
            <p:nvPr/>
          </p:nvSpPr>
          <p:spPr>
            <a:xfrm>
              <a:off x="7076483" y="1959379"/>
              <a:ext cx="854135"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解剖学</a:t>
              </a:r>
              <a:endParaRPr lang="en-US" sz="1200" dirty="0">
                <a:solidFill>
                  <a:srgbClr val="4DD5FF"/>
                </a:solidFill>
                <a:latin typeface="DM Sans Bold" charset="0"/>
              </a:endParaRPr>
            </a:p>
          </p:txBody>
        </p:sp>
        <p:sp>
          <p:nvSpPr>
            <p:cNvPr id="77" name="TextBox 76">
              <a:extLst>
                <a:ext uri="{FF2B5EF4-FFF2-40B4-BE49-F238E27FC236}">
                  <a16:creationId xmlns:a16="http://schemas.microsoft.com/office/drawing/2014/main" xmlns="" id="{19B1E83C-C597-4B5D-AFB6-03C47E806E4F}"/>
                </a:ext>
              </a:extLst>
            </p:cNvPr>
            <p:cNvSpPr txBox="1"/>
            <p:nvPr/>
          </p:nvSpPr>
          <p:spPr>
            <a:xfrm>
              <a:off x="7067174" y="2402958"/>
              <a:ext cx="854134"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生理学</a:t>
              </a:r>
              <a:endParaRPr lang="en-US" sz="1200" dirty="0">
                <a:solidFill>
                  <a:srgbClr val="4DD5FF"/>
                </a:solidFill>
                <a:latin typeface="DM Sans Bold" charset="0"/>
              </a:endParaRPr>
            </a:p>
          </p:txBody>
        </p:sp>
        <p:sp>
          <p:nvSpPr>
            <p:cNvPr id="78" name="TextBox 77">
              <a:extLst>
                <a:ext uri="{FF2B5EF4-FFF2-40B4-BE49-F238E27FC236}">
                  <a16:creationId xmlns:a16="http://schemas.microsoft.com/office/drawing/2014/main" xmlns="" id="{FE905797-E9D3-4B12-93F5-1D8CB2CE5DD9}"/>
                </a:ext>
              </a:extLst>
            </p:cNvPr>
            <p:cNvSpPr txBox="1"/>
            <p:nvPr/>
          </p:nvSpPr>
          <p:spPr>
            <a:xfrm>
              <a:off x="7066692" y="2889873"/>
              <a:ext cx="854136"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组织学</a:t>
              </a:r>
              <a:endParaRPr lang="en-US" sz="1200" dirty="0">
                <a:solidFill>
                  <a:srgbClr val="4DD5FF"/>
                </a:solidFill>
                <a:latin typeface="DM Sans Bold" charset="0"/>
              </a:endParaRPr>
            </a:p>
          </p:txBody>
        </p:sp>
        <p:sp>
          <p:nvSpPr>
            <p:cNvPr id="79" name="TextBox 78">
              <a:extLst>
                <a:ext uri="{FF2B5EF4-FFF2-40B4-BE49-F238E27FC236}">
                  <a16:creationId xmlns:a16="http://schemas.microsoft.com/office/drawing/2014/main" xmlns="" id="{D83F6C07-046A-4AE1-B1F4-3CF1937569AC}"/>
                </a:ext>
              </a:extLst>
            </p:cNvPr>
            <p:cNvSpPr txBox="1"/>
            <p:nvPr/>
          </p:nvSpPr>
          <p:spPr>
            <a:xfrm>
              <a:off x="7057507" y="3353130"/>
              <a:ext cx="864000"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历史</a:t>
              </a:r>
              <a:endParaRPr lang="en-US" sz="1200" dirty="0">
                <a:solidFill>
                  <a:srgbClr val="4DD5FF"/>
                </a:solidFill>
                <a:latin typeface="DM Sans Bold" charset="0"/>
              </a:endParaRPr>
            </a:p>
          </p:txBody>
        </p:sp>
        <p:sp>
          <p:nvSpPr>
            <p:cNvPr id="80" name="TextBox 79">
              <a:extLst>
                <a:ext uri="{FF2B5EF4-FFF2-40B4-BE49-F238E27FC236}">
                  <a16:creationId xmlns:a16="http://schemas.microsoft.com/office/drawing/2014/main" xmlns="" id="{705D55DC-3D91-40E4-818A-F4D43C5666EA}"/>
                </a:ext>
              </a:extLst>
            </p:cNvPr>
            <p:cNvSpPr txBox="1"/>
            <p:nvPr/>
          </p:nvSpPr>
          <p:spPr>
            <a:xfrm>
              <a:off x="7062439" y="3815696"/>
              <a:ext cx="854136"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民族志学</a:t>
              </a:r>
              <a:endParaRPr lang="en-US" sz="1200" dirty="0">
                <a:solidFill>
                  <a:srgbClr val="4DD5FF"/>
                </a:solidFill>
                <a:latin typeface="DM Sans Bold" charset="0"/>
              </a:endParaRPr>
            </a:p>
          </p:txBody>
        </p:sp>
        <p:sp>
          <p:nvSpPr>
            <p:cNvPr id="81" name="TextBox 80">
              <a:extLst>
                <a:ext uri="{FF2B5EF4-FFF2-40B4-BE49-F238E27FC236}">
                  <a16:creationId xmlns:a16="http://schemas.microsoft.com/office/drawing/2014/main" xmlns="" id="{E723304E-68B7-46EE-ACD3-CD9B517BD6A1}"/>
                </a:ext>
              </a:extLst>
            </p:cNvPr>
            <p:cNvSpPr txBox="1"/>
            <p:nvPr/>
          </p:nvSpPr>
          <p:spPr>
            <a:xfrm>
              <a:off x="8692446" y="564434"/>
              <a:ext cx="3563032" cy="394656"/>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提取乌兹别克斯坦植物化学成分及其医学应用前景</a:t>
              </a:r>
              <a:endParaRPr lang="en-US" sz="1200" dirty="0">
                <a:solidFill>
                  <a:srgbClr val="4DD5FF"/>
                </a:solidFill>
                <a:latin typeface="DM Sans Bold" charset="0"/>
              </a:endParaRPr>
            </a:p>
          </p:txBody>
        </p:sp>
        <p:sp>
          <p:nvSpPr>
            <p:cNvPr id="82" name="TextBox 81">
              <a:extLst>
                <a:ext uri="{FF2B5EF4-FFF2-40B4-BE49-F238E27FC236}">
                  <a16:creationId xmlns:a16="http://schemas.microsoft.com/office/drawing/2014/main" xmlns="" id="{778E2E09-8AA5-475B-8979-A8A719F13881}"/>
                </a:ext>
              </a:extLst>
            </p:cNvPr>
            <p:cNvSpPr txBox="1"/>
            <p:nvPr/>
          </p:nvSpPr>
          <p:spPr>
            <a:xfrm>
              <a:off x="8060762" y="598727"/>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200" dirty="0">
                  <a:solidFill>
                    <a:srgbClr val="4DD5FF"/>
                  </a:solidFill>
                  <a:effectLst/>
                  <a:latin typeface="DM Sans Bold" charset="0"/>
                  <a:ea typeface="Calibri" panose="020F0502020204030204" pitchFamily="34" charset="0"/>
                </a:rPr>
                <a:t>2022</a:t>
              </a:r>
              <a:endParaRPr lang="en-US" sz="1200" dirty="0">
                <a:solidFill>
                  <a:srgbClr val="4DD5FF"/>
                </a:solidFill>
                <a:latin typeface="DM Sans Bold" charset="0"/>
              </a:endParaRPr>
            </a:p>
          </p:txBody>
        </p:sp>
        <p:sp>
          <p:nvSpPr>
            <p:cNvPr id="83" name="TextBox 82">
              <a:extLst>
                <a:ext uri="{FF2B5EF4-FFF2-40B4-BE49-F238E27FC236}">
                  <a16:creationId xmlns:a16="http://schemas.microsoft.com/office/drawing/2014/main" xmlns="" id="{C2B50D4B-21BC-405A-AD71-0FC071DC381D}"/>
                </a:ext>
              </a:extLst>
            </p:cNvPr>
            <p:cNvSpPr txBox="1"/>
            <p:nvPr/>
          </p:nvSpPr>
          <p:spPr>
            <a:xfrm>
              <a:off x="8060762" y="1044700"/>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a:t>
              </a:r>
              <a:r>
                <a:rPr lang="en-US" sz="1200" dirty="0">
                  <a:solidFill>
                    <a:srgbClr val="4DD5FF"/>
                  </a:solidFill>
                  <a:latin typeface="DM Sans Bold" charset="0"/>
                  <a:ea typeface="Calibri" panose="020F0502020204030204" pitchFamily="34" charset="0"/>
                </a:rPr>
                <a:t>023</a:t>
              </a:r>
              <a:endParaRPr lang="en-US" sz="1200" dirty="0">
                <a:solidFill>
                  <a:srgbClr val="4DD5FF"/>
                </a:solidFill>
                <a:latin typeface="DM Sans Bold" charset="0"/>
              </a:endParaRPr>
            </a:p>
          </p:txBody>
        </p:sp>
        <p:sp>
          <p:nvSpPr>
            <p:cNvPr id="84" name="TextBox 83">
              <a:extLst>
                <a:ext uri="{FF2B5EF4-FFF2-40B4-BE49-F238E27FC236}">
                  <a16:creationId xmlns:a16="http://schemas.microsoft.com/office/drawing/2014/main" xmlns="" id="{0C81FABE-FC7A-417B-BB25-54CD172E0AD1}"/>
                </a:ext>
              </a:extLst>
            </p:cNvPr>
            <p:cNvSpPr txBox="1"/>
            <p:nvPr/>
          </p:nvSpPr>
          <p:spPr>
            <a:xfrm>
              <a:off x="8692446" y="1020624"/>
              <a:ext cx="3563032" cy="394656"/>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用物理方法研究机体内生化过程</a:t>
              </a:r>
              <a:endParaRPr lang="en-US" sz="1200" dirty="0">
                <a:solidFill>
                  <a:srgbClr val="4DD5FF"/>
                </a:solidFill>
                <a:latin typeface="DM Sans Bold" charset="0"/>
              </a:endParaRPr>
            </a:p>
          </p:txBody>
        </p:sp>
        <p:sp>
          <p:nvSpPr>
            <p:cNvPr id="85" name="TextBox 84">
              <a:extLst>
                <a:ext uri="{FF2B5EF4-FFF2-40B4-BE49-F238E27FC236}">
                  <a16:creationId xmlns:a16="http://schemas.microsoft.com/office/drawing/2014/main" xmlns="" id="{6ED345B3-671E-46E3-9162-9B18DC36CFCF}"/>
                </a:ext>
              </a:extLst>
            </p:cNvPr>
            <p:cNvSpPr txBox="1"/>
            <p:nvPr/>
          </p:nvSpPr>
          <p:spPr>
            <a:xfrm>
              <a:off x="8062408" y="1495993"/>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2024</a:t>
              </a:r>
              <a:endParaRPr lang="en-US" sz="1200" dirty="0">
                <a:solidFill>
                  <a:srgbClr val="4DD5FF"/>
                </a:solidFill>
                <a:latin typeface="DM Sans Bold" charset="0"/>
              </a:endParaRPr>
            </a:p>
          </p:txBody>
        </p:sp>
        <p:sp>
          <p:nvSpPr>
            <p:cNvPr id="86" name="TextBox 85">
              <a:extLst>
                <a:ext uri="{FF2B5EF4-FFF2-40B4-BE49-F238E27FC236}">
                  <a16:creationId xmlns:a16="http://schemas.microsoft.com/office/drawing/2014/main" xmlns="" id="{58E58A7A-3622-41F1-B292-FA14B410FD62}"/>
                </a:ext>
              </a:extLst>
            </p:cNvPr>
            <p:cNvSpPr txBox="1"/>
            <p:nvPr/>
          </p:nvSpPr>
          <p:spPr>
            <a:xfrm>
              <a:off x="8681108" y="1480793"/>
              <a:ext cx="3563032"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苏尔汉河州药用植物种群</a:t>
              </a:r>
              <a:endParaRPr lang="en-US" sz="1200" dirty="0">
                <a:solidFill>
                  <a:srgbClr val="4DD5FF"/>
                </a:solidFill>
                <a:latin typeface="DM Sans Bold" charset="0"/>
              </a:endParaRPr>
            </a:p>
          </p:txBody>
        </p:sp>
        <p:sp>
          <p:nvSpPr>
            <p:cNvPr id="87" name="TextBox 86">
              <a:extLst>
                <a:ext uri="{FF2B5EF4-FFF2-40B4-BE49-F238E27FC236}">
                  <a16:creationId xmlns:a16="http://schemas.microsoft.com/office/drawing/2014/main" xmlns="" id="{8886E3F4-D453-425A-9552-EB3915204624}"/>
                </a:ext>
              </a:extLst>
            </p:cNvPr>
            <p:cNvSpPr txBox="1"/>
            <p:nvPr/>
          </p:nvSpPr>
          <p:spPr>
            <a:xfrm>
              <a:off x="8067129" y="1941966"/>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2025</a:t>
              </a:r>
            </a:p>
          </p:txBody>
        </p:sp>
        <p:sp>
          <p:nvSpPr>
            <p:cNvPr id="88" name="TextBox 87">
              <a:extLst>
                <a:ext uri="{FF2B5EF4-FFF2-40B4-BE49-F238E27FC236}">
                  <a16:creationId xmlns:a16="http://schemas.microsoft.com/office/drawing/2014/main" xmlns="" id="{65C10F1E-3CD8-47FE-B603-57CE1B4CEC4C}"/>
                </a:ext>
              </a:extLst>
            </p:cNvPr>
            <p:cNvSpPr txBox="1"/>
            <p:nvPr/>
          </p:nvSpPr>
          <p:spPr>
            <a:xfrm>
              <a:off x="8681107" y="1766484"/>
              <a:ext cx="3574370" cy="552518"/>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热带气候中生物疾病的人体测量、形态测量及形态学指标分析</a:t>
              </a:r>
              <a:endParaRPr lang="en-US" sz="1200" dirty="0">
                <a:solidFill>
                  <a:srgbClr val="4DD5FF"/>
                </a:solidFill>
                <a:latin typeface="DM Sans Bold" charset="0"/>
              </a:endParaRPr>
            </a:p>
          </p:txBody>
        </p:sp>
        <p:sp>
          <p:nvSpPr>
            <p:cNvPr id="89" name="TextBox 88">
              <a:extLst>
                <a:ext uri="{FF2B5EF4-FFF2-40B4-BE49-F238E27FC236}">
                  <a16:creationId xmlns:a16="http://schemas.microsoft.com/office/drawing/2014/main" xmlns="" id="{F9443F09-772E-4F27-831F-C7BC31A7315D}"/>
                </a:ext>
              </a:extLst>
            </p:cNvPr>
            <p:cNvSpPr txBox="1"/>
            <p:nvPr/>
          </p:nvSpPr>
          <p:spPr>
            <a:xfrm>
              <a:off x="8067129" y="2398784"/>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2025</a:t>
              </a:r>
            </a:p>
          </p:txBody>
        </p:sp>
        <p:sp>
          <p:nvSpPr>
            <p:cNvPr id="90" name="TextBox 89">
              <a:extLst>
                <a:ext uri="{FF2B5EF4-FFF2-40B4-BE49-F238E27FC236}">
                  <a16:creationId xmlns:a16="http://schemas.microsoft.com/office/drawing/2014/main" xmlns="" id="{F604B73A-1597-444B-8A27-83F157C82C92}"/>
                </a:ext>
              </a:extLst>
            </p:cNvPr>
            <p:cNvSpPr txBox="1"/>
            <p:nvPr/>
          </p:nvSpPr>
          <p:spPr>
            <a:xfrm>
              <a:off x="8680448" y="2377879"/>
              <a:ext cx="3574370" cy="394656"/>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用生理学方法研究机体生理过程</a:t>
              </a:r>
              <a:endParaRPr lang="en-US" sz="1200" dirty="0">
                <a:solidFill>
                  <a:srgbClr val="4DD5FF"/>
                </a:solidFill>
                <a:latin typeface="DM Sans Bold" charset="0"/>
              </a:endParaRPr>
            </a:p>
          </p:txBody>
        </p:sp>
        <p:sp>
          <p:nvSpPr>
            <p:cNvPr id="91" name="TextBox 90">
              <a:extLst>
                <a:ext uri="{FF2B5EF4-FFF2-40B4-BE49-F238E27FC236}">
                  <a16:creationId xmlns:a16="http://schemas.microsoft.com/office/drawing/2014/main" xmlns="" id="{E99EB764-9B44-449F-BD29-BDE980DD8AF3}"/>
                </a:ext>
              </a:extLst>
            </p:cNvPr>
            <p:cNvSpPr txBox="1"/>
            <p:nvPr/>
          </p:nvSpPr>
          <p:spPr>
            <a:xfrm>
              <a:off x="8057162" y="2892406"/>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2025</a:t>
              </a:r>
            </a:p>
          </p:txBody>
        </p:sp>
        <p:sp>
          <p:nvSpPr>
            <p:cNvPr id="92" name="TextBox 91">
              <a:extLst>
                <a:ext uri="{FF2B5EF4-FFF2-40B4-BE49-F238E27FC236}">
                  <a16:creationId xmlns:a16="http://schemas.microsoft.com/office/drawing/2014/main" xmlns="" id="{46E65094-BC60-48D6-A0F9-6A14DCF611B3}"/>
                </a:ext>
              </a:extLst>
            </p:cNvPr>
            <p:cNvSpPr txBox="1"/>
            <p:nvPr/>
          </p:nvSpPr>
          <p:spPr>
            <a:xfrm>
              <a:off x="8692446" y="2840069"/>
              <a:ext cx="3574370" cy="394656"/>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latin typeface="DM Sans Bold" charset="0"/>
                  <a:ea typeface="Calibri" panose="020F0502020204030204" pitchFamily="34" charset="0"/>
                </a:rPr>
                <a:t>用组织化学和免疫组化方法研究机体生理过程</a:t>
              </a:r>
              <a:endParaRPr lang="en-US" sz="1200" dirty="0">
                <a:solidFill>
                  <a:srgbClr val="4DD5FF"/>
                </a:solidFill>
                <a:latin typeface="DM Sans Bold" charset="0"/>
                <a:ea typeface="Calibri" panose="020F0502020204030204" pitchFamily="34" charset="0"/>
              </a:endParaRPr>
            </a:p>
          </p:txBody>
        </p:sp>
        <p:sp>
          <p:nvSpPr>
            <p:cNvPr id="93" name="TextBox 92">
              <a:extLst>
                <a:ext uri="{FF2B5EF4-FFF2-40B4-BE49-F238E27FC236}">
                  <a16:creationId xmlns:a16="http://schemas.microsoft.com/office/drawing/2014/main" xmlns="" id="{1428C851-A2BD-455C-852A-87E2C7B57ACE}"/>
                </a:ext>
              </a:extLst>
            </p:cNvPr>
            <p:cNvSpPr txBox="1"/>
            <p:nvPr/>
          </p:nvSpPr>
          <p:spPr>
            <a:xfrm>
              <a:off x="8067129" y="3338380"/>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2025</a:t>
              </a:r>
            </a:p>
          </p:txBody>
        </p:sp>
        <p:sp>
          <p:nvSpPr>
            <p:cNvPr id="94" name="TextBox 93">
              <a:extLst>
                <a:ext uri="{FF2B5EF4-FFF2-40B4-BE49-F238E27FC236}">
                  <a16:creationId xmlns:a16="http://schemas.microsoft.com/office/drawing/2014/main" xmlns="" id="{87FC681A-13CC-481C-A525-3DD3A2B8BADB}"/>
                </a:ext>
              </a:extLst>
            </p:cNvPr>
            <p:cNvSpPr txBox="1"/>
            <p:nvPr/>
          </p:nvSpPr>
          <p:spPr>
            <a:xfrm>
              <a:off x="8681108" y="3302259"/>
              <a:ext cx="3585708" cy="394656"/>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latin typeface="DM Sans Bold" charset="0"/>
                </a:rPr>
                <a:t>将数字技术和人工智能引入历史学教学过程</a:t>
              </a:r>
            </a:p>
          </p:txBody>
        </p:sp>
        <p:sp>
          <p:nvSpPr>
            <p:cNvPr id="95" name="TextBox 94">
              <a:extLst>
                <a:ext uri="{FF2B5EF4-FFF2-40B4-BE49-F238E27FC236}">
                  <a16:creationId xmlns:a16="http://schemas.microsoft.com/office/drawing/2014/main" xmlns="" id="{75FFF9AE-1D7E-4A99-8CD2-506E290E8ECC}"/>
                </a:ext>
              </a:extLst>
            </p:cNvPr>
            <p:cNvSpPr txBox="1"/>
            <p:nvPr/>
          </p:nvSpPr>
          <p:spPr>
            <a:xfrm>
              <a:off x="8052897" y="3792723"/>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2025</a:t>
              </a:r>
            </a:p>
          </p:txBody>
        </p:sp>
        <p:sp>
          <p:nvSpPr>
            <p:cNvPr id="96" name="TextBox 95">
              <a:extLst>
                <a:ext uri="{FF2B5EF4-FFF2-40B4-BE49-F238E27FC236}">
                  <a16:creationId xmlns:a16="http://schemas.microsoft.com/office/drawing/2014/main" xmlns="" id="{BB617A76-D0C0-4F97-B356-79125FA660DD}"/>
                </a:ext>
              </a:extLst>
            </p:cNvPr>
            <p:cNvSpPr txBox="1"/>
            <p:nvPr/>
          </p:nvSpPr>
          <p:spPr>
            <a:xfrm>
              <a:off x="8681108" y="3759286"/>
              <a:ext cx="3585708" cy="552518"/>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latin typeface="DM Sans Bold" charset="0"/>
                </a:rPr>
                <a:t>当代民族志学主要方向与学派及民族理论相关的优先理论方法观</a:t>
              </a:r>
              <a:endParaRPr lang="en-US" sz="1200" dirty="0">
                <a:solidFill>
                  <a:srgbClr val="4DD5FF"/>
                </a:solidFill>
                <a:latin typeface="DM Sans Bold" charset="0"/>
              </a:endParaRPr>
            </a:p>
          </p:txBody>
        </p:sp>
        <p:sp>
          <p:nvSpPr>
            <p:cNvPr id="97" name="TextBox 96">
              <a:extLst>
                <a:ext uri="{FF2B5EF4-FFF2-40B4-BE49-F238E27FC236}">
                  <a16:creationId xmlns:a16="http://schemas.microsoft.com/office/drawing/2014/main" xmlns="" id="{CE4526DB-F007-46C6-8B30-1DFED9F71FB5}"/>
                </a:ext>
              </a:extLst>
            </p:cNvPr>
            <p:cNvSpPr txBox="1"/>
            <p:nvPr/>
          </p:nvSpPr>
          <p:spPr>
            <a:xfrm>
              <a:off x="7057507" y="4303301"/>
              <a:ext cx="880656"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生物化学</a:t>
              </a:r>
              <a:endParaRPr lang="en-US" sz="1200" dirty="0">
                <a:solidFill>
                  <a:srgbClr val="4DD5FF"/>
                </a:solidFill>
                <a:latin typeface="DM Sans Bold" charset="0"/>
              </a:endParaRPr>
            </a:p>
          </p:txBody>
        </p:sp>
        <p:sp>
          <p:nvSpPr>
            <p:cNvPr id="98" name="TextBox 97">
              <a:extLst>
                <a:ext uri="{FF2B5EF4-FFF2-40B4-BE49-F238E27FC236}">
                  <a16:creationId xmlns:a16="http://schemas.microsoft.com/office/drawing/2014/main" xmlns="" id="{7523599E-8C5E-4B19-8DB7-7C892857383C}"/>
                </a:ext>
              </a:extLst>
            </p:cNvPr>
            <p:cNvSpPr txBox="1"/>
            <p:nvPr/>
          </p:nvSpPr>
          <p:spPr>
            <a:xfrm>
              <a:off x="8086225" y="4306059"/>
              <a:ext cx="487611"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200" dirty="0">
                  <a:solidFill>
                    <a:srgbClr val="4DD5FF"/>
                  </a:solidFill>
                  <a:latin typeface="DM Sans Bold" charset="0"/>
                  <a:ea typeface="Calibri" panose="020F0502020204030204" pitchFamily="34" charset="0"/>
                </a:rPr>
                <a:t>2026</a:t>
              </a:r>
            </a:p>
          </p:txBody>
        </p:sp>
        <p:sp>
          <p:nvSpPr>
            <p:cNvPr id="99" name="TextBox 98">
              <a:extLst>
                <a:ext uri="{FF2B5EF4-FFF2-40B4-BE49-F238E27FC236}">
                  <a16:creationId xmlns:a16="http://schemas.microsoft.com/office/drawing/2014/main" xmlns="" id="{CD974F13-C2B9-4295-B6CE-0534BA6FD8AF}"/>
                </a:ext>
              </a:extLst>
            </p:cNvPr>
            <p:cNvSpPr txBox="1"/>
            <p:nvPr/>
          </p:nvSpPr>
          <p:spPr>
            <a:xfrm>
              <a:off x="8696510" y="4378389"/>
              <a:ext cx="3585708" cy="236794"/>
            </a:xfrm>
            <a:prstGeom prst="roundRect">
              <a:avLst/>
            </a:prstGeom>
            <a:solidFill>
              <a:srgbClr val="092D58"/>
            </a:solid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solidFill>
                    <a:srgbClr val="4DD5FF"/>
                  </a:solidFill>
                  <a:effectLst/>
                  <a:latin typeface="DM Sans Bold" charset="0"/>
                  <a:ea typeface="Calibri" panose="020F0502020204030204" pitchFamily="34" charset="0"/>
                </a:rPr>
                <a:t>血液、尿液和淋巴液生化分析</a:t>
              </a:r>
              <a:endParaRPr lang="en-US" sz="1200" dirty="0">
                <a:solidFill>
                  <a:srgbClr val="4DD5FF"/>
                </a:solidFill>
                <a:latin typeface="DM Sans Bold" charset="0"/>
              </a:endParaRPr>
            </a:p>
          </p:txBody>
        </p:sp>
      </p:grpSp>
      <p:graphicFrame>
        <p:nvGraphicFramePr>
          <p:cNvPr id="100" name="Таблица 99">
            <a:extLst>
              <a:ext uri="{FF2B5EF4-FFF2-40B4-BE49-F238E27FC236}">
                <a16:creationId xmlns:a16="http://schemas.microsoft.com/office/drawing/2014/main" xmlns="" id="{55F7A277-1947-48DF-8EAA-DAA81B775843}"/>
              </a:ext>
            </a:extLst>
          </p:cNvPr>
          <p:cNvGraphicFramePr>
            <a:graphicFrameLocks noGrp="1"/>
          </p:cNvGraphicFramePr>
          <p:nvPr>
            <p:extLst>
              <p:ext uri="{D42A27DB-BD31-4B8C-83A1-F6EECF244321}">
                <p14:modId xmlns:p14="http://schemas.microsoft.com/office/powerpoint/2010/main" val="2453052495"/>
              </p:ext>
            </p:extLst>
          </p:nvPr>
        </p:nvGraphicFramePr>
        <p:xfrm>
          <a:off x="5409923" y="6972300"/>
          <a:ext cx="12585188" cy="3092237"/>
        </p:xfrm>
        <a:graphic>
          <a:graphicData uri="http://schemas.openxmlformats.org/drawingml/2006/table">
            <a:tbl>
              <a:tblPr firstRow="1" firstCol="1" bandRow="1">
                <a:tableStyleId>{2D5ABB26-0587-4C30-8999-92F81FD0307C}</a:tableStyleId>
              </a:tblPr>
              <a:tblGrid>
                <a:gridCol w="2049346">
                  <a:extLst>
                    <a:ext uri="{9D8B030D-6E8A-4147-A177-3AD203B41FA5}">
                      <a16:colId xmlns:a16="http://schemas.microsoft.com/office/drawing/2014/main" xmlns="" val="2412190412"/>
                    </a:ext>
                  </a:extLst>
                </a:gridCol>
                <a:gridCol w="868175">
                  <a:extLst>
                    <a:ext uri="{9D8B030D-6E8A-4147-A177-3AD203B41FA5}">
                      <a16:colId xmlns:a16="http://schemas.microsoft.com/office/drawing/2014/main" xmlns="" val="950659728"/>
                    </a:ext>
                  </a:extLst>
                </a:gridCol>
                <a:gridCol w="868175">
                  <a:extLst>
                    <a:ext uri="{9D8B030D-6E8A-4147-A177-3AD203B41FA5}">
                      <a16:colId xmlns:a16="http://schemas.microsoft.com/office/drawing/2014/main" xmlns="" val="2905255576"/>
                    </a:ext>
                  </a:extLst>
                </a:gridCol>
                <a:gridCol w="818673">
                  <a:extLst>
                    <a:ext uri="{9D8B030D-6E8A-4147-A177-3AD203B41FA5}">
                      <a16:colId xmlns:a16="http://schemas.microsoft.com/office/drawing/2014/main" xmlns="" val="3903734109"/>
                    </a:ext>
                  </a:extLst>
                </a:gridCol>
                <a:gridCol w="868175">
                  <a:extLst>
                    <a:ext uri="{9D8B030D-6E8A-4147-A177-3AD203B41FA5}">
                      <a16:colId xmlns:a16="http://schemas.microsoft.com/office/drawing/2014/main" xmlns="" val="3995636124"/>
                    </a:ext>
                  </a:extLst>
                </a:gridCol>
                <a:gridCol w="167244">
                  <a:extLst>
                    <a:ext uri="{9D8B030D-6E8A-4147-A177-3AD203B41FA5}">
                      <a16:colId xmlns:a16="http://schemas.microsoft.com/office/drawing/2014/main" xmlns="" val="4049532059"/>
                    </a:ext>
                  </a:extLst>
                </a:gridCol>
                <a:gridCol w="868175">
                  <a:extLst>
                    <a:ext uri="{9D8B030D-6E8A-4147-A177-3AD203B41FA5}">
                      <a16:colId xmlns:a16="http://schemas.microsoft.com/office/drawing/2014/main" xmlns="" val="2864908799"/>
                    </a:ext>
                  </a:extLst>
                </a:gridCol>
                <a:gridCol w="868175">
                  <a:extLst>
                    <a:ext uri="{9D8B030D-6E8A-4147-A177-3AD203B41FA5}">
                      <a16:colId xmlns:a16="http://schemas.microsoft.com/office/drawing/2014/main" xmlns="" val="2716044720"/>
                    </a:ext>
                  </a:extLst>
                </a:gridCol>
                <a:gridCol w="868175">
                  <a:extLst>
                    <a:ext uri="{9D8B030D-6E8A-4147-A177-3AD203B41FA5}">
                      <a16:colId xmlns:a16="http://schemas.microsoft.com/office/drawing/2014/main" xmlns="" val="3056698115"/>
                    </a:ext>
                  </a:extLst>
                </a:gridCol>
                <a:gridCol w="868175">
                  <a:extLst>
                    <a:ext uri="{9D8B030D-6E8A-4147-A177-3AD203B41FA5}">
                      <a16:colId xmlns:a16="http://schemas.microsoft.com/office/drawing/2014/main" xmlns="" val="2381897438"/>
                    </a:ext>
                  </a:extLst>
                </a:gridCol>
                <a:gridCol w="868175">
                  <a:extLst>
                    <a:ext uri="{9D8B030D-6E8A-4147-A177-3AD203B41FA5}">
                      <a16:colId xmlns:a16="http://schemas.microsoft.com/office/drawing/2014/main" xmlns="" val="3857948873"/>
                    </a:ext>
                  </a:extLst>
                </a:gridCol>
                <a:gridCol w="868175">
                  <a:extLst>
                    <a:ext uri="{9D8B030D-6E8A-4147-A177-3AD203B41FA5}">
                      <a16:colId xmlns:a16="http://schemas.microsoft.com/office/drawing/2014/main" xmlns="" val="3307057509"/>
                    </a:ext>
                  </a:extLst>
                </a:gridCol>
                <a:gridCol w="868175">
                  <a:extLst>
                    <a:ext uri="{9D8B030D-6E8A-4147-A177-3AD203B41FA5}">
                      <a16:colId xmlns:a16="http://schemas.microsoft.com/office/drawing/2014/main" xmlns="" val="218366745"/>
                    </a:ext>
                  </a:extLst>
                </a:gridCol>
                <a:gridCol w="868175">
                  <a:extLst>
                    <a:ext uri="{9D8B030D-6E8A-4147-A177-3AD203B41FA5}">
                      <a16:colId xmlns:a16="http://schemas.microsoft.com/office/drawing/2014/main" xmlns="" val="68286963"/>
                    </a:ext>
                  </a:extLst>
                </a:gridCol>
              </a:tblGrid>
              <a:tr h="225267">
                <a:tc rowSpan="2">
                  <a:txBody>
                    <a:bodyPr/>
                    <a:lstStyle/>
                    <a:p>
                      <a:pPr algn="ctr">
                        <a:spcAft>
                          <a:spcPts val="800"/>
                        </a:spcAft>
                      </a:pPr>
                      <a:r>
                        <a:rPr lang="en-US" sz="1600" dirty="0">
                          <a:solidFill>
                            <a:srgbClr val="4DD5FF"/>
                          </a:solidFill>
                          <a:effectLst/>
                          <a:latin typeface="DM Sans Bold" panose="020B0604020202020204" charset="0"/>
                        </a:rPr>
                        <a:t>学院名称</a:t>
                      </a:r>
                      <a:endParaRPr lang="en-US" sz="16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gridSpan="4">
                  <a:txBody>
                    <a:bodyPr/>
                    <a:lstStyle/>
                    <a:p>
                      <a:pPr algn="ctr">
                        <a:spcAft>
                          <a:spcPts val="800"/>
                        </a:spcAft>
                      </a:pPr>
                      <a:r>
                        <a:rPr lang="en-US" sz="1600" dirty="0">
                          <a:solidFill>
                            <a:srgbClr val="4DD5FF"/>
                          </a:solidFill>
                          <a:effectLst/>
                          <a:latin typeface="DM Sans Bold" panose="020B0604020202020204" charset="0"/>
                        </a:rPr>
                        <a:t>2023</a:t>
                      </a:r>
                      <a:endParaRPr lang="en-US" sz="16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spcAft>
                          <a:spcPts val="800"/>
                        </a:spcAft>
                      </a:pPr>
                      <a:r>
                        <a:rPr lang="en-US" sz="1600" dirty="0">
                          <a:solidFill>
                            <a:srgbClr val="4DD5FF"/>
                          </a:solidFill>
                          <a:effectLst/>
                          <a:latin typeface="DM Sans Bold" panose="020B0604020202020204" charset="0"/>
                        </a:rPr>
                        <a:t>2024</a:t>
                      </a:r>
                      <a:endParaRPr lang="en-US" sz="16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endParaRPr lang="en-US"/>
                    </a:p>
                  </a:txBody>
                  <a:tcPr/>
                </a:tc>
                <a:tc hMerge="1">
                  <a:txBody>
                    <a:bodyPr/>
                    <a:lstStyle/>
                    <a:p>
                      <a:endParaRPr lang="en-US"/>
                    </a:p>
                  </a:txBody>
                  <a:tcPr/>
                </a:tc>
                <a:tc gridSpan="3">
                  <a:txBody>
                    <a:bodyPr/>
                    <a:lstStyle/>
                    <a:p>
                      <a:pPr algn="ctr">
                        <a:spcAft>
                          <a:spcPts val="800"/>
                        </a:spcAft>
                      </a:pPr>
                      <a:r>
                        <a:rPr lang="en-US" sz="1600" dirty="0">
                          <a:solidFill>
                            <a:srgbClr val="4DD5FF"/>
                          </a:solidFill>
                          <a:effectLst/>
                          <a:latin typeface="DM Sans Bold" panose="020B0604020202020204" charset="0"/>
                        </a:rPr>
                        <a:t>2025</a:t>
                      </a:r>
                      <a:endParaRPr lang="en-US" sz="16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pPr algn="ctr">
                        <a:spcAft>
                          <a:spcPts val="80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pPr algn="ctr">
                        <a:spcAft>
                          <a:spcPts val="80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3">
                  <a:txBody>
                    <a:bodyPr/>
                    <a:lstStyle/>
                    <a:p>
                      <a:pPr algn="ctr">
                        <a:spcAft>
                          <a:spcPts val="800"/>
                        </a:spcAft>
                      </a:pPr>
                      <a:r>
                        <a:rPr lang="en-US" sz="1600" dirty="0">
                          <a:solidFill>
                            <a:srgbClr val="4DD5FF"/>
                          </a:solidFill>
                          <a:effectLst/>
                          <a:latin typeface="DM Sans Bold" panose="020B0604020202020204" charset="0"/>
                        </a:rPr>
                        <a:t>2026</a:t>
                      </a:r>
                      <a:endParaRPr lang="en-US" sz="16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pPr algn="ctr">
                        <a:spcAft>
                          <a:spcPts val="80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pPr algn="ctr">
                        <a:spcAft>
                          <a:spcPts val="80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119995038"/>
                  </a:ext>
                </a:extLst>
              </a:tr>
              <a:tr h="1514151">
                <a:tc vMerge="1">
                  <a:txBody>
                    <a:bodyPr/>
                    <a:lstStyle/>
                    <a:p>
                      <a:endParaRPr lang="en-US"/>
                    </a:p>
                  </a:txBody>
                  <a:tcPr/>
                </a:tc>
                <a:tc>
                  <a:txBody>
                    <a:bodyPr/>
                    <a:lstStyle/>
                    <a:p>
                      <a:pPr marL="71755" marR="71755" algn="ctr">
                        <a:spcAft>
                          <a:spcPts val="800"/>
                        </a:spcAft>
                      </a:pPr>
                      <a:r>
                        <a:rPr lang="en-US" sz="1200" dirty="0" err="1">
                          <a:solidFill>
                            <a:srgbClr val="4DD5FF"/>
                          </a:solidFill>
                          <a:effectLst/>
                          <a:latin typeface="DM Sans Bold" panose="020B0604020202020204" charset="0"/>
                        </a:rPr>
                        <a:t>教学实验室/更新率</a:t>
                      </a:r>
                      <a:r>
                        <a:rPr lang="en-US" sz="1200" dirty="0">
                          <a:solidFill>
                            <a:srgbClr val="4DD5FF"/>
                          </a:solidFill>
                          <a:effectLst/>
                          <a:latin typeface="DM Sans Bold" panose="020B0604020202020204" charset="0"/>
                        </a:rPr>
                        <a:t/>
                      </a:r>
                      <a:br>
                        <a:rPr lang="en-US" sz="1200" dirty="0">
                          <a:solidFill>
                            <a:srgbClr val="4DD5FF"/>
                          </a:solidFill>
                          <a:effectLst/>
                          <a:latin typeface="DM Sans Bold" panose="020B0604020202020204" charset="0"/>
                        </a:rPr>
                      </a:b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err="1">
                          <a:solidFill>
                            <a:srgbClr val="4DD5FF"/>
                          </a:solidFill>
                          <a:effectLst/>
                          <a:latin typeface="DM Sans Bold" panose="020B0604020202020204" charset="0"/>
                        </a:rPr>
                        <a:t>科研实验室/更新率</a:t>
                      </a:r>
                      <a:r>
                        <a:rPr lang="en-US" sz="1200" dirty="0">
                          <a:solidFill>
                            <a:srgbClr val="4DD5FF"/>
                          </a:solidFill>
                          <a:effectLst/>
                          <a:latin typeface="DM Sans Bold" panose="020B0604020202020204" charset="0"/>
                        </a:rPr>
                        <a:t/>
                      </a:r>
                      <a:br>
                        <a:rPr lang="en-US" sz="1200" dirty="0">
                          <a:solidFill>
                            <a:srgbClr val="4DD5FF"/>
                          </a:solidFill>
                          <a:effectLst/>
                          <a:latin typeface="DM Sans Bold" panose="020B0604020202020204" charset="0"/>
                        </a:rPr>
                      </a:b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a:solidFill>
                            <a:srgbClr val="4DD5FF"/>
                          </a:solidFill>
                          <a:effectLst/>
                          <a:latin typeface="DM Sans Bold" panose="020B0604020202020204" charset="0"/>
                        </a:rPr>
                        <a:t>虚拟实验室填充率</a:t>
                      </a: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gridSpan="2">
                  <a:txBody>
                    <a:bodyPr/>
                    <a:lstStyle/>
                    <a:p>
                      <a:pPr marL="71755" marR="71755" algn="ctr">
                        <a:spcAft>
                          <a:spcPts val="800"/>
                        </a:spcAft>
                      </a:pPr>
                      <a:r>
                        <a:rPr lang="en-US" sz="1200" dirty="0" err="1">
                          <a:solidFill>
                            <a:srgbClr val="4DD5FF"/>
                          </a:solidFill>
                          <a:effectLst/>
                          <a:latin typeface="DM Sans Bold" panose="020B0604020202020204" charset="0"/>
                        </a:rPr>
                        <a:t>教学实验室/更新率</a:t>
                      </a: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endParaRPr lang="en-US"/>
                    </a:p>
                  </a:txBody>
                  <a:tcPr/>
                </a:tc>
                <a:tc>
                  <a:txBody>
                    <a:bodyPr/>
                    <a:lstStyle/>
                    <a:p>
                      <a:pPr marL="71755" marR="71755" algn="ctr">
                        <a:spcAft>
                          <a:spcPts val="800"/>
                        </a:spcAft>
                      </a:pPr>
                      <a:r>
                        <a:rPr lang="en-US" sz="1200" dirty="0" err="1">
                          <a:solidFill>
                            <a:srgbClr val="4DD5FF"/>
                          </a:solidFill>
                          <a:effectLst/>
                          <a:latin typeface="DM Sans Bold" panose="020B0604020202020204" charset="0"/>
                        </a:rPr>
                        <a:t>科研实验室/更新率</a:t>
                      </a:r>
                      <a:r>
                        <a:rPr lang="en-US" sz="1200" dirty="0">
                          <a:solidFill>
                            <a:srgbClr val="4DD5FF"/>
                          </a:solidFill>
                          <a:effectLst/>
                          <a:latin typeface="DM Sans Bold" panose="020B0604020202020204" charset="0"/>
                        </a:rPr>
                        <a:t/>
                      </a:r>
                      <a:br>
                        <a:rPr lang="en-US" sz="1200" dirty="0">
                          <a:solidFill>
                            <a:srgbClr val="4DD5FF"/>
                          </a:solidFill>
                          <a:effectLst/>
                          <a:latin typeface="DM Sans Bold" panose="020B0604020202020204" charset="0"/>
                        </a:rPr>
                      </a:b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a:solidFill>
                            <a:srgbClr val="4DD5FF"/>
                          </a:solidFill>
                          <a:effectLst/>
                          <a:latin typeface="DM Sans Bold" panose="020B0604020202020204" charset="0"/>
                        </a:rPr>
                        <a:t>虚拟实验室填充率</a:t>
                      </a: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b="0" dirty="0" err="1">
                          <a:solidFill>
                            <a:srgbClr val="4DD5FF"/>
                          </a:solidFill>
                          <a:effectLst/>
                          <a:latin typeface="DM Sans Bold" panose="020B0604020202020204" charset="0"/>
                        </a:rPr>
                        <a:t>教学实验室/更新率</a:t>
                      </a:r>
                      <a:r>
                        <a:rPr lang="en-US" sz="1200" b="0" dirty="0">
                          <a:solidFill>
                            <a:srgbClr val="4DD5FF"/>
                          </a:solidFill>
                          <a:effectLst/>
                          <a:latin typeface="DM Sans Bold" panose="020B0604020202020204" charset="0"/>
                        </a:rPr>
                        <a:t/>
                      </a:r>
                      <a:br>
                        <a:rPr lang="en-US" sz="1200" b="0" dirty="0">
                          <a:solidFill>
                            <a:srgbClr val="4DD5FF"/>
                          </a:solidFill>
                          <a:effectLst/>
                          <a:latin typeface="DM Sans Bold" panose="020B0604020202020204" charset="0"/>
                        </a:rPr>
                      </a:br>
                      <a:endParaRPr lang="en-US" sz="1200" b="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err="1">
                          <a:solidFill>
                            <a:srgbClr val="4DD5FF"/>
                          </a:solidFill>
                          <a:effectLst/>
                          <a:latin typeface="DM Sans Bold" panose="020B0604020202020204" charset="0"/>
                        </a:rPr>
                        <a:t>科研实验室/更新率</a:t>
                      </a: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a:solidFill>
                            <a:srgbClr val="4DD5FF"/>
                          </a:solidFill>
                          <a:effectLst/>
                          <a:latin typeface="DM Sans Bold" panose="020B0604020202020204" charset="0"/>
                        </a:rPr>
                        <a:t>虚拟实验室填充率</a:t>
                      </a: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err="1">
                          <a:solidFill>
                            <a:srgbClr val="4DD5FF"/>
                          </a:solidFill>
                          <a:effectLst/>
                          <a:latin typeface="DM Sans Bold" panose="020B0604020202020204" charset="0"/>
                        </a:rPr>
                        <a:t>教学实验室/更新率</a:t>
                      </a:r>
                      <a:r>
                        <a:rPr lang="en-US" sz="1200" dirty="0">
                          <a:solidFill>
                            <a:srgbClr val="4DD5FF"/>
                          </a:solidFill>
                          <a:effectLst/>
                          <a:latin typeface="DM Sans Bold" panose="020B0604020202020204" charset="0"/>
                        </a:rPr>
                        <a:t/>
                      </a:r>
                      <a:br>
                        <a:rPr lang="en-US" sz="1200" dirty="0">
                          <a:solidFill>
                            <a:srgbClr val="4DD5FF"/>
                          </a:solidFill>
                          <a:effectLst/>
                          <a:latin typeface="DM Sans Bold" panose="020B0604020202020204" charset="0"/>
                        </a:rPr>
                      </a:b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err="1">
                          <a:solidFill>
                            <a:srgbClr val="4DD5FF"/>
                          </a:solidFill>
                          <a:effectLst/>
                          <a:latin typeface="DM Sans Bold" panose="020B0604020202020204" charset="0"/>
                        </a:rPr>
                        <a:t>科研实验室/更新率</a:t>
                      </a:r>
                      <a:r>
                        <a:rPr lang="en-US" sz="1200" dirty="0">
                          <a:solidFill>
                            <a:srgbClr val="4DD5FF"/>
                          </a:solidFill>
                          <a:effectLst/>
                          <a:latin typeface="DM Sans Bold" panose="020B0604020202020204" charset="0"/>
                        </a:rPr>
                        <a:t/>
                      </a:r>
                      <a:br>
                        <a:rPr lang="en-US" sz="1200" dirty="0">
                          <a:solidFill>
                            <a:srgbClr val="4DD5FF"/>
                          </a:solidFill>
                          <a:effectLst/>
                          <a:latin typeface="DM Sans Bold" panose="020B0604020202020204" charset="0"/>
                        </a:rPr>
                      </a:b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71755" marR="71755" algn="ctr">
                        <a:spcAft>
                          <a:spcPts val="800"/>
                        </a:spcAft>
                      </a:pPr>
                      <a:r>
                        <a:rPr lang="en-US" sz="1200" dirty="0">
                          <a:solidFill>
                            <a:srgbClr val="4DD5FF"/>
                          </a:solidFill>
                          <a:effectLst/>
                          <a:latin typeface="DM Sans Bold" panose="020B0604020202020204" charset="0"/>
                        </a:rPr>
                        <a:t>虚拟实验室填充率</a:t>
                      </a:r>
                      <a:endParaRPr lang="en-US" sz="12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2226340592"/>
                  </a:ext>
                </a:extLst>
              </a:tr>
              <a:tr h="201954">
                <a:tc>
                  <a:txBody>
                    <a:bodyPr/>
                    <a:lstStyle/>
                    <a:p>
                      <a:pPr algn="ctr">
                        <a:spcAft>
                          <a:spcPts val="800"/>
                        </a:spcAft>
                      </a:pPr>
                      <a:r>
                        <a:rPr lang="en-US" sz="1400" dirty="0" err="1">
                          <a:solidFill>
                            <a:srgbClr val="4DD5FF"/>
                          </a:solidFill>
                          <a:effectLst/>
                          <a:latin typeface="DM Sans Bold" panose="020B0604020202020204" charset="0"/>
                        </a:rPr>
                        <a:t>医学</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12%</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9%</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5%</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gridSpan="2">
                  <a:txBody>
                    <a:bodyPr/>
                    <a:lstStyle/>
                    <a:p>
                      <a:pPr algn="ctr">
                        <a:spcAft>
                          <a:spcPts val="800"/>
                        </a:spcAft>
                      </a:pPr>
                      <a:r>
                        <a:rPr lang="en-US" sz="1400" dirty="0">
                          <a:solidFill>
                            <a:srgbClr val="4DD5FF"/>
                          </a:solidFill>
                          <a:effectLst/>
                          <a:latin typeface="DM Sans Bold" panose="020B0604020202020204" charset="0"/>
                        </a:rPr>
                        <a:t>16%</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endParaRPr lang="en-US"/>
                    </a:p>
                  </a:txBody>
                  <a:tcPr/>
                </a:tc>
                <a:tc>
                  <a:txBody>
                    <a:bodyPr/>
                    <a:lstStyle/>
                    <a:p>
                      <a:pPr algn="ctr">
                        <a:spcAft>
                          <a:spcPts val="800"/>
                        </a:spcAft>
                      </a:pPr>
                      <a:r>
                        <a:rPr lang="en-US" sz="1400" dirty="0">
                          <a:solidFill>
                            <a:srgbClr val="4DD5FF"/>
                          </a:solidFill>
                          <a:effectLst/>
                          <a:latin typeface="DM Sans Bold" panose="020B0604020202020204" charset="0"/>
                        </a:rPr>
                        <a:t>13%</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8%</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b="0" dirty="0">
                          <a:solidFill>
                            <a:srgbClr val="4DD5FF"/>
                          </a:solidFill>
                          <a:effectLst/>
                          <a:latin typeface="DM Sans Bold" panose="020B0604020202020204" charset="0"/>
                        </a:rPr>
                        <a:t>23%</a:t>
                      </a:r>
                      <a:endParaRPr lang="en-US" sz="1400" b="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a:solidFill>
                            <a:srgbClr val="4DD5FF"/>
                          </a:solidFill>
                          <a:effectLst/>
                          <a:latin typeface="DM Sans Bold" panose="020B0604020202020204" charset="0"/>
                        </a:rPr>
                        <a:t>17%</a:t>
                      </a:r>
                      <a:endParaRPr lang="en-US" sz="140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a:solidFill>
                            <a:srgbClr val="4DD5FF"/>
                          </a:solidFill>
                          <a:effectLst/>
                          <a:latin typeface="DM Sans Bold" panose="020B0604020202020204" charset="0"/>
                        </a:rPr>
                        <a:t>12%</a:t>
                      </a:r>
                      <a:endParaRPr lang="en-US" sz="140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a:solidFill>
                            <a:srgbClr val="4DD5FF"/>
                          </a:solidFill>
                          <a:effectLst/>
                          <a:latin typeface="DM Sans Bold" panose="020B0604020202020204" charset="0"/>
                        </a:rPr>
                        <a:t>28%</a:t>
                      </a:r>
                      <a:endParaRPr lang="en-US" sz="140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21%</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a:solidFill>
                            <a:srgbClr val="4DD5FF"/>
                          </a:solidFill>
                          <a:effectLst/>
                          <a:latin typeface="DM Sans Bold" panose="020B0604020202020204" charset="0"/>
                        </a:rPr>
                        <a:t>18%</a:t>
                      </a:r>
                      <a:endParaRPr lang="en-US" sz="140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728782184"/>
                  </a:ext>
                </a:extLst>
              </a:tr>
              <a:tr h="592566">
                <a:tc>
                  <a:txBody>
                    <a:bodyPr/>
                    <a:lstStyle/>
                    <a:p>
                      <a:pPr algn="ctr">
                        <a:spcAft>
                          <a:spcPts val="800"/>
                        </a:spcAft>
                      </a:pPr>
                      <a:r>
                        <a:rPr lang="en-US" sz="1400" dirty="0" err="1">
                          <a:solidFill>
                            <a:srgbClr val="4DD5FF"/>
                          </a:solidFill>
                          <a:effectLst/>
                          <a:latin typeface="DM Sans Bold" panose="020B0604020202020204" charset="0"/>
                        </a:rPr>
                        <a:t>经济学与信息技术</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10%</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7%</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4%</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gridSpan="2">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12%</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endParaRPr lang="en-US"/>
                    </a:p>
                  </a:txBody>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11%</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6%</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b="0" dirty="0">
                          <a:solidFill>
                            <a:srgbClr val="4DD5FF"/>
                          </a:solidFill>
                          <a:effectLst/>
                          <a:latin typeface="DM Sans Bold" panose="020B0604020202020204" charset="0"/>
                        </a:rPr>
                        <a:t>15%</a:t>
                      </a:r>
                      <a:endParaRPr lang="en-US" sz="1400" b="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14%</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9%</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20%</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13%</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12%</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878696264"/>
                  </a:ext>
                </a:extLst>
              </a:tr>
              <a:tr h="497441">
                <a:tc>
                  <a:txBody>
                    <a:bodyPr/>
                    <a:lstStyle/>
                    <a:p>
                      <a:pPr algn="ctr">
                        <a:spcAft>
                          <a:spcPts val="800"/>
                        </a:spcAft>
                      </a:pPr>
                      <a:r>
                        <a:rPr lang="en-US" sz="1400" dirty="0" err="1">
                          <a:solidFill>
                            <a:srgbClr val="4DD5FF"/>
                          </a:solidFill>
                          <a:effectLst/>
                          <a:latin typeface="DM Sans Bold" panose="020B0604020202020204" charset="0"/>
                        </a:rPr>
                        <a:t>教育学与社会人文科学</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8%</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6%</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4%</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gridSpan="2">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9%</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hMerge="1">
                  <a:txBody>
                    <a:bodyPr/>
                    <a:lstStyle/>
                    <a:p>
                      <a:endParaRPr lang="en-US"/>
                    </a:p>
                  </a:txBody>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10%</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9%</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b="0" dirty="0">
                          <a:solidFill>
                            <a:srgbClr val="4DD5FF"/>
                          </a:solidFill>
                          <a:effectLst/>
                          <a:latin typeface="DM Sans Bold" panose="020B0604020202020204" charset="0"/>
                        </a:rPr>
                        <a:t>11%</a:t>
                      </a:r>
                      <a:endParaRPr lang="en-US" sz="1400" b="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15%</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16%</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17%</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14%</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spcAft>
                          <a:spcPts val="800"/>
                        </a:spcAft>
                      </a:pPr>
                      <a:r>
                        <a:rPr lang="en-US" sz="1400" dirty="0">
                          <a:solidFill>
                            <a:srgbClr val="4DD5FF"/>
                          </a:solidFill>
                          <a:effectLst/>
                          <a:latin typeface="DM Sans Bold" panose="020B0604020202020204" charset="0"/>
                        </a:rPr>
                        <a:t> </a:t>
                      </a:r>
                    </a:p>
                    <a:p>
                      <a:pPr algn="ctr">
                        <a:spcAft>
                          <a:spcPts val="800"/>
                        </a:spcAft>
                      </a:pPr>
                      <a:r>
                        <a:rPr lang="en-US" sz="1400" dirty="0">
                          <a:solidFill>
                            <a:srgbClr val="4DD5FF"/>
                          </a:solidFill>
                          <a:effectLst/>
                          <a:latin typeface="DM Sans Bold" panose="020B0604020202020204" charset="0"/>
                        </a:rPr>
                        <a:t>13%</a:t>
                      </a:r>
                      <a:endParaRPr lang="en-US" sz="1400" dirty="0">
                        <a:solidFill>
                          <a:srgbClr val="4DD5FF"/>
                        </a:solidFill>
                        <a:effectLst/>
                        <a:latin typeface="DM Sans Bold" panose="020B0604020202020204" charset="0"/>
                        <a:ea typeface="Calibri" panose="020F0502020204030204" pitchFamily="34" charset="0"/>
                        <a:cs typeface="Times New Roman" panose="02020603050405020304" pitchFamily="18" charset="0"/>
                      </a:endParaRPr>
                    </a:p>
                  </a:txBody>
                  <a:tcPr marL="86616" marR="86616"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4057226193"/>
                  </a:ext>
                </a:extLst>
              </a:tr>
            </a:tbl>
          </a:graphicData>
        </a:graphic>
      </p:graphicFrame>
      <p:sp>
        <p:nvSpPr>
          <p:cNvPr id="102" name="TextBox 101">
            <a:extLst>
              <a:ext uri="{FF2B5EF4-FFF2-40B4-BE49-F238E27FC236}">
                <a16:creationId xmlns:a16="http://schemas.microsoft.com/office/drawing/2014/main" xmlns="" id="{E03C0B0F-A257-4F92-A231-24DDBC07CD1D}"/>
              </a:ext>
            </a:extLst>
          </p:cNvPr>
          <p:cNvSpPr txBox="1"/>
          <p:nvPr/>
        </p:nvSpPr>
        <p:spPr>
          <a:xfrm>
            <a:off x="8891016" y="6557546"/>
            <a:ext cx="6331526" cy="338554"/>
          </a:xfrm>
          <a:prstGeom prst="rect">
            <a:avLst/>
          </a:prstGeom>
          <a:noFill/>
        </p:spPr>
        <p:txBody>
          <a:bodyPr wrap="square">
            <a:spAutoFit/>
          </a:bodyPr>
          <a:lstStyle/>
          <a:p>
            <a:pPr indent="450215" algn="ctr">
              <a:spcAft>
                <a:spcPts val="800"/>
              </a:spcAft>
            </a:pPr>
            <a:r>
              <a:rPr lang="en-US" sz="1600" b="1" dirty="0">
                <a:solidFill>
                  <a:schemeClr val="bg1"/>
                </a:solidFill>
                <a:effectLst/>
                <a:latin typeface="DM Sans Bold" panose="020B0604020202020204" charset="0"/>
                <a:ea typeface="Calibri" panose="020F0502020204030204" pitchFamily="34" charset="0"/>
              </a:rPr>
              <a:t>教学科研实验室</a:t>
            </a:r>
            <a:endParaRPr lang="en-US" sz="1600" dirty="0">
              <a:solidFill>
                <a:schemeClr val="bg1"/>
              </a:solidFill>
              <a:effectLst/>
              <a:latin typeface="DM Sans Bold" panose="020B0604020202020204" charset="0"/>
              <a:ea typeface="Calibri" panose="020F0502020204030204" pitchFamily="34" charset="0"/>
            </a:endParaRPr>
          </a:p>
        </p:txBody>
      </p:sp>
      <p:sp>
        <p:nvSpPr>
          <p:cNvPr id="103" name="TextBox 22">
            <a:extLst>
              <a:ext uri="{FF2B5EF4-FFF2-40B4-BE49-F238E27FC236}">
                <a16:creationId xmlns:a16="http://schemas.microsoft.com/office/drawing/2014/main" xmlns="" id="{BD58AAC9-47AF-4F2F-94B6-18EB90137BF5}"/>
              </a:ext>
            </a:extLst>
          </p:cNvPr>
          <p:cNvSpPr txBox="1"/>
          <p:nvPr/>
        </p:nvSpPr>
        <p:spPr>
          <a:xfrm>
            <a:off x="19217185" y="3949176"/>
            <a:ext cx="4026849" cy="381500"/>
          </a:xfrm>
          <a:prstGeom prst="rect">
            <a:avLst/>
          </a:prstGeom>
        </p:spPr>
        <p:txBody>
          <a:bodyPr lIns="0" tIns="0" rIns="0" bIns="0" rtlCol="0" anchor="t">
            <a:spAutoFit/>
          </a:bodyPr>
          <a:lstStyle/>
          <a:p>
            <a:pPr marL="0" lvl="0" indent="0" algn="ctr">
              <a:lnSpc>
                <a:spcPts val="3057"/>
              </a:lnSpc>
              <a:spcBef>
                <a:spcPct val="0"/>
              </a:spcBef>
            </a:pPr>
            <a:r>
              <a:rPr lang="en-US" sz="2215" b="1" dirty="0">
                <a:solidFill>
                  <a:srgbClr val="FFFFFF"/>
                </a:solidFill>
                <a:latin typeface="DM Sans Bold"/>
                <a:ea typeface="DM Sans Bold"/>
                <a:cs typeface="DM Sans Bold"/>
                <a:sym typeface="DM Sans Bold"/>
              </a:rPr>
              <a:t>BUSINESS PROPOSAL</a:t>
            </a:r>
          </a:p>
        </p:txBody>
      </p:sp>
      <p:sp>
        <p:nvSpPr>
          <p:cNvPr id="104" name="AutoShape 2">
            <a:extLst>
              <a:ext uri="{FF2B5EF4-FFF2-40B4-BE49-F238E27FC236}">
                <a16:creationId xmlns:a16="http://schemas.microsoft.com/office/drawing/2014/main" xmlns="" id="{077B3421-BA28-4C9E-BFCF-7DC2D9302F85}"/>
              </a:ext>
            </a:extLst>
          </p:cNvPr>
          <p:cNvSpPr/>
          <p:nvPr/>
        </p:nvSpPr>
        <p:spPr>
          <a:xfrm>
            <a:off x="5257800" y="6501742"/>
            <a:ext cx="0" cy="3547252"/>
          </a:xfrm>
          <a:prstGeom prst="line">
            <a:avLst/>
          </a:prstGeom>
          <a:ln w="47625" cap="flat">
            <a:solidFill>
              <a:srgbClr val="FFFFFF"/>
            </a:solidFill>
            <a:prstDash val="solid"/>
            <a:headEnd type="none" w="sm" len="sm"/>
            <a:tailEnd type="none" w="sm" len="sm"/>
          </a:ln>
        </p:spPr>
      </p:sp>
      <p:graphicFrame>
        <p:nvGraphicFramePr>
          <p:cNvPr id="107" name="Таблица 106">
            <a:extLst>
              <a:ext uri="{FF2B5EF4-FFF2-40B4-BE49-F238E27FC236}">
                <a16:creationId xmlns:a16="http://schemas.microsoft.com/office/drawing/2014/main" xmlns="" id="{D7605E7E-B7FA-450F-B72C-E9B3E398F733}"/>
              </a:ext>
            </a:extLst>
          </p:cNvPr>
          <p:cNvGraphicFramePr>
            <a:graphicFrameLocks noGrp="1"/>
          </p:cNvGraphicFramePr>
          <p:nvPr>
            <p:extLst>
              <p:ext uri="{D42A27DB-BD31-4B8C-83A1-F6EECF244321}">
                <p14:modId xmlns:p14="http://schemas.microsoft.com/office/powerpoint/2010/main" val="2212379002"/>
              </p:ext>
            </p:extLst>
          </p:nvPr>
        </p:nvGraphicFramePr>
        <p:xfrm>
          <a:off x="504225" y="1381289"/>
          <a:ext cx="4536000" cy="3856059"/>
        </p:xfrm>
        <a:graphic>
          <a:graphicData uri="http://schemas.openxmlformats.org/drawingml/2006/table">
            <a:tbl>
              <a:tblPr>
                <a:tableStyleId>{5A111915-BE36-4E01-A7E5-04B1672EAD32}</a:tableStyleId>
              </a:tblPr>
              <a:tblGrid>
                <a:gridCol w="2869226">
                  <a:extLst>
                    <a:ext uri="{9D8B030D-6E8A-4147-A177-3AD203B41FA5}">
                      <a16:colId xmlns:a16="http://schemas.microsoft.com/office/drawing/2014/main" xmlns="" val="1381507521"/>
                    </a:ext>
                  </a:extLst>
                </a:gridCol>
                <a:gridCol w="1666774">
                  <a:extLst>
                    <a:ext uri="{9D8B030D-6E8A-4147-A177-3AD203B41FA5}">
                      <a16:colId xmlns:a16="http://schemas.microsoft.com/office/drawing/2014/main" xmlns="" val="3965176601"/>
                    </a:ext>
                  </a:extLst>
                </a:gridCol>
              </a:tblGrid>
              <a:tr h="36000">
                <a:tc>
                  <a:txBody>
                    <a:bodyPr/>
                    <a:lstStyle/>
                    <a:p>
                      <a:pPr algn="l" fontAlgn="b"/>
                      <a:r>
                        <a:rPr lang="en-US" sz="1100" u="none" strike="noStrike" dirty="0" err="1">
                          <a:solidFill>
                            <a:srgbClr val="4DD5FF"/>
                          </a:solidFill>
                          <a:effectLst/>
                          <a:latin typeface="DM Sans" charset="0"/>
                        </a:rPr>
                        <a:t>恒温箱 TSO-1/80 SPU</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3">
                  <a:txBody>
                    <a:bodyPr/>
                    <a:lstStyle/>
                    <a:p>
                      <a:pPr algn="l" fontAlgn="ctr"/>
                      <a:r>
                        <a:rPr lang="en-US" sz="1100" u="none" strike="noStrike" dirty="0" err="1">
                          <a:solidFill>
                            <a:srgbClr val="4DD5FF"/>
                          </a:solidFill>
                          <a:effectLst/>
                          <a:latin typeface="DM Sans Bold" charset="0"/>
                        </a:rPr>
                        <a:t>医学与生物物理学</a:t>
                      </a:r>
                      <a:endParaRPr lang="en-US" sz="1100" b="0" i="0" u="none" strike="noStrike" dirty="0">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3770916865"/>
                  </a:ext>
                </a:extLst>
              </a:tr>
              <a:tr h="36000">
                <a:tc>
                  <a:txBody>
                    <a:bodyPr/>
                    <a:lstStyle/>
                    <a:p>
                      <a:pPr algn="l" fontAlgn="b"/>
                      <a:r>
                        <a:rPr lang="en-US" sz="1100" u="none" strike="noStrike" dirty="0" err="1">
                          <a:solidFill>
                            <a:srgbClr val="4DD5FF"/>
                          </a:solidFill>
                          <a:effectLst/>
                          <a:latin typeface="DM Sans" charset="0"/>
                        </a:rPr>
                        <a:t>磁力搅拌器 MS7-H550-Pro</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879830270"/>
                  </a:ext>
                </a:extLst>
              </a:tr>
              <a:tr h="36000">
                <a:tc>
                  <a:txBody>
                    <a:bodyPr/>
                    <a:lstStyle/>
                    <a:p>
                      <a:pPr algn="l" fontAlgn="b"/>
                      <a:r>
                        <a:rPr lang="it-IT" sz="1100" u="none" strike="noStrike" dirty="0">
                          <a:solidFill>
                            <a:srgbClr val="4DD5FF"/>
                          </a:solidFill>
                          <a:effectLst/>
                          <a:latin typeface="DM Sans" charset="0"/>
                        </a:rPr>
                        <a:t>高速离心机 D2012 plus</a:t>
                      </a:r>
                      <a:endParaRPr lang="it-IT"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786377812"/>
                  </a:ext>
                </a:extLst>
              </a:tr>
              <a:tr h="36000">
                <a:tc>
                  <a:txBody>
                    <a:bodyPr/>
                    <a:lstStyle/>
                    <a:p>
                      <a:pPr algn="l" fontAlgn="b"/>
                      <a:r>
                        <a:rPr lang="en-US" sz="1100" u="none" strike="noStrike" dirty="0" err="1">
                          <a:solidFill>
                            <a:srgbClr val="4DD5FF"/>
                          </a:solidFill>
                          <a:effectLst/>
                          <a:latin typeface="DM Sans" charset="0"/>
                        </a:rPr>
                        <a:t>数字pH计 PHS-3E</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a:txBody>
                    <a:bodyPr/>
                    <a:lstStyle/>
                    <a:p>
                      <a:pPr algn="l" fontAlgn="ctr"/>
                      <a:r>
                        <a:rPr lang="en-US" sz="1100" u="none" strike="noStrike">
                          <a:solidFill>
                            <a:srgbClr val="4DD5FF"/>
                          </a:solidFill>
                          <a:effectLst/>
                          <a:latin typeface="DM Sans Bold" charset="0"/>
                        </a:rPr>
                        <a:t>生物化学</a:t>
                      </a:r>
                      <a:endParaRPr lang="en-US" sz="1100" b="0" i="0" u="none" strike="noStrike">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4026853409"/>
                  </a:ext>
                </a:extLst>
              </a:tr>
              <a:tr h="36000">
                <a:tc>
                  <a:txBody>
                    <a:bodyPr/>
                    <a:lstStyle/>
                    <a:p>
                      <a:pPr algn="l" fontAlgn="b"/>
                      <a:r>
                        <a:rPr lang="en-US" sz="1100" u="none" strike="noStrike" dirty="0" err="1">
                          <a:solidFill>
                            <a:srgbClr val="4DD5FF"/>
                          </a:solidFill>
                          <a:effectLst/>
                          <a:latin typeface="DM Sans" charset="0"/>
                        </a:rPr>
                        <a:t>尿液分析仪 MS7-H550-Pro</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2">
                  <a:txBody>
                    <a:bodyPr/>
                    <a:lstStyle/>
                    <a:p>
                      <a:pPr algn="l" fontAlgn="ctr"/>
                      <a:r>
                        <a:rPr lang="en-US" sz="1100" u="none" strike="noStrike" dirty="0" err="1">
                          <a:solidFill>
                            <a:srgbClr val="4DD5FF"/>
                          </a:solidFill>
                          <a:effectLst/>
                          <a:latin typeface="DM Sans Bold" charset="0"/>
                        </a:rPr>
                        <a:t>医学与生物化学</a:t>
                      </a:r>
                      <a:endParaRPr lang="en-US" sz="1100" b="0" i="0" u="none" strike="noStrike" dirty="0">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4047423262"/>
                  </a:ext>
                </a:extLst>
              </a:tr>
              <a:tr h="36000">
                <a:tc>
                  <a:txBody>
                    <a:bodyPr/>
                    <a:lstStyle/>
                    <a:p>
                      <a:pPr algn="l" fontAlgn="b"/>
                      <a:r>
                        <a:rPr lang="it-IT" sz="1100" u="none" strike="noStrike" dirty="0">
                          <a:solidFill>
                            <a:srgbClr val="4DD5FF"/>
                          </a:solidFill>
                          <a:effectLst/>
                          <a:latin typeface="DM Sans" charset="0"/>
                        </a:rPr>
                        <a:t>实验室电炉 SNOL 8.2</a:t>
                      </a:r>
                      <a:endParaRPr lang="it-IT"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598577041"/>
                  </a:ext>
                </a:extLst>
              </a:tr>
              <a:tr h="36000">
                <a:tc>
                  <a:txBody>
                    <a:bodyPr/>
                    <a:lstStyle/>
                    <a:p>
                      <a:pPr algn="l" rtl="0" fontAlgn="ctr">
                        <a:buClr>
                          <a:srgbClr val="000000"/>
                        </a:buClr>
                        <a:buSzPts val="900"/>
                        <a:buFont typeface="Times New Roman" panose="02020603050405020304" pitchFamily="18" charset="0"/>
                        <a:buNone/>
                      </a:pPr>
                      <a:r>
                        <a:rPr lang="en-US" sz="1100" b="0" u="none" strike="noStrike" dirty="0" err="1">
                          <a:solidFill>
                            <a:srgbClr val="4DD5FF"/>
                          </a:solidFill>
                          <a:effectLst/>
                          <a:latin typeface="DM Sans" charset="0"/>
                        </a:rPr>
                        <a:t>配置手术室</a:t>
                      </a:r>
                      <a:endParaRPr lang="ru-RU" sz="1100" b="0" i="0" u="none" strike="noStrike" dirty="0">
                        <a:solidFill>
                          <a:srgbClr val="4DD5FF"/>
                        </a:solidFill>
                        <a:effectLst/>
                        <a:latin typeface="Times New Roman" panose="02020603050405020304" pitchFamily="18"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2">
                  <a:txBody>
                    <a:bodyPr/>
                    <a:lstStyle/>
                    <a:p>
                      <a:pPr algn="l" fontAlgn="ctr"/>
                      <a:r>
                        <a:rPr lang="en-US" sz="1100" u="none" strike="noStrike" dirty="0" err="1">
                          <a:solidFill>
                            <a:srgbClr val="4DD5FF"/>
                          </a:solidFill>
                          <a:effectLst/>
                          <a:latin typeface="DM Sans Bold" charset="0"/>
                        </a:rPr>
                        <a:t>生理学</a:t>
                      </a:r>
                      <a:endParaRPr lang="en-US" sz="1100" b="0" i="0" u="none" strike="noStrike" dirty="0">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194456106"/>
                  </a:ext>
                </a:extLst>
              </a:tr>
              <a:tr h="36000">
                <a:tc>
                  <a:txBody>
                    <a:bodyPr/>
                    <a:lstStyle/>
                    <a:p>
                      <a:pPr algn="l" fontAlgn="b"/>
                      <a:r>
                        <a:rPr lang="en-US" sz="1100" u="none" strike="noStrike" dirty="0" err="1">
                          <a:solidFill>
                            <a:srgbClr val="4DD5FF"/>
                          </a:solidFill>
                          <a:effectLst/>
                          <a:latin typeface="DM Sans" charset="0"/>
                        </a:rPr>
                        <a:t>Sivtsev视力检测表</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736073066"/>
                  </a:ext>
                </a:extLst>
              </a:tr>
              <a:tr h="36000">
                <a:tc>
                  <a:txBody>
                    <a:bodyPr/>
                    <a:lstStyle/>
                    <a:p>
                      <a:pPr algn="l" fontAlgn="b"/>
                      <a:r>
                        <a:rPr lang="en-US" sz="1100" u="none" strike="noStrike" dirty="0" err="1">
                          <a:solidFill>
                            <a:srgbClr val="4DD5FF"/>
                          </a:solidFill>
                          <a:effectLst/>
                          <a:latin typeface="DM Sans" charset="0"/>
                        </a:rPr>
                        <a:t>血型鉴定和血液分析实验室设备套装</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3">
                  <a:txBody>
                    <a:bodyPr/>
                    <a:lstStyle/>
                    <a:p>
                      <a:pPr algn="l" fontAlgn="ctr"/>
                      <a:r>
                        <a:rPr lang="en-US" sz="1100" u="none" strike="noStrike" dirty="0" err="1">
                          <a:solidFill>
                            <a:srgbClr val="4DD5FF"/>
                          </a:solidFill>
                          <a:effectLst/>
                          <a:latin typeface="DM Sans Bold" charset="0"/>
                        </a:rPr>
                        <a:t>病理生理学</a:t>
                      </a:r>
                      <a:endParaRPr lang="en-US" sz="1100" b="0" i="0" u="none" strike="noStrike" dirty="0">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410610755"/>
                  </a:ext>
                </a:extLst>
              </a:tr>
              <a:tr h="36000">
                <a:tc>
                  <a:txBody>
                    <a:bodyPr/>
                    <a:lstStyle/>
                    <a:p>
                      <a:pPr algn="l" fontAlgn="b"/>
                      <a:r>
                        <a:rPr lang="en-US" sz="1100" u="none" strike="noStrike">
                          <a:solidFill>
                            <a:srgbClr val="4DD5FF"/>
                          </a:solidFill>
                          <a:effectLst/>
                          <a:latin typeface="DM Sans" charset="0"/>
                        </a:rPr>
                        <a:t>测力计</a:t>
                      </a:r>
                      <a:endParaRPr lang="en-US" sz="1100" b="0" i="0" u="none" strike="noStrike">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490198156"/>
                  </a:ext>
                </a:extLst>
              </a:tr>
              <a:tr h="36000">
                <a:tc>
                  <a:txBody>
                    <a:bodyPr/>
                    <a:lstStyle/>
                    <a:p>
                      <a:pPr algn="l" fontAlgn="b"/>
                      <a:r>
                        <a:rPr lang="en-US" sz="1100" u="none" strike="noStrike" dirty="0" err="1">
                          <a:solidFill>
                            <a:srgbClr val="4DD5FF"/>
                          </a:solidFill>
                          <a:effectLst/>
                          <a:latin typeface="DM Sans" charset="0"/>
                        </a:rPr>
                        <a:t>Sivtsev视力检测表</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114249696"/>
                  </a:ext>
                </a:extLst>
              </a:tr>
              <a:tr h="36000">
                <a:tc>
                  <a:txBody>
                    <a:bodyPr/>
                    <a:lstStyle/>
                    <a:p>
                      <a:pPr algn="l" fontAlgn="b"/>
                      <a:r>
                        <a:rPr lang="en-US" sz="1100" u="none" strike="noStrike" dirty="0" err="1">
                          <a:solidFill>
                            <a:srgbClr val="4DD5FF"/>
                          </a:solidFill>
                          <a:effectLst/>
                          <a:latin typeface="DM Sans" charset="0"/>
                        </a:rPr>
                        <a:t>神经锤</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2">
                  <a:txBody>
                    <a:bodyPr/>
                    <a:lstStyle/>
                    <a:p>
                      <a:pPr algn="l" fontAlgn="ctr"/>
                      <a:r>
                        <a:rPr lang="en-US" sz="1100" u="none" strike="noStrike" dirty="0" err="1">
                          <a:solidFill>
                            <a:srgbClr val="4DD5FF"/>
                          </a:solidFill>
                          <a:effectLst/>
                          <a:latin typeface="DM Sans Bold" charset="0"/>
                        </a:rPr>
                        <a:t>临床解剖学</a:t>
                      </a:r>
                      <a:endParaRPr lang="en-US" sz="1100" b="0" i="0" u="none" strike="noStrike" dirty="0">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3705688911"/>
                  </a:ext>
                </a:extLst>
              </a:tr>
              <a:tr h="36000">
                <a:tc>
                  <a:txBody>
                    <a:bodyPr/>
                    <a:lstStyle/>
                    <a:p>
                      <a:pPr algn="l" fontAlgn="b"/>
                      <a:r>
                        <a:rPr lang="en-US" sz="1100" u="none" strike="noStrike" dirty="0" err="1">
                          <a:solidFill>
                            <a:srgbClr val="4DD5FF"/>
                          </a:solidFill>
                          <a:effectLst/>
                          <a:latin typeface="DM Sans" charset="0"/>
                        </a:rPr>
                        <a:t>高压灭菌器 GR85DF（自动）</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4242803931"/>
                  </a:ext>
                </a:extLst>
              </a:tr>
              <a:tr h="36000">
                <a:tc>
                  <a:txBody>
                    <a:bodyPr/>
                    <a:lstStyle/>
                    <a:p>
                      <a:pPr algn="l" fontAlgn="b"/>
                      <a:r>
                        <a:rPr lang="en-US" sz="1100" u="none" strike="noStrike" dirty="0" err="1">
                          <a:solidFill>
                            <a:srgbClr val="4DD5FF"/>
                          </a:solidFill>
                          <a:effectLst/>
                          <a:latin typeface="DM Sans" charset="0"/>
                        </a:rPr>
                        <a:t>离心机</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a:txBody>
                    <a:bodyPr/>
                    <a:lstStyle/>
                    <a:p>
                      <a:pPr algn="l" fontAlgn="ctr"/>
                      <a:r>
                        <a:rPr lang="en-US" sz="1100" u="none" strike="noStrike">
                          <a:solidFill>
                            <a:srgbClr val="4DD5FF"/>
                          </a:solidFill>
                          <a:effectLst/>
                          <a:latin typeface="DM Sans Bold" charset="0"/>
                        </a:rPr>
                        <a:t>OXTA</a:t>
                      </a:r>
                      <a:endParaRPr lang="en-US" sz="1100" b="0" i="0" u="none" strike="noStrike">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3060284208"/>
                  </a:ext>
                </a:extLst>
              </a:tr>
              <a:tr h="36000">
                <a:tc>
                  <a:txBody>
                    <a:bodyPr/>
                    <a:lstStyle/>
                    <a:p>
                      <a:pPr algn="l" fontAlgn="b"/>
                      <a:r>
                        <a:rPr lang="en-US" sz="1100" u="none" strike="noStrike" dirty="0" err="1">
                          <a:solidFill>
                            <a:srgbClr val="4DD5FF"/>
                          </a:solidFill>
                          <a:effectLst/>
                          <a:latin typeface="DM Sans" charset="0"/>
                        </a:rPr>
                        <a:t>呼气流速仪</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2">
                  <a:txBody>
                    <a:bodyPr/>
                    <a:lstStyle/>
                    <a:p>
                      <a:pPr algn="l" fontAlgn="ctr"/>
                      <a:r>
                        <a:rPr lang="en-US" sz="1100" u="none" strike="noStrike">
                          <a:solidFill>
                            <a:srgbClr val="4DD5FF"/>
                          </a:solidFill>
                          <a:effectLst/>
                          <a:latin typeface="DM Sans Bold" charset="0"/>
                        </a:rPr>
                        <a:t>组织学</a:t>
                      </a:r>
                      <a:endParaRPr lang="en-US" sz="1100" b="0" i="0" u="none" strike="noStrike">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3152094571"/>
                  </a:ext>
                </a:extLst>
              </a:tr>
              <a:tr h="36000">
                <a:tc>
                  <a:txBody>
                    <a:bodyPr/>
                    <a:lstStyle/>
                    <a:p>
                      <a:pPr algn="l" fontAlgn="b"/>
                      <a:r>
                        <a:rPr lang="en-US" sz="1100" u="none" strike="noStrike" dirty="0" err="1">
                          <a:solidFill>
                            <a:srgbClr val="4DD5FF"/>
                          </a:solidFill>
                          <a:effectLst/>
                          <a:latin typeface="DM Sans" charset="0"/>
                        </a:rPr>
                        <a:t>肺量计</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2535356552"/>
                  </a:ext>
                </a:extLst>
              </a:tr>
              <a:tr h="36000">
                <a:tc>
                  <a:txBody>
                    <a:bodyPr/>
                    <a:lstStyle/>
                    <a:p>
                      <a:pPr algn="l" fontAlgn="b"/>
                      <a:r>
                        <a:rPr lang="en-US" sz="1100" u="none" strike="noStrike" dirty="0" err="1">
                          <a:solidFill>
                            <a:srgbClr val="4DD5FF"/>
                          </a:solidFill>
                          <a:effectLst/>
                          <a:latin typeface="DM Sans" charset="0"/>
                        </a:rPr>
                        <a:t>切片机 Poliavtamat</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3">
                  <a:txBody>
                    <a:bodyPr/>
                    <a:lstStyle/>
                    <a:p>
                      <a:pPr algn="l" fontAlgn="ctr"/>
                      <a:r>
                        <a:rPr lang="en-US" sz="1100" u="none" strike="noStrike">
                          <a:solidFill>
                            <a:srgbClr val="4DD5FF"/>
                          </a:solidFill>
                          <a:effectLst/>
                          <a:latin typeface="DM Sans Bold" charset="0"/>
                        </a:rPr>
                        <a:t>病理解剖学</a:t>
                      </a:r>
                      <a:endParaRPr lang="en-US" sz="1100" b="0" i="0" u="none" strike="noStrike">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930154222"/>
                  </a:ext>
                </a:extLst>
              </a:tr>
              <a:tr h="36000">
                <a:tc>
                  <a:txBody>
                    <a:bodyPr/>
                    <a:lstStyle/>
                    <a:p>
                      <a:pPr algn="l" fontAlgn="b"/>
                      <a:r>
                        <a:rPr lang="en-US" sz="1100" u="none" strike="noStrike" dirty="0">
                          <a:solidFill>
                            <a:srgbClr val="4DD5FF"/>
                          </a:solidFill>
                          <a:effectLst/>
                          <a:latin typeface="DM Sans" charset="0"/>
                        </a:rPr>
                        <a:t>心电图仪</a:t>
                      </a:r>
                      <a:endParaRPr lang="en-US" sz="1100" b="0" i="0" u="none" strike="noStrike" dirty="0">
                        <a:solidFill>
                          <a:srgbClr val="4DD5FF"/>
                        </a:solidFill>
                        <a:effectLst/>
                        <a:latin typeface="DM Sans"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2700264784"/>
                  </a:ext>
                </a:extLst>
              </a:tr>
              <a:tr h="36000">
                <a:tc>
                  <a:txBody>
                    <a:bodyPr/>
                    <a:lstStyle/>
                    <a:p>
                      <a:pPr algn="l" rtl="0" fontAlgn="ctr">
                        <a:buClr>
                          <a:srgbClr val="000000"/>
                        </a:buClr>
                        <a:buSzPts val="900"/>
                        <a:buFont typeface="Times New Roman" panose="02020603050405020304" pitchFamily="18" charset="0"/>
                        <a:buNone/>
                      </a:pPr>
                      <a:r>
                        <a:rPr lang="en-US" sz="1100" b="0" u="none" strike="noStrike" dirty="0" err="1">
                          <a:solidFill>
                            <a:srgbClr val="4DD5FF"/>
                          </a:solidFill>
                          <a:effectLst/>
                          <a:latin typeface="DM Sans" charset="0"/>
                        </a:rPr>
                        <a:t>高压灭菌器（消毒用）</a:t>
                      </a:r>
                      <a:endParaRPr lang="ru-RU" sz="1100" b="0" i="0" u="none" strike="noStrike" dirty="0">
                        <a:solidFill>
                          <a:srgbClr val="4DD5FF"/>
                        </a:solidFill>
                        <a:effectLst/>
                        <a:latin typeface="Times New Roman" panose="02020603050405020304" pitchFamily="18"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2377019489"/>
                  </a:ext>
                </a:extLst>
              </a:tr>
              <a:tr h="36000">
                <a:tc>
                  <a:txBody>
                    <a:bodyPr/>
                    <a:lstStyle/>
                    <a:p>
                      <a:pPr algn="l" rtl="0" fontAlgn="ctr">
                        <a:buClr>
                          <a:srgbClr val="000000"/>
                        </a:buClr>
                        <a:buSzPts val="900"/>
                        <a:buFont typeface="Times New Roman" panose="02020603050405020304" pitchFamily="18" charset="0"/>
                        <a:buNone/>
                      </a:pPr>
                      <a:r>
                        <a:rPr lang="en-US" sz="1100" b="0" u="none" strike="noStrike" dirty="0" err="1">
                          <a:solidFill>
                            <a:srgbClr val="4DD5FF"/>
                          </a:solidFill>
                          <a:effectLst/>
                          <a:latin typeface="DM Sans" charset="0"/>
                        </a:rPr>
                        <a:t>建立动物饲养室</a:t>
                      </a:r>
                      <a:endParaRPr lang="ru-RU" sz="1100" b="0" i="0" u="none" strike="noStrike" dirty="0">
                        <a:solidFill>
                          <a:srgbClr val="4DD5FF"/>
                        </a:solidFill>
                        <a:effectLst/>
                        <a:latin typeface="Times New Roman" panose="02020603050405020304" pitchFamily="18"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a:txBody>
                    <a:bodyPr/>
                    <a:lstStyle/>
                    <a:p>
                      <a:pPr algn="l" fontAlgn="ctr"/>
                      <a:r>
                        <a:rPr lang="en-US" sz="1100" u="none" strike="noStrike">
                          <a:solidFill>
                            <a:srgbClr val="4DD5FF"/>
                          </a:solidFill>
                          <a:effectLst/>
                          <a:latin typeface="DM Sans Bold" charset="0"/>
                        </a:rPr>
                        <a:t>微生物学</a:t>
                      </a:r>
                      <a:endParaRPr lang="en-US" sz="1100" b="0" i="0" u="none" strike="noStrike">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146810882"/>
                  </a:ext>
                </a:extLst>
              </a:tr>
              <a:tr h="36000">
                <a:tc>
                  <a:txBody>
                    <a:bodyPr/>
                    <a:lstStyle/>
                    <a:p>
                      <a:pPr algn="l" rtl="0" fontAlgn="ctr">
                        <a:buClr>
                          <a:srgbClr val="000000"/>
                        </a:buClr>
                        <a:buSzPts val="900"/>
                        <a:buFont typeface="Times New Roman" panose="02020603050405020304" pitchFamily="18" charset="0"/>
                        <a:buNone/>
                      </a:pPr>
                      <a:r>
                        <a:rPr lang="en-US" sz="1100" b="0" u="none" strike="noStrike" dirty="0">
                          <a:solidFill>
                            <a:srgbClr val="4DD5FF"/>
                          </a:solidFill>
                          <a:effectLst/>
                          <a:latin typeface="DM Sans" charset="0"/>
                        </a:rPr>
                        <a:t>包含机器人技术、计算机图形学、移动应用、Web开发、桌面软件、网络部门的IT实验室</a:t>
                      </a:r>
                      <a:endParaRPr lang="ru-RU" sz="1100" b="0" i="0" u="none" strike="noStrike" dirty="0">
                        <a:solidFill>
                          <a:srgbClr val="4DD5FF"/>
                        </a:solidFill>
                        <a:effectLst/>
                        <a:latin typeface="Times New Roman" panose="02020603050405020304" pitchFamily="18"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a:txBody>
                    <a:bodyPr/>
                    <a:lstStyle/>
                    <a:p>
                      <a:pPr algn="l" fontAlgn="ctr"/>
                      <a:r>
                        <a:rPr lang="en-US" sz="1100" u="none" strike="noStrike" dirty="0" err="1">
                          <a:solidFill>
                            <a:srgbClr val="4DD5FF"/>
                          </a:solidFill>
                          <a:effectLst/>
                          <a:latin typeface="DM Sans Bold" charset="0"/>
                        </a:rPr>
                        <a:t>信息技术</a:t>
                      </a:r>
                      <a:endParaRPr lang="en-US" sz="1100" b="0" i="0" u="none" strike="noStrike" dirty="0">
                        <a:solidFill>
                          <a:srgbClr val="4DD5FF"/>
                        </a:solidFill>
                        <a:effectLst/>
                        <a:latin typeface="DM Sans Bold" charset="0"/>
                      </a:endParaRPr>
                    </a:p>
                  </a:txBody>
                  <a:tcPr marL="7999" marR="7999" marT="799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3745877151"/>
                  </a:ext>
                </a:extLst>
              </a:tr>
            </a:tbl>
          </a:graphicData>
        </a:graphic>
      </p:graphicFrame>
      <p:graphicFrame>
        <p:nvGraphicFramePr>
          <p:cNvPr id="108" name="Таблица 107">
            <a:extLst>
              <a:ext uri="{FF2B5EF4-FFF2-40B4-BE49-F238E27FC236}">
                <a16:creationId xmlns:a16="http://schemas.microsoft.com/office/drawing/2014/main" xmlns="" id="{176B4AF9-ABB7-4FE3-9994-B90449343E51}"/>
              </a:ext>
            </a:extLst>
          </p:cNvPr>
          <p:cNvGraphicFramePr>
            <a:graphicFrameLocks noGrp="1"/>
          </p:cNvGraphicFramePr>
          <p:nvPr>
            <p:extLst>
              <p:ext uri="{D42A27DB-BD31-4B8C-83A1-F6EECF244321}">
                <p14:modId xmlns:p14="http://schemas.microsoft.com/office/powerpoint/2010/main" val="596096587"/>
              </p:ext>
            </p:extLst>
          </p:nvPr>
        </p:nvGraphicFramePr>
        <p:xfrm>
          <a:off x="5194195" y="1381290"/>
          <a:ext cx="3813909" cy="4694264"/>
        </p:xfrm>
        <a:graphic>
          <a:graphicData uri="http://schemas.openxmlformats.org/drawingml/2006/table">
            <a:tbl>
              <a:tblPr>
                <a:tableStyleId>{5940675A-B579-460E-94D1-54222C63F5DA}</a:tableStyleId>
              </a:tblPr>
              <a:tblGrid>
                <a:gridCol w="2160000">
                  <a:extLst>
                    <a:ext uri="{9D8B030D-6E8A-4147-A177-3AD203B41FA5}">
                      <a16:colId xmlns:a16="http://schemas.microsoft.com/office/drawing/2014/main" xmlns="" val="3715704961"/>
                    </a:ext>
                  </a:extLst>
                </a:gridCol>
                <a:gridCol w="1653909">
                  <a:extLst>
                    <a:ext uri="{9D8B030D-6E8A-4147-A177-3AD203B41FA5}">
                      <a16:colId xmlns:a16="http://schemas.microsoft.com/office/drawing/2014/main" xmlns="" val="3528304817"/>
                    </a:ext>
                  </a:extLst>
                </a:gridCol>
              </a:tblGrid>
              <a:tr h="421459">
                <a:tc>
                  <a:txBody>
                    <a:bodyPr/>
                    <a:lstStyle/>
                    <a:p>
                      <a:pPr algn="l" fontAlgn="b"/>
                      <a:r>
                        <a:rPr lang="en-US" sz="1100" u="none" strike="noStrike" dirty="0" err="1">
                          <a:solidFill>
                            <a:srgbClr val="4DD5FF"/>
                          </a:solidFill>
                          <a:effectLst/>
                          <a:latin typeface="DM Sans Bold" panose="020B0604020202020204" charset="0"/>
                        </a:rPr>
                        <a:t>尿液分析仪 MS7-H550-Pro</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6">
                  <a:txBody>
                    <a:bodyPr/>
                    <a:lstStyle/>
                    <a:p>
                      <a:pPr algn="ctr" rtl="0" fontAlgn="ctr"/>
                      <a:r>
                        <a:rPr lang="en-US" sz="1100" u="none" strike="noStrike" dirty="0" err="1">
                          <a:solidFill>
                            <a:srgbClr val="4DD5FF"/>
                          </a:solidFill>
                          <a:effectLst/>
                          <a:latin typeface="DM Sans Bold" panose="020B0604020202020204" charset="0"/>
                        </a:rPr>
                        <a:t>从药用植物中提取生物碱及其他化学物质的研究</a:t>
                      </a:r>
                      <a:endParaRPr lang="en-US" sz="1100" b="0" i="0" u="none" strike="noStrike" dirty="0">
                        <a:solidFill>
                          <a:srgbClr val="4DD5FF"/>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612972153"/>
                  </a:ext>
                </a:extLst>
              </a:tr>
              <a:tr h="421459">
                <a:tc>
                  <a:txBody>
                    <a:bodyPr/>
                    <a:lstStyle/>
                    <a:p>
                      <a:pPr algn="l" fontAlgn="b"/>
                      <a:r>
                        <a:rPr lang="it-IT" sz="1100" u="none" strike="noStrike" dirty="0">
                          <a:solidFill>
                            <a:srgbClr val="4DD5FF"/>
                          </a:solidFill>
                          <a:effectLst/>
                          <a:latin typeface="DM Sans Bold" panose="020B0604020202020204" charset="0"/>
                        </a:rPr>
                        <a:t>实验室电炉 SNOL 8.2</a:t>
                      </a:r>
                      <a:endParaRPr lang="it-IT"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903917386"/>
                  </a:ext>
                </a:extLst>
              </a:tr>
              <a:tr h="216551">
                <a:tc>
                  <a:txBody>
                    <a:bodyPr/>
                    <a:lstStyle/>
                    <a:p>
                      <a:pPr algn="l" fontAlgn="b"/>
                      <a:r>
                        <a:rPr lang="en-US" sz="1100" u="none" strike="noStrike" dirty="0" err="1">
                          <a:solidFill>
                            <a:srgbClr val="4DD5FF"/>
                          </a:solidFill>
                          <a:effectLst/>
                          <a:latin typeface="DM Sans Bold" panose="020B0604020202020204" charset="0"/>
                        </a:rPr>
                        <a:t>蒸馏水器 ADEa-4-С3МО</a:t>
                      </a:r>
                      <a:endParaRPr lang="ru-RU" sz="1100" b="0" i="0" u="none" strike="noStrike" dirty="0">
                        <a:solidFill>
                          <a:srgbClr val="4DD5FF"/>
                        </a:solidFill>
                        <a:effectLst/>
                        <a:latin typeface="Calibri" panose="020F050202020403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813794307"/>
                  </a:ext>
                </a:extLst>
              </a:tr>
              <a:tr h="421459">
                <a:tc>
                  <a:txBody>
                    <a:bodyPr/>
                    <a:lstStyle/>
                    <a:p>
                      <a:pPr algn="l" fontAlgn="b"/>
                      <a:r>
                        <a:rPr lang="it-IT" sz="1100" u="none" strike="noStrike" dirty="0">
                          <a:solidFill>
                            <a:srgbClr val="4DD5FF"/>
                          </a:solidFill>
                          <a:effectLst/>
                          <a:latin typeface="DM Sans Bold" panose="020B0604020202020204" charset="0"/>
                        </a:rPr>
                        <a:t>高速离心机 D2012 plus</a:t>
                      </a:r>
                      <a:endParaRPr lang="it-IT"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724850710"/>
                  </a:ext>
                </a:extLst>
              </a:tr>
              <a:tr h="216551">
                <a:tc>
                  <a:txBody>
                    <a:bodyPr/>
                    <a:lstStyle/>
                    <a:p>
                      <a:pPr algn="l" fontAlgn="b"/>
                      <a:r>
                        <a:rPr lang="en-US" sz="1100" u="none" strike="noStrike" dirty="0" err="1">
                          <a:solidFill>
                            <a:srgbClr val="4DD5FF"/>
                          </a:solidFill>
                          <a:effectLst/>
                          <a:latin typeface="DM Sans Bold" panose="020B0604020202020204" charset="0"/>
                        </a:rPr>
                        <a:t>索氏脂肪分析仪</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844818677"/>
                  </a:ext>
                </a:extLst>
              </a:tr>
              <a:tr h="421459">
                <a:tc>
                  <a:txBody>
                    <a:bodyPr/>
                    <a:lstStyle/>
                    <a:p>
                      <a:pPr algn="l" fontAlgn="b"/>
                      <a:r>
                        <a:rPr lang="en-US" sz="1100" u="none" strike="noStrike" dirty="0" err="1">
                          <a:solidFill>
                            <a:srgbClr val="4DD5FF"/>
                          </a:solidFill>
                          <a:effectLst/>
                          <a:latin typeface="DM Sans Bold" panose="020B0604020202020204" charset="0"/>
                        </a:rPr>
                        <a:t>数字台式pH计 PHS-3E</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860917455"/>
                  </a:ext>
                </a:extLst>
              </a:tr>
              <a:tr h="421459">
                <a:tc>
                  <a:txBody>
                    <a:bodyPr/>
                    <a:lstStyle/>
                    <a:p>
                      <a:pPr algn="l" fontAlgn="b"/>
                      <a:r>
                        <a:rPr lang="en-US" sz="1100" u="none" strike="noStrike" dirty="0" err="1">
                          <a:solidFill>
                            <a:srgbClr val="4DD5FF"/>
                          </a:solidFill>
                          <a:effectLst/>
                          <a:latin typeface="DM Sans Bold" panose="020B0604020202020204" charset="0"/>
                        </a:rPr>
                        <a:t>实验动物饲养</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rowSpan="10">
                  <a:txBody>
                    <a:bodyPr/>
                    <a:lstStyle/>
                    <a:p>
                      <a:pPr algn="ctr" rtl="0" fontAlgn="ctr"/>
                      <a:r>
                        <a:rPr lang="en-US" sz="1100" u="none" strike="noStrike" dirty="0" err="1">
                          <a:solidFill>
                            <a:srgbClr val="4DD5FF"/>
                          </a:solidFill>
                          <a:effectLst/>
                          <a:latin typeface="DM Sans Bold" panose="020B0604020202020204" charset="0"/>
                        </a:rPr>
                        <a:t>基于科学研究对疾病建模、研究发病机理及实验验证优先治疗方法</a:t>
                      </a:r>
                      <a:endParaRPr lang="en-US" sz="1100" b="0" i="0" u="none" strike="noStrike" dirty="0">
                        <a:solidFill>
                          <a:srgbClr val="4DD5FF"/>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2087827242"/>
                  </a:ext>
                </a:extLst>
              </a:tr>
              <a:tr h="216551">
                <a:tc>
                  <a:txBody>
                    <a:bodyPr/>
                    <a:lstStyle/>
                    <a:p>
                      <a:pPr algn="l" fontAlgn="b"/>
                      <a:r>
                        <a:rPr lang="en-US" sz="1100" u="none" strike="noStrike" dirty="0" err="1">
                          <a:solidFill>
                            <a:srgbClr val="4DD5FF"/>
                          </a:solidFill>
                          <a:effectLst/>
                          <a:latin typeface="DM Sans Bold" panose="020B0604020202020204" charset="0"/>
                        </a:rPr>
                        <a:t>生化分析仪</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207707704"/>
                  </a:ext>
                </a:extLst>
              </a:tr>
              <a:tr h="216551">
                <a:tc>
                  <a:txBody>
                    <a:bodyPr/>
                    <a:lstStyle/>
                    <a:p>
                      <a:pPr algn="l" fontAlgn="b"/>
                      <a:r>
                        <a:rPr lang="en-US" sz="1100" u="none" strike="noStrike" dirty="0">
                          <a:solidFill>
                            <a:srgbClr val="4DD5FF"/>
                          </a:solidFill>
                          <a:effectLst/>
                          <a:latin typeface="DM Sans Bold" panose="020B0604020202020204" charset="0"/>
                        </a:rPr>
                        <a:t>ELISA分析仪</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359229629"/>
                  </a:ext>
                </a:extLst>
              </a:tr>
              <a:tr h="216551">
                <a:tc>
                  <a:txBody>
                    <a:bodyPr/>
                    <a:lstStyle/>
                    <a:p>
                      <a:pPr algn="l" fontAlgn="b"/>
                      <a:r>
                        <a:rPr lang="en-US" sz="1100" u="none" strike="noStrike" dirty="0" err="1">
                          <a:solidFill>
                            <a:srgbClr val="4DD5FF"/>
                          </a:solidFill>
                          <a:effectLst/>
                          <a:latin typeface="DM Sans Bold" panose="020B0604020202020204" charset="0"/>
                        </a:rPr>
                        <a:t>尿液分析仪</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701833535"/>
                  </a:ext>
                </a:extLst>
              </a:tr>
              <a:tr h="216551">
                <a:tc>
                  <a:txBody>
                    <a:bodyPr/>
                    <a:lstStyle/>
                    <a:p>
                      <a:pPr algn="l" fontAlgn="b"/>
                      <a:r>
                        <a:rPr lang="en-US" sz="1100" u="none" strike="noStrike" dirty="0" err="1">
                          <a:solidFill>
                            <a:srgbClr val="4DD5FF"/>
                          </a:solidFill>
                          <a:effectLst/>
                          <a:latin typeface="DM Sans Bold" panose="020B0604020202020204" charset="0"/>
                        </a:rPr>
                        <a:t>血液分析仪</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1905442047"/>
                  </a:ext>
                </a:extLst>
              </a:tr>
              <a:tr h="216551">
                <a:tc>
                  <a:txBody>
                    <a:bodyPr/>
                    <a:lstStyle/>
                    <a:p>
                      <a:pPr algn="l" fontAlgn="b"/>
                      <a:r>
                        <a:rPr lang="en-US" sz="1100" u="none" strike="noStrike" dirty="0" err="1">
                          <a:solidFill>
                            <a:srgbClr val="4DD5FF"/>
                          </a:solidFill>
                          <a:effectLst/>
                          <a:latin typeface="DM Sans Bold" panose="020B0604020202020204" charset="0"/>
                        </a:rPr>
                        <a:t>恒温箱</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517655492"/>
                  </a:ext>
                </a:extLst>
              </a:tr>
              <a:tr h="216551">
                <a:tc>
                  <a:txBody>
                    <a:bodyPr/>
                    <a:lstStyle/>
                    <a:p>
                      <a:pPr algn="l" fontAlgn="b"/>
                      <a:r>
                        <a:rPr lang="en-US" sz="1100" u="none" strike="noStrike" dirty="0" err="1">
                          <a:solidFill>
                            <a:srgbClr val="4DD5FF"/>
                          </a:solidFill>
                          <a:effectLst/>
                          <a:latin typeface="DM Sans Bold" panose="020B0604020202020204" charset="0"/>
                        </a:rPr>
                        <a:t>高压灭菌器</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007816486"/>
                  </a:ext>
                </a:extLst>
              </a:tr>
              <a:tr h="216551">
                <a:tc>
                  <a:txBody>
                    <a:bodyPr/>
                    <a:lstStyle/>
                    <a:p>
                      <a:pPr algn="l" fontAlgn="b"/>
                      <a:r>
                        <a:rPr lang="en-US" sz="1100" u="none" strike="noStrike" dirty="0" err="1">
                          <a:solidFill>
                            <a:srgbClr val="4DD5FF"/>
                          </a:solidFill>
                          <a:effectLst/>
                          <a:latin typeface="DM Sans Bold" panose="020B0604020202020204" charset="0"/>
                        </a:rPr>
                        <a:t>动物饲养室楼</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211129807"/>
                  </a:ext>
                </a:extLst>
              </a:tr>
              <a:tr h="216551">
                <a:tc>
                  <a:txBody>
                    <a:bodyPr/>
                    <a:lstStyle/>
                    <a:p>
                      <a:pPr algn="l" fontAlgn="b"/>
                      <a:r>
                        <a:rPr lang="en-US" sz="1100" u="none" strike="noStrike" dirty="0" err="1">
                          <a:solidFill>
                            <a:srgbClr val="4DD5FF"/>
                          </a:solidFill>
                          <a:effectLst/>
                          <a:latin typeface="DM Sans Bold" panose="020B0604020202020204" charset="0"/>
                        </a:rPr>
                        <a:t>笼具</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3584025146"/>
                  </a:ext>
                </a:extLst>
              </a:tr>
              <a:tr h="421459">
                <a:tc>
                  <a:txBody>
                    <a:bodyPr/>
                    <a:lstStyle/>
                    <a:p>
                      <a:pPr algn="l" fontAlgn="b"/>
                      <a:r>
                        <a:rPr lang="en-US" sz="1100" u="none" strike="noStrike" dirty="0">
                          <a:solidFill>
                            <a:srgbClr val="4DD5FF"/>
                          </a:solidFill>
                          <a:effectLst/>
                          <a:latin typeface="DM Sans Bold" panose="020B0604020202020204" charset="0"/>
                        </a:rPr>
                        <a:t>大小外科器械套装</a:t>
                      </a:r>
                      <a:endParaRPr lang="en-US" sz="1100" b="0" i="0" u="none" strike="noStrike" dirty="0">
                        <a:solidFill>
                          <a:srgbClr val="4DD5FF"/>
                        </a:solidFill>
                        <a:effectLst/>
                        <a:latin typeface="DM Sans Bold" panose="020B060402020202020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92D58"/>
                    </a:solidFill>
                  </a:tcPr>
                </a:tc>
                <a:tc vMerge="1">
                  <a:txBody>
                    <a:bodyPr/>
                    <a:lstStyle/>
                    <a:p>
                      <a:endParaRPr lang="ru-RU"/>
                    </a:p>
                  </a:txBody>
                  <a:tcPr/>
                </a:tc>
                <a:extLst>
                  <a:ext uri="{0D108BD9-81ED-4DB2-BD59-A6C34878D82A}">
                    <a16:rowId xmlns:a16="http://schemas.microsoft.com/office/drawing/2014/main" xmlns="" val="2115858653"/>
                  </a:ext>
                </a:extLst>
              </a:tr>
            </a:tbl>
          </a:graphicData>
        </a:graphic>
      </p:graphicFrame>
      <p:sp>
        <p:nvSpPr>
          <p:cNvPr id="68" name="TextBox 67">
            <a:extLst>
              <a:ext uri="{FF2B5EF4-FFF2-40B4-BE49-F238E27FC236}">
                <a16:creationId xmlns:a16="http://schemas.microsoft.com/office/drawing/2014/main" xmlns="" id="{3AB556C1-39C8-4205-B9C2-41AEF7F1C7D5}"/>
              </a:ext>
            </a:extLst>
          </p:cNvPr>
          <p:cNvSpPr txBox="1"/>
          <p:nvPr/>
        </p:nvSpPr>
        <p:spPr>
          <a:xfrm>
            <a:off x="876492" y="6086152"/>
            <a:ext cx="4000306" cy="584775"/>
          </a:xfrm>
          <a:prstGeom prst="rect">
            <a:avLst/>
          </a:prstGeom>
          <a:noFill/>
        </p:spPr>
        <p:txBody>
          <a:bodyPr wrap="square">
            <a:spAutoFit/>
          </a:bodyPr>
          <a:lstStyle/>
          <a:p>
            <a:pPr indent="450215" algn="ctr">
              <a:spcAft>
                <a:spcPts val="800"/>
              </a:spcAft>
            </a:pPr>
            <a:r>
              <a:rPr lang="en-US" sz="1600" b="1" dirty="0">
                <a:solidFill>
                  <a:schemeClr val="bg1"/>
                </a:solidFill>
                <a:effectLst/>
                <a:latin typeface="DM Sans Bold" panose="020B0604020202020204" charset="0"/>
                <a:ea typeface="Calibri" panose="020F0502020204030204" pitchFamily="34" charset="0"/>
              </a:rPr>
              <a:t>学生和博士生参与科学学派项目</a:t>
            </a:r>
            <a:endParaRPr lang="en-US" sz="1600" dirty="0">
              <a:solidFill>
                <a:schemeClr val="bg1"/>
              </a:solidFill>
              <a:effectLst/>
              <a:latin typeface="DM Sans Bold" panose="020B0604020202020204" charset="0"/>
              <a:ea typeface="Calibri" panose="020F0502020204030204" pitchFamily="34" charset="0"/>
            </a:endParaRPr>
          </a:p>
        </p:txBody>
      </p:sp>
      <p:sp>
        <p:nvSpPr>
          <p:cNvPr id="110" name="AutoShape 2">
            <a:extLst>
              <a:ext uri="{FF2B5EF4-FFF2-40B4-BE49-F238E27FC236}">
                <a16:creationId xmlns:a16="http://schemas.microsoft.com/office/drawing/2014/main" xmlns="" id="{9E6AEB1B-D269-491F-8E3A-12CBFD8213F6}"/>
              </a:ext>
            </a:extLst>
          </p:cNvPr>
          <p:cNvSpPr/>
          <p:nvPr/>
        </p:nvSpPr>
        <p:spPr>
          <a:xfrm>
            <a:off x="9144000" y="1516723"/>
            <a:ext cx="0" cy="3547252"/>
          </a:xfrm>
          <a:prstGeom prst="line">
            <a:avLst/>
          </a:prstGeom>
          <a:ln w="47625" cap="flat">
            <a:solidFill>
              <a:srgbClr val="FFFFFF"/>
            </a:solidFill>
            <a:prstDash val="solid"/>
            <a:headEnd type="none" w="sm" len="sm"/>
            <a:tailEnd type="none" w="sm" len="sm"/>
          </a:ln>
        </p:spPr>
      </p:sp>
      <p:sp>
        <p:nvSpPr>
          <p:cNvPr id="112" name="TextBox 111">
            <a:extLst>
              <a:ext uri="{FF2B5EF4-FFF2-40B4-BE49-F238E27FC236}">
                <a16:creationId xmlns:a16="http://schemas.microsoft.com/office/drawing/2014/main" xmlns="" id="{593D9E75-FFB6-4320-B46D-A03E2CEA7C05}"/>
              </a:ext>
            </a:extLst>
          </p:cNvPr>
          <p:cNvSpPr txBox="1"/>
          <p:nvPr/>
        </p:nvSpPr>
        <p:spPr>
          <a:xfrm>
            <a:off x="2512441" y="38838"/>
            <a:ext cx="12161671" cy="523220"/>
          </a:xfrm>
          <a:prstGeom prst="rect">
            <a:avLst/>
          </a:prstGeom>
          <a:noFill/>
        </p:spPr>
        <p:txBody>
          <a:bodyPr wrap="square">
            <a:spAutoFit/>
          </a:bodyPr>
          <a:lstStyle/>
          <a:p>
            <a:pPr marL="0" marR="0" indent="450215" algn="ctr">
              <a:spcAft>
                <a:spcPts val="800"/>
              </a:spcAft>
            </a:pPr>
            <a:r>
              <a:rPr lang="en-US" sz="2800" b="1" dirty="0">
                <a:solidFill>
                  <a:schemeClr val="bg1"/>
                </a:solidFill>
                <a:effectLst/>
                <a:latin typeface="Times New Roman" panose="02020603050405020304" pitchFamily="18" charset="0"/>
                <a:ea typeface="Calibri" panose="020F0502020204030204" pitchFamily="34" charset="0"/>
              </a:rPr>
              <a:t>科研活动发展前景</a:t>
            </a:r>
            <a:endParaRPr lang="ru-RU" sz="2800" dirty="0">
              <a:solidFill>
                <a:schemeClr val="bg1"/>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4" name="Freeform 4">
            <a:extLst>
              <a:ext uri="{FF2B5EF4-FFF2-40B4-BE49-F238E27FC236}">
                <a16:creationId xmlns:a16="http://schemas.microsoft.com/office/drawing/2014/main" xmlns="" id="{CE33C39A-4C26-462C-9556-55BC0ECB5137}"/>
              </a:ext>
            </a:extLst>
          </p:cNvPr>
          <p:cNvSpPr/>
          <p:nvPr/>
        </p:nvSpPr>
        <p:spPr>
          <a:xfrm>
            <a:off x="-5919198" y="-5541287"/>
            <a:ext cx="10196686" cy="10196685"/>
          </a:xfrm>
          <a:custGeom>
            <a:avLst/>
            <a:gdLst/>
            <a:ahLst/>
            <a:cxnLst/>
            <a:rect l="l" t="t" r="r" b="b"/>
            <a:pathLst>
              <a:path w="8414387" h="8414387">
                <a:moveTo>
                  <a:pt x="0" y="0"/>
                </a:moveTo>
                <a:lnTo>
                  <a:pt x="8414387" y="0"/>
                </a:lnTo>
                <a:lnTo>
                  <a:pt x="8414387" y="8414387"/>
                </a:lnTo>
                <a:lnTo>
                  <a:pt x="0" y="8414387"/>
                </a:lnTo>
                <a:lnTo>
                  <a:pt x="0" y="0"/>
                </a:lnTo>
                <a:close/>
              </a:path>
            </a:pathLst>
          </a:custGeom>
          <a:blipFill>
            <a:blip r:embed="rId2">
              <a:alphaModFix amt="29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4697329" y="6667836"/>
            <a:ext cx="8414387" cy="8414387"/>
          </a:xfrm>
          <a:custGeom>
            <a:avLst/>
            <a:gdLst/>
            <a:ahLst/>
            <a:cxnLst/>
            <a:rect l="l" t="t" r="r" b="b"/>
            <a:pathLst>
              <a:path w="8414387" h="8414387">
                <a:moveTo>
                  <a:pt x="0" y="0"/>
                </a:moveTo>
                <a:lnTo>
                  <a:pt x="8414387" y="0"/>
                </a:lnTo>
                <a:lnTo>
                  <a:pt x="8414387" y="8414387"/>
                </a:lnTo>
                <a:lnTo>
                  <a:pt x="0" y="8414387"/>
                </a:lnTo>
                <a:lnTo>
                  <a:pt x="0" y="0"/>
                </a:lnTo>
                <a:close/>
              </a:path>
            </a:pathLst>
          </a:custGeom>
          <a:blipFill>
            <a:blip r:embed="rId2">
              <a:alphaModFix amt="29000"/>
              <a:extLst>
                <a:ext uri="{96DAC541-7B7A-43D3-8B79-37D633B846F1}">
                  <asvg:svgBlip xmlns:asvg="http://schemas.microsoft.com/office/drawing/2016/SVG/main" xmlns="" r:embed="rId3"/>
                </a:ext>
              </a:extLst>
            </a:blip>
            <a:stretch>
              <a:fillRect/>
            </a:stretch>
          </a:blipFill>
        </p:spPr>
      </p:sp>
      <p:sp>
        <p:nvSpPr>
          <p:cNvPr id="25" name="TextBox 24">
            <a:extLst>
              <a:ext uri="{FF2B5EF4-FFF2-40B4-BE49-F238E27FC236}">
                <a16:creationId xmlns:a16="http://schemas.microsoft.com/office/drawing/2014/main" xmlns="" id="{4F09F49E-AF35-43CA-A808-209D96AC03FC}"/>
              </a:ext>
            </a:extLst>
          </p:cNvPr>
          <p:cNvSpPr txBox="1"/>
          <p:nvPr/>
        </p:nvSpPr>
        <p:spPr>
          <a:xfrm>
            <a:off x="0" y="266700"/>
            <a:ext cx="18288000" cy="545855"/>
          </a:xfrm>
          <a:prstGeom prst="rect">
            <a:avLst/>
          </a:prstGeom>
          <a:noFill/>
        </p:spPr>
        <p:txBody>
          <a:bodyPr wrap="square">
            <a:spAutoFit/>
          </a:bodyPr>
          <a:lstStyle/>
          <a:p>
            <a:pPr algn="ctr">
              <a:lnSpc>
                <a:spcPct val="107000"/>
              </a:lnSpc>
              <a:spcAft>
                <a:spcPts val="800"/>
              </a:spcAft>
            </a:pPr>
            <a:r>
              <a:rPr lang="en-GB" sz="2800" b="1" dirty="0">
                <a:solidFill>
                  <a:srgbClr val="FFFFFF"/>
                </a:solidFill>
                <a:latin typeface="Now Bold"/>
              </a:rPr>
              <a:t>铁尔梅兹经济与服务大学青年工作战略</a:t>
            </a:r>
          </a:p>
        </p:txBody>
      </p:sp>
      <p:sp>
        <p:nvSpPr>
          <p:cNvPr id="26" name="Text 0">
            <a:extLst>
              <a:ext uri="{FF2B5EF4-FFF2-40B4-BE49-F238E27FC236}">
                <a16:creationId xmlns:a16="http://schemas.microsoft.com/office/drawing/2014/main" xmlns="" id="{5B205A2E-5060-4D2A-8C1D-58C119BCE124}"/>
              </a:ext>
            </a:extLst>
          </p:cNvPr>
          <p:cNvSpPr/>
          <p:nvPr/>
        </p:nvSpPr>
        <p:spPr>
          <a:xfrm>
            <a:off x="1244284" y="832732"/>
            <a:ext cx="15900994" cy="299198"/>
          </a:xfrm>
          <a:prstGeom prst="rect">
            <a:avLst/>
          </a:prstGeom>
          <a:noFill/>
          <a:ln/>
        </p:spPr>
        <p:txBody>
          <a:bodyPr wrap="square" lIns="0" tIns="0" rIns="0" bIns="0" rtlCol="0" anchor="t"/>
          <a:lstStyle/>
          <a:p>
            <a:pPr marL="0" indent="0" algn="ctr">
              <a:buNone/>
            </a:pPr>
            <a:r>
              <a:rPr lang="en-US" sz="1600" b="1" dirty="0">
                <a:solidFill>
                  <a:schemeClr val="bg1"/>
                </a:solidFill>
                <a:ea typeface="Calibri" panose="020F0502020204030204" pitchFamily="34" charset="0"/>
              </a:rPr>
              <a:t>引进提升精神文化工作效率和教育工作影响力的先进技术</a:t>
            </a:r>
            <a:endParaRPr lang="uz-Cyrl-UZ" sz="1600" b="1" dirty="0">
              <a:solidFill>
                <a:schemeClr val="bg1"/>
              </a:solidFill>
              <a:ea typeface="Calibri" panose="020F0502020204030204" pitchFamily="34" charset="0"/>
            </a:endParaRPr>
          </a:p>
        </p:txBody>
      </p:sp>
      <p:sp>
        <p:nvSpPr>
          <p:cNvPr id="27" name="TextBox 26">
            <a:extLst>
              <a:ext uri="{FF2B5EF4-FFF2-40B4-BE49-F238E27FC236}">
                <a16:creationId xmlns:a16="http://schemas.microsoft.com/office/drawing/2014/main" xmlns="" id="{40238D2D-C715-4C57-83FB-DCDA3EE99ED5}"/>
              </a:ext>
            </a:extLst>
          </p:cNvPr>
          <p:cNvSpPr txBox="1"/>
          <p:nvPr/>
        </p:nvSpPr>
        <p:spPr>
          <a:xfrm>
            <a:off x="723502" y="1616383"/>
            <a:ext cx="5146527" cy="523220"/>
          </a:xfrm>
          <a:prstGeom prst="rect">
            <a:avLst/>
          </a:prstGeom>
          <a:noFill/>
        </p:spPr>
        <p:txBody>
          <a:bodyPr wrap="square">
            <a:spAutoFit/>
          </a:bodyPr>
          <a:lstStyle/>
          <a:p>
            <a:pPr algn="just"/>
            <a:r>
              <a:rPr lang="ru-RU" sz="1400" dirty="0">
                <a:solidFill>
                  <a:schemeClr val="bg1"/>
                </a:solidFill>
                <a:latin typeface="DM Sans Bold" charset="0"/>
              </a:rPr>
              <a:t>1. 进一步提升青年事务和精神文化工作效率</a:t>
            </a:r>
            <a:endParaRPr lang="uz-Cyrl-UZ" sz="1400" dirty="0">
              <a:solidFill>
                <a:schemeClr val="bg1"/>
              </a:solidFill>
            </a:endParaRPr>
          </a:p>
        </p:txBody>
      </p:sp>
      <p:sp>
        <p:nvSpPr>
          <p:cNvPr id="28" name="TextBox 27">
            <a:extLst>
              <a:ext uri="{FF2B5EF4-FFF2-40B4-BE49-F238E27FC236}">
                <a16:creationId xmlns:a16="http://schemas.microsoft.com/office/drawing/2014/main" xmlns="" id="{4ECA8453-0759-4213-AEAB-270C2E9185FA}"/>
              </a:ext>
            </a:extLst>
          </p:cNvPr>
          <p:cNvSpPr txBox="1"/>
          <p:nvPr/>
        </p:nvSpPr>
        <p:spPr>
          <a:xfrm>
            <a:off x="652248" y="2097573"/>
            <a:ext cx="5325662" cy="954107"/>
          </a:xfrm>
          <a:prstGeom prst="rect">
            <a:avLst/>
          </a:prstGeom>
          <a:noFill/>
        </p:spPr>
        <p:txBody>
          <a:bodyPr wrap="square">
            <a:spAutoFit/>
          </a:bodyPr>
          <a:lstStyle/>
          <a:p>
            <a:pPr algn="just"/>
            <a:r>
              <a:rPr lang="en-US" sz="1400" dirty="0" err="1">
                <a:solidFill>
                  <a:schemeClr val="bg1"/>
                </a:solidFill>
                <a:latin typeface="DM Sans" charset="0"/>
              </a:rPr>
              <a:t>在大学精神文化和教育管理体系中建立社会学与心理学分析跨系实验室，实施对领导干部和工作人员的系统培训。</a:t>
            </a:r>
            <a:endParaRPr lang="uz-Cyrl-UZ" sz="1400" dirty="0">
              <a:solidFill>
                <a:schemeClr val="bg1"/>
              </a:solidFill>
            </a:endParaRPr>
          </a:p>
        </p:txBody>
      </p:sp>
      <p:sp>
        <p:nvSpPr>
          <p:cNvPr id="29" name="TextBox 28">
            <a:extLst>
              <a:ext uri="{FF2B5EF4-FFF2-40B4-BE49-F238E27FC236}">
                <a16:creationId xmlns:a16="http://schemas.microsoft.com/office/drawing/2014/main" xmlns="" id="{BFBDE6DC-5182-463C-810F-943F16CBC40D}"/>
              </a:ext>
            </a:extLst>
          </p:cNvPr>
          <p:cNvSpPr txBox="1"/>
          <p:nvPr/>
        </p:nvSpPr>
        <p:spPr>
          <a:xfrm>
            <a:off x="664767" y="3629680"/>
            <a:ext cx="5313141" cy="523220"/>
          </a:xfrm>
          <a:prstGeom prst="rect">
            <a:avLst/>
          </a:prstGeom>
          <a:noFill/>
        </p:spPr>
        <p:txBody>
          <a:bodyPr wrap="square">
            <a:spAutoFit/>
          </a:bodyPr>
          <a:lstStyle/>
          <a:p>
            <a:pPr algn="just"/>
            <a:r>
              <a:rPr lang="en-US" sz="1400" dirty="0">
                <a:solidFill>
                  <a:schemeClr val="bg1"/>
                </a:solidFill>
                <a:latin typeface="DM Sans Bold" charset="0"/>
              </a:rPr>
              <a:t>2. 保障学生课余时间的充实利用和就业</a:t>
            </a:r>
            <a:endParaRPr lang="uz-Cyrl-UZ" sz="1400" dirty="0">
              <a:solidFill>
                <a:schemeClr val="bg1"/>
              </a:solidFill>
            </a:endParaRPr>
          </a:p>
        </p:txBody>
      </p:sp>
      <p:sp>
        <p:nvSpPr>
          <p:cNvPr id="30" name="TextBox 29">
            <a:extLst>
              <a:ext uri="{FF2B5EF4-FFF2-40B4-BE49-F238E27FC236}">
                <a16:creationId xmlns:a16="http://schemas.microsoft.com/office/drawing/2014/main" xmlns="" id="{DF7DD107-1A78-407F-853A-C4D229CA961B}"/>
              </a:ext>
            </a:extLst>
          </p:cNvPr>
          <p:cNvSpPr txBox="1"/>
          <p:nvPr/>
        </p:nvSpPr>
        <p:spPr>
          <a:xfrm>
            <a:off x="657549" y="4202549"/>
            <a:ext cx="5534122" cy="1169551"/>
          </a:xfrm>
          <a:prstGeom prst="rect">
            <a:avLst/>
          </a:prstGeom>
          <a:noFill/>
        </p:spPr>
        <p:txBody>
          <a:bodyPr wrap="square">
            <a:spAutoFit/>
          </a:bodyPr>
          <a:lstStyle/>
          <a:p>
            <a:pPr algn="just"/>
            <a:r>
              <a:rPr lang="en-US" sz="1400" dirty="0" err="1">
                <a:solidFill>
                  <a:schemeClr val="bg1"/>
                </a:solidFill>
                <a:latin typeface="DM Sans" charset="0"/>
              </a:rPr>
              <a:t>为在校优秀创新学生建立创意学生园、"书吧"、"学生科技广场"；开展"学生媒体中心"及现代技术统一互动集群中心活动。</a:t>
            </a:r>
            <a:endParaRPr lang="uz-Cyrl-UZ" sz="1400" dirty="0">
              <a:solidFill>
                <a:schemeClr val="bg1"/>
              </a:solidFill>
            </a:endParaRPr>
          </a:p>
        </p:txBody>
      </p:sp>
      <p:sp>
        <p:nvSpPr>
          <p:cNvPr id="31" name="TextBox 30">
            <a:extLst>
              <a:ext uri="{FF2B5EF4-FFF2-40B4-BE49-F238E27FC236}">
                <a16:creationId xmlns:a16="http://schemas.microsoft.com/office/drawing/2014/main" xmlns="" id="{461BE9AF-E206-4638-9A78-535DB08F8C9E}"/>
              </a:ext>
            </a:extLst>
          </p:cNvPr>
          <p:cNvSpPr txBox="1"/>
          <p:nvPr/>
        </p:nvSpPr>
        <p:spPr>
          <a:xfrm>
            <a:off x="664767" y="5687080"/>
            <a:ext cx="5074514" cy="738664"/>
          </a:xfrm>
          <a:prstGeom prst="rect">
            <a:avLst/>
          </a:prstGeom>
          <a:noFill/>
        </p:spPr>
        <p:txBody>
          <a:bodyPr wrap="square">
            <a:spAutoFit/>
          </a:bodyPr>
          <a:lstStyle/>
          <a:p>
            <a:pPr algn="just"/>
            <a:r>
              <a:rPr lang="en-US" sz="1400" dirty="0">
                <a:solidFill>
                  <a:schemeClr val="bg1"/>
                </a:solidFill>
                <a:latin typeface="DM Sans Bold" charset="0"/>
              </a:rPr>
              <a:t>3. 完善学生自治管理体系并有效开展活动</a:t>
            </a:r>
            <a:endParaRPr lang="uz-Cyrl-UZ" sz="1400" dirty="0">
              <a:solidFill>
                <a:schemeClr val="bg1"/>
              </a:solidFill>
            </a:endParaRPr>
          </a:p>
        </p:txBody>
      </p:sp>
      <p:sp>
        <p:nvSpPr>
          <p:cNvPr id="32" name="TextBox 31">
            <a:extLst>
              <a:ext uri="{FF2B5EF4-FFF2-40B4-BE49-F238E27FC236}">
                <a16:creationId xmlns:a16="http://schemas.microsoft.com/office/drawing/2014/main" xmlns="" id="{6435A9DE-5DE6-4653-AE67-9A9A1F8A67A4}"/>
              </a:ext>
            </a:extLst>
          </p:cNvPr>
          <p:cNvSpPr txBox="1"/>
          <p:nvPr/>
        </p:nvSpPr>
        <p:spPr>
          <a:xfrm>
            <a:off x="609813" y="6372460"/>
            <a:ext cx="5534123" cy="523220"/>
          </a:xfrm>
          <a:prstGeom prst="rect">
            <a:avLst/>
          </a:prstGeom>
          <a:noFill/>
        </p:spPr>
        <p:txBody>
          <a:bodyPr wrap="square">
            <a:spAutoFit/>
          </a:bodyPr>
          <a:lstStyle/>
          <a:p>
            <a:pPr algn="just"/>
            <a:r>
              <a:rPr lang="en-US" sz="1400" dirty="0" err="1">
                <a:solidFill>
                  <a:schemeClr val="bg1"/>
                </a:solidFill>
                <a:latin typeface="DM Sans" charset="0"/>
              </a:rPr>
              <a:t>研究外国知名高等教育机构经验，推行大学"学生理事会"活动。</a:t>
            </a:r>
            <a:endParaRPr lang="uz-Cyrl-UZ" sz="1400" dirty="0">
              <a:solidFill>
                <a:schemeClr val="bg1"/>
              </a:solidFill>
            </a:endParaRPr>
          </a:p>
        </p:txBody>
      </p:sp>
      <p:sp>
        <p:nvSpPr>
          <p:cNvPr id="33" name="TextBox 32">
            <a:extLst>
              <a:ext uri="{FF2B5EF4-FFF2-40B4-BE49-F238E27FC236}">
                <a16:creationId xmlns:a16="http://schemas.microsoft.com/office/drawing/2014/main" xmlns="" id="{16E71D85-5966-4F20-A00F-95B0C95B1F08}"/>
              </a:ext>
            </a:extLst>
          </p:cNvPr>
          <p:cNvSpPr txBox="1"/>
          <p:nvPr/>
        </p:nvSpPr>
        <p:spPr>
          <a:xfrm>
            <a:off x="672802" y="7605236"/>
            <a:ext cx="5185289" cy="954107"/>
          </a:xfrm>
          <a:prstGeom prst="rect">
            <a:avLst/>
          </a:prstGeom>
          <a:noFill/>
        </p:spPr>
        <p:txBody>
          <a:bodyPr wrap="square">
            <a:spAutoFit/>
          </a:bodyPr>
          <a:lstStyle/>
          <a:p>
            <a:pPr algn="just"/>
            <a:r>
              <a:rPr lang="ru-RU" sz="1400" b="1" dirty="0">
                <a:solidFill>
                  <a:schemeClr val="bg1"/>
                </a:solidFill>
                <a:latin typeface="DM Sans Bold" charset="0"/>
              </a:rPr>
              <a:t>4. 提高女学生社会活跃度，系统组织培养实践专业人才工作</a:t>
            </a:r>
            <a:endParaRPr lang="uz-Cyrl-UZ" sz="1400" b="1" dirty="0">
              <a:solidFill>
                <a:schemeClr val="bg1"/>
              </a:solidFill>
            </a:endParaRPr>
          </a:p>
        </p:txBody>
      </p:sp>
      <p:sp>
        <p:nvSpPr>
          <p:cNvPr id="34" name="TextBox 33">
            <a:extLst>
              <a:ext uri="{FF2B5EF4-FFF2-40B4-BE49-F238E27FC236}">
                <a16:creationId xmlns:a16="http://schemas.microsoft.com/office/drawing/2014/main" xmlns="" id="{8D1F7D4E-B985-474C-AB39-B511C30B8AB6}"/>
              </a:ext>
            </a:extLst>
          </p:cNvPr>
          <p:cNvSpPr txBox="1"/>
          <p:nvPr/>
        </p:nvSpPr>
        <p:spPr>
          <a:xfrm>
            <a:off x="681371" y="8530544"/>
            <a:ext cx="5664282" cy="1169551"/>
          </a:xfrm>
          <a:prstGeom prst="rect">
            <a:avLst/>
          </a:prstGeom>
          <a:noFill/>
        </p:spPr>
        <p:txBody>
          <a:bodyPr wrap="square">
            <a:spAutoFit/>
          </a:bodyPr>
          <a:lstStyle/>
          <a:p>
            <a:pPr algn="just"/>
            <a:r>
              <a:rPr lang="en-US" sz="1400" dirty="0" err="1">
                <a:solidFill>
                  <a:schemeClr val="bg1"/>
                </a:solidFill>
                <a:latin typeface="DM Sans" charset="0"/>
              </a:rPr>
              <a:t>为在校优秀女学生开展"祖勒菲娅夫人追随者"俱乐部活动，系统帮助列入"铁本"和"青年本"的女学生免费获得职业技能。</a:t>
            </a:r>
            <a:endParaRPr lang="uz-Cyrl-UZ" sz="1400" dirty="0">
              <a:solidFill>
                <a:schemeClr val="bg1"/>
              </a:solidFill>
            </a:endParaRPr>
          </a:p>
        </p:txBody>
      </p:sp>
      <p:sp>
        <p:nvSpPr>
          <p:cNvPr id="35" name="TextBox 34">
            <a:extLst>
              <a:ext uri="{FF2B5EF4-FFF2-40B4-BE49-F238E27FC236}">
                <a16:creationId xmlns:a16="http://schemas.microsoft.com/office/drawing/2014/main" xmlns="" id="{0C7AD2B9-A8B0-4011-9DD1-0CBD45211C39}"/>
              </a:ext>
            </a:extLst>
          </p:cNvPr>
          <p:cNvSpPr txBox="1"/>
          <p:nvPr/>
        </p:nvSpPr>
        <p:spPr>
          <a:xfrm>
            <a:off x="6738344" y="1669105"/>
            <a:ext cx="5222311" cy="954107"/>
          </a:xfrm>
          <a:prstGeom prst="rect">
            <a:avLst/>
          </a:prstGeom>
          <a:noFill/>
        </p:spPr>
        <p:txBody>
          <a:bodyPr wrap="square">
            <a:spAutoFit/>
          </a:bodyPr>
          <a:lstStyle/>
          <a:p>
            <a:pPr algn="just"/>
            <a:r>
              <a:rPr lang="ru-RU" sz="1400" dirty="0">
                <a:solidFill>
                  <a:schemeClr val="bg1"/>
                </a:solidFill>
                <a:latin typeface="DM Sans" charset="0"/>
                <a:ea typeface="Franklin Gothic Heavy" panose="020B0903020102020204" pitchFamily="34" charset="0"/>
                <a:cs typeface="Franklin Gothic Heavy" panose="020B0903020102020204" pitchFamily="34" charset="0"/>
              </a:rPr>
              <a:t>5. 制定大学计划，在学生中发展民族体育，培养共和国、亚洲、世界和奥林匹克冠军</a:t>
            </a:r>
            <a:endParaRPr lang="uz-Cyrl-UZ" sz="1400" dirty="0">
              <a:solidFill>
                <a:schemeClr val="bg1"/>
              </a:solidFill>
            </a:endParaRPr>
          </a:p>
        </p:txBody>
      </p:sp>
      <p:graphicFrame>
        <p:nvGraphicFramePr>
          <p:cNvPr id="36" name="Таблица 35">
            <a:extLst>
              <a:ext uri="{FF2B5EF4-FFF2-40B4-BE49-F238E27FC236}">
                <a16:creationId xmlns:a16="http://schemas.microsoft.com/office/drawing/2014/main" xmlns="" id="{B9B3ABE5-4BB2-41AB-BFDD-FEFFA2EBC643}"/>
              </a:ext>
            </a:extLst>
          </p:cNvPr>
          <p:cNvGraphicFramePr>
            <a:graphicFrameLocks noGrp="1"/>
          </p:cNvGraphicFramePr>
          <p:nvPr>
            <p:extLst>
              <p:ext uri="{D42A27DB-BD31-4B8C-83A1-F6EECF244321}">
                <p14:modId xmlns:p14="http://schemas.microsoft.com/office/powerpoint/2010/main" val="666925252"/>
              </p:ext>
            </p:extLst>
          </p:nvPr>
        </p:nvGraphicFramePr>
        <p:xfrm>
          <a:off x="6497990" y="2808766"/>
          <a:ext cx="5680319" cy="3189448"/>
        </p:xfrm>
        <a:graphic>
          <a:graphicData uri="http://schemas.openxmlformats.org/drawingml/2006/table">
            <a:tbl>
              <a:tblPr firstRow="1" firstCol="1" bandRow="1">
                <a:tableStyleId>{2D5ABB26-0587-4C30-8999-92F81FD0307C}</a:tableStyleId>
              </a:tblPr>
              <a:tblGrid>
                <a:gridCol w="364261">
                  <a:extLst>
                    <a:ext uri="{9D8B030D-6E8A-4147-A177-3AD203B41FA5}">
                      <a16:colId xmlns:a16="http://schemas.microsoft.com/office/drawing/2014/main" xmlns="" val="3812862088"/>
                    </a:ext>
                  </a:extLst>
                </a:gridCol>
                <a:gridCol w="1859676">
                  <a:extLst>
                    <a:ext uri="{9D8B030D-6E8A-4147-A177-3AD203B41FA5}">
                      <a16:colId xmlns:a16="http://schemas.microsoft.com/office/drawing/2014/main" xmlns="" val="3075881301"/>
                    </a:ext>
                  </a:extLst>
                </a:gridCol>
                <a:gridCol w="539819">
                  <a:extLst>
                    <a:ext uri="{9D8B030D-6E8A-4147-A177-3AD203B41FA5}">
                      <a16:colId xmlns:a16="http://schemas.microsoft.com/office/drawing/2014/main" xmlns="" val="791459531"/>
                    </a:ext>
                  </a:extLst>
                </a:gridCol>
                <a:gridCol w="585105">
                  <a:extLst>
                    <a:ext uri="{9D8B030D-6E8A-4147-A177-3AD203B41FA5}">
                      <a16:colId xmlns:a16="http://schemas.microsoft.com/office/drawing/2014/main" xmlns="" val="2402434065"/>
                    </a:ext>
                  </a:extLst>
                </a:gridCol>
                <a:gridCol w="515138">
                  <a:extLst>
                    <a:ext uri="{9D8B030D-6E8A-4147-A177-3AD203B41FA5}">
                      <a16:colId xmlns:a16="http://schemas.microsoft.com/office/drawing/2014/main" xmlns="" val="3628146781"/>
                    </a:ext>
                  </a:extLst>
                </a:gridCol>
                <a:gridCol w="648565">
                  <a:extLst>
                    <a:ext uri="{9D8B030D-6E8A-4147-A177-3AD203B41FA5}">
                      <a16:colId xmlns:a16="http://schemas.microsoft.com/office/drawing/2014/main" xmlns="" val="2953373719"/>
                    </a:ext>
                  </a:extLst>
                </a:gridCol>
                <a:gridCol w="636983">
                  <a:extLst>
                    <a:ext uri="{9D8B030D-6E8A-4147-A177-3AD203B41FA5}">
                      <a16:colId xmlns:a16="http://schemas.microsoft.com/office/drawing/2014/main" xmlns="" val="2701329986"/>
                    </a:ext>
                  </a:extLst>
                </a:gridCol>
                <a:gridCol w="530772">
                  <a:extLst>
                    <a:ext uri="{9D8B030D-6E8A-4147-A177-3AD203B41FA5}">
                      <a16:colId xmlns:a16="http://schemas.microsoft.com/office/drawing/2014/main" xmlns="" val="4276954764"/>
                    </a:ext>
                  </a:extLst>
                </a:gridCol>
              </a:tblGrid>
              <a:tr h="500375">
                <a:tc>
                  <a:txBody>
                    <a:bodyPr/>
                    <a:lstStyle/>
                    <a:p>
                      <a:pPr algn="ctr">
                        <a:lnSpc>
                          <a:spcPct val="107000"/>
                        </a:lnSpc>
                        <a:spcAft>
                          <a:spcPts val="0"/>
                        </a:spcAft>
                      </a:pPr>
                      <a:r>
                        <a:rPr lang="en-US" sz="1400" b="1" dirty="0">
                          <a:solidFill>
                            <a:schemeClr val="bg1"/>
                          </a:solidFill>
                          <a:effectLst/>
                          <a:latin typeface="DM Sans" charset="0"/>
                        </a:rPr>
                        <a:t>№</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noProof="0" dirty="0">
                          <a:solidFill>
                            <a:schemeClr val="bg1"/>
                          </a:solidFill>
                          <a:effectLst/>
                          <a:latin typeface="DM Sans" charset="0"/>
                        </a:rPr>
                        <a:t>目标指标</a:t>
                      </a:r>
                      <a:endParaRPr lang="uz-Cyrl-UZ" sz="1400" b="1"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2025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2026</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2027</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2028</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2029</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2030</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2744040679"/>
                  </a:ext>
                </a:extLst>
              </a:tr>
              <a:tr h="527033">
                <a:tc>
                  <a:txBody>
                    <a:bodyPr/>
                    <a:lstStyle/>
                    <a:p>
                      <a:pPr marL="0" lvl="0" indent="0" algn="ctr">
                        <a:lnSpc>
                          <a:spcPct val="107000"/>
                        </a:lnSpc>
                        <a:spcAft>
                          <a:spcPts val="0"/>
                        </a:spcAft>
                        <a:buFont typeface="+mj-lt"/>
                        <a:buNone/>
                      </a:pPr>
                      <a:r>
                        <a:rPr lang="ru-RU" sz="1400" b="1" dirty="0">
                          <a:solidFill>
                            <a:schemeClr val="bg1"/>
                          </a:solidFill>
                          <a:effectLst/>
                        </a:rPr>
                        <a:t>1</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l">
                        <a:lnSpc>
                          <a:spcPct val="107000"/>
                        </a:lnSpc>
                        <a:spcAft>
                          <a:spcPts val="0"/>
                        </a:spcAft>
                      </a:pPr>
                      <a:r>
                        <a:rPr lang="en-US" sz="1400" b="1" noProof="0" dirty="0" err="1">
                          <a:solidFill>
                            <a:schemeClr val="bg1"/>
                          </a:solidFill>
                          <a:effectLst/>
                          <a:latin typeface="DM Sans" charset="0"/>
                        </a:rPr>
                        <a:t>兴趣小组和俱乐部</a:t>
                      </a:r>
                      <a:endParaRPr lang="uz-Cyrl-UZ" sz="1400" b="1"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14</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16</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17</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19</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2319836710"/>
                  </a:ext>
                </a:extLst>
              </a:tr>
              <a:tr h="552010">
                <a:tc>
                  <a:txBody>
                    <a:bodyPr/>
                    <a:lstStyle/>
                    <a:p>
                      <a:pPr marL="0" lvl="0" indent="0" algn="ctr">
                        <a:lnSpc>
                          <a:spcPct val="107000"/>
                        </a:lnSpc>
                        <a:spcAft>
                          <a:spcPts val="0"/>
                        </a:spcAft>
                        <a:buFont typeface="+mj-lt"/>
                        <a:buNone/>
                      </a:pPr>
                      <a:r>
                        <a:rPr lang="ru-RU" sz="1400" b="1" dirty="0">
                          <a:solidFill>
                            <a:schemeClr val="bg1"/>
                          </a:solidFill>
                          <a:effectLst/>
                        </a:rPr>
                        <a:t>2</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l">
                        <a:lnSpc>
                          <a:spcPct val="107000"/>
                        </a:lnSpc>
                        <a:spcAft>
                          <a:spcPts val="0"/>
                        </a:spcAft>
                      </a:pPr>
                      <a:r>
                        <a:rPr lang="fi-FI" sz="1400" b="1" noProof="0" dirty="0">
                          <a:solidFill>
                            <a:schemeClr val="bg1"/>
                          </a:solidFill>
                          <a:effectLst/>
                          <a:latin typeface="DM Sans" charset="0"/>
                        </a:rPr>
                        <a:t>乌兹别克斯坦、亚洲、世界和奥林匹克冠军</a:t>
                      </a:r>
                      <a:endParaRPr lang="uz-Cyrl-UZ" sz="1400" b="1"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defRPr/>
                      </a:pPr>
                      <a:r>
                        <a:rPr lang="en-US" sz="1400" b="1" dirty="0">
                          <a:solidFill>
                            <a:schemeClr val="bg1"/>
                          </a:solidFill>
                          <a:effectLst/>
                          <a:latin typeface="DM Sans" charset="0"/>
                        </a:rPr>
                        <a:t>10</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defRPr/>
                      </a:pPr>
                      <a:r>
                        <a:rPr lang="en-US" sz="1400" b="1" dirty="0">
                          <a:solidFill>
                            <a:schemeClr val="bg1"/>
                          </a:solidFill>
                          <a:effectLst/>
                          <a:latin typeface="DM Sans" charset="0"/>
                        </a:rPr>
                        <a:t>15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defRPr/>
                      </a:pPr>
                      <a:r>
                        <a:rPr lang="en-US" sz="1400" b="1" dirty="0">
                          <a:solidFill>
                            <a:schemeClr val="bg1"/>
                          </a:solidFill>
                          <a:effectLst/>
                          <a:latin typeface="DM Sans" charset="0"/>
                        </a:rPr>
                        <a:t>18</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defRPr/>
                      </a:pPr>
                      <a:r>
                        <a:rPr lang="en-US" sz="1400" b="1" dirty="0">
                          <a:solidFill>
                            <a:schemeClr val="bg1"/>
                          </a:solidFill>
                          <a:effectLst/>
                          <a:latin typeface="DM Sans" charset="0"/>
                        </a:rPr>
                        <a:t>22</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defRPr/>
                      </a:pPr>
                      <a:r>
                        <a:rPr lang="en-US" sz="1400" b="1" dirty="0">
                          <a:solidFill>
                            <a:schemeClr val="bg1"/>
                          </a:solidFill>
                          <a:effectLst/>
                          <a:latin typeface="DM Sans" charset="0"/>
                        </a:rPr>
                        <a:t>25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defRPr/>
                      </a:pPr>
                      <a:r>
                        <a:rPr lang="en-US" sz="1400" b="1" dirty="0">
                          <a:solidFill>
                            <a:schemeClr val="bg1"/>
                          </a:solidFill>
                          <a:effectLst/>
                          <a:latin typeface="DM Sans" charset="0"/>
                        </a:rPr>
                        <a:t>30</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436227462"/>
                  </a:ext>
                </a:extLst>
              </a:tr>
              <a:tr h="506010">
                <a:tc>
                  <a:txBody>
                    <a:bodyPr/>
                    <a:lstStyle/>
                    <a:p>
                      <a:pPr marL="0" lvl="0" indent="0" algn="ctr">
                        <a:lnSpc>
                          <a:spcPct val="107000"/>
                        </a:lnSpc>
                        <a:spcAft>
                          <a:spcPts val="0"/>
                        </a:spcAft>
                        <a:buFont typeface="+mj-lt"/>
                        <a:buNone/>
                      </a:pPr>
                      <a:r>
                        <a:rPr lang="ru-RU" sz="1400" b="1" dirty="0">
                          <a:solidFill>
                            <a:schemeClr val="bg1"/>
                          </a:solidFill>
                          <a:effectLst/>
                        </a:rPr>
                        <a:t>3</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l">
                        <a:lnSpc>
                          <a:spcPct val="107000"/>
                        </a:lnSpc>
                        <a:spcAft>
                          <a:spcPts val="0"/>
                        </a:spcAft>
                      </a:pPr>
                      <a:r>
                        <a:rPr lang="en-US" sz="1400" b="1" noProof="0" dirty="0">
                          <a:solidFill>
                            <a:schemeClr val="bg1"/>
                          </a:solidFill>
                          <a:effectLst/>
                          <a:latin typeface="DM Sans" charset="0"/>
                        </a:rPr>
                        <a:t>5项重要倡议室</a:t>
                      </a:r>
                      <a:endParaRPr lang="uz-Cyrl-UZ" sz="1400" b="1"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3</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4</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6</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7</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8</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2608631438"/>
                  </a:ext>
                </a:extLst>
              </a:tr>
              <a:tr h="552010">
                <a:tc>
                  <a:txBody>
                    <a:bodyPr/>
                    <a:lstStyle/>
                    <a:p>
                      <a:pPr marL="0" lvl="0" indent="0" algn="ctr">
                        <a:lnSpc>
                          <a:spcPct val="107000"/>
                        </a:lnSpc>
                        <a:spcAft>
                          <a:spcPts val="0"/>
                        </a:spcAft>
                        <a:buFont typeface="+mj-lt"/>
                        <a:buNone/>
                      </a:pPr>
                      <a:r>
                        <a:rPr lang="ru-RU" sz="1400" b="1" dirty="0">
                          <a:solidFill>
                            <a:schemeClr val="bg1"/>
                          </a:solidFill>
                          <a:effectLst/>
                        </a:rPr>
                        <a:t>4</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l">
                        <a:lnSpc>
                          <a:spcPct val="107000"/>
                        </a:lnSpc>
                        <a:spcAft>
                          <a:spcPts val="0"/>
                        </a:spcAft>
                      </a:pPr>
                      <a:r>
                        <a:rPr lang="en-US" sz="1400" b="1" noProof="0" dirty="0" err="1">
                          <a:solidFill>
                            <a:schemeClr val="bg1"/>
                          </a:solidFill>
                          <a:effectLst/>
                          <a:latin typeface="DM Sans" charset="0"/>
                        </a:rPr>
                        <a:t>竞赛和比赛获胜者</a:t>
                      </a:r>
                      <a:endParaRPr lang="uz-Cyrl-UZ" sz="1400" b="1"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8</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12</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18</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20</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2783430757"/>
                  </a:ext>
                </a:extLst>
              </a:tr>
              <a:tr h="552010">
                <a:tc>
                  <a:txBody>
                    <a:bodyPr/>
                    <a:lstStyle/>
                    <a:p>
                      <a:pPr marL="0" lvl="0" indent="0" algn="ctr">
                        <a:lnSpc>
                          <a:spcPct val="107000"/>
                        </a:lnSpc>
                        <a:spcAft>
                          <a:spcPts val="0"/>
                        </a:spcAft>
                        <a:buFont typeface="+mj-lt"/>
                        <a:buNone/>
                      </a:pPr>
                      <a:r>
                        <a:rPr lang="en-US" sz="1400" b="1" dirty="0">
                          <a:solidFill>
                            <a:schemeClr val="bg1"/>
                          </a:solidFill>
                          <a:effectLst/>
                          <a:latin typeface="DM Sans" charset="0"/>
                        </a:rPr>
                        <a:t>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l">
                        <a:lnSpc>
                          <a:spcPct val="107000"/>
                        </a:lnSpc>
                        <a:spcAft>
                          <a:spcPts val="0"/>
                        </a:spcAft>
                      </a:pPr>
                      <a:r>
                        <a:rPr lang="en-US" sz="1400" b="1" noProof="0" dirty="0" err="1">
                          <a:solidFill>
                            <a:schemeClr val="bg1"/>
                          </a:solidFill>
                          <a:effectLst/>
                          <a:latin typeface="DM Sans" charset="0"/>
                          <a:ea typeface="Calibri" panose="020F0502020204030204" pitchFamily="34" charset="0"/>
                          <a:cs typeface="Times New Roman" panose="02020603050405020304" pitchFamily="18" charset="0"/>
                        </a:rPr>
                        <a:t>竞赛和比赛获胜者</a:t>
                      </a:r>
                      <a:endParaRPr lang="en-US" sz="1400" b="1" noProof="0" dirty="0">
                        <a:solidFill>
                          <a:schemeClr val="bg1"/>
                        </a:solidFill>
                        <a:effectLst/>
                        <a:latin typeface="DM Sans"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1</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3</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4</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5</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6</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tc>
                  <a:txBody>
                    <a:bodyPr/>
                    <a:lstStyle/>
                    <a:p>
                      <a:pPr algn="ctr">
                        <a:lnSpc>
                          <a:spcPct val="107000"/>
                        </a:lnSpc>
                        <a:spcAft>
                          <a:spcPts val="0"/>
                        </a:spcAft>
                      </a:pPr>
                      <a:r>
                        <a:rPr lang="en-US" sz="1400" b="1" dirty="0">
                          <a:solidFill>
                            <a:schemeClr val="bg1"/>
                          </a:solidFill>
                          <a:effectLst/>
                          <a:latin typeface="DM Sans" charset="0"/>
                        </a:rPr>
                        <a:t>7</a:t>
                      </a:r>
                      <a:endParaRPr lang="ru-RU"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670" marR="2667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92D58"/>
                    </a:solidFill>
                  </a:tcPr>
                </a:tc>
                <a:extLst>
                  <a:ext uri="{0D108BD9-81ED-4DB2-BD59-A6C34878D82A}">
                    <a16:rowId xmlns:a16="http://schemas.microsoft.com/office/drawing/2014/main" xmlns="" val="1789077491"/>
                  </a:ext>
                </a:extLst>
              </a:tr>
            </a:tbl>
          </a:graphicData>
        </a:graphic>
      </p:graphicFrame>
      <p:sp>
        <p:nvSpPr>
          <p:cNvPr id="37" name="TextBox 36">
            <a:extLst>
              <a:ext uri="{FF2B5EF4-FFF2-40B4-BE49-F238E27FC236}">
                <a16:creationId xmlns:a16="http://schemas.microsoft.com/office/drawing/2014/main" xmlns="" id="{343BE993-D11E-49C8-95F7-24BE7ED0C97C}"/>
              </a:ext>
            </a:extLst>
          </p:cNvPr>
          <p:cNvSpPr txBox="1"/>
          <p:nvPr/>
        </p:nvSpPr>
        <p:spPr>
          <a:xfrm>
            <a:off x="6731767" y="6748233"/>
            <a:ext cx="4968075" cy="738664"/>
          </a:xfrm>
          <a:prstGeom prst="rect">
            <a:avLst/>
          </a:prstGeom>
          <a:noFill/>
        </p:spPr>
        <p:txBody>
          <a:bodyPr wrap="square">
            <a:spAutoFit/>
          </a:bodyPr>
          <a:lstStyle/>
          <a:p>
            <a:pPr algn="just"/>
            <a:r>
              <a:rPr lang="ru-RU" sz="1400" dirty="0">
                <a:solidFill>
                  <a:schemeClr val="bg1"/>
                </a:solidFill>
                <a:latin typeface="DM Sans Bold" charset="0"/>
              </a:rPr>
              <a:t>6. 在精神文化领域系统监控中广泛引进数字技术</a:t>
            </a:r>
            <a:endParaRPr lang="uz-Cyrl-UZ" sz="1400" dirty="0">
              <a:solidFill>
                <a:schemeClr val="bg1"/>
              </a:solidFill>
            </a:endParaRPr>
          </a:p>
        </p:txBody>
      </p:sp>
      <p:sp>
        <p:nvSpPr>
          <p:cNvPr id="38" name="TextBox 37">
            <a:extLst>
              <a:ext uri="{FF2B5EF4-FFF2-40B4-BE49-F238E27FC236}">
                <a16:creationId xmlns:a16="http://schemas.microsoft.com/office/drawing/2014/main" xmlns="" id="{128DBBB1-7277-46F6-8583-6587E3A1C680}"/>
              </a:ext>
            </a:extLst>
          </p:cNvPr>
          <p:cNvSpPr txBox="1"/>
          <p:nvPr/>
        </p:nvSpPr>
        <p:spPr>
          <a:xfrm>
            <a:off x="6536082" y="7460019"/>
            <a:ext cx="5664282" cy="1384995"/>
          </a:xfrm>
          <a:prstGeom prst="rect">
            <a:avLst/>
          </a:prstGeom>
          <a:noFill/>
        </p:spPr>
        <p:txBody>
          <a:bodyPr wrap="square">
            <a:spAutoFit/>
          </a:bodyPr>
          <a:lstStyle/>
          <a:p>
            <a:pPr algn="just"/>
            <a:r>
              <a:rPr lang="en-US" sz="1400" dirty="0">
                <a:solidFill>
                  <a:schemeClr val="bg1"/>
                </a:solidFill>
                <a:latin typeface="DM Sans" charset="0"/>
              </a:rPr>
              <a:t>- 通过移动应用举办各类竞赛和活动；</a:t>
            </a:r>
          </a:p>
          <a:p>
            <a:pPr algn="just"/>
            <a:r>
              <a:rPr lang="en-US" sz="1400" dirty="0">
                <a:solidFill>
                  <a:schemeClr val="bg1"/>
                </a:solidFill>
                <a:latin typeface="DM Sans" charset="0"/>
              </a:rPr>
              <a:t>- 将学生宿舍分配数字化；</a:t>
            </a:r>
          </a:p>
          <a:p>
            <a:pPr algn="just"/>
            <a:r>
              <a:rPr lang="en-US" sz="1400" dirty="0">
                <a:solidFill>
                  <a:schemeClr val="bg1"/>
                </a:solidFill>
                <a:latin typeface="DM Sans" charset="0"/>
              </a:rPr>
              <a:t>- 为维护公共秩序创建安全学生移动应用程序；</a:t>
            </a:r>
          </a:p>
          <a:p>
            <a:pPr algn="just"/>
            <a:r>
              <a:rPr lang="en-US" sz="1400" dirty="0">
                <a:solidFill>
                  <a:schemeClr val="bg1"/>
                </a:solidFill>
                <a:latin typeface="DM Sans" charset="0"/>
              </a:rPr>
              <a:t>- 建立有效支持残疾在校学生的体系。</a:t>
            </a:r>
            <a:endParaRPr lang="uz-Cyrl-UZ" sz="1400" dirty="0">
              <a:solidFill>
                <a:schemeClr val="bg1"/>
              </a:solidFill>
            </a:endParaRPr>
          </a:p>
        </p:txBody>
      </p:sp>
      <p:grpSp>
        <p:nvGrpSpPr>
          <p:cNvPr id="39" name="Google Shape;713;p22">
            <a:extLst>
              <a:ext uri="{FF2B5EF4-FFF2-40B4-BE49-F238E27FC236}">
                <a16:creationId xmlns:a16="http://schemas.microsoft.com/office/drawing/2014/main" xmlns="" id="{9BA98A6D-9667-491F-A21F-B530EF8FB153}"/>
              </a:ext>
            </a:extLst>
          </p:cNvPr>
          <p:cNvGrpSpPr/>
          <p:nvPr/>
        </p:nvGrpSpPr>
        <p:grpSpPr>
          <a:xfrm>
            <a:off x="14066457" y="2349224"/>
            <a:ext cx="2319305" cy="644795"/>
            <a:chOff x="5193875" y="1091738"/>
            <a:chExt cx="2485751" cy="678146"/>
          </a:xfrm>
        </p:grpSpPr>
        <p:grpSp>
          <p:nvGrpSpPr>
            <p:cNvPr id="40" name="Google Shape;714;p22">
              <a:extLst>
                <a:ext uri="{FF2B5EF4-FFF2-40B4-BE49-F238E27FC236}">
                  <a16:creationId xmlns:a16="http://schemas.microsoft.com/office/drawing/2014/main" xmlns="" id="{93FC64E3-5225-4370-855D-53CC5FF146EF}"/>
                </a:ext>
              </a:extLst>
            </p:cNvPr>
            <p:cNvGrpSpPr/>
            <p:nvPr/>
          </p:nvGrpSpPr>
          <p:grpSpPr>
            <a:xfrm flipH="1">
              <a:off x="5193875" y="1091738"/>
              <a:ext cx="2485751" cy="678146"/>
              <a:chOff x="800213" y="1002738"/>
              <a:chExt cx="2485751" cy="678146"/>
            </a:xfrm>
          </p:grpSpPr>
          <p:sp>
            <p:nvSpPr>
              <p:cNvPr id="42" name="Google Shape;715;p22">
                <a:extLst>
                  <a:ext uri="{FF2B5EF4-FFF2-40B4-BE49-F238E27FC236}">
                    <a16:creationId xmlns:a16="http://schemas.microsoft.com/office/drawing/2014/main" xmlns="" id="{2B113430-D631-409A-8693-944E50DF05D1}"/>
                  </a:ext>
                </a:extLst>
              </p:cNvPr>
              <p:cNvSpPr/>
              <p:nvPr/>
            </p:nvSpPr>
            <p:spPr>
              <a:xfrm>
                <a:off x="800213" y="1122363"/>
                <a:ext cx="2334900" cy="438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43" name="Google Shape;716;p22">
                <a:extLst>
                  <a:ext uri="{FF2B5EF4-FFF2-40B4-BE49-F238E27FC236}">
                    <a16:creationId xmlns:a16="http://schemas.microsoft.com/office/drawing/2014/main" xmlns="" id="{03C095BA-6951-472C-B981-7CF1219E3FB3}"/>
                  </a:ext>
                </a:extLst>
              </p:cNvPr>
              <p:cNvSpPr/>
              <p:nvPr/>
            </p:nvSpPr>
            <p:spPr>
              <a:xfrm flipH="1">
                <a:off x="2607888" y="1002738"/>
                <a:ext cx="678076" cy="678146"/>
              </a:xfrm>
              <a:custGeom>
                <a:avLst/>
                <a:gdLst/>
                <a:ahLst/>
                <a:cxnLst/>
                <a:rect l="l" t="t" r="r" b="b"/>
                <a:pathLst>
                  <a:path w="6557" h="6558" extrusionOk="0">
                    <a:moveTo>
                      <a:pt x="3279" y="1"/>
                    </a:moveTo>
                    <a:cubicBezTo>
                      <a:pt x="1469" y="1"/>
                      <a:pt x="1" y="1469"/>
                      <a:pt x="1" y="3280"/>
                    </a:cubicBezTo>
                    <a:cubicBezTo>
                      <a:pt x="1" y="5090"/>
                      <a:pt x="1469" y="6558"/>
                      <a:pt x="3279" y="6558"/>
                    </a:cubicBezTo>
                    <a:cubicBezTo>
                      <a:pt x="5089" y="6558"/>
                      <a:pt x="6557" y="5090"/>
                      <a:pt x="6557" y="3280"/>
                    </a:cubicBezTo>
                    <a:cubicBezTo>
                      <a:pt x="6557" y="1469"/>
                      <a:pt x="5089" y="1"/>
                      <a:pt x="3279" y="1"/>
                    </a:cubicBezTo>
                    <a:close/>
                  </a:path>
                </a:pathLst>
              </a:custGeom>
              <a:solidFill>
                <a:srgbClr val="FFFFF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sp>
          <p:nvSpPr>
            <p:cNvPr id="41" name="Google Shape;717;p22">
              <a:extLst>
                <a:ext uri="{FF2B5EF4-FFF2-40B4-BE49-F238E27FC236}">
                  <a16:creationId xmlns:a16="http://schemas.microsoft.com/office/drawing/2014/main" xmlns="" id="{B54A546A-E812-46C7-9199-8E4169F69978}"/>
                </a:ext>
              </a:extLst>
            </p:cNvPr>
            <p:cNvSpPr txBox="1"/>
            <p:nvPr/>
          </p:nvSpPr>
          <p:spPr>
            <a:xfrm>
              <a:off x="5897250" y="1210612"/>
              <a:ext cx="1652100" cy="44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a:solidFill>
                    <a:srgbClr val="FFFFFF"/>
                  </a:solidFill>
                  <a:latin typeface="Roboto"/>
                  <a:ea typeface="Roboto"/>
                  <a:cs typeface="Roboto"/>
                  <a:sym typeface="Roboto"/>
                </a:rPr>
                <a:t>TISU象棋俱乐部</a:t>
              </a:r>
              <a:endParaRPr sz="1200" b="1" dirty="0">
                <a:solidFill>
                  <a:srgbClr val="FFFFFF"/>
                </a:solidFill>
                <a:latin typeface="Roboto"/>
                <a:ea typeface="Roboto"/>
                <a:cs typeface="Roboto"/>
                <a:sym typeface="Roboto"/>
              </a:endParaRPr>
            </a:p>
          </p:txBody>
        </p:sp>
      </p:grpSp>
      <p:grpSp>
        <p:nvGrpSpPr>
          <p:cNvPr id="44" name="Google Shape;718;p22">
            <a:extLst>
              <a:ext uri="{FF2B5EF4-FFF2-40B4-BE49-F238E27FC236}">
                <a16:creationId xmlns:a16="http://schemas.microsoft.com/office/drawing/2014/main" xmlns="" id="{005F9712-3484-40CA-A40A-C9C2DEA25D52}"/>
              </a:ext>
            </a:extLst>
          </p:cNvPr>
          <p:cNvGrpSpPr/>
          <p:nvPr/>
        </p:nvGrpSpPr>
        <p:grpSpPr>
          <a:xfrm>
            <a:off x="15178262" y="2927121"/>
            <a:ext cx="2319305" cy="644795"/>
            <a:chOff x="5941100" y="2054463"/>
            <a:chExt cx="2485751" cy="678146"/>
          </a:xfrm>
        </p:grpSpPr>
        <p:grpSp>
          <p:nvGrpSpPr>
            <p:cNvPr id="45" name="Google Shape;719;p22">
              <a:extLst>
                <a:ext uri="{FF2B5EF4-FFF2-40B4-BE49-F238E27FC236}">
                  <a16:creationId xmlns:a16="http://schemas.microsoft.com/office/drawing/2014/main" xmlns="" id="{A53304AE-571F-4663-B150-590F8CBDE487}"/>
                </a:ext>
              </a:extLst>
            </p:cNvPr>
            <p:cNvGrpSpPr/>
            <p:nvPr/>
          </p:nvGrpSpPr>
          <p:grpSpPr>
            <a:xfrm flipH="1">
              <a:off x="5941100" y="2054463"/>
              <a:ext cx="2485751" cy="678146"/>
              <a:chOff x="800213" y="1002738"/>
              <a:chExt cx="2485751" cy="678146"/>
            </a:xfrm>
          </p:grpSpPr>
          <p:sp>
            <p:nvSpPr>
              <p:cNvPr id="47" name="Google Shape;720;p22">
                <a:extLst>
                  <a:ext uri="{FF2B5EF4-FFF2-40B4-BE49-F238E27FC236}">
                    <a16:creationId xmlns:a16="http://schemas.microsoft.com/office/drawing/2014/main" xmlns="" id="{820F35B5-5F0D-4F5A-B127-D0671339C458}"/>
                  </a:ext>
                </a:extLst>
              </p:cNvPr>
              <p:cNvSpPr/>
              <p:nvPr/>
            </p:nvSpPr>
            <p:spPr>
              <a:xfrm>
                <a:off x="800213" y="1122363"/>
                <a:ext cx="2334900" cy="438900"/>
              </a:xfrm>
              <a:prstGeom prst="roundRect">
                <a:avLst>
                  <a:gd name="adj" fmla="val 50000"/>
                </a:avLst>
              </a:pr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48" name="Google Shape;721;p22">
                <a:extLst>
                  <a:ext uri="{FF2B5EF4-FFF2-40B4-BE49-F238E27FC236}">
                    <a16:creationId xmlns:a16="http://schemas.microsoft.com/office/drawing/2014/main" xmlns="" id="{334BF016-72CA-45F2-B607-F98190F82B10}"/>
                  </a:ext>
                </a:extLst>
              </p:cNvPr>
              <p:cNvSpPr/>
              <p:nvPr/>
            </p:nvSpPr>
            <p:spPr>
              <a:xfrm flipH="1">
                <a:off x="2607888" y="1002738"/>
                <a:ext cx="678076" cy="678146"/>
              </a:xfrm>
              <a:custGeom>
                <a:avLst/>
                <a:gdLst/>
                <a:ahLst/>
                <a:cxnLst/>
                <a:rect l="l" t="t" r="r" b="b"/>
                <a:pathLst>
                  <a:path w="6557" h="6558" extrusionOk="0">
                    <a:moveTo>
                      <a:pt x="3279" y="1"/>
                    </a:moveTo>
                    <a:cubicBezTo>
                      <a:pt x="1469" y="1"/>
                      <a:pt x="1" y="1469"/>
                      <a:pt x="1" y="3280"/>
                    </a:cubicBezTo>
                    <a:cubicBezTo>
                      <a:pt x="1" y="5090"/>
                      <a:pt x="1469" y="6558"/>
                      <a:pt x="3279" y="6558"/>
                    </a:cubicBezTo>
                    <a:cubicBezTo>
                      <a:pt x="5089" y="6558"/>
                      <a:pt x="6557" y="5090"/>
                      <a:pt x="6557" y="3280"/>
                    </a:cubicBezTo>
                    <a:cubicBezTo>
                      <a:pt x="6557" y="1469"/>
                      <a:pt x="5089" y="1"/>
                      <a:pt x="3279" y="1"/>
                    </a:cubicBezTo>
                    <a:close/>
                  </a:path>
                </a:pathLst>
              </a:custGeom>
              <a:solidFill>
                <a:srgbClr val="FFFFF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sp>
          <p:nvSpPr>
            <p:cNvPr id="46" name="Google Shape;722;p22">
              <a:extLst>
                <a:ext uri="{FF2B5EF4-FFF2-40B4-BE49-F238E27FC236}">
                  <a16:creationId xmlns:a16="http://schemas.microsoft.com/office/drawing/2014/main" xmlns="" id="{01238998-0EC2-4B2F-B959-58B99930528E}"/>
                </a:ext>
              </a:extLst>
            </p:cNvPr>
            <p:cNvSpPr txBox="1"/>
            <p:nvPr/>
          </p:nvSpPr>
          <p:spPr>
            <a:xfrm>
              <a:off x="6658025" y="2173337"/>
              <a:ext cx="1652100" cy="44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a:solidFill>
                    <a:srgbClr val="FFFFFF"/>
                  </a:solidFill>
                  <a:latin typeface="Roboto"/>
                  <a:ea typeface="Roboto"/>
                  <a:cs typeface="Roboto"/>
                  <a:sym typeface="Roboto"/>
                </a:rPr>
                <a:t>"爱读书学生"兴趣小组</a:t>
              </a:r>
              <a:endParaRPr sz="1200" b="1" dirty="0">
                <a:solidFill>
                  <a:srgbClr val="FFFFFF"/>
                </a:solidFill>
                <a:latin typeface="Roboto"/>
                <a:ea typeface="Roboto"/>
                <a:cs typeface="Roboto"/>
                <a:sym typeface="Roboto"/>
              </a:endParaRPr>
            </a:p>
          </p:txBody>
        </p:sp>
      </p:grpSp>
      <p:grpSp>
        <p:nvGrpSpPr>
          <p:cNvPr id="49" name="Google Shape;723;p22">
            <a:extLst>
              <a:ext uri="{FF2B5EF4-FFF2-40B4-BE49-F238E27FC236}">
                <a16:creationId xmlns:a16="http://schemas.microsoft.com/office/drawing/2014/main" xmlns="" id="{7BB10A51-69F5-4042-9F61-346F46B56DA3}"/>
              </a:ext>
            </a:extLst>
          </p:cNvPr>
          <p:cNvGrpSpPr/>
          <p:nvPr/>
        </p:nvGrpSpPr>
        <p:grpSpPr>
          <a:xfrm>
            <a:off x="15020110" y="4279640"/>
            <a:ext cx="2332004" cy="644795"/>
            <a:chOff x="5927490" y="3017001"/>
            <a:chExt cx="2499361" cy="678146"/>
          </a:xfrm>
        </p:grpSpPr>
        <p:grpSp>
          <p:nvGrpSpPr>
            <p:cNvPr id="50" name="Google Shape;724;p22">
              <a:extLst>
                <a:ext uri="{FF2B5EF4-FFF2-40B4-BE49-F238E27FC236}">
                  <a16:creationId xmlns:a16="http://schemas.microsoft.com/office/drawing/2014/main" xmlns="" id="{2746C061-CBC9-4A2E-8BEE-C3FBB0E1EA1A}"/>
                </a:ext>
              </a:extLst>
            </p:cNvPr>
            <p:cNvGrpSpPr/>
            <p:nvPr/>
          </p:nvGrpSpPr>
          <p:grpSpPr>
            <a:xfrm flipH="1">
              <a:off x="5927490" y="3017001"/>
              <a:ext cx="2499361" cy="678146"/>
              <a:chOff x="800213" y="1002738"/>
              <a:chExt cx="2499361" cy="678146"/>
            </a:xfrm>
          </p:grpSpPr>
          <p:sp>
            <p:nvSpPr>
              <p:cNvPr id="52" name="Google Shape;725;p22">
                <a:extLst>
                  <a:ext uri="{FF2B5EF4-FFF2-40B4-BE49-F238E27FC236}">
                    <a16:creationId xmlns:a16="http://schemas.microsoft.com/office/drawing/2014/main" xmlns="" id="{1822836C-BBAA-4C40-9A64-355EA3CA5863}"/>
                  </a:ext>
                </a:extLst>
              </p:cNvPr>
              <p:cNvSpPr/>
              <p:nvPr/>
            </p:nvSpPr>
            <p:spPr>
              <a:xfrm>
                <a:off x="800213" y="1122363"/>
                <a:ext cx="2334900" cy="438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3" name="Google Shape;726;p22">
                <a:extLst>
                  <a:ext uri="{FF2B5EF4-FFF2-40B4-BE49-F238E27FC236}">
                    <a16:creationId xmlns:a16="http://schemas.microsoft.com/office/drawing/2014/main" xmlns="" id="{D1F7C75F-BE29-407A-BDA4-D0E5286E08EB}"/>
                  </a:ext>
                </a:extLst>
              </p:cNvPr>
              <p:cNvSpPr/>
              <p:nvPr/>
            </p:nvSpPr>
            <p:spPr>
              <a:xfrm flipH="1">
                <a:off x="2621498" y="1002738"/>
                <a:ext cx="678076" cy="678146"/>
              </a:xfrm>
              <a:custGeom>
                <a:avLst/>
                <a:gdLst/>
                <a:ahLst/>
                <a:cxnLst/>
                <a:rect l="l" t="t" r="r" b="b"/>
                <a:pathLst>
                  <a:path w="6557" h="6558" extrusionOk="0">
                    <a:moveTo>
                      <a:pt x="3279" y="1"/>
                    </a:moveTo>
                    <a:cubicBezTo>
                      <a:pt x="1469" y="1"/>
                      <a:pt x="1" y="1469"/>
                      <a:pt x="1" y="3280"/>
                    </a:cubicBezTo>
                    <a:cubicBezTo>
                      <a:pt x="1" y="5090"/>
                      <a:pt x="1469" y="6558"/>
                      <a:pt x="3279" y="6558"/>
                    </a:cubicBezTo>
                    <a:cubicBezTo>
                      <a:pt x="5089" y="6558"/>
                      <a:pt x="6557" y="5090"/>
                      <a:pt x="6557" y="3280"/>
                    </a:cubicBezTo>
                    <a:cubicBezTo>
                      <a:pt x="6557" y="1469"/>
                      <a:pt x="5089" y="1"/>
                      <a:pt x="3279" y="1"/>
                    </a:cubicBezTo>
                    <a:close/>
                  </a:path>
                </a:pathLst>
              </a:custGeom>
              <a:solidFill>
                <a:srgbClr val="FFFFF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sp>
          <p:nvSpPr>
            <p:cNvPr id="51" name="Google Shape;727;p22">
              <a:extLst>
                <a:ext uri="{FF2B5EF4-FFF2-40B4-BE49-F238E27FC236}">
                  <a16:creationId xmlns:a16="http://schemas.microsoft.com/office/drawing/2014/main" xmlns="" id="{5DCB1C04-8DAB-4662-81D7-44DA2C8A35A3}"/>
                </a:ext>
              </a:extLst>
            </p:cNvPr>
            <p:cNvSpPr txBox="1"/>
            <p:nvPr/>
          </p:nvSpPr>
          <p:spPr>
            <a:xfrm>
              <a:off x="6658025" y="3135874"/>
              <a:ext cx="1652100" cy="44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err="1">
                  <a:solidFill>
                    <a:srgbClr val="FFFFFF"/>
                  </a:solidFill>
                  <a:latin typeface="Roboto"/>
                  <a:ea typeface="Roboto"/>
                  <a:cs typeface="Roboto"/>
                  <a:sym typeface="Roboto"/>
                </a:rPr>
                <a:t>学生媒体中心</a:t>
              </a:r>
              <a:endParaRPr sz="1200" b="1" dirty="0">
                <a:solidFill>
                  <a:srgbClr val="FFFFFF"/>
                </a:solidFill>
                <a:latin typeface="Roboto"/>
                <a:ea typeface="Roboto"/>
                <a:cs typeface="Roboto"/>
                <a:sym typeface="Roboto"/>
              </a:endParaRPr>
            </a:p>
          </p:txBody>
        </p:sp>
      </p:grpSp>
      <p:grpSp>
        <p:nvGrpSpPr>
          <p:cNvPr id="54" name="Google Shape;733;p22">
            <a:extLst>
              <a:ext uri="{FF2B5EF4-FFF2-40B4-BE49-F238E27FC236}">
                <a16:creationId xmlns:a16="http://schemas.microsoft.com/office/drawing/2014/main" xmlns="" id="{2CE8F197-094C-436C-9AE3-CEBCC4BF8828}"/>
              </a:ext>
            </a:extLst>
          </p:cNvPr>
          <p:cNvGrpSpPr/>
          <p:nvPr/>
        </p:nvGrpSpPr>
        <p:grpSpPr>
          <a:xfrm>
            <a:off x="14262741" y="4856261"/>
            <a:ext cx="2460055" cy="644795"/>
            <a:chOff x="5193875" y="3981851"/>
            <a:chExt cx="2636602" cy="678146"/>
          </a:xfrm>
        </p:grpSpPr>
        <p:grpSp>
          <p:nvGrpSpPr>
            <p:cNvPr id="55" name="Google Shape;734;p22">
              <a:extLst>
                <a:ext uri="{FF2B5EF4-FFF2-40B4-BE49-F238E27FC236}">
                  <a16:creationId xmlns:a16="http://schemas.microsoft.com/office/drawing/2014/main" xmlns="" id="{2D0BC850-9795-4F18-8637-C3C3AD6373AD}"/>
                </a:ext>
              </a:extLst>
            </p:cNvPr>
            <p:cNvGrpSpPr/>
            <p:nvPr/>
          </p:nvGrpSpPr>
          <p:grpSpPr>
            <a:xfrm flipH="1">
              <a:off x="5193875" y="3981851"/>
              <a:ext cx="2485751" cy="678146"/>
              <a:chOff x="800213" y="1002738"/>
              <a:chExt cx="2485751" cy="678146"/>
            </a:xfrm>
          </p:grpSpPr>
          <p:sp>
            <p:nvSpPr>
              <p:cNvPr id="57" name="Google Shape;735;p22">
                <a:extLst>
                  <a:ext uri="{FF2B5EF4-FFF2-40B4-BE49-F238E27FC236}">
                    <a16:creationId xmlns:a16="http://schemas.microsoft.com/office/drawing/2014/main" xmlns="" id="{B4B26D3F-6569-4A98-8612-EDF54D1A7FA5}"/>
                  </a:ext>
                </a:extLst>
              </p:cNvPr>
              <p:cNvSpPr/>
              <p:nvPr/>
            </p:nvSpPr>
            <p:spPr>
              <a:xfrm>
                <a:off x="800213" y="1122363"/>
                <a:ext cx="2334900" cy="438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8" name="Google Shape;736;p22">
                <a:extLst>
                  <a:ext uri="{FF2B5EF4-FFF2-40B4-BE49-F238E27FC236}">
                    <a16:creationId xmlns:a16="http://schemas.microsoft.com/office/drawing/2014/main" xmlns="" id="{CD0857B3-EA4B-4A02-BAF2-E82EDB88748B}"/>
                  </a:ext>
                </a:extLst>
              </p:cNvPr>
              <p:cNvSpPr/>
              <p:nvPr/>
            </p:nvSpPr>
            <p:spPr>
              <a:xfrm flipH="1">
                <a:off x="2607888" y="1002738"/>
                <a:ext cx="678076" cy="678146"/>
              </a:xfrm>
              <a:custGeom>
                <a:avLst/>
                <a:gdLst/>
                <a:ahLst/>
                <a:cxnLst/>
                <a:rect l="l" t="t" r="r" b="b"/>
                <a:pathLst>
                  <a:path w="6557" h="6558" extrusionOk="0">
                    <a:moveTo>
                      <a:pt x="3279" y="1"/>
                    </a:moveTo>
                    <a:cubicBezTo>
                      <a:pt x="1469" y="1"/>
                      <a:pt x="1" y="1469"/>
                      <a:pt x="1" y="3280"/>
                    </a:cubicBezTo>
                    <a:cubicBezTo>
                      <a:pt x="1" y="5090"/>
                      <a:pt x="1469" y="6558"/>
                      <a:pt x="3279" y="6558"/>
                    </a:cubicBezTo>
                    <a:cubicBezTo>
                      <a:pt x="5089" y="6558"/>
                      <a:pt x="6557" y="5090"/>
                      <a:pt x="6557" y="3280"/>
                    </a:cubicBezTo>
                    <a:cubicBezTo>
                      <a:pt x="6557" y="1469"/>
                      <a:pt x="5089" y="1"/>
                      <a:pt x="3279" y="1"/>
                    </a:cubicBezTo>
                    <a:close/>
                  </a:path>
                </a:pathLst>
              </a:custGeom>
              <a:solidFill>
                <a:srgbClr val="FFFFF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sp>
          <p:nvSpPr>
            <p:cNvPr id="56" name="Google Shape;737;p22">
              <a:extLst>
                <a:ext uri="{FF2B5EF4-FFF2-40B4-BE49-F238E27FC236}">
                  <a16:creationId xmlns:a16="http://schemas.microsoft.com/office/drawing/2014/main" xmlns="" id="{D4982E89-8327-4462-BAD6-B52DA4E0B2EF}"/>
                </a:ext>
              </a:extLst>
            </p:cNvPr>
            <p:cNvSpPr txBox="1"/>
            <p:nvPr/>
          </p:nvSpPr>
          <p:spPr>
            <a:xfrm>
              <a:off x="5929925" y="4100724"/>
              <a:ext cx="1900552" cy="44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err="1">
                  <a:solidFill>
                    <a:srgbClr val="FFFFFF"/>
                  </a:solidFill>
                  <a:latin typeface="Roboto"/>
                  <a:ea typeface="Roboto"/>
                  <a:cs typeface="Roboto"/>
                  <a:sym typeface="Roboto"/>
                </a:rPr>
                <a:t>学生志愿服务中心</a:t>
              </a:r>
              <a:endParaRPr sz="1200" b="1" dirty="0">
                <a:solidFill>
                  <a:srgbClr val="FFFFFF"/>
                </a:solidFill>
                <a:latin typeface="Roboto"/>
                <a:ea typeface="Roboto"/>
                <a:cs typeface="Roboto"/>
                <a:sym typeface="Roboto"/>
              </a:endParaRPr>
            </a:p>
          </p:txBody>
        </p:sp>
      </p:grpSp>
      <p:grpSp>
        <p:nvGrpSpPr>
          <p:cNvPr id="59" name="Google Shape;754;p22">
            <a:extLst>
              <a:ext uri="{FF2B5EF4-FFF2-40B4-BE49-F238E27FC236}">
                <a16:creationId xmlns:a16="http://schemas.microsoft.com/office/drawing/2014/main" xmlns="" id="{9A0B4611-F8C8-4AD8-ADE2-4A503D2FDCB3}"/>
              </a:ext>
            </a:extLst>
          </p:cNvPr>
          <p:cNvGrpSpPr/>
          <p:nvPr/>
        </p:nvGrpSpPr>
        <p:grpSpPr>
          <a:xfrm>
            <a:off x="13450896" y="3039419"/>
            <a:ext cx="1743147" cy="1667287"/>
            <a:chOff x="3479930" y="1734747"/>
            <a:chExt cx="2178931" cy="2165258"/>
          </a:xfrm>
        </p:grpSpPr>
        <p:sp>
          <p:nvSpPr>
            <p:cNvPr id="60" name="Google Shape;755;p22">
              <a:extLst>
                <a:ext uri="{FF2B5EF4-FFF2-40B4-BE49-F238E27FC236}">
                  <a16:creationId xmlns:a16="http://schemas.microsoft.com/office/drawing/2014/main" xmlns="" id="{F02B8079-15F6-4094-BECD-26C5D4C2D140}"/>
                </a:ext>
              </a:extLst>
            </p:cNvPr>
            <p:cNvSpPr/>
            <p:nvPr/>
          </p:nvSpPr>
          <p:spPr>
            <a:xfrm>
              <a:off x="3479930" y="1734747"/>
              <a:ext cx="958505" cy="2151169"/>
            </a:xfrm>
            <a:custGeom>
              <a:avLst/>
              <a:gdLst/>
              <a:ahLst/>
              <a:cxnLst/>
              <a:rect l="l" t="t" r="r" b="b"/>
              <a:pathLst>
                <a:path w="12976" h="29122" fill="none" extrusionOk="0">
                  <a:moveTo>
                    <a:pt x="12976" y="29122"/>
                  </a:moveTo>
                  <a:cubicBezTo>
                    <a:pt x="5673" y="28288"/>
                    <a:pt x="1" y="22087"/>
                    <a:pt x="1" y="14561"/>
                  </a:cubicBezTo>
                  <a:cubicBezTo>
                    <a:pt x="1" y="7035"/>
                    <a:pt x="5673" y="834"/>
                    <a:pt x="12976" y="0"/>
                  </a:cubicBezTo>
                </a:path>
              </a:pathLst>
            </a:custGeom>
            <a:noFill/>
            <a:ln w="19050" cap="rnd" cmpd="sng">
              <a:solidFill>
                <a:srgbClr val="C6C6C6"/>
              </a:solidFill>
              <a:prstDash val="dot"/>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56;p22">
              <a:extLst>
                <a:ext uri="{FF2B5EF4-FFF2-40B4-BE49-F238E27FC236}">
                  <a16:creationId xmlns:a16="http://schemas.microsoft.com/office/drawing/2014/main" xmlns="" id="{051763CF-219C-4453-A3D1-B392EABCD31B}"/>
                </a:ext>
              </a:extLst>
            </p:cNvPr>
            <p:cNvSpPr/>
            <p:nvPr/>
          </p:nvSpPr>
          <p:spPr>
            <a:xfrm>
              <a:off x="4422691" y="3871418"/>
              <a:ext cx="30138" cy="28587"/>
            </a:xfrm>
            <a:custGeom>
              <a:avLst/>
              <a:gdLst/>
              <a:ahLst/>
              <a:cxnLst/>
              <a:rect l="l" t="t" r="r" b="b"/>
              <a:pathLst>
                <a:path w="408" h="387" extrusionOk="0">
                  <a:moveTo>
                    <a:pt x="203" y="1"/>
                  </a:moveTo>
                  <a:cubicBezTo>
                    <a:pt x="106" y="1"/>
                    <a:pt x="23" y="73"/>
                    <a:pt x="11" y="171"/>
                  </a:cubicBezTo>
                  <a:cubicBezTo>
                    <a:pt x="0" y="278"/>
                    <a:pt x="76" y="374"/>
                    <a:pt x="182" y="385"/>
                  </a:cubicBezTo>
                  <a:cubicBezTo>
                    <a:pt x="189" y="386"/>
                    <a:pt x="197" y="386"/>
                    <a:pt x="204" y="386"/>
                  </a:cubicBezTo>
                  <a:cubicBezTo>
                    <a:pt x="301" y="386"/>
                    <a:pt x="384" y="314"/>
                    <a:pt x="396" y="216"/>
                  </a:cubicBezTo>
                  <a:cubicBezTo>
                    <a:pt x="408" y="110"/>
                    <a:pt x="332" y="14"/>
                    <a:pt x="225" y="2"/>
                  </a:cubicBezTo>
                  <a:cubicBezTo>
                    <a:pt x="217" y="1"/>
                    <a:pt x="210" y="1"/>
                    <a:pt x="203" y="1"/>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57;p22">
              <a:extLst>
                <a:ext uri="{FF2B5EF4-FFF2-40B4-BE49-F238E27FC236}">
                  <a16:creationId xmlns:a16="http://schemas.microsoft.com/office/drawing/2014/main" xmlns="" id="{9E147854-3325-41DE-B32A-393B89007023}"/>
                </a:ext>
              </a:extLst>
            </p:cNvPr>
            <p:cNvSpPr/>
            <p:nvPr/>
          </p:nvSpPr>
          <p:spPr>
            <a:xfrm>
              <a:off x="4700357" y="1734747"/>
              <a:ext cx="958505" cy="2151169"/>
            </a:xfrm>
            <a:custGeom>
              <a:avLst/>
              <a:gdLst/>
              <a:ahLst/>
              <a:cxnLst/>
              <a:rect l="l" t="t" r="r" b="b"/>
              <a:pathLst>
                <a:path w="12976" h="29122" fill="none" extrusionOk="0">
                  <a:moveTo>
                    <a:pt x="1" y="29122"/>
                  </a:moveTo>
                  <a:cubicBezTo>
                    <a:pt x="7303" y="28288"/>
                    <a:pt x="12975" y="22087"/>
                    <a:pt x="12975" y="14561"/>
                  </a:cubicBezTo>
                  <a:cubicBezTo>
                    <a:pt x="12975" y="7035"/>
                    <a:pt x="7303" y="834"/>
                    <a:pt x="1" y="0"/>
                  </a:cubicBezTo>
                </a:path>
              </a:pathLst>
            </a:custGeom>
            <a:noFill/>
            <a:ln w="19050" cap="rnd" cmpd="sng">
              <a:solidFill>
                <a:srgbClr val="C6C6C6"/>
              </a:solidFill>
              <a:prstDash val="dot"/>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58;p22">
              <a:extLst>
                <a:ext uri="{FF2B5EF4-FFF2-40B4-BE49-F238E27FC236}">
                  <a16:creationId xmlns:a16="http://schemas.microsoft.com/office/drawing/2014/main" xmlns="" id="{9C5076A9-E107-437D-A2F5-882EB48AE597}"/>
                </a:ext>
              </a:extLst>
            </p:cNvPr>
            <p:cNvSpPr/>
            <p:nvPr/>
          </p:nvSpPr>
          <p:spPr>
            <a:xfrm>
              <a:off x="4686026" y="3871418"/>
              <a:ext cx="30212" cy="28587"/>
            </a:xfrm>
            <a:custGeom>
              <a:avLst/>
              <a:gdLst/>
              <a:ahLst/>
              <a:cxnLst/>
              <a:rect l="l" t="t" r="r" b="b"/>
              <a:pathLst>
                <a:path w="409" h="387" extrusionOk="0">
                  <a:moveTo>
                    <a:pt x="205" y="1"/>
                  </a:moveTo>
                  <a:cubicBezTo>
                    <a:pt x="197" y="1"/>
                    <a:pt x="190" y="1"/>
                    <a:pt x="182" y="2"/>
                  </a:cubicBezTo>
                  <a:cubicBezTo>
                    <a:pt x="77" y="14"/>
                    <a:pt x="1" y="110"/>
                    <a:pt x="13" y="216"/>
                  </a:cubicBezTo>
                  <a:cubicBezTo>
                    <a:pt x="23" y="314"/>
                    <a:pt x="106" y="386"/>
                    <a:pt x="204" y="386"/>
                  </a:cubicBezTo>
                  <a:cubicBezTo>
                    <a:pt x="211" y="386"/>
                    <a:pt x="219" y="386"/>
                    <a:pt x="227" y="385"/>
                  </a:cubicBezTo>
                  <a:cubicBezTo>
                    <a:pt x="332" y="374"/>
                    <a:pt x="408" y="278"/>
                    <a:pt x="396" y="171"/>
                  </a:cubicBezTo>
                  <a:cubicBezTo>
                    <a:pt x="385" y="73"/>
                    <a:pt x="301" y="1"/>
                    <a:pt x="205" y="1"/>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759;p22">
              <a:extLst>
                <a:ext uri="{FF2B5EF4-FFF2-40B4-BE49-F238E27FC236}">
                  <a16:creationId xmlns:a16="http://schemas.microsoft.com/office/drawing/2014/main" xmlns="" id="{C5EB113D-15FD-4638-8A93-CAF664512A43}"/>
                </a:ext>
              </a:extLst>
            </p:cNvPr>
            <p:cNvSpPr/>
            <p:nvPr/>
          </p:nvSpPr>
          <p:spPr>
            <a:xfrm>
              <a:off x="3619981" y="1854042"/>
              <a:ext cx="913593" cy="913593"/>
            </a:xfrm>
            <a:custGeom>
              <a:avLst/>
              <a:gdLst/>
              <a:ahLst/>
              <a:cxnLst/>
              <a:rect l="l" t="t" r="r" b="b"/>
              <a:pathLst>
                <a:path w="12368" h="12368" extrusionOk="0">
                  <a:moveTo>
                    <a:pt x="12368" y="0"/>
                  </a:moveTo>
                  <a:cubicBezTo>
                    <a:pt x="5670" y="294"/>
                    <a:pt x="294" y="5670"/>
                    <a:pt x="0" y="12368"/>
                  </a:cubicBezTo>
                  <a:lnTo>
                    <a:pt x="1707" y="12368"/>
                  </a:lnTo>
                  <a:cubicBezTo>
                    <a:pt x="1998" y="6613"/>
                    <a:pt x="6613" y="1998"/>
                    <a:pt x="12368" y="1707"/>
                  </a:cubicBezTo>
                  <a:lnTo>
                    <a:pt x="12368" y="0"/>
                  </a:ln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760;p22">
              <a:extLst>
                <a:ext uri="{FF2B5EF4-FFF2-40B4-BE49-F238E27FC236}">
                  <a16:creationId xmlns:a16="http://schemas.microsoft.com/office/drawing/2014/main" xmlns="" id="{3C7CFBCE-983F-40E5-B1D6-72B16F01A53B}"/>
                </a:ext>
              </a:extLst>
            </p:cNvPr>
            <p:cNvSpPr/>
            <p:nvPr/>
          </p:nvSpPr>
          <p:spPr>
            <a:xfrm>
              <a:off x="4631070" y="1854633"/>
              <a:ext cx="901553" cy="913002"/>
            </a:xfrm>
            <a:custGeom>
              <a:avLst/>
              <a:gdLst/>
              <a:ahLst/>
              <a:cxnLst/>
              <a:rect l="l" t="t" r="r" b="b"/>
              <a:pathLst>
                <a:path w="12205" h="12360" extrusionOk="0">
                  <a:moveTo>
                    <a:pt x="1" y="0"/>
                  </a:moveTo>
                  <a:lnTo>
                    <a:pt x="1" y="1712"/>
                  </a:lnTo>
                  <a:cubicBezTo>
                    <a:pt x="5678" y="2082"/>
                    <a:pt x="10208" y="6661"/>
                    <a:pt x="10497" y="12360"/>
                  </a:cubicBezTo>
                  <a:lnTo>
                    <a:pt x="12204" y="12360"/>
                  </a:lnTo>
                  <a:cubicBezTo>
                    <a:pt x="11912" y="5718"/>
                    <a:pt x="6622" y="374"/>
                    <a:pt x="1" y="0"/>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761;p22">
              <a:extLst>
                <a:ext uri="{FF2B5EF4-FFF2-40B4-BE49-F238E27FC236}">
                  <a16:creationId xmlns:a16="http://schemas.microsoft.com/office/drawing/2014/main" xmlns="" id="{5F032BA4-5206-49D4-8D5F-8FD7CA5FAE49}"/>
                </a:ext>
              </a:extLst>
            </p:cNvPr>
            <p:cNvSpPr/>
            <p:nvPr/>
          </p:nvSpPr>
          <p:spPr>
            <a:xfrm>
              <a:off x="4631070" y="2865131"/>
              <a:ext cx="900888" cy="900888"/>
            </a:xfrm>
            <a:custGeom>
              <a:avLst/>
              <a:gdLst/>
              <a:ahLst/>
              <a:cxnLst/>
              <a:rect l="l" t="t" r="r" b="b"/>
              <a:pathLst>
                <a:path w="12196" h="12196" extrusionOk="0">
                  <a:moveTo>
                    <a:pt x="10485" y="1"/>
                  </a:moveTo>
                  <a:cubicBezTo>
                    <a:pt x="10117" y="5624"/>
                    <a:pt x="5624" y="10118"/>
                    <a:pt x="1" y="10485"/>
                  </a:cubicBezTo>
                  <a:lnTo>
                    <a:pt x="1" y="12196"/>
                  </a:lnTo>
                  <a:cubicBezTo>
                    <a:pt x="6567" y="11825"/>
                    <a:pt x="11825" y="6567"/>
                    <a:pt x="12196" y="1"/>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762;p22">
              <a:extLst>
                <a:ext uri="{FF2B5EF4-FFF2-40B4-BE49-F238E27FC236}">
                  <a16:creationId xmlns:a16="http://schemas.microsoft.com/office/drawing/2014/main" xmlns="" id="{63947F3D-0007-47EF-9439-FB1C0A295F42}"/>
                </a:ext>
              </a:extLst>
            </p:cNvPr>
            <p:cNvSpPr/>
            <p:nvPr/>
          </p:nvSpPr>
          <p:spPr>
            <a:xfrm>
              <a:off x="3620572" y="2865131"/>
              <a:ext cx="913002" cy="901553"/>
            </a:xfrm>
            <a:custGeom>
              <a:avLst/>
              <a:gdLst/>
              <a:ahLst/>
              <a:cxnLst/>
              <a:rect l="l" t="t" r="r" b="b"/>
              <a:pathLst>
                <a:path w="12360" h="12205" extrusionOk="0">
                  <a:moveTo>
                    <a:pt x="0" y="1"/>
                  </a:moveTo>
                  <a:cubicBezTo>
                    <a:pt x="374" y="6622"/>
                    <a:pt x="5717" y="11912"/>
                    <a:pt x="12360" y="12204"/>
                  </a:cubicBezTo>
                  <a:lnTo>
                    <a:pt x="12360" y="10497"/>
                  </a:lnTo>
                  <a:cubicBezTo>
                    <a:pt x="6661" y="10208"/>
                    <a:pt x="2082" y="5678"/>
                    <a:pt x="1712" y="1"/>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763;p22">
              <a:extLst>
                <a:ext uri="{FF2B5EF4-FFF2-40B4-BE49-F238E27FC236}">
                  <a16:creationId xmlns:a16="http://schemas.microsoft.com/office/drawing/2014/main" xmlns="" id="{3F926C99-292F-4C6E-929A-95CC2BDF1D75}"/>
                </a:ext>
              </a:extLst>
            </p:cNvPr>
            <p:cNvSpPr/>
            <p:nvPr/>
          </p:nvSpPr>
          <p:spPr>
            <a:xfrm>
              <a:off x="3679222" y="1913357"/>
              <a:ext cx="1794020" cy="1793946"/>
            </a:xfrm>
            <a:custGeom>
              <a:avLst/>
              <a:gdLst/>
              <a:ahLst/>
              <a:cxnLst/>
              <a:rect l="l" t="t" r="r" b="b"/>
              <a:pathLst>
                <a:path w="24287" h="24286" fill="none" extrusionOk="0">
                  <a:moveTo>
                    <a:pt x="24287" y="12143"/>
                  </a:moveTo>
                  <a:cubicBezTo>
                    <a:pt x="24287" y="18850"/>
                    <a:pt x="18851" y="24286"/>
                    <a:pt x="12144" y="24286"/>
                  </a:cubicBezTo>
                  <a:cubicBezTo>
                    <a:pt x="5437" y="24286"/>
                    <a:pt x="0" y="18850"/>
                    <a:pt x="0" y="12143"/>
                  </a:cubicBezTo>
                  <a:cubicBezTo>
                    <a:pt x="0" y="5436"/>
                    <a:pt x="5437" y="0"/>
                    <a:pt x="12144" y="0"/>
                  </a:cubicBezTo>
                  <a:cubicBezTo>
                    <a:pt x="18851" y="0"/>
                    <a:pt x="24287" y="5436"/>
                    <a:pt x="24287" y="12143"/>
                  </a:cubicBezTo>
                  <a:close/>
                </a:path>
              </a:pathLst>
            </a:custGeom>
            <a:noFill/>
            <a:ln w="3100" cap="flat" cmpd="sng">
              <a:solidFill>
                <a:srgbClr val="FFFFFF"/>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764;p22">
              <a:extLst>
                <a:ext uri="{FF2B5EF4-FFF2-40B4-BE49-F238E27FC236}">
                  <a16:creationId xmlns:a16="http://schemas.microsoft.com/office/drawing/2014/main" xmlns="" id="{1675797E-D0B0-453D-A9A3-6638DD6625B0}"/>
                </a:ext>
              </a:extLst>
            </p:cNvPr>
            <p:cNvSpPr/>
            <p:nvPr/>
          </p:nvSpPr>
          <p:spPr>
            <a:xfrm>
              <a:off x="4964135" y="3694434"/>
              <a:ext cx="171446" cy="171446"/>
            </a:xfrm>
            <a:custGeom>
              <a:avLst/>
              <a:gdLst/>
              <a:ahLst/>
              <a:cxnLst/>
              <a:rect l="l" t="t" r="r" b="b"/>
              <a:pathLst>
                <a:path w="2321" h="2321" extrusionOk="0">
                  <a:moveTo>
                    <a:pt x="1161" y="0"/>
                  </a:moveTo>
                  <a:cubicBezTo>
                    <a:pt x="520" y="0"/>
                    <a:pt x="0" y="519"/>
                    <a:pt x="0" y="1160"/>
                  </a:cubicBezTo>
                  <a:cubicBezTo>
                    <a:pt x="0" y="1801"/>
                    <a:pt x="520" y="2321"/>
                    <a:pt x="1161" y="2321"/>
                  </a:cubicBezTo>
                  <a:cubicBezTo>
                    <a:pt x="1802" y="2321"/>
                    <a:pt x="2321" y="1801"/>
                    <a:pt x="2321" y="1160"/>
                  </a:cubicBezTo>
                  <a:cubicBezTo>
                    <a:pt x="2321" y="519"/>
                    <a:pt x="1802" y="0"/>
                    <a:pt x="11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65;p22">
              <a:extLst>
                <a:ext uri="{FF2B5EF4-FFF2-40B4-BE49-F238E27FC236}">
                  <a16:creationId xmlns:a16="http://schemas.microsoft.com/office/drawing/2014/main" xmlns="" id="{39EDEA84-69B9-41E6-A926-E8D81F80172A}"/>
                </a:ext>
              </a:extLst>
            </p:cNvPr>
            <p:cNvSpPr/>
            <p:nvPr/>
          </p:nvSpPr>
          <p:spPr>
            <a:xfrm>
              <a:off x="5460372" y="2232979"/>
              <a:ext cx="171446" cy="171446"/>
            </a:xfrm>
            <a:custGeom>
              <a:avLst/>
              <a:gdLst/>
              <a:ahLst/>
              <a:cxnLst/>
              <a:rect l="l" t="t" r="r" b="b"/>
              <a:pathLst>
                <a:path w="2321" h="2321" extrusionOk="0">
                  <a:moveTo>
                    <a:pt x="1160" y="0"/>
                  </a:moveTo>
                  <a:cubicBezTo>
                    <a:pt x="519" y="0"/>
                    <a:pt x="0" y="519"/>
                    <a:pt x="0" y="1160"/>
                  </a:cubicBezTo>
                  <a:cubicBezTo>
                    <a:pt x="0" y="1801"/>
                    <a:pt x="519" y="2321"/>
                    <a:pt x="1160" y="2321"/>
                  </a:cubicBezTo>
                  <a:cubicBezTo>
                    <a:pt x="1801" y="2321"/>
                    <a:pt x="2321" y="1801"/>
                    <a:pt x="2321" y="1160"/>
                  </a:cubicBezTo>
                  <a:cubicBezTo>
                    <a:pt x="2321" y="519"/>
                    <a:pt x="1801" y="0"/>
                    <a:pt x="1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66;p22">
              <a:extLst>
                <a:ext uri="{FF2B5EF4-FFF2-40B4-BE49-F238E27FC236}">
                  <a16:creationId xmlns:a16="http://schemas.microsoft.com/office/drawing/2014/main" xmlns="" id="{9AEBB44A-EBFB-4B45-BA9E-E476334A5C2C}"/>
                </a:ext>
              </a:extLst>
            </p:cNvPr>
            <p:cNvSpPr/>
            <p:nvPr/>
          </p:nvSpPr>
          <p:spPr>
            <a:xfrm>
              <a:off x="4964135" y="1754765"/>
              <a:ext cx="171446" cy="171446"/>
            </a:xfrm>
            <a:custGeom>
              <a:avLst/>
              <a:gdLst/>
              <a:ahLst/>
              <a:cxnLst/>
              <a:rect l="l" t="t" r="r" b="b"/>
              <a:pathLst>
                <a:path w="2321" h="2321" extrusionOk="0">
                  <a:moveTo>
                    <a:pt x="1161" y="0"/>
                  </a:moveTo>
                  <a:cubicBezTo>
                    <a:pt x="520" y="0"/>
                    <a:pt x="0" y="520"/>
                    <a:pt x="0" y="1160"/>
                  </a:cubicBezTo>
                  <a:cubicBezTo>
                    <a:pt x="0" y="1801"/>
                    <a:pt x="520" y="2321"/>
                    <a:pt x="1161" y="2321"/>
                  </a:cubicBezTo>
                  <a:cubicBezTo>
                    <a:pt x="1802" y="2321"/>
                    <a:pt x="2321" y="1801"/>
                    <a:pt x="2321" y="1160"/>
                  </a:cubicBezTo>
                  <a:cubicBezTo>
                    <a:pt x="2321" y="520"/>
                    <a:pt x="1802" y="0"/>
                    <a:pt x="1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67;p22">
              <a:extLst>
                <a:ext uri="{FF2B5EF4-FFF2-40B4-BE49-F238E27FC236}">
                  <a16:creationId xmlns:a16="http://schemas.microsoft.com/office/drawing/2014/main" xmlns="" id="{403E9F38-7D8B-4653-8397-E4120526BC6A}"/>
                </a:ext>
              </a:extLst>
            </p:cNvPr>
            <p:cNvSpPr/>
            <p:nvPr/>
          </p:nvSpPr>
          <p:spPr>
            <a:xfrm>
              <a:off x="5460372" y="3216220"/>
              <a:ext cx="171446" cy="171520"/>
            </a:xfrm>
            <a:custGeom>
              <a:avLst/>
              <a:gdLst/>
              <a:ahLst/>
              <a:cxnLst/>
              <a:rect l="l" t="t" r="r" b="b"/>
              <a:pathLst>
                <a:path w="2321" h="2322" extrusionOk="0">
                  <a:moveTo>
                    <a:pt x="1160" y="1"/>
                  </a:moveTo>
                  <a:cubicBezTo>
                    <a:pt x="519" y="1"/>
                    <a:pt x="0" y="521"/>
                    <a:pt x="0" y="1162"/>
                  </a:cubicBezTo>
                  <a:cubicBezTo>
                    <a:pt x="0" y="1803"/>
                    <a:pt x="519" y="2321"/>
                    <a:pt x="1160" y="2321"/>
                  </a:cubicBezTo>
                  <a:cubicBezTo>
                    <a:pt x="1801" y="2321"/>
                    <a:pt x="2321" y="1803"/>
                    <a:pt x="2321" y="1162"/>
                  </a:cubicBezTo>
                  <a:cubicBezTo>
                    <a:pt x="2321" y="521"/>
                    <a:pt x="1801" y="1"/>
                    <a:pt x="11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68;p22">
              <a:extLst>
                <a:ext uri="{FF2B5EF4-FFF2-40B4-BE49-F238E27FC236}">
                  <a16:creationId xmlns:a16="http://schemas.microsoft.com/office/drawing/2014/main" xmlns="" id="{F534A694-BFC4-4AF7-BF8F-C2A24CD2269E}"/>
                </a:ext>
              </a:extLst>
            </p:cNvPr>
            <p:cNvSpPr/>
            <p:nvPr/>
          </p:nvSpPr>
          <p:spPr>
            <a:xfrm>
              <a:off x="4008003" y="3694434"/>
              <a:ext cx="171446" cy="171446"/>
            </a:xfrm>
            <a:custGeom>
              <a:avLst/>
              <a:gdLst/>
              <a:ahLst/>
              <a:cxnLst/>
              <a:rect l="l" t="t" r="r" b="b"/>
              <a:pathLst>
                <a:path w="2321" h="2321" extrusionOk="0">
                  <a:moveTo>
                    <a:pt x="1160" y="0"/>
                  </a:moveTo>
                  <a:cubicBezTo>
                    <a:pt x="519" y="0"/>
                    <a:pt x="0" y="519"/>
                    <a:pt x="0" y="1160"/>
                  </a:cubicBezTo>
                  <a:cubicBezTo>
                    <a:pt x="0" y="1801"/>
                    <a:pt x="519" y="2321"/>
                    <a:pt x="1160" y="2321"/>
                  </a:cubicBezTo>
                  <a:cubicBezTo>
                    <a:pt x="1801" y="2321"/>
                    <a:pt x="2321" y="1801"/>
                    <a:pt x="2321" y="1160"/>
                  </a:cubicBezTo>
                  <a:cubicBezTo>
                    <a:pt x="2321" y="519"/>
                    <a:pt x="1801"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69;p22">
              <a:extLst>
                <a:ext uri="{FF2B5EF4-FFF2-40B4-BE49-F238E27FC236}">
                  <a16:creationId xmlns:a16="http://schemas.microsoft.com/office/drawing/2014/main" xmlns="" id="{AB933B26-26BC-42FA-BC2A-6A29FDD8F1AC}"/>
                </a:ext>
              </a:extLst>
            </p:cNvPr>
            <p:cNvSpPr/>
            <p:nvPr/>
          </p:nvSpPr>
          <p:spPr>
            <a:xfrm>
              <a:off x="3511766" y="2232979"/>
              <a:ext cx="171446" cy="171446"/>
            </a:xfrm>
            <a:custGeom>
              <a:avLst/>
              <a:gdLst/>
              <a:ahLst/>
              <a:cxnLst/>
              <a:rect l="l" t="t" r="r" b="b"/>
              <a:pathLst>
                <a:path w="2321" h="2321" extrusionOk="0">
                  <a:moveTo>
                    <a:pt x="1161" y="0"/>
                  </a:moveTo>
                  <a:cubicBezTo>
                    <a:pt x="520" y="0"/>
                    <a:pt x="0" y="519"/>
                    <a:pt x="0" y="1160"/>
                  </a:cubicBezTo>
                  <a:cubicBezTo>
                    <a:pt x="0" y="1801"/>
                    <a:pt x="520" y="2321"/>
                    <a:pt x="1161" y="2321"/>
                  </a:cubicBezTo>
                  <a:cubicBezTo>
                    <a:pt x="1802" y="2321"/>
                    <a:pt x="2321" y="1801"/>
                    <a:pt x="2321" y="1160"/>
                  </a:cubicBezTo>
                  <a:cubicBezTo>
                    <a:pt x="2321" y="519"/>
                    <a:pt x="1802" y="0"/>
                    <a:pt x="11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70;p22">
              <a:extLst>
                <a:ext uri="{FF2B5EF4-FFF2-40B4-BE49-F238E27FC236}">
                  <a16:creationId xmlns:a16="http://schemas.microsoft.com/office/drawing/2014/main" xmlns="" id="{A1730288-B544-432A-9274-5EF2432DC727}"/>
                </a:ext>
              </a:extLst>
            </p:cNvPr>
            <p:cNvSpPr/>
            <p:nvPr/>
          </p:nvSpPr>
          <p:spPr>
            <a:xfrm>
              <a:off x="4008003" y="1754765"/>
              <a:ext cx="171446" cy="171446"/>
            </a:xfrm>
            <a:custGeom>
              <a:avLst/>
              <a:gdLst/>
              <a:ahLst/>
              <a:cxnLst/>
              <a:rect l="l" t="t" r="r" b="b"/>
              <a:pathLst>
                <a:path w="2321" h="2321" extrusionOk="0">
                  <a:moveTo>
                    <a:pt x="1160" y="0"/>
                  </a:moveTo>
                  <a:cubicBezTo>
                    <a:pt x="519" y="0"/>
                    <a:pt x="0" y="520"/>
                    <a:pt x="0" y="1160"/>
                  </a:cubicBezTo>
                  <a:cubicBezTo>
                    <a:pt x="0" y="1801"/>
                    <a:pt x="519" y="2321"/>
                    <a:pt x="1160" y="2321"/>
                  </a:cubicBezTo>
                  <a:cubicBezTo>
                    <a:pt x="1801" y="2321"/>
                    <a:pt x="2321" y="1801"/>
                    <a:pt x="2321" y="1160"/>
                  </a:cubicBezTo>
                  <a:cubicBezTo>
                    <a:pt x="2321" y="520"/>
                    <a:pt x="1801" y="0"/>
                    <a:pt x="1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71;p22">
              <a:extLst>
                <a:ext uri="{FF2B5EF4-FFF2-40B4-BE49-F238E27FC236}">
                  <a16:creationId xmlns:a16="http://schemas.microsoft.com/office/drawing/2014/main" xmlns="" id="{59322157-6679-4928-A713-13CDA4AD03BC}"/>
                </a:ext>
              </a:extLst>
            </p:cNvPr>
            <p:cNvSpPr/>
            <p:nvPr/>
          </p:nvSpPr>
          <p:spPr>
            <a:xfrm>
              <a:off x="3511766" y="3216220"/>
              <a:ext cx="171446" cy="171520"/>
            </a:xfrm>
            <a:custGeom>
              <a:avLst/>
              <a:gdLst/>
              <a:ahLst/>
              <a:cxnLst/>
              <a:rect l="l" t="t" r="r" b="b"/>
              <a:pathLst>
                <a:path w="2321" h="2322" extrusionOk="0">
                  <a:moveTo>
                    <a:pt x="1161" y="1"/>
                  </a:moveTo>
                  <a:cubicBezTo>
                    <a:pt x="520" y="1"/>
                    <a:pt x="0" y="521"/>
                    <a:pt x="0" y="1162"/>
                  </a:cubicBezTo>
                  <a:cubicBezTo>
                    <a:pt x="0" y="1803"/>
                    <a:pt x="520" y="2321"/>
                    <a:pt x="1161" y="2321"/>
                  </a:cubicBezTo>
                  <a:cubicBezTo>
                    <a:pt x="1802" y="2321"/>
                    <a:pt x="2321" y="1803"/>
                    <a:pt x="2321" y="1162"/>
                  </a:cubicBezTo>
                  <a:cubicBezTo>
                    <a:pt x="2321" y="521"/>
                    <a:pt x="1802" y="1"/>
                    <a:pt x="1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94;p22">
            <a:extLst>
              <a:ext uri="{FF2B5EF4-FFF2-40B4-BE49-F238E27FC236}">
                <a16:creationId xmlns:a16="http://schemas.microsoft.com/office/drawing/2014/main" xmlns="" id="{B4BE371D-32D1-4F7A-9D65-440CB72A29E1}"/>
              </a:ext>
            </a:extLst>
          </p:cNvPr>
          <p:cNvGrpSpPr/>
          <p:nvPr/>
        </p:nvGrpSpPr>
        <p:grpSpPr>
          <a:xfrm>
            <a:off x="14277223" y="2538164"/>
            <a:ext cx="237088" cy="278590"/>
            <a:chOff x="6033071" y="1587084"/>
            <a:chExt cx="176472" cy="203493"/>
          </a:xfrm>
        </p:grpSpPr>
        <p:sp>
          <p:nvSpPr>
            <p:cNvPr id="78" name="Google Shape;795;p22">
              <a:extLst>
                <a:ext uri="{FF2B5EF4-FFF2-40B4-BE49-F238E27FC236}">
                  <a16:creationId xmlns:a16="http://schemas.microsoft.com/office/drawing/2014/main" xmlns="" id="{CAF4A01B-900E-4D6C-8140-5F3951632883}"/>
                </a:ext>
              </a:extLst>
            </p:cNvPr>
            <p:cNvSpPr/>
            <p:nvPr/>
          </p:nvSpPr>
          <p:spPr>
            <a:xfrm>
              <a:off x="6063580" y="1587084"/>
              <a:ext cx="115356" cy="203493"/>
            </a:xfrm>
            <a:custGeom>
              <a:avLst/>
              <a:gdLst/>
              <a:ahLst/>
              <a:cxnLst/>
              <a:rect l="l" t="t" r="r" b="b"/>
              <a:pathLst>
                <a:path w="1157" h="2041" extrusionOk="0">
                  <a:moveTo>
                    <a:pt x="493" y="422"/>
                  </a:moveTo>
                  <a:cubicBezTo>
                    <a:pt x="496" y="425"/>
                    <a:pt x="499" y="428"/>
                    <a:pt x="500" y="432"/>
                  </a:cubicBezTo>
                  <a:cubicBezTo>
                    <a:pt x="500" y="433"/>
                    <a:pt x="500" y="433"/>
                    <a:pt x="500" y="433"/>
                  </a:cubicBezTo>
                  <a:cubicBezTo>
                    <a:pt x="504" y="439"/>
                    <a:pt x="506" y="446"/>
                    <a:pt x="507" y="452"/>
                  </a:cubicBezTo>
                  <a:cubicBezTo>
                    <a:pt x="507" y="454"/>
                    <a:pt x="508" y="454"/>
                    <a:pt x="508" y="456"/>
                  </a:cubicBezTo>
                  <a:cubicBezTo>
                    <a:pt x="510" y="463"/>
                    <a:pt x="511" y="469"/>
                    <a:pt x="511" y="476"/>
                  </a:cubicBezTo>
                  <a:cubicBezTo>
                    <a:pt x="511" y="483"/>
                    <a:pt x="510" y="489"/>
                    <a:pt x="508" y="496"/>
                  </a:cubicBezTo>
                  <a:cubicBezTo>
                    <a:pt x="508" y="498"/>
                    <a:pt x="507" y="500"/>
                    <a:pt x="507" y="501"/>
                  </a:cubicBezTo>
                  <a:cubicBezTo>
                    <a:pt x="506" y="508"/>
                    <a:pt x="504" y="514"/>
                    <a:pt x="500" y="520"/>
                  </a:cubicBezTo>
                  <a:cubicBezTo>
                    <a:pt x="500" y="520"/>
                    <a:pt x="500" y="521"/>
                    <a:pt x="500" y="521"/>
                  </a:cubicBezTo>
                  <a:cubicBezTo>
                    <a:pt x="499" y="524"/>
                    <a:pt x="496" y="528"/>
                    <a:pt x="493" y="531"/>
                  </a:cubicBezTo>
                  <a:cubicBezTo>
                    <a:pt x="492" y="528"/>
                    <a:pt x="489" y="524"/>
                    <a:pt x="487" y="521"/>
                  </a:cubicBezTo>
                  <a:cubicBezTo>
                    <a:pt x="487" y="521"/>
                    <a:pt x="486" y="520"/>
                    <a:pt x="486" y="520"/>
                  </a:cubicBezTo>
                  <a:cubicBezTo>
                    <a:pt x="484" y="514"/>
                    <a:pt x="482" y="508"/>
                    <a:pt x="480" y="501"/>
                  </a:cubicBezTo>
                  <a:cubicBezTo>
                    <a:pt x="479" y="500"/>
                    <a:pt x="479" y="498"/>
                    <a:pt x="479" y="496"/>
                  </a:cubicBezTo>
                  <a:cubicBezTo>
                    <a:pt x="478" y="489"/>
                    <a:pt x="477" y="483"/>
                    <a:pt x="477" y="476"/>
                  </a:cubicBezTo>
                  <a:cubicBezTo>
                    <a:pt x="477" y="469"/>
                    <a:pt x="478" y="463"/>
                    <a:pt x="479" y="456"/>
                  </a:cubicBezTo>
                  <a:cubicBezTo>
                    <a:pt x="479" y="454"/>
                    <a:pt x="479" y="454"/>
                    <a:pt x="480" y="452"/>
                  </a:cubicBezTo>
                  <a:cubicBezTo>
                    <a:pt x="482" y="446"/>
                    <a:pt x="484" y="439"/>
                    <a:pt x="486" y="433"/>
                  </a:cubicBezTo>
                  <a:cubicBezTo>
                    <a:pt x="487" y="433"/>
                    <a:pt x="487" y="433"/>
                    <a:pt x="487" y="432"/>
                  </a:cubicBezTo>
                  <a:cubicBezTo>
                    <a:pt x="489" y="428"/>
                    <a:pt x="492" y="425"/>
                    <a:pt x="493" y="422"/>
                  </a:cubicBezTo>
                  <a:close/>
                  <a:moveTo>
                    <a:pt x="664" y="422"/>
                  </a:moveTo>
                  <a:cubicBezTo>
                    <a:pt x="666" y="425"/>
                    <a:pt x="668" y="428"/>
                    <a:pt x="670" y="432"/>
                  </a:cubicBezTo>
                  <a:cubicBezTo>
                    <a:pt x="671" y="433"/>
                    <a:pt x="671" y="433"/>
                    <a:pt x="671" y="433"/>
                  </a:cubicBezTo>
                  <a:cubicBezTo>
                    <a:pt x="674" y="439"/>
                    <a:pt x="676" y="446"/>
                    <a:pt x="678" y="452"/>
                  </a:cubicBezTo>
                  <a:cubicBezTo>
                    <a:pt x="678" y="454"/>
                    <a:pt x="679" y="454"/>
                    <a:pt x="679" y="456"/>
                  </a:cubicBezTo>
                  <a:cubicBezTo>
                    <a:pt x="680" y="463"/>
                    <a:pt x="681" y="469"/>
                    <a:pt x="681" y="476"/>
                  </a:cubicBezTo>
                  <a:cubicBezTo>
                    <a:pt x="681" y="483"/>
                    <a:pt x="680" y="489"/>
                    <a:pt x="679" y="496"/>
                  </a:cubicBezTo>
                  <a:cubicBezTo>
                    <a:pt x="679" y="498"/>
                    <a:pt x="678" y="500"/>
                    <a:pt x="678" y="501"/>
                  </a:cubicBezTo>
                  <a:cubicBezTo>
                    <a:pt x="676" y="508"/>
                    <a:pt x="674" y="514"/>
                    <a:pt x="671" y="520"/>
                  </a:cubicBezTo>
                  <a:cubicBezTo>
                    <a:pt x="671" y="520"/>
                    <a:pt x="671" y="521"/>
                    <a:pt x="670" y="521"/>
                  </a:cubicBezTo>
                  <a:cubicBezTo>
                    <a:pt x="668" y="524"/>
                    <a:pt x="666" y="528"/>
                    <a:pt x="664" y="531"/>
                  </a:cubicBezTo>
                  <a:cubicBezTo>
                    <a:pt x="662" y="528"/>
                    <a:pt x="659" y="524"/>
                    <a:pt x="658" y="521"/>
                  </a:cubicBezTo>
                  <a:cubicBezTo>
                    <a:pt x="658" y="521"/>
                    <a:pt x="657" y="520"/>
                    <a:pt x="657" y="520"/>
                  </a:cubicBezTo>
                  <a:cubicBezTo>
                    <a:pt x="654" y="514"/>
                    <a:pt x="651" y="508"/>
                    <a:pt x="651" y="501"/>
                  </a:cubicBezTo>
                  <a:cubicBezTo>
                    <a:pt x="650" y="500"/>
                    <a:pt x="650" y="498"/>
                    <a:pt x="649" y="496"/>
                  </a:cubicBezTo>
                  <a:cubicBezTo>
                    <a:pt x="648" y="489"/>
                    <a:pt x="647" y="483"/>
                    <a:pt x="647" y="476"/>
                  </a:cubicBezTo>
                  <a:cubicBezTo>
                    <a:pt x="647" y="469"/>
                    <a:pt x="648" y="463"/>
                    <a:pt x="649" y="456"/>
                  </a:cubicBezTo>
                  <a:cubicBezTo>
                    <a:pt x="650" y="454"/>
                    <a:pt x="650" y="454"/>
                    <a:pt x="651" y="452"/>
                  </a:cubicBezTo>
                  <a:cubicBezTo>
                    <a:pt x="651" y="446"/>
                    <a:pt x="654" y="439"/>
                    <a:pt x="657" y="433"/>
                  </a:cubicBezTo>
                  <a:cubicBezTo>
                    <a:pt x="657" y="433"/>
                    <a:pt x="658" y="433"/>
                    <a:pt x="658" y="432"/>
                  </a:cubicBezTo>
                  <a:cubicBezTo>
                    <a:pt x="659" y="428"/>
                    <a:pt x="662" y="425"/>
                    <a:pt x="664" y="422"/>
                  </a:cubicBezTo>
                  <a:close/>
                  <a:moveTo>
                    <a:pt x="749" y="374"/>
                  </a:moveTo>
                  <a:cubicBezTo>
                    <a:pt x="803" y="374"/>
                    <a:pt x="851" y="426"/>
                    <a:pt x="851" y="484"/>
                  </a:cubicBezTo>
                  <a:cubicBezTo>
                    <a:pt x="851" y="534"/>
                    <a:pt x="829" y="581"/>
                    <a:pt x="790" y="612"/>
                  </a:cubicBezTo>
                  <a:lnTo>
                    <a:pt x="659" y="722"/>
                  </a:lnTo>
                  <a:cubicBezTo>
                    <a:pt x="651" y="729"/>
                    <a:pt x="647" y="738"/>
                    <a:pt x="647" y="749"/>
                  </a:cubicBezTo>
                  <a:lnTo>
                    <a:pt x="647" y="986"/>
                  </a:lnTo>
                  <a:lnTo>
                    <a:pt x="511" y="986"/>
                  </a:lnTo>
                  <a:lnTo>
                    <a:pt x="511" y="749"/>
                  </a:lnTo>
                  <a:cubicBezTo>
                    <a:pt x="511" y="738"/>
                    <a:pt x="506" y="729"/>
                    <a:pt x="499" y="722"/>
                  </a:cubicBezTo>
                  <a:lnTo>
                    <a:pt x="367" y="612"/>
                  </a:lnTo>
                  <a:cubicBezTo>
                    <a:pt x="328" y="581"/>
                    <a:pt x="307" y="534"/>
                    <a:pt x="307" y="484"/>
                  </a:cubicBezTo>
                  <a:cubicBezTo>
                    <a:pt x="307" y="426"/>
                    <a:pt x="355" y="374"/>
                    <a:pt x="409" y="374"/>
                  </a:cubicBezTo>
                  <a:cubicBezTo>
                    <a:pt x="419" y="374"/>
                    <a:pt x="430" y="376"/>
                    <a:pt x="439" y="379"/>
                  </a:cubicBezTo>
                  <a:cubicBezTo>
                    <a:pt x="439" y="380"/>
                    <a:pt x="438" y="381"/>
                    <a:pt x="438" y="382"/>
                  </a:cubicBezTo>
                  <a:cubicBezTo>
                    <a:pt x="434" y="387"/>
                    <a:pt x="431" y="393"/>
                    <a:pt x="428" y="399"/>
                  </a:cubicBezTo>
                  <a:cubicBezTo>
                    <a:pt x="427" y="400"/>
                    <a:pt x="426" y="401"/>
                    <a:pt x="426" y="402"/>
                  </a:cubicBezTo>
                  <a:cubicBezTo>
                    <a:pt x="423" y="409"/>
                    <a:pt x="420" y="416"/>
                    <a:pt x="417" y="424"/>
                  </a:cubicBezTo>
                  <a:cubicBezTo>
                    <a:pt x="417" y="426"/>
                    <a:pt x="417" y="427"/>
                    <a:pt x="416" y="429"/>
                  </a:cubicBezTo>
                  <a:cubicBezTo>
                    <a:pt x="414" y="435"/>
                    <a:pt x="413" y="440"/>
                    <a:pt x="411" y="447"/>
                  </a:cubicBezTo>
                  <a:cubicBezTo>
                    <a:pt x="411" y="448"/>
                    <a:pt x="410" y="451"/>
                    <a:pt x="410" y="453"/>
                  </a:cubicBezTo>
                  <a:cubicBezTo>
                    <a:pt x="410" y="460"/>
                    <a:pt x="409" y="468"/>
                    <a:pt x="409" y="476"/>
                  </a:cubicBezTo>
                  <a:cubicBezTo>
                    <a:pt x="409" y="528"/>
                    <a:pt x="432" y="576"/>
                    <a:pt x="472" y="608"/>
                  </a:cubicBezTo>
                  <a:cubicBezTo>
                    <a:pt x="479" y="613"/>
                    <a:pt x="486" y="616"/>
                    <a:pt x="493" y="616"/>
                  </a:cubicBezTo>
                  <a:cubicBezTo>
                    <a:pt x="501" y="616"/>
                    <a:pt x="509" y="613"/>
                    <a:pt x="515" y="608"/>
                  </a:cubicBezTo>
                  <a:cubicBezTo>
                    <a:pt x="555" y="576"/>
                    <a:pt x="579" y="528"/>
                    <a:pt x="579" y="476"/>
                  </a:cubicBezTo>
                  <a:cubicBezTo>
                    <a:pt x="579" y="468"/>
                    <a:pt x="578" y="460"/>
                    <a:pt x="577" y="453"/>
                  </a:cubicBezTo>
                  <a:cubicBezTo>
                    <a:pt x="576" y="451"/>
                    <a:pt x="576" y="448"/>
                    <a:pt x="575" y="447"/>
                  </a:cubicBezTo>
                  <a:cubicBezTo>
                    <a:pt x="575" y="440"/>
                    <a:pt x="574" y="435"/>
                    <a:pt x="572" y="429"/>
                  </a:cubicBezTo>
                  <a:cubicBezTo>
                    <a:pt x="571" y="427"/>
                    <a:pt x="571" y="426"/>
                    <a:pt x="570" y="424"/>
                  </a:cubicBezTo>
                  <a:cubicBezTo>
                    <a:pt x="568" y="416"/>
                    <a:pt x="565" y="409"/>
                    <a:pt x="562" y="402"/>
                  </a:cubicBezTo>
                  <a:cubicBezTo>
                    <a:pt x="561" y="401"/>
                    <a:pt x="560" y="400"/>
                    <a:pt x="560" y="399"/>
                  </a:cubicBezTo>
                  <a:cubicBezTo>
                    <a:pt x="556" y="393"/>
                    <a:pt x="553" y="387"/>
                    <a:pt x="549" y="382"/>
                  </a:cubicBezTo>
                  <a:cubicBezTo>
                    <a:pt x="549" y="381"/>
                    <a:pt x="548" y="380"/>
                    <a:pt x="548" y="379"/>
                  </a:cubicBezTo>
                  <a:cubicBezTo>
                    <a:pt x="558" y="376"/>
                    <a:pt x="568" y="374"/>
                    <a:pt x="579" y="374"/>
                  </a:cubicBezTo>
                  <a:cubicBezTo>
                    <a:pt x="589" y="374"/>
                    <a:pt x="599" y="376"/>
                    <a:pt x="610" y="379"/>
                  </a:cubicBezTo>
                  <a:cubicBezTo>
                    <a:pt x="609" y="380"/>
                    <a:pt x="609" y="381"/>
                    <a:pt x="608" y="382"/>
                  </a:cubicBezTo>
                  <a:cubicBezTo>
                    <a:pt x="604" y="387"/>
                    <a:pt x="601" y="393"/>
                    <a:pt x="598" y="399"/>
                  </a:cubicBezTo>
                  <a:cubicBezTo>
                    <a:pt x="597" y="400"/>
                    <a:pt x="596" y="401"/>
                    <a:pt x="596" y="402"/>
                  </a:cubicBezTo>
                  <a:cubicBezTo>
                    <a:pt x="593" y="409"/>
                    <a:pt x="589" y="416"/>
                    <a:pt x="588" y="424"/>
                  </a:cubicBezTo>
                  <a:cubicBezTo>
                    <a:pt x="587" y="426"/>
                    <a:pt x="587" y="427"/>
                    <a:pt x="586" y="429"/>
                  </a:cubicBezTo>
                  <a:cubicBezTo>
                    <a:pt x="584" y="435"/>
                    <a:pt x="582" y="440"/>
                    <a:pt x="582" y="447"/>
                  </a:cubicBezTo>
                  <a:cubicBezTo>
                    <a:pt x="582" y="448"/>
                    <a:pt x="581" y="451"/>
                    <a:pt x="581" y="453"/>
                  </a:cubicBezTo>
                  <a:cubicBezTo>
                    <a:pt x="580" y="460"/>
                    <a:pt x="579" y="468"/>
                    <a:pt x="579" y="476"/>
                  </a:cubicBezTo>
                  <a:cubicBezTo>
                    <a:pt x="579" y="528"/>
                    <a:pt x="602" y="576"/>
                    <a:pt x="643" y="608"/>
                  </a:cubicBezTo>
                  <a:cubicBezTo>
                    <a:pt x="649" y="613"/>
                    <a:pt x="656" y="616"/>
                    <a:pt x="664" y="616"/>
                  </a:cubicBezTo>
                  <a:cubicBezTo>
                    <a:pt x="672" y="616"/>
                    <a:pt x="679" y="613"/>
                    <a:pt x="685" y="608"/>
                  </a:cubicBezTo>
                  <a:cubicBezTo>
                    <a:pt x="726" y="576"/>
                    <a:pt x="749" y="528"/>
                    <a:pt x="749" y="476"/>
                  </a:cubicBezTo>
                  <a:cubicBezTo>
                    <a:pt x="749" y="468"/>
                    <a:pt x="748" y="460"/>
                    <a:pt x="747" y="453"/>
                  </a:cubicBezTo>
                  <a:cubicBezTo>
                    <a:pt x="747" y="451"/>
                    <a:pt x="747" y="448"/>
                    <a:pt x="746" y="447"/>
                  </a:cubicBezTo>
                  <a:cubicBezTo>
                    <a:pt x="745" y="440"/>
                    <a:pt x="743" y="435"/>
                    <a:pt x="741" y="429"/>
                  </a:cubicBezTo>
                  <a:cubicBezTo>
                    <a:pt x="741" y="427"/>
                    <a:pt x="740" y="426"/>
                    <a:pt x="740" y="424"/>
                  </a:cubicBezTo>
                  <a:cubicBezTo>
                    <a:pt x="738" y="416"/>
                    <a:pt x="735" y="409"/>
                    <a:pt x="732" y="402"/>
                  </a:cubicBezTo>
                  <a:cubicBezTo>
                    <a:pt x="731" y="401"/>
                    <a:pt x="730" y="400"/>
                    <a:pt x="729" y="399"/>
                  </a:cubicBezTo>
                  <a:cubicBezTo>
                    <a:pt x="727" y="393"/>
                    <a:pt x="723" y="387"/>
                    <a:pt x="720" y="382"/>
                  </a:cubicBezTo>
                  <a:cubicBezTo>
                    <a:pt x="719" y="381"/>
                    <a:pt x="719" y="380"/>
                    <a:pt x="718" y="379"/>
                  </a:cubicBezTo>
                  <a:cubicBezTo>
                    <a:pt x="728" y="376"/>
                    <a:pt x="738" y="374"/>
                    <a:pt x="749" y="374"/>
                  </a:cubicBezTo>
                  <a:close/>
                  <a:moveTo>
                    <a:pt x="579" y="68"/>
                  </a:moveTo>
                  <a:cubicBezTo>
                    <a:pt x="860" y="68"/>
                    <a:pt x="1089" y="297"/>
                    <a:pt x="1089" y="578"/>
                  </a:cubicBezTo>
                  <a:cubicBezTo>
                    <a:pt x="1089" y="738"/>
                    <a:pt x="1013" y="890"/>
                    <a:pt x="884" y="986"/>
                  </a:cubicBezTo>
                  <a:lnTo>
                    <a:pt x="715" y="986"/>
                  </a:lnTo>
                  <a:lnTo>
                    <a:pt x="715" y="764"/>
                  </a:lnTo>
                  <a:lnTo>
                    <a:pt x="834" y="665"/>
                  </a:lnTo>
                  <a:cubicBezTo>
                    <a:pt x="888" y="620"/>
                    <a:pt x="919" y="554"/>
                    <a:pt x="919" y="484"/>
                  </a:cubicBezTo>
                  <a:cubicBezTo>
                    <a:pt x="919" y="387"/>
                    <a:pt x="841" y="306"/>
                    <a:pt x="749" y="306"/>
                  </a:cubicBezTo>
                  <a:cubicBezTo>
                    <a:pt x="719" y="306"/>
                    <a:pt x="690" y="315"/>
                    <a:pt x="664" y="330"/>
                  </a:cubicBezTo>
                  <a:cubicBezTo>
                    <a:pt x="637" y="315"/>
                    <a:pt x="608" y="307"/>
                    <a:pt x="579" y="307"/>
                  </a:cubicBezTo>
                  <a:cubicBezTo>
                    <a:pt x="550" y="307"/>
                    <a:pt x="520" y="315"/>
                    <a:pt x="494" y="330"/>
                  </a:cubicBezTo>
                  <a:cubicBezTo>
                    <a:pt x="468" y="315"/>
                    <a:pt x="439" y="306"/>
                    <a:pt x="409" y="306"/>
                  </a:cubicBezTo>
                  <a:cubicBezTo>
                    <a:pt x="316" y="306"/>
                    <a:pt x="238" y="387"/>
                    <a:pt x="238" y="484"/>
                  </a:cubicBezTo>
                  <a:cubicBezTo>
                    <a:pt x="238" y="554"/>
                    <a:pt x="270" y="620"/>
                    <a:pt x="323" y="665"/>
                  </a:cubicBezTo>
                  <a:lnTo>
                    <a:pt x="443" y="764"/>
                  </a:lnTo>
                  <a:lnTo>
                    <a:pt x="443" y="986"/>
                  </a:lnTo>
                  <a:lnTo>
                    <a:pt x="273" y="986"/>
                  </a:lnTo>
                  <a:cubicBezTo>
                    <a:pt x="145" y="890"/>
                    <a:pt x="68" y="738"/>
                    <a:pt x="68" y="578"/>
                  </a:cubicBezTo>
                  <a:cubicBezTo>
                    <a:pt x="68" y="297"/>
                    <a:pt x="298" y="68"/>
                    <a:pt x="579" y="68"/>
                  </a:cubicBezTo>
                  <a:close/>
                  <a:moveTo>
                    <a:pt x="885" y="1054"/>
                  </a:moveTo>
                  <a:cubicBezTo>
                    <a:pt x="904" y="1055"/>
                    <a:pt x="919" y="1070"/>
                    <a:pt x="919" y="1088"/>
                  </a:cubicBezTo>
                  <a:cubicBezTo>
                    <a:pt x="919" y="1107"/>
                    <a:pt x="904" y="1122"/>
                    <a:pt x="885" y="1122"/>
                  </a:cubicBezTo>
                  <a:lnTo>
                    <a:pt x="272" y="1122"/>
                  </a:lnTo>
                  <a:cubicBezTo>
                    <a:pt x="254" y="1122"/>
                    <a:pt x="238" y="1107"/>
                    <a:pt x="238" y="1088"/>
                  </a:cubicBezTo>
                  <a:cubicBezTo>
                    <a:pt x="238" y="1070"/>
                    <a:pt x="254" y="1054"/>
                    <a:pt x="272" y="1054"/>
                  </a:cubicBezTo>
                  <a:close/>
                  <a:moveTo>
                    <a:pt x="885" y="1190"/>
                  </a:moveTo>
                  <a:cubicBezTo>
                    <a:pt x="904" y="1190"/>
                    <a:pt x="919" y="1206"/>
                    <a:pt x="919" y="1224"/>
                  </a:cubicBezTo>
                  <a:cubicBezTo>
                    <a:pt x="919" y="1244"/>
                    <a:pt x="904" y="1259"/>
                    <a:pt x="885" y="1259"/>
                  </a:cubicBezTo>
                  <a:lnTo>
                    <a:pt x="272" y="1259"/>
                  </a:lnTo>
                  <a:cubicBezTo>
                    <a:pt x="254" y="1259"/>
                    <a:pt x="238" y="1244"/>
                    <a:pt x="238" y="1224"/>
                  </a:cubicBezTo>
                  <a:cubicBezTo>
                    <a:pt x="238" y="1206"/>
                    <a:pt x="254" y="1190"/>
                    <a:pt x="272" y="1190"/>
                  </a:cubicBezTo>
                  <a:close/>
                  <a:moveTo>
                    <a:pt x="885" y="1327"/>
                  </a:moveTo>
                  <a:cubicBezTo>
                    <a:pt x="904" y="1327"/>
                    <a:pt x="919" y="1341"/>
                    <a:pt x="919" y="1361"/>
                  </a:cubicBezTo>
                  <a:cubicBezTo>
                    <a:pt x="919" y="1379"/>
                    <a:pt x="904" y="1395"/>
                    <a:pt x="885" y="1395"/>
                  </a:cubicBezTo>
                  <a:lnTo>
                    <a:pt x="272" y="1395"/>
                  </a:lnTo>
                  <a:cubicBezTo>
                    <a:pt x="254" y="1395"/>
                    <a:pt x="238" y="1379"/>
                    <a:pt x="238" y="1361"/>
                  </a:cubicBezTo>
                  <a:cubicBezTo>
                    <a:pt x="238" y="1341"/>
                    <a:pt x="254" y="1327"/>
                    <a:pt x="272" y="1327"/>
                  </a:cubicBezTo>
                  <a:close/>
                  <a:moveTo>
                    <a:pt x="851" y="1463"/>
                  </a:moveTo>
                  <a:lnTo>
                    <a:pt x="851" y="1637"/>
                  </a:lnTo>
                  <a:lnTo>
                    <a:pt x="802" y="1604"/>
                  </a:lnTo>
                  <a:cubicBezTo>
                    <a:pt x="796" y="1600"/>
                    <a:pt x="789" y="1598"/>
                    <a:pt x="783" y="1598"/>
                  </a:cubicBezTo>
                  <a:cubicBezTo>
                    <a:pt x="776" y="1598"/>
                    <a:pt x="770" y="1600"/>
                    <a:pt x="764" y="1604"/>
                  </a:cubicBezTo>
                  <a:lnTo>
                    <a:pt x="681" y="1660"/>
                  </a:lnTo>
                  <a:lnTo>
                    <a:pt x="597" y="1604"/>
                  </a:lnTo>
                  <a:cubicBezTo>
                    <a:pt x="592" y="1600"/>
                    <a:pt x="585" y="1598"/>
                    <a:pt x="579" y="1598"/>
                  </a:cubicBezTo>
                  <a:cubicBezTo>
                    <a:pt x="572" y="1598"/>
                    <a:pt x="565" y="1600"/>
                    <a:pt x="560" y="1604"/>
                  </a:cubicBezTo>
                  <a:lnTo>
                    <a:pt x="477" y="1660"/>
                  </a:lnTo>
                  <a:lnTo>
                    <a:pt x="394" y="1604"/>
                  </a:lnTo>
                  <a:cubicBezTo>
                    <a:pt x="388" y="1600"/>
                    <a:pt x="382" y="1598"/>
                    <a:pt x="375" y="1598"/>
                  </a:cubicBezTo>
                  <a:cubicBezTo>
                    <a:pt x="368" y="1598"/>
                    <a:pt x="362" y="1600"/>
                    <a:pt x="355" y="1604"/>
                  </a:cubicBezTo>
                  <a:lnTo>
                    <a:pt x="307" y="1637"/>
                  </a:lnTo>
                  <a:lnTo>
                    <a:pt x="307" y="1463"/>
                  </a:lnTo>
                  <a:close/>
                  <a:moveTo>
                    <a:pt x="782" y="1673"/>
                  </a:moveTo>
                  <a:lnTo>
                    <a:pt x="831" y="1706"/>
                  </a:lnTo>
                  <a:lnTo>
                    <a:pt x="700" y="1837"/>
                  </a:lnTo>
                  <a:lnTo>
                    <a:pt x="457" y="1837"/>
                  </a:lnTo>
                  <a:lnTo>
                    <a:pt x="326" y="1706"/>
                  </a:lnTo>
                  <a:lnTo>
                    <a:pt x="375" y="1673"/>
                  </a:lnTo>
                  <a:lnTo>
                    <a:pt x="458" y="1729"/>
                  </a:lnTo>
                  <a:cubicBezTo>
                    <a:pt x="463" y="1733"/>
                    <a:pt x="470" y="1735"/>
                    <a:pt x="476" y="1735"/>
                  </a:cubicBezTo>
                  <a:cubicBezTo>
                    <a:pt x="483" y="1735"/>
                    <a:pt x="489" y="1733"/>
                    <a:pt x="495" y="1729"/>
                  </a:cubicBezTo>
                  <a:lnTo>
                    <a:pt x="579" y="1673"/>
                  </a:lnTo>
                  <a:lnTo>
                    <a:pt x="662" y="1729"/>
                  </a:lnTo>
                  <a:cubicBezTo>
                    <a:pt x="668" y="1733"/>
                    <a:pt x="674" y="1735"/>
                    <a:pt x="681" y="1735"/>
                  </a:cubicBezTo>
                  <a:cubicBezTo>
                    <a:pt x="687" y="1735"/>
                    <a:pt x="694" y="1733"/>
                    <a:pt x="699" y="1729"/>
                  </a:cubicBezTo>
                  <a:lnTo>
                    <a:pt x="782" y="1673"/>
                  </a:lnTo>
                  <a:close/>
                  <a:moveTo>
                    <a:pt x="633" y="1905"/>
                  </a:moveTo>
                  <a:lnTo>
                    <a:pt x="579" y="1959"/>
                  </a:lnTo>
                  <a:lnTo>
                    <a:pt x="525" y="1905"/>
                  </a:lnTo>
                  <a:close/>
                  <a:moveTo>
                    <a:pt x="579" y="0"/>
                  </a:moveTo>
                  <a:cubicBezTo>
                    <a:pt x="260" y="0"/>
                    <a:pt x="1" y="260"/>
                    <a:pt x="1" y="578"/>
                  </a:cubicBezTo>
                  <a:cubicBezTo>
                    <a:pt x="1" y="747"/>
                    <a:pt x="75" y="906"/>
                    <a:pt x="202" y="1016"/>
                  </a:cubicBezTo>
                  <a:cubicBezTo>
                    <a:pt x="183" y="1034"/>
                    <a:pt x="170" y="1060"/>
                    <a:pt x="170" y="1088"/>
                  </a:cubicBezTo>
                  <a:cubicBezTo>
                    <a:pt x="170" y="1114"/>
                    <a:pt x="181" y="1138"/>
                    <a:pt x="197" y="1156"/>
                  </a:cubicBezTo>
                  <a:cubicBezTo>
                    <a:pt x="181" y="1175"/>
                    <a:pt x="170" y="1198"/>
                    <a:pt x="170" y="1224"/>
                  </a:cubicBezTo>
                  <a:cubicBezTo>
                    <a:pt x="170" y="1251"/>
                    <a:pt x="181" y="1274"/>
                    <a:pt x="197" y="1293"/>
                  </a:cubicBezTo>
                  <a:cubicBezTo>
                    <a:pt x="181" y="1311"/>
                    <a:pt x="170" y="1335"/>
                    <a:pt x="170" y="1361"/>
                  </a:cubicBezTo>
                  <a:cubicBezTo>
                    <a:pt x="170" y="1405"/>
                    <a:pt x="199" y="1442"/>
                    <a:pt x="238" y="1457"/>
                  </a:cubicBezTo>
                  <a:lnTo>
                    <a:pt x="238" y="1700"/>
                  </a:lnTo>
                  <a:cubicBezTo>
                    <a:pt x="238" y="1710"/>
                    <a:pt x="242" y="1719"/>
                    <a:pt x="249" y="1725"/>
                  </a:cubicBezTo>
                  <a:lnTo>
                    <a:pt x="555" y="2031"/>
                  </a:lnTo>
                  <a:cubicBezTo>
                    <a:pt x="562" y="2037"/>
                    <a:pt x="570" y="2041"/>
                    <a:pt x="579" y="2041"/>
                  </a:cubicBezTo>
                  <a:cubicBezTo>
                    <a:pt x="588" y="2041"/>
                    <a:pt x="596" y="2037"/>
                    <a:pt x="603" y="2031"/>
                  </a:cubicBezTo>
                  <a:lnTo>
                    <a:pt x="909" y="1725"/>
                  </a:lnTo>
                  <a:cubicBezTo>
                    <a:pt x="915" y="1719"/>
                    <a:pt x="919" y="1710"/>
                    <a:pt x="919" y="1700"/>
                  </a:cubicBezTo>
                  <a:lnTo>
                    <a:pt x="919" y="1457"/>
                  </a:lnTo>
                  <a:cubicBezTo>
                    <a:pt x="959" y="1442"/>
                    <a:pt x="987" y="1405"/>
                    <a:pt x="987" y="1361"/>
                  </a:cubicBezTo>
                  <a:cubicBezTo>
                    <a:pt x="987" y="1335"/>
                    <a:pt x="976" y="1311"/>
                    <a:pt x="961" y="1293"/>
                  </a:cubicBezTo>
                  <a:cubicBezTo>
                    <a:pt x="977" y="1274"/>
                    <a:pt x="987" y="1251"/>
                    <a:pt x="987" y="1224"/>
                  </a:cubicBezTo>
                  <a:cubicBezTo>
                    <a:pt x="987" y="1198"/>
                    <a:pt x="976" y="1175"/>
                    <a:pt x="961" y="1156"/>
                  </a:cubicBezTo>
                  <a:cubicBezTo>
                    <a:pt x="977" y="1138"/>
                    <a:pt x="987" y="1114"/>
                    <a:pt x="987" y="1088"/>
                  </a:cubicBezTo>
                  <a:cubicBezTo>
                    <a:pt x="987" y="1060"/>
                    <a:pt x="975" y="1034"/>
                    <a:pt x="956" y="1016"/>
                  </a:cubicBezTo>
                  <a:cubicBezTo>
                    <a:pt x="1083" y="906"/>
                    <a:pt x="1157" y="747"/>
                    <a:pt x="1157" y="578"/>
                  </a:cubicBezTo>
                  <a:cubicBezTo>
                    <a:pt x="1157" y="260"/>
                    <a:pt x="898" y="0"/>
                    <a:pt x="579" y="0"/>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6;p22">
              <a:extLst>
                <a:ext uri="{FF2B5EF4-FFF2-40B4-BE49-F238E27FC236}">
                  <a16:creationId xmlns:a16="http://schemas.microsoft.com/office/drawing/2014/main" xmlns="" id="{54DF1C15-E56E-4AF2-A2B9-329D81C342D4}"/>
                </a:ext>
              </a:extLst>
            </p:cNvPr>
            <p:cNvSpPr/>
            <p:nvPr/>
          </p:nvSpPr>
          <p:spPr>
            <a:xfrm>
              <a:off x="6173052" y="1587981"/>
              <a:ext cx="18445" cy="18545"/>
            </a:xfrm>
            <a:custGeom>
              <a:avLst/>
              <a:gdLst/>
              <a:ahLst/>
              <a:cxnLst/>
              <a:rect l="l" t="t" r="r" b="b"/>
              <a:pathLst>
                <a:path w="185" h="186" extrusionOk="0">
                  <a:moveTo>
                    <a:pt x="137" y="1"/>
                  </a:moveTo>
                  <a:lnTo>
                    <a:pt x="0" y="137"/>
                  </a:lnTo>
                  <a:lnTo>
                    <a:pt x="49" y="185"/>
                  </a:lnTo>
                  <a:lnTo>
                    <a:pt x="185" y="49"/>
                  </a:lnTo>
                  <a:lnTo>
                    <a:pt x="137"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797;p22">
              <a:extLst>
                <a:ext uri="{FF2B5EF4-FFF2-40B4-BE49-F238E27FC236}">
                  <a16:creationId xmlns:a16="http://schemas.microsoft.com/office/drawing/2014/main" xmlns="" id="{2781B860-C702-403C-AF62-CC672CD183CA}"/>
                </a:ext>
              </a:extLst>
            </p:cNvPr>
            <p:cNvSpPr/>
            <p:nvPr/>
          </p:nvSpPr>
          <p:spPr>
            <a:xfrm>
              <a:off x="6173052" y="1682996"/>
              <a:ext cx="18445" cy="18445"/>
            </a:xfrm>
            <a:custGeom>
              <a:avLst/>
              <a:gdLst/>
              <a:ahLst/>
              <a:cxnLst/>
              <a:rect l="l" t="t" r="r" b="b"/>
              <a:pathLst>
                <a:path w="185" h="185" extrusionOk="0">
                  <a:moveTo>
                    <a:pt x="49" y="1"/>
                  </a:moveTo>
                  <a:lnTo>
                    <a:pt x="0" y="49"/>
                  </a:lnTo>
                  <a:lnTo>
                    <a:pt x="137" y="185"/>
                  </a:lnTo>
                  <a:lnTo>
                    <a:pt x="185" y="137"/>
                  </a:lnTo>
                  <a:lnTo>
                    <a:pt x="49"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798;p22">
              <a:extLst>
                <a:ext uri="{FF2B5EF4-FFF2-40B4-BE49-F238E27FC236}">
                  <a16:creationId xmlns:a16="http://schemas.microsoft.com/office/drawing/2014/main" xmlns="" id="{C4A6F01E-54A4-4576-B6DB-D5CCC5E62EE7}"/>
                </a:ext>
              </a:extLst>
            </p:cNvPr>
            <p:cNvSpPr/>
            <p:nvPr/>
          </p:nvSpPr>
          <p:spPr>
            <a:xfrm>
              <a:off x="6189104" y="1641321"/>
              <a:ext cx="20439" cy="6879"/>
            </a:xfrm>
            <a:custGeom>
              <a:avLst/>
              <a:gdLst/>
              <a:ahLst/>
              <a:cxnLst/>
              <a:rect l="l" t="t" r="r" b="b"/>
              <a:pathLst>
                <a:path w="205" h="69" extrusionOk="0">
                  <a:moveTo>
                    <a:pt x="0" y="0"/>
                  </a:moveTo>
                  <a:lnTo>
                    <a:pt x="0" y="68"/>
                  </a:lnTo>
                  <a:lnTo>
                    <a:pt x="204" y="68"/>
                  </a:lnTo>
                  <a:lnTo>
                    <a:pt x="204"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799;p22">
              <a:extLst>
                <a:ext uri="{FF2B5EF4-FFF2-40B4-BE49-F238E27FC236}">
                  <a16:creationId xmlns:a16="http://schemas.microsoft.com/office/drawing/2014/main" xmlns="" id="{60A4B3C1-A0BF-4086-B642-F81761F4040B}"/>
                </a:ext>
              </a:extLst>
            </p:cNvPr>
            <p:cNvSpPr/>
            <p:nvPr/>
          </p:nvSpPr>
          <p:spPr>
            <a:xfrm>
              <a:off x="6051017" y="1587981"/>
              <a:ext cx="18445" cy="18545"/>
            </a:xfrm>
            <a:custGeom>
              <a:avLst/>
              <a:gdLst/>
              <a:ahLst/>
              <a:cxnLst/>
              <a:rect l="l" t="t" r="r" b="b"/>
              <a:pathLst>
                <a:path w="185" h="186" extrusionOk="0">
                  <a:moveTo>
                    <a:pt x="48" y="1"/>
                  </a:moveTo>
                  <a:lnTo>
                    <a:pt x="0" y="49"/>
                  </a:lnTo>
                  <a:lnTo>
                    <a:pt x="137" y="185"/>
                  </a:lnTo>
                  <a:lnTo>
                    <a:pt x="185" y="137"/>
                  </a:lnTo>
                  <a:lnTo>
                    <a:pt x="48"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00;p22">
              <a:extLst>
                <a:ext uri="{FF2B5EF4-FFF2-40B4-BE49-F238E27FC236}">
                  <a16:creationId xmlns:a16="http://schemas.microsoft.com/office/drawing/2014/main" xmlns="" id="{756A6A6A-5478-4B8A-AFAF-C67C3696FF97}"/>
                </a:ext>
              </a:extLst>
            </p:cNvPr>
            <p:cNvSpPr/>
            <p:nvPr/>
          </p:nvSpPr>
          <p:spPr>
            <a:xfrm>
              <a:off x="6051017" y="1682996"/>
              <a:ext cx="18445" cy="18445"/>
            </a:xfrm>
            <a:custGeom>
              <a:avLst/>
              <a:gdLst/>
              <a:ahLst/>
              <a:cxnLst/>
              <a:rect l="l" t="t" r="r" b="b"/>
              <a:pathLst>
                <a:path w="185" h="185" extrusionOk="0">
                  <a:moveTo>
                    <a:pt x="137" y="1"/>
                  </a:moveTo>
                  <a:lnTo>
                    <a:pt x="0" y="137"/>
                  </a:lnTo>
                  <a:lnTo>
                    <a:pt x="48" y="185"/>
                  </a:lnTo>
                  <a:lnTo>
                    <a:pt x="185" y="49"/>
                  </a:lnTo>
                  <a:lnTo>
                    <a:pt x="137"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01;p22">
              <a:extLst>
                <a:ext uri="{FF2B5EF4-FFF2-40B4-BE49-F238E27FC236}">
                  <a16:creationId xmlns:a16="http://schemas.microsoft.com/office/drawing/2014/main" xmlns="" id="{D1942A59-86D0-49F2-BD78-B4768AC92A47}"/>
                </a:ext>
              </a:extLst>
            </p:cNvPr>
            <p:cNvSpPr/>
            <p:nvPr/>
          </p:nvSpPr>
          <p:spPr>
            <a:xfrm>
              <a:off x="6033071" y="1641321"/>
              <a:ext cx="20439" cy="6879"/>
            </a:xfrm>
            <a:custGeom>
              <a:avLst/>
              <a:gdLst/>
              <a:ahLst/>
              <a:cxnLst/>
              <a:rect l="l" t="t" r="r" b="b"/>
              <a:pathLst>
                <a:path w="205" h="69" extrusionOk="0">
                  <a:moveTo>
                    <a:pt x="0" y="0"/>
                  </a:moveTo>
                  <a:lnTo>
                    <a:pt x="0" y="68"/>
                  </a:lnTo>
                  <a:lnTo>
                    <a:pt x="205" y="68"/>
                  </a:lnTo>
                  <a:lnTo>
                    <a:pt x="205"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02;p22">
              <a:extLst>
                <a:ext uri="{FF2B5EF4-FFF2-40B4-BE49-F238E27FC236}">
                  <a16:creationId xmlns:a16="http://schemas.microsoft.com/office/drawing/2014/main" xmlns="" id="{826A9CDF-D2C4-45E1-AE82-2A77364AD582}"/>
                </a:ext>
              </a:extLst>
            </p:cNvPr>
            <p:cNvSpPr/>
            <p:nvPr/>
          </p:nvSpPr>
          <p:spPr>
            <a:xfrm>
              <a:off x="6161885" y="1749895"/>
              <a:ext cx="6879" cy="6780"/>
            </a:xfrm>
            <a:custGeom>
              <a:avLst/>
              <a:gdLst/>
              <a:ahLst/>
              <a:cxnLst/>
              <a:rect l="l" t="t" r="r" b="b"/>
              <a:pathLst>
                <a:path w="69" h="68" extrusionOk="0">
                  <a:moveTo>
                    <a:pt x="1" y="0"/>
                  </a:moveTo>
                  <a:lnTo>
                    <a:pt x="1" y="67"/>
                  </a:lnTo>
                  <a:lnTo>
                    <a:pt x="69" y="67"/>
                  </a:lnTo>
                  <a:lnTo>
                    <a:pt x="69"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03;p22">
              <a:extLst>
                <a:ext uri="{FF2B5EF4-FFF2-40B4-BE49-F238E27FC236}">
                  <a16:creationId xmlns:a16="http://schemas.microsoft.com/office/drawing/2014/main" xmlns="" id="{76409052-CD46-4204-8772-6164A448B7BF}"/>
                </a:ext>
              </a:extLst>
            </p:cNvPr>
            <p:cNvSpPr/>
            <p:nvPr/>
          </p:nvSpPr>
          <p:spPr>
            <a:xfrm>
              <a:off x="6175445" y="1749895"/>
              <a:ext cx="6979" cy="6780"/>
            </a:xfrm>
            <a:custGeom>
              <a:avLst/>
              <a:gdLst/>
              <a:ahLst/>
              <a:cxnLst/>
              <a:rect l="l" t="t" r="r" b="b"/>
              <a:pathLst>
                <a:path w="70" h="68" extrusionOk="0">
                  <a:moveTo>
                    <a:pt x="1" y="0"/>
                  </a:moveTo>
                  <a:lnTo>
                    <a:pt x="1" y="67"/>
                  </a:lnTo>
                  <a:lnTo>
                    <a:pt x="69" y="67"/>
                  </a:lnTo>
                  <a:lnTo>
                    <a:pt x="69"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04;p22">
              <a:extLst>
                <a:ext uri="{FF2B5EF4-FFF2-40B4-BE49-F238E27FC236}">
                  <a16:creationId xmlns:a16="http://schemas.microsoft.com/office/drawing/2014/main" xmlns="" id="{3446ABB1-2DB3-422E-A19E-942988900343}"/>
                </a:ext>
              </a:extLst>
            </p:cNvPr>
            <p:cNvSpPr/>
            <p:nvPr/>
          </p:nvSpPr>
          <p:spPr>
            <a:xfrm>
              <a:off x="6189104" y="1749895"/>
              <a:ext cx="6879" cy="6780"/>
            </a:xfrm>
            <a:custGeom>
              <a:avLst/>
              <a:gdLst/>
              <a:ahLst/>
              <a:cxnLst/>
              <a:rect l="l" t="t" r="r" b="b"/>
              <a:pathLst>
                <a:path w="69" h="68" extrusionOk="0">
                  <a:moveTo>
                    <a:pt x="0" y="0"/>
                  </a:moveTo>
                  <a:lnTo>
                    <a:pt x="0" y="67"/>
                  </a:lnTo>
                  <a:lnTo>
                    <a:pt x="68" y="67"/>
                  </a:lnTo>
                  <a:lnTo>
                    <a:pt x="68"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05;p22">
              <a:extLst>
                <a:ext uri="{FF2B5EF4-FFF2-40B4-BE49-F238E27FC236}">
                  <a16:creationId xmlns:a16="http://schemas.microsoft.com/office/drawing/2014/main" xmlns="" id="{891D1975-3D3A-4978-B241-81FB9F361FB8}"/>
                </a:ext>
              </a:extLst>
            </p:cNvPr>
            <p:cNvSpPr/>
            <p:nvPr/>
          </p:nvSpPr>
          <p:spPr>
            <a:xfrm>
              <a:off x="6046630" y="1749895"/>
              <a:ext cx="6879" cy="6780"/>
            </a:xfrm>
            <a:custGeom>
              <a:avLst/>
              <a:gdLst/>
              <a:ahLst/>
              <a:cxnLst/>
              <a:rect l="l" t="t" r="r" b="b"/>
              <a:pathLst>
                <a:path w="69" h="68" extrusionOk="0">
                  <a:moveTo>
                    <a:pt x="1" y="0"/>
                  </a:moveTo>
                  <a:lnTo>
                    <a:pt x="1" y="67"/>
                  </a:lnTo>
                  <a:lnTo>
                    <a:pt x="69" y="67"/>
                  </a:lnTo>
                  <a:lnTo>
                    <a:pt x="69"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06;p22">
              <a:extLst>
                <a:ext uri="{FF2B5EF4-FFF2-40B4-BE49-F238E27FC236}">
                  <a16:creationId xmlns:a16="http://schemas.microsoft.com/office/drawing/2014/main" xmlns="" id="{6364FB01-22AD-473E-B730-ABF98972C441}"/>
                </a:ext>
              </a:extLst>
            </p:cNvPr>
            <p:cNvSpPr/>
            <p:nvPr/>
          </p:nvSpPr>
          <p:spPr>
            <a:xfrm>
              <a:off x="6060190" y="1749895"/>
              <a:ext cx="6879" cy="6780"/>
            </a:xfrm>
            <a:custGeom>
              <a:avLst/>
              <a:gdLst/>
              <a:ahLst/>
              <a:cxnLst/>
              <a:rect l="l" t="t" r="r" b="b"/>
              <a:pathLst>
                <a:path w="69" h="68" extrusionOk="0">
                  <a:moveTo>
                    <a:pt x="1" y="0"/>
                  </a:moveTo>
                  <a:lnTo>
                    <a:pt x="1" y="67"/>
                  </a:lnTo>
                  <a:lnTo>
                    <a:pt x="68" y="67"/>
                  </a:lnTo>
                  <a:lnTo>
                    <a:pt x="68"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807;p22">
              <a:extLst>
                <a:ext uri="{FF2B5EF4-FFF2-40B4-BE49-F238E27FC236}">
                  <a16:creationId xmlns:a16="http://schemas.microsoft.com/office/drawing/2014/main" xmlns="" id="{09C5B61D-854D-4C5B-AE3F-E9BDAB079A0C}"/>
                </a:ext>
              </a:extLst>
            </p:cNvPr>
            <p:cNvSpPr/>
            <p:nvPr/>
          </p:nvSpPr>
          <p:spPr>
            <a:xfrm>
              <a:off x="6073749" y="1749895"/>
              <a:ext cx="6879" cy="6780"/>
            </a:xfrm>
            <a:custGeom>
              <a:avLst/>
              <a:gdLst/>
              <a:ahLst/>
              <a:cxnLst/>
              <a:rect l="l" t="t" r="r" b="b"/>
              <a:pathLst>
                <a:path w="69" h="68" extrusionOk="0">
                  <a:moveTo>
                    <a:pt x="0" y="0"/>
                  </a:moveTo>
                  <a:lnTo>
                    <a:pt x="0" y="67"/>
                  </a:lnTo>
                  <a:lnTo>
                    <a:pt x="68" y="67"/>
                  </a:lnTo>
                  <a:lnTo>
                    <a:pt x="68"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808;p22">
            <a:extLst>
              <a:ext uri="{FF2B5EF4-FFF2-40B4-BE49-F238E27FC236}">
                <a16:creationId xmlns:a16="http://schemas.microsoft.com/office/drawing/2014/main" xmlns="" id="{32E4507C-77F2-4DAB-A12A-9C12088B9F23}"/>
              </a:ext>
            </a:extLst>
          </p:cNvPr>
          <p:cNvGrpSpPr/>
          <p:nvPr/>
        </p:nvGrpSpPr>
        <p:grpSpPr>
          <a:xfrm>
            <a:off x="15369893" y="3127384"/>
            <a:ext cx="257582" cy="253621"/>
            <a:chOff x="6252315" y="2481197"/>
            <a:chExt cx="191727" cy="185245"/>
          </a:xfrm>
        </p:grpSpPr>
        <p:sp>
          <p:nvSpPr>
            <p:cNvPr id="92" name="Google Shape;809;p22">
              <a:extLst>
                <a:ext uri="{FF2B5EF4-FFF2-40B4-BE49-F238E27FC236}">
                  <a16:creationId xmlns:a16="http://schemas.microsoft.com/office/drawing/2014/main" xmlns="" id="{BFF42C2C-62E0-4534-8F7D-95FC8A992471}"/>
                </a:ext>
              </a:extLst>
            </p:cNvPr>
            <p:cNvSpPr/>
            <p:nvPr/>
          </p:nvSpPr>
          <p:spPr>
            <a:xfrm>
              <a:off x="6252315" y="2542014"/>
              <a:ext cx="165606" cy="82354"/>
            </a:xfrm>
            <a:custGeom>
              <a:avLst/>
              <a:gdLst/>
              <a:ahLst/>
              <a:cxnLst/>
              <a:rect l="l" t="t" r="r" b="b"/>
              <a:pathLst>
                <a:path w="1661" h="826" extrusionOk="0">
                  <a:moveTo>
                    <a:pt x="28" y="1"/>
                  </a:moveTo>
                  <a:cubicBezTo>
                    <a:pt x="13" y="1"/>
                    <a:pt x="1" y="13"/>
                    <a:pt x="1" y="28"/>
                  </a:cubicBezTo>
                  <a:lnTo>
                    <a:pt x="1" y="799"/>
                  </a:lnTo>
                  <a:cubicBezTo>
                    <a:pt x="1" y="814"/>
                    <a:pt x="13" y="826"/>
                    <a:pt x="28" y="826"/>
                  </a:cubicBezTo>
                  <a:lnTo>
                    <a:pt x="1119" y="826"/>
                  </a:lnTo>
                  <a:cubicBezTo>
                    <a:pt x="1135" y="826"/>
                    <a:pt x="1147" y="814"/>
                    <a:pt x="1147" y="799"/>
                  </a:cubicBezTo>
                  <a:cubicBezTo>
                    <a:pt x="1147" y="783"/>
                    <a:pt x="1135" y="771"/>
                    <a:pt x="1119" y="771"/>
                  </a:cubicBezTo>
                  <a:lnTo>
                    <a:pt x="56" y="771"/>
                  </a:lnTo>
                  <a:lnTo>
                    <a:pt x="56" y="56"/>
                  </a:lnTo>
                  <a:lnTo>
                    <a:pt x="1606" y="56"/>
                  </a:lnTo>
                  <a:lnTo>
                    <a:pt x="1606" y="125"/>
                  </a:lnTo>
                  <a:cubicBezTo>
                    <a:pt x="1606" y="139"/>
                    <a:pt x="1618" y="152"/>
                    <a:pt x="1634" y="152"/>
                  </a:cubicBezTo>
                  <a:cubicBezTo>
                    <a:pt x="1649" y="152"/>
                    <a:pt x="1661" y="139"/>
                    <a:pt x="1661" y="125"/>
                  </a:cubicBezTo>
                  <a:lnTo>
                    <a:pt x="1661" y="28"/>
                  </a:lnTo>
                  <a:cubicBezTo>
                    <a:pt x="1661" y="13"/>
                    <a:pt x="1649" y="1"/>
                    <a:pt x="1634" y="1"/>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810;p22">
              <a:extLst>
                <a:ext uri="{FF2B5EF4-FFF2-40B4-BE49-F238E27FC236}">
                  <a16:creationId xmlns:a16="http://schemas.microsoft.com/office/drawing/2014/main" xmlns="" id="{B98A4785-56ED-499B-A0F7-9609DD858A21}"/>
                </a:ext>
              </a:extLst>
            </p:cNvPr>
            <p:cNvSpPr/>
            <p:nvPr/>
          </p:nvSpPr>
          <p:spPr>
            <a:xfrm>
              <a:off x="6258496" y="2500439"/>
              <a:ext cx="140281" cy="34397"/>
            </a:xfrm>
            <a:custGeom>
              <a:avLst/>
              <a:gdLst/>
              <a:ahLst/>
              <a:cxnLst/>
              <a:rect l="l" t="t" r="r" b="b"/>
              <a:pathLst>
                <a:path w="1407" h="345" extrusionOk="0">
                  <a:moveTo>
                    <a:pt x="94" y="0"/>
                  </a:moveTo>
                  <a:cubicBezTo>
                    <a:pt x="89" y="0"/>
                    <a:pt x="85" y="2"/>
                    <a:pt x="80" y="5"/>
                  </a:cubicBezTo>
                  <a:cubicBezTo>
                    <a:pt x="74" y="8"/>
                    <a:pt x="69" y="14"/>
                    <a:pt x="68" y="21"/>
                  </a:cubicBezTo>
                  <a:lnTo>
                    <a:pt x="4" y="310"/>
                  </a:lnTo>
                  <a:cubicBezTo>
                    <a:pt x="0" y="325"/>
                    <a:pt x="10" y="340"/>
                    <a:pt x="24" y="343"/>
                  </a:cubicBezTo>
                  <a:cubicBezTo>
                    <a:pt x="27" y="344"/>
                    <a:pt x="29" y="344"/>
                    <a:pt x="31" y="344"/>
                  </a:cubicBezTo>
                  <a:cubicBezTo>
                    <a:pt x="43" y="344"/>
                    <a:pt x="55" y="335"/>
                    <a:pt x="58" y="322"/>
                  </a:cubicBezTo>
                  <a:lnTo>
                    <a:pt x="115" y="61"/>
                  </a:lnTo>
                  <a:lnTo>
                    <a:pt x="1373" y="343"/>
                  </a:lnTo>
                  <a:cubicBezTo>
                    <a:pt x="1374" y="343"/>
                    <a:pt x="1377" y="344"/>
                    <a:pt x="1379" y="344"/>
                  </a:cubicBezTo>
                  <a:cubicBezTo>
                    <a:pt x="1394" y="344"/>
                    <a:pt x="1407" y="332"/>
                    <a:pt x="1407" y="316"/>
                  </a:cubicBezTo>
                  <a:cubicBezTo>
                    <a:pt x="1406" y="303"/>
                    <a:pt x="1397" y="293"/>
                    <a:pt x="1385" y="289"/>
                  </a:cubicBezTo>
                  <a:lnTo>
                    <a:pt x="100" y="1"/>
                  </a:lnTo>
                  <a:cubicBezTo>
                    <a:pt x="98" y="1"/>
                    <a:pt x="96" y="0"/>
                    <a:pt x="94" y="0"/>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811;p22">
              <a:extLst>
                <a:ext uri="{FF2B5EF4-FFF2-40B4-BE49-F238E27FC236}">
                  <a16:creationId xmlns:a16="http://schemas.microsoft.com/office/drawing/2014/main" xmlns="" id="{55B9D05C-5EA4-4E3E-B7AB-73C24BCB80C1}"/>
                </a:ext>
              </a:extLst>
            </p:cNvPr>
            <p:cNvSpPr/>
            <p:nvPr/>
          </p:nvSpPr>
          <p:spPr>
            <a:xfrm>
              <a:off x="6293491" y="2481197"/>
              <a:ext cx="89633" cy="37588"/>
            </a:xfrm>
            <a:custGeom>
              <a:avLst/>
              <a:gdLst/>
              <a:ahLst/>
              <a:cxnLst/>
              <a:rect l="l" t="t" r="r" b="b"/>
              <a:pathLst>
                <a:path w="899" h="377" extrusionOk="0">
                  <a:moveTo>
                    <a:pt x="98" y="0"/>
                  </a:moveTo>
                  <a:cubicBezTo>
                    <a:pt x="87" y="0"/>
                    <a:pt x="77" y="6"/>
                    <a:pt x="72" y="16"/>
                  </a:cubicBezTo>
                  <a:lnTo>
                    <a:pt x="8" y="144"/>
                  </a:lnTo>
                  <a:cubicBezTo>
                    <a:pt x="1" y="157"/>
                    <a:pt x="5" y="174"/>
                    <a:pt x="19" y="181"/>
                  </a:cubicBezTo>
                  <a:cubicBezTo>
                    <a:pt x="23" y="184"/>
                    <a:pt x="28" y="185"/>
                    <a:pt x="32" y="185"/>
                  </a:cubicBezTo>
                  <a:cubicBezTo>
                    <a:pt x="42" y="185"/>
                    <a:pt x="51" y="179"/>
                    <a:pt x="57" y="171"/>
                  </a:cubicBezTo>
                  <a:cubicBezTo>
                    <a:pt x="57" y="170"/>
                    <a:pt x="57" y="169"/>
                    <a:pt x="58" y="169"/>
                  </a:cubicBezTo>
                  <a:lnTo>
                    <a:pt x="110" y="63"/>
                  </a:lnTo>
                  <a:lnTo>
                    <a:pt x="857" y="374"/>
                  </a:lnTo>
                  <a:cubicBezTo>
                    <a:pt x="860" y="376"/>
                    <a:pt x="864" y="376"/>
                    <a:pt x="868" y="376"/>
                  </a:cubicBezTo>
                  <a:cubicBezTo>
                    <a:pt x="878" y="376"/>
                    <a:pt x="888" y="370"/>
                    <a:pt x="892" y="359"/>
                  </a:cubicBezTo>
                  <a:cubicBezTo>
                    <a:pt x="898" y="345"/>
                    <a:pt x="891" y="330"/>
                    <a:pt x="878" y="323"/>
                  </a:cubicBezTo>
                  <a:lnTo>
                    <a:pt x="107" y="2"/>
                  </a:lnTo>
                  <a:cubicBezTo>
                    <a:pt x="104" y="1"/>
                    <a:pt x="101" y="0"/>
                    <a:pt x="98" y="0"/>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812;p22">
              <a:extLst>
                <a:ext uri="{FF2B5EF4-FFF2-40B4-BE49-F238E27FC236}">
                  <a16:creationId xmlns:a16="http://schemas.microsoft.com/office/drawing/2014/main" xmlns="" id="{F2839699-2764-4457-938D-661A063AF181}"/>
                </a:ext>
              </a:extLst>
            </p:cNvPr>
            <p:cNvSpPr/>
            <p:nvPr/>
          </p:nvSpPr>
          <p:spPr>
            <a:xfrm>
              <a:off x="6354708" y="2554875"/>
              <a:ext cx="31007" cy="5583"/>
            </a:xfrm>
            <a:custGeom>
              <a:avLst/>
              <a:gdLst/>
              <a:ahLst/>
              <a:cxnLst/>
              <a:rect l="l" t="t" r="r" b="b"/>
              <a:pathLst>
                <a:path w="311" h="56" extrusionOk="0">
                  <a:moveTo>
                    <a:pt x="29" y="0"/>
                  </a:moveTo>
                  <a:cubicBezTo>
                    <a:pt x="13" y="0"/>
                    <a:pt x="1" y="12"/>
                    <a:pt x="1" y="27"/>
                  </a:cubicBezTo>
                  <a:cubicBezTo>
                    <a:pt x="1" y="43"/>
                    <a:pt x="13" y="55"/>
                    <a:pt x="29" y="55"/>
                  </a:cubicBezTo>
                  <a:lnTo>
                    <a:pt x="284" y="55"/>
                  </a:lnTo>
                  <a:cubicBezTo>
                    <a:pt x="298" y="55"/>
                    <a:pt x="311" y="43"/>
                    <a:pt x="311" y="27"/>
                  </a:cubicBezTo>
                  <a:cubicBezTo>
                    <a:pt x="311" y="12"/>
                    <a:pt x="298" y="0"/>
                    <a:pt x="284" y="0"/>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813;p22">
              <a:extLst>
                <a:ext uri="{FF2B5EF4-FFF2-40B4-BE49-F238E27FC236}">
                  <a16:creationId xmlns:a16="http://schemas.microsoft.com/office/drawing/2014/main" xmlns="" id="{14438D76-010F-4111-8FB8-798805D4EA29}"/>
                </a:ext>
              </a:extLst>
            </p:cNvPr>
            <p:cNvSpPr/>
            <p:nvPr/>
          </p:nvSpPr>
          <p:spPr>
            <a:xfrm>
              <a:off x="6303761" y="2554975"/>
              <a:ext cx="56332" cy="56432"/>
            </a:xfrm>
            <a:custGeom>
              <a:avLst/>
              <a:gdLst/>
              <a:ahLst/>
              <a:cxnLst/>
              <a:rect l="l" t="t" r="r" b="b"/>
              <a:pathLst>
                <a:path w="565" h="566" extrusionOk="0">
                  <a:moveTo>
                    <a:pt x="283" y="52"/>
                  </a:moveTo>
                  <a:cubicBezTo>
                    <a:pt x="410" y="52"/>
                    <a:pt x="513" y="155"/>
                    <a:pt x="513" y="283"/>
                  </a:cubicBezTo>
                  <a:cubicBezTo>
                    <a:pt x="513" y="411"/>
                    <a:pt x="410" y="514"/>
                    <a:pt x="283" y="514"/>
                  </a:cubicBezTo>
                  <a:cubicBezTo>
                    <a:pt x="155" y="514"/>
                    <a:pt x="52" y="411"/>
                    <a:pt x="52" y="283"/>
                  </a:cubicBezTo>
                  <a:cubicBezTo>
                    <a:pt x="52" y="155"/>
                    <a:pt x="155" y="52"/>
                    <a:pt x="283" y="52"/>
                  </a:cubicBezTo>
                  <a:close/>
                  <a:moveTo>
                    <a:pt x="283" y="1"/>
                  </a:moveTo>
                  <a:cubicBezTo>
                    <a:pt x="127" y="1"/>
                    <a:pt x="0" y="127"/>
                    <a:pt x="0" y="283"/>
                  </a:cubicBezTo>
                  <a:cubicBezTo>
                    <a:pt x="0" y="439"/>
                    <a:pt x="127" y="566"/>
                    <a:pt x="283" y="566"/>
                  </a:cubicBezTo>
                  <a:cubicBezTo>
                    <a:pt x="438" y="566"/>
                    <a:pt x="565" y="439"/>
                    <a:pt x="565" y="283"/>
                  </a:cubicBezTo>
                  <a:cubicBezTo>
                    <a:pt x="565" y="127"/>
                    <a:pt x="438" y="1"/>
                    <a:pt x="283" y="1"/>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814;p22">
              <a:extLst>
                <a:ext uri="{FF2B5EF4-FFF2-40B4-BE49-F238E27FC236}">
                  <a16:creationId xmlns:a16="http://schemas.microsoft.com/office/drawing/2014/main" xmlns="" id="{3F2F0313-EFF1-4E79-A1F1-D59D35629534}"/>
                </a:ext>
              </a:extLst>
            </p:cNvPr>
            <p:cNvSpPr/>
            <p:nvPr/>
          </p:nvSpPr>
          <p:spPr>
            <a:xfrm>
              <a:off x="6373552" y="2563948"/>
              <a:ext cx="70490" cy="102494"/>
            </a:xfrm>
            <a:custGeom>
              <a:avLst/>
              <a:gdLst/>
              <a:ahLst/>
              <a:cxnLst/>
              <a:rect l="l" t="t" r="r" b="b"/>
              <a:pathLst>
                <a:path w="707" h="1028" extrusionOk="0">
                  <a:moveTo>
                    <a:pt x="353" y="64"/>
                  </a:moveTo>
                  <a:cubicBezTo>
                    <a:pt x="539" y="64"/>
                    <a:pt x="636" y="111"/>
                    <a:pt x="642" y="129"/>
                  </a:cubicBezTo>
                  <a:cubicBezTo>
                    <a:pt x="636" y="147"/>
                    <a:pt x="539" y="193"/>
                    <a:pt x="353" y="193"/>
                  </a:cubicBezTo>
                  <a:cubicBezTo>
                    <a:pt x="165" y="193"/>
                    <a:pt x="69" y="146"/>
                    <a:pt x="64" y="130"/>
                  </a:cubicBezTo>
                  <a:lnTo>
                    <a:pt x="64" y="129"/>
                  </a:lnTo>
                  <a:cubicBezTo>
                    <a:pt x="69" y="112"/>
                    <a:pt x="165" y="64"/>
                    <a:pt x="353" y="64"/>
                  </a:cubicBezTo>
                  <a:close/>
                  <a:moveTo>
                    <a:pt x="642" y="207"/>
                  </a:moveTo>
                  <a:lnTo>
                    <a:pt x="642" y="257"/>
                  </a:lnTo>
                  <a:cubicBezTo>
                    <a:pt x="637" y="275"/>
                    <a:pt x="541" y="321"/>
                    <a:pt x="353" y="321"/>
                  </a:cubicBezTo>
                  <a:cubicBezTo>
                    <a:pt x="165" y="321"/>
                    <a:pt x="69" y="275"/>
                    <a:pt x="64" y="257"/>
                  </a:cubicBezTo>
                  <a:lnTo>
                    <a:pt x="64" y="207"/>
                  </a:lnTo>
                  <a:cubicBezTo>
                    <a:pt x="132" y="241"/>
                    <a:pt x="246" y="257"/>
                    <a:pt x="353" y="257"/>
                  </a:cubicBezTo>
                  <a:cubicBezTo>
                    <a:pt x="461" y="257"/>
                    <a:pt x="574" y="241"/>
                    <a:pt x="642" y="207"/>
                  </a:cubicBezTo>
                  <a:close/>
                  <a:moveTo>
                    <a:pt x="642" y="335"/>
                  </a:moveTo>
                  <a:lnTo>
                    <a:pt x="642" y="385"/>
                  </a:lnTo>
                  <a:cubicBezTo>
                    <a:pt x="637" y="403"/>
                    <a:pt x="541" y="450"/>
                    <a:pt x="353" y="450"/>
                  </a:cubicBezTo>
                  <a:cubicBezTo>
                    <a:pt x="165" y="450"/>
                    <a:pt x="69" y="403"/>
                    <a:pt x="64" y="386"/>
                  </a:cubicBezTo>
                  <a:lnTo>
                    <a:pt x="64" y="335"/>
                  </a:lnTo>
                  <a:cubicBezTo>
                    <a:pt x="132" y="369"/>
                    <a:pt x="246" y="386"/>
                    <a:pt x="353" y="386"/>
                  </a:cubicBezTo>
                  <a:cubicBezTo>
                    <a:pt x="461" y="386"/>
                    <a:pt x="574" y="369"/>
                    <a:pt x="642" y="335"/>
                  </a:cubicBezTo>
                  <a:close/>
                  <a:moveTo>
                    <a:pt x="642" y="463"/>
                  </a:moveTo>
                  <a:lnTo>
                    <a:pt x="642" y="514"/>
                  </a:lnTo>
                  <a:cubicBezTo>
                    <a:pt x="637" y="532"/>
                    <a:pt x="541" y="579"/>
                    <a:pt x="353" y="579"/>
                  </a:cubicBezTo>
                  <a:cubicBezTo>
                    <a:pt x="165" y="579"/>
                    <a:pt x="69" y="532"/>
                    <a:pt x="64" y="514"/>
                  </a:cubicBezTo>
                  <a:lnTo>
                    <a:pt x="64" y="463"/>
                  </a:lnTo>
                  <a:cubicBezTo>
                    <a:pt x="132" y="498"/>
                    <a:pt x="246" y="514"/>
                    <a:pt x="353" y="514"/>
                  </a:cubicBezTo>
                  <a:cubicBezTo>
                    <a:pt x="461" y="514"/>
                    <a:pt x="574" y="498"/>
                    <a:pt x="642" y="463"/>
                  </a:cubicBezTo>
                  <a:close/>
                  <a:moveTo>
                    <a:pt x="642" y="592"/>
                  </a:moveTo>
                  <a:lnTo>
                    <a:pt x="642" y="642"/>
                  </a:lnTo>
                  <a:cubicBezTo>
                    <a:pt x="637" y="660"/>
                    <a:pt x="541" y="707"/>
                    <a:pt x="353" y="707"/>
                  </a:cubicBezTo>
                  <a:cubicBezTo>
                    <a:pt x="165" y="707"/>
                    <a:pt x="69" y="660"/>
                    <a:pt x="64" y="642"/>
                  </a:cubicBezTo>
                  <a:lnTo>
                    <a:pt x="64" y="592"/>
                  </a:lnTo>
                  <a:cubicBezTo>
                    <a:pt x="132" y="627"/>
                    <a:pt x="246" y="642"/>
                    <a:pt x="353" y="642"/>
                  </a:cubicBezTo>
                  <a:cubicBezTo>
                    <a:pt x="461" y="642"/>
                    <a:pt x="574" y="627"/>
                    <a:pt x="642" y="592"/>
                  </a:cubicBezTo>
                  <a:close/>
                  <a:moveTo>
                    <a:pt x="642" y="720"/>
                  </a:moveTo>
                  <a:lnTo>
                    <a:pt x="642" y="771"/>
                  </a:lnTo>
                  <a:cubicBezTo>
                    <a:pt x="637" y="788"/>
                    <a:pt x="541" y="835"/>
                    <a:pt x="353" y="835"/>
                  </a:cubicBezTo>
                  <a:cubicBezTo>
                    <a:pt x="165" y="835"/>
                    <a:pt x="69" y="788"/>
                    <a:pt x="64" y="771"/>
                  </a:cubicBezTo>
                  <a:lnTo>
                    <a:pt x="64" y="720"/>
                  </a:lnTo>
                  <a:cubicBezTo>
                    <a:pt x="132" y="755"/>
                    <a:pt x="246" y="771"/>
                    <a:pt x="353" y="771"/>
                  </a:cubicBezTo>
                  <a:cubicBezTo>
                    <a:pt x="461" y="771"/>
                    <a:pt x="574" y="755"/>
                    <a:pt x="642" y="720"/>
                  </a:cubicBezTo>
                  <a:close/>
                  <a:moveTo>
                    <a:pt x="642" y="848"/>
                  </a:moveTo>
                  <a:lnTo>
                    <a:pt x="642" y="899"/>
                  </a:lnTo>
                  <a:cubicBezTo>
                    <a:pt x="637" y="917"/>
                    <a:pt x="541" y="964"/>
                    <a:pt x="353" y="964"/>
                  </a:cubicBezTo>
                  <a:cubicBezTo>
                    <a:pt x="165" y="964"/>
                    <a:pt x="69" y="917"/>
                    <a:pt x="64" y="899"/>
                  </a:cubicBezTo>
                  <a:lnTo>
                    <a:pt x="64" y="848"/>
                  </a:lnTo>
                  <a:cubicBezTo>
                    <a:pt x="132" y="883"/>
                    <a:pt x="246" y="899"/>
                    <a:pt x="353" y="899"/>
                  </a:cubicBezTo>
                  <a:cubicBezTo>
                    <a:pt x="461" y="899"/>
                    <a:pt x="574" y="883"/>
                    <a:pt x="642" y="848"/>
                  </a:cubicBezTo>
                  <a:close/>
                  <a:moveTo>
                    <a:pt x="353" y="1"/>
                  </a:moveTo>
                  <a:cubicBezTo>
                    <a:pt x="183" y="1"/>
                    <a:pt x="0" y="41"/>
                    <a:pt x="0" y="129"/>
                  </a:cubicBezTo>
                  <a:lnTo>
                    <a:pt x="0" y="899"/>
                  </a:lnTo>
                  <a:cubicBezTo>
                    <a:pt x="0" y="987"/>
                    <a:pt x="183" y="1027"/>
                    <a:pt x="353" y="1027"/>
                  </a:cubicBezTo>
                  <a:cubicBezTo>
                    <a:pt x="523" y="1027"/>
                    <a:pt x="707" y="987"/>
                    <a:pt x="707" y="899"/>
                  </a:cubicBezTo>
                  <a:lnTo>
                    <a:pt x="707" y="129"/>
                  </a:lnTo>
                  <a:cubicBezTo>
                    <a:pt x="707" y="41"/>
                    <a:pt x="523" y="1"/>
                    <a:pt x="353" y="1"/>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815;p22">
              <a:extLst>
                <a:ext uri="{FF2B5EF4-FFF2-40B4-BE49-F238E27FC236}">
                  <a16:creationId xmlns:a16="http://schemas.microsoft.com/office/drawing/2014/main" xmlns="" id="{306AB1A4-EC7A-479A-A056-C360F01E18E6}"/>
                </a:ext>
              </a:extLst>
            </p:cNvPr>
            <p:cNvSpPr/>
            <p:nvPr/>
          </p:nvSpPr>
          <p:spPr>
            <a:xfrm>
              <a:off x="6265176" y="2554875"/>
              <a:ext cx="43969" cy="56731"/>
            </a:xfrm>
            <a:custGeom>
              <a:avLst/>
              <a:gdLst/>
              <a:ahLst/>
              <a:cxnLst/>
              <a:rect l="l" t="t" r="r" b="b"/>
              <a:pathLst>
                <a:path w="441" h="569" extrusionOk="0">
                  <a:moveTo>
                    <a:pt x="171" y="0"/>
                  </a:moveTo>
                  <a:cubicBezTo>
                    <a:pt x="164" y="0"/>
                    <a:pt x="157" y="3"/>
                    <a:pt x="152" y="8"/>
                  </a:cubicBezTo>
                  <a:lnTo>
                    <a:pt x="8" y="148"/>
                  </a:lnTo>
                  <a:cubicBezTo>
                    <a:pt x="3" y="154"/>
                    <a:pt x="0" y="162"/>
                    <a:pt x="0" y="170"/>
                  </a:cubicBezTo>
                  <a:lnTo>
                    <a:pt x="0" y="398"/>
                  </a:lnTo>
                  <a:cubicBezTo>
                    <a:pt x="0" y="405"/>
                    <a:pt x="3" y="412"/>
                    <a:pt x="7" y="416"/>
                  </a:cubicBezTo>
                  <a:lnTo>
                    <a:pt x="138" y="560"/>
                  </a:lnTo>
                  <a:cubicBezTo>
                    <a:pt x="143" y="565"/>
                    <a:pt x="150" y="568"/>
                    <a:pt x="158" y="568"/>
                  </a:cubicBezTo>
                  <a:lnTo>
                    <a:pt x="413" y="568"/>
                  </a:lnTo>
                  <a:cubicBezTo>
                    <a:pt x="428" y="568"/>
                    <a:pt x="440" y="556"/>
                    <a:pt x="440" y="541"/>
                  </a:cubicBezTo>
                  <a:cubicBezTo>
                    <a:pt x="440" y="526"/>
                    <a:pt x="428" y="513"/>
                    <a:pt x="413" y="513"/>
                  </a:cubicBezTo>
                  <a:lnTo>
                    <a:pt x="171" y="513"/>
                  </a:lnTo>
                  <a:lnTo>
                    <a:pt x="55" y="388"/>
                  </a:lnTo>
                  <a:lnTo>
                    <a:pt x="55" y="179"/>
                  </a:lnTo>
                  <a:lnTo>
                    <a:pt x="182" y="55"/>
                  </a:lnTo>
                  <a:lnTo>
                    <a:pt x="413" y="55"/>
                  </a:lnTo>
                  <a:cubicBezTo>
                    <a:pt x="428" y="55"/>
                    <a:pt x="440" y="43"/>
                    <a:pt x="440" y="27"/>
                  </a:cubicBezTo>
                  <a:cubicBezTo>
                    <a:pt x="440" y="12"/>
                    <a:pt x="428" y="0"/>
                    <a:pt x="413" y="0"/>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816;p22">
              <a:extLst>
                <a:ext uri="{FF2B5EF4-FFF2-40B4-BE49-F238E27FC236}">
                  <a16:creationId xmlns:a16="http://schemas.microsoft.com/office/drawing/2014/main" xmlns="" id="{76A8C86B-0081-4CE2-B71F-40510B4EF662}"/>
                </a:ext>
              </a:extLst>
            </p:cNvPr>
            <p:cNvSpPr/>
            <p:nvPr/>
          </p:nvSpPr>
          <p:spPr>
            <a:xfrm>
              <a:off x="6322305" y="2568734"/>
              <a:ext cx="19243" cy="28914"/>
            </a:xfrm>
            <a:custGeom>
              <a:avLst/>
              <a:gdLst/>
              <a:ahLst/>
              <a:cxnLst/>
              <a:rect l="l" t="t" r="r" b="b"/>
              <a:pathLst>
                <a:path w="193" h="290" extrusionOk="0">
                  <a:moveTo>
                    <a:pt x="97" y="1"/>
                  </a:moveTo>
                  <a:cubicBezTo>
                    <a:pt x="79" y="1"/>
                    <a:pt x="65" y="15"/>
                    <a:pt x="65" y="33"/>
                  </a:cubicBezTo>
                  <a:lnTo>
                    <a:pt x="65" y="34"/>
                  </a:lnTo>
                  <a:cubicBezTo>
                    <a:pt x="29" y="39"/>
                    <a:pt x="2" y="69"/>
                    <a:pt x="0" y="105"/>
                  </a:cubicBezTo>
                  <a:cubicBezTo>
                    <a:pt x="3" y="146"/>
                    <a:pt x="36" y="177"/>
                    <a:pt x="76" y="177"/>
                  </a:cubicBezTo>
                  <a:cubicBezTo>
                    <a:pt x="77" y="177"/>
                    <a:pt x="79" y="177"/>
                    <a:pt x="80" y="177"/>
                  </a:cubicBezTo>
                  <a:lnTo>
                    <a:pt x="113" y="177"/>
                  </a:lnTo>
                  <a:cubicBezTo>
                    <a:pt x="123" y="177"/>
                    <a:pt x="129" y="183"/>
                    <a:pt x="129" y="185"/>
                  </a:cubicBezTo>
                  <a:cubicBezTo>
                    <a:pt x="129" y="188"/>
                    <a:pt x="123" y="194"/>
                    <a:pt x="113" y="194"/>
                  </a:cubicBezTo>
                  <a:lnTo>
                    <a:pt x="32" y="194"/>
                  </a:lnTo>
                  <a:cubicBezTo>
                    <a:pt x="15" y="194"/>
                    <a:pt x="0" y="208"/>
                    <a:pt x="0" y="225"/>
                  </a:cubicBezTo>
                  <a:cubicBezTo>
                    <a:pt x="0" y="243"/>
                    <a:pt x="15" y="257"/>
                    <a:pt x="32" y="257"/>
                  </a:cubicBezTo>
                  <a:lnTo>
                    <a:pt x="65" y="257"/>
                  </a:lnTo>
                  <a:cubicBezTo>
                    <a:pt x="65" y="275"/>
                    <a:pt x="79" y="290"/>
                    <a:pt x="97" y="290"/>
                  </a:cubicBezTo>
                  <a:cubicBezTo>
                    <a:pt x="114" y="290"/>
                    <a:pt x="129" y="275"/>
                    <a:pt x="129" y="257"/>
                  </a:cubicBezTo>
                  <a:lnTo>
                    <a:pt x="129" y="256"/>
                  </a:lnTo>
                  <a:cubicBezTo>
                    <a:pt x="164" y="251"/>
                    <a:pt x="191" y="222"/>
                    <a:pt x="193" y="186"/>
                  </a:cubicBezTo>
                  <a:cubicBezTo>
                    <a:pt x="190" y="145"/>
                    <a:pt x="157" y="113"/>
                    <a:pt x="117" y="113"/>
                  </a:cubicBezTo>
                  <a:cubicBezTo>
                    <a:pt x="116" y="113"/>
                    <a:pt x="114" y="113"/>
                    <a:pt x="113" y="113"/>
                  </a:cubicBezTo>
                  <a:lnTo>
                    <a:pt x="80" y="113"/>
                  </a:lnTo>
                  <a:cubicBezTo>
                    <a:pt x="71" y="113"/>
                    <a:pt x="65" y="107"/>
                    <a:pt x="65" y="105"/>
                  </a:cubicBezTo>
                  <a:cubicBezTo>
                    <a:pt x="65" y="103"/>
                    <a:pt x="71" y="97"/>
                    <a:pt x="80" y="97"/>
                  </a:cubicBezTo>
                  <a:lnTo>
                    <a:pt x="161" y="97"/>
                  </a:lnTo>
                  <a:cubicBezTo>
                    <a:pt x="179" y="97"/>
                    <a:pt x="193" y="83"/>
                    <a:pt x="193" y="65"/>
                  </a:cubicBezTo>
                  <a:cubicBezTo>
                    <a:pt x="193" y="47"/>
                    <a:pt x="179" y="33"/>
                    <a:pt x="161" y="33"/>
                  </a:cubicBezTo>
                  <a:lnTo>
                    <a:pt x="129" y="33"/>
                  </a:lnTo>
                  <a:cubicBezTo>
                    <a:pt x="129" y="15"/>
                    <a:pt x="114" y="1"/>
                    <a:pt x="97" y="1"/>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817;p22">
            <a:extLst>
              <a:ext uri="{FF2B5EF4-FFF2-40B4-BE49-F238E27FC236}">
                <a16:creationId xmlns:a16="http://schemas.microsoft.com/office/drawing/2014/main" xmlns="" id="{51A26332-085E-42CB-A22A-779C5078E450}"/>
              </a:ext>
            </a:extLst>
          </p:cNvPr>
          <p:cNvGrpSpPr/>
          <p:nvPr/>
        </p:nvGrpSpPr>
        <p:grpSpPr>
          <a:xfrm>
            <a:off x="15209486" y="4489374"/>
            <a:ext cx="231329" cy="235600"/>
            <a:chOff x="6265375" y="3369328"/>
            <a:chExt cx="172186" cy="172087"/>
          </a:xfrm>
        </p:grpSpPr>
        <p:sp>
          <p:nvSpPr>
            <p:cNvPr id="101" name="Google Shape;818;p22">
              <a:extLst>
                <a:ext uri="{FF2B5EF4-FFF2-40B4-BE49-F238E27FC236}">
                  <a16:creationId xmlns:a16="http://schemas.microsoft.com/office/drawing/2014/main" xmlns="" id="{8DB42669-7DCF-47DF-8F2D-7C6C7B3238F6}"/>
                </a:ext>
              </a:extLst>
            </p:cNvPr>
            <p:cNvSpPr/>
            <p:nvPr/>
          </p:nvSpPr>
          <p:spPr>
            <a:xfrm>
              <a:off x="6265375" y="3369328"/>
              <a:ext cx="172186" cy="172087"/>
            </a:xfrm>
            <a:custGeom>
              <a:avLst/>
              <a:gdLst/>
              <a:ahLst/>
              <a:cxnLst/>
              <a:rect l="l" t="t" r="r" b="b"/>
              <a:pathLst>
                <a:path w="1727" h="1726" extrusionOk="0">
                  <a:moveTo>
                    <a:pt x="979" y="172"/>
                  </a:moveTo>
                  <a:lnTo>
                    <a:pt x="979" y="287"/>
                  </a:lnTo>
                  <a:lnTo>
                    <a:pt x="691" y="287"/>
                  </a:lnTo>
                  <a:lnTo>
                    <a:pt x="691" y="172"/>
                  </a:lnTo>
                  <a:close/>
                  <a:moveTo>
                    <a:pt x="1008" y="58"/>
                  </a:moveTo>
                  <a:cubicBezTo>
                    <a:pt x="1055" y="58"/>
                    <a:pt x="1094" y="96"/>
                    <a:pt x="1094" y="144"/>
                  </a:cubicBezTo>
                  <a:lnTo>
                    <a:pt x="1094" y="287"/>
                  </a:lnTo>
                  <a:lnTo>
                    <a:pt x="1036" y="287"/>
                  </a:lnTo>
                  <a:lnTo>
                    <a:pt x="1036" y="144"/>
                  </a:lnTo>
                  <a:cubicBezTo>
                    <a:pt x="1036" y="128"/>
                    <a:pt x="1023" y="115"/>
                    <a:pt x="1008" y="115"/>
                  </a:cubicBezTo>
                  <a:lnTo>
                    <a:pt x="662" y="115"/>
                  </a:lnTo>
                  <a:cubicBezTo>
                    <a:pt x="646" y="115"/>
                    <a:pt x="634" y="128"/>
                    <a:pt x="634" y="144"/>
                  </a:cubicBezTo>
                  <a:lnTo>
                    <a:pt x="634" y="287"/>
                  </a:lnTo>
                  <a:lnTo>
                    <a:pt x="576" y="287"/>
                  </a:lnTo>
                  <a:lnTo>
                    <a:pt x="576" y="144"/>
                  </a:lnTo>
                  <a:cubicBezTo>
                    <a:pt x="576" y="96"/>
                    <a:pt x="615" y="58"/>
                    <a:pt x="662" y="58"/>
                  </a:cubicBezTo>
                  <a:close/>
                  <a:moveTo>
                    <a:pt x="950" y="834"/>
                  </a:moveTo>
                  <a:lnTo>
                    <a:pt x="950" y="892"/>
                  </a:lnTo>
                  <a:lnTo>
                    <a:pt x="719" y="892"/>
                  </a:lnTo>
                  <a:lnTo>
                    <a:pt x="719" y="834"/>
                  </a:lnTo>
                  <a:close/>
                  <a:moveTo>
                    <a:pt x="1525" y="345"/>
                  </a:moveTo>
                  <a:cubicBezTo>
                    <a:pt x="1573" y="345"/>
                    <a:pt x="1611" y="383"/>
                    <a:pt x="1611" y="431"/>
                  </a:cubicBezTo>
                  <a:lnTo>
                    <a:pt x="1611" y="575"/>
                  </a:lnTo>
                  <a:lnTo>
                    <a:pt x="1611" y="747"/>
                  </a:lnTo>
                  <a:cubicBezTo>
                    <a:pt x="1611" y="827"/>
                    <a:pt x="1547" y="892"/>
                    <a:pt x="1468" y="892"/>
                  </a:cubicBezTo>
                  <a:lnTo>
                    <a:pt x="1449" y="892"/>
                  </a:lnTo>
                  <a:cubicBezTo>
                    <a:pt x="1401" y="873"/>
                    <a:pt x="1349" y="863"/>
                    <a:pt x="1295" y="863"/>
                  </a:cubicBezTo>
                  <a:cubicBezTo>
                    <a:pt x="1241" y="863"/>
                    <a:pt x="1189" y="873"/>
                    <a:pt x="1141" y="892"/>
                  </a:cubicBezTo>
                  <a:lnTo>
                    <a:pt x="1008" y="892"/>
                  </a:lnTo>
                  <a:lnTo>
                    <a:pt x="1008" y="805"/>
                  </a:lnTo>
                  <a:cubicBezTo>
                    <a:pt x="1008" y="789"/>
                    <a:pt x="994" y="776"/>
                    <a:pt x="979" y="776"/>
                  </a:cubicBezTo>
                  <a:lnTo>
                    <a:pt x="691" y="776"/>
                  </a:lnTo>
                  <a:cubicBezTo>
                    <a:pt x="675" y="776"/>
                    <a:pt x="662" y="789"/>
                    <a:pt x="662" y="805"/>
                  </a:cubicBezTo>
                  <a:lnTo>
                    <a:pt x="662" y="892"/>
                  </a:lnTo>
                  <a:lnTo>
                    <a:pt x="202" y="892"/>
                  </a:lnTo>
                  <a:cubicBezTo>
                    <a:pt x="123" y="892"/>
                    <a:pt x="58" y="827"/>
                    <a:pt x="58" y="747"/>
                  </a:cubicBezTo>
                  <a:lnTo>
                    <a:pt x="58" y="489"/>
                  </a:lnTo>
                  <a:lnTo>
                    <a:pt x="58" y="431"/>
                  </a:lnTo>
                  <a:cubicBezTo>
                    <a:pt x="58" y="383"/>
                    <a:pt x="97" y="345"/>
                    <a:pt x="145" y="345"/>
                  </a:cubicBezTo>
                  <a:close/>
                  <a:moveTo>
                    <a:pt x="1611" y="888"/>
                  </a:moveTo>
                  <a:lnTo>
                    <a:pt x="1611" y="1002"/>
                  </a:lnTo>
                  <a:cubicBezTo>
                    <a:pt x="1589" y="977"/>
                    <a:pt x="1564" y="955"/>
                    <a:pt x="1536" y="937"/>
                  </a:cubicBezTo>
                  <a:cubicBezTo>
                    <a:pt x="1565" y="926"/>
                    <a:pt x="1591" y="910"/>
                    <a:pt x="1611" y="888"/>
                  </a:cubicBezTo>
                  <a:close/>
                  <a:moveTo>
                    <a:pt x="346" y="949"/>
                  </a:moveTo>
                  <a:lnTo>
                    <a:pt x="346" y="1036"/>
                  </a:lnTo>
                  <a:lnTo>
                    <a:pt x="259" y="1036"/>
                  </a:lnTo>
                  <a:lnTo>
                    <a:pt x="259" y="949"/>
                  </a:lnTo>
                  <a:close/>
                  <a:moveTo>
                    <a:pt x="58" y="888"/>
                  </a:moveTo>
                  <a:cubicBezTo>
                    <a:pt x="95" y="926"/>
                    <a:pt x="146" y="949"/>
                    <a:pt x="202" y="949"/>
                  </a:cubicBezTo>
                  <a:lnTo>
                    <a:pt x="202" y="1064"/>
                  </a:lnTo>
                  <a:cubicBezTo>
                    <a:pt x="202" y="1080"/>
                    <a:pt x="215" y="1093"/>
                    <a:pt x="231" y="1093"/>
                  </a:cubicBezTo>
                  <a:lnTo>
                    <a:pt x="375" y="1093"/>
                  </a:lnTo>
                  <a:cubicBezTo>
                    <a:pt x="390" y="1093"/>
                    <a:pt x="403" y="1080"/>
                    <a:pt x="403" y="1064"/>
                  </a:cubicBezTo>
                  <a:lnTo>
                    <a:pt x="403" y="949"/>
                  </a:lnTo>
                  <a:lnTo>
                    <a:pt x="1037" y="949"/>
                  </a:lnTo>
                  <a:cubicBezTo>
                    <a:pt x="932" y="1028"/>
                    <a:pt x="864" y="1153"/>
                    <a:pt x="864" y="1294"/>
                  </a:cubicBezTo>
                  <a:cubicBezTo>
                    <a:pt x="864" y="1379"/>
                    <a:pt x="889" y="1457"/>
                    <a:pt x="931" y="1525"/>
                  </a:cubicBezTo>
                  <a:lnTo>
                    <a:pt x="145" y="1525"/>
                  </a:lnTo>
                  <a:cubicBezTo>
                    <a:pt x="97" y="1525"/>
                    <a:pt x="58" y="1485"/>
                    <a:pt x="58" y="1438"/>
                  </a:cubicBezTo>
                  <a:lnTo>
                    <a:pt x="58" y="888"/>
                  </a:lnTo>
                  <a:close/>
                  <a:moveTo>
                    <a:pt x="1324" y="922"/>
                  </a:moveTo>
                  <a:cubicBezTo>
                    <a:pt x="1507" y="936"/>
                    <a:pt x="1654" y="1082"/>
                    <a:pt x="1668" y="1265"/>
                  </a:cubicBezTo>
                  <a:lnTo>
                    <a:pt x="1611" y="1265"/>
                  </a:lnTo>
                  <a:lnTo>
                    <a:pt x="1611" y="1323"/>
                  </a:lnTo>
                  <a:lnTo>
                    <a:pt x="1668" y="1323"/>
                  </a:lnTo>
                  <a:cubicBezTo>
                    <a:pt x="1654" y="1506"/>
                    <a:pt x="1507" y="1653"/>
                    <a:pt x="1324" y="1667"/>
                  </a:cubicBezTo>
                  <a:lnTo>
                    <a:pt x="1324" y="1610"/>
                  </a:lnTo>
                  <a:lnTo>
                    <a:pt x="1266" y="1610"/>
                  </a:lnTo>
                  <a:lnTo>
                    <a:pt x="1266" y="1667"/>
                  </a:lnTo>
                  <a:cubicBezTo>
                    <a:pt x="1162" y="1659"/>
                    <a:pt x="1070" y="1608"/>
                    <a:pt x="1008" y="1532"/>
                  </a:cubicBezTo>
                  <a:lnTo>
                    <a:pt x="1008" y="1525"/>
                  </a:lnTo>
                  <a:lnTo>
                    <a:pt x="1001" y="1525"/>
                  </a:lnTo>
                  <a:cubicBezTo>
                    <a:pt x="957" y="1468"/>
                    <a:pt x="928" y="1399"/>
                    <a:pt x="923" y="1323"/>
                  </a:cubicBezTo>
                  <a:lnTo>
                    <a:pt x="979" y="1323"/>
                  </a:lnTo>
                  <a:lnTo>
                    <a:pt x="979" y="1265"/>
                  </a:lnTo>
                  <a:lnTo>
                    <a:pt x="923" y="1265"/>
                  </a:lnTo>
                  <a:cubicBezTo>
                    <a:pt x="937" y="1082"/>
                    <a:pt x="1083" y="936"/>
                    <a:pt x="1266" y="922"/>
                  </a:cubicBezTo>
                  <a:lnTo>
                    <a:pt x="1266" y="978"/>
                  </a:lnTo>
                  <a:lnTo>
                    <a:pt x="1324" y="978"/>
                  </a:lnTo>
                  <a:lnTo>
                    <a:pt x="1324" y="922"/>
                  </a:lnTo>
                  <a:close/>
                  <a:moveTo>
                    <a:pt x="662" y="0"/>
                  </a:moveTo>
                  <a:cubicBezTo>
                    <a:pt x="583" y="0"/>
                    <a:pt x="519" y="65"/>
                    <a:pt x="519" y="144"/>
                  </a:cubicBezTo>
                  <a:lnTo>
                    <a:pt x="519" y="287"/>
                  </a:lnTo>
                  <a:lnTo>
                    <a:pt x="145" y="287"/>
                  </a:lnTo>
                  <a:cubicBezTo>
                    <a:pt x="65" y="287"/>
                    <a:pt x="1" y="352"/>
                    <a:pt x="1" y="431"/>
                  </a:cubicBezTo>
                  <a:lnTo>
                    <a:pt x="1" y="489"/>
                  </a:lnTo>
                  <a:lnTo>
                    <a:pt x="1" y="747"/>
                  </a:lnTo>
                  <a:lnTo>
                    <a:pt x="1" y="1438"/>
                  </a:lnTo>
                  <a:cubicBezTo>
                    <a:pt x="1" y="1518"/>
                    <a:pt x="65" y="1582"/>
                    <a:pt x="145" y="1582"/>
                  </a:cubicBezTo>
                  <a:lnTo>
                    <a:pt x="974" y="1582"/>
                  </a:lnTo>
                  <a:cubicBezTo>
                    <a:pt x="1053" y="1670"/>
                    <a:pt x="1167" y="1725"/>
                    <a:pt x="1295" y="1725"/>
                  </a:cubicBezTo>
                  <a:cubicBezTo>
                    <a:pt x="1533" y="1725"/>
                    <a:pt x="1726" y="1532"/>
                    <a:pt x="1726" y="1294"/>
                  </a:cubicBezTo>
                  <a:cubicBezTo>
                    <a:pt x="1726" y="1216"/>
                    <a:pt x="1705" y="1143"/>
                    <a:pt x="1669" y="1080"/>
                  </a:cubicBezTo>
                  <a:lnTo>
                    <a:pt x="1669" y="747"/>
                  </a:lnTo>
                  <a:lnTo>
                    <a:pt x="1669" y="575"/>
                  </a:lnTo>
                  <a:lnTo>
                    <a:pt x="1669" y="431"/>
                  </a:lnTo>
                  <a:cubicBezTo>
                    <a:pt x="1669" y="352"/>
                    <a:pt x="1604" y="287"/>
                    <a:pt x="1525" y="287"/>
                  </a:cubicBezTo>
                  <a:lnTo>
                    <a:pt x="1151" y="287"/>
                  </a:lnTo>
                  <a:lnTo>
                    <a:pt x="1151" y="144"/>
                  </a:lnTo>
                  <a:cubicBezTo>
                    <a:pt x="1151" y="65"/>
                    <a:pt x="1087" y="0"/>
                    <a:pt x="1008"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819;p22">
              <a:extLst>
                <a:ext uri="{FF2B5EF4-FFF2-40B4-BE49-F238E27FC236}">
                  <a16:creationId xmlns:a16="http://schemas.microsoft.com/office/drawing/2014/main" xmlns="" id="{4096DEC7-CFC2-41BE-90F1-1677D627090B}"/>
                </a:ext>
              </a:extLst>
            </p:cNvPr>
            <p:cNvSpPr/>
            <p:nvPr/>
          </p:nvSpPr>
          <p:spPr>
            <a:xfrm>
              <a:off x="6391598" y="3472518"/>
              <a:ext cx="22134" cy="45165"/>
            </a:xfrm>
            <a:custGeom>
              <a:avLst/>
              <a:gdLst/>
              <a:ahLst/>
              <a:cxnLst/>
              <a:rect l="l" t="t" r="r" b="b"/>
              <a:pathLst>
                <a:path w="222" h="453" extrusionOk="0">
                  <a:moveTo>
                    <a:pt x="0" y="1"/>
                  </a:moveTo>
                  <a:lnTo>
                    <a:pt x="0" y="259"/>
                  </a:lnTo>
                  <a:cubicBezTo>
                    <a:pt x="0" y="267"/>
                    <a:pt x="4" y="274"/>
                    <a:pt x="9" y="279"/>
                  </a:cubicBezTo>
                  <a:lnTo>
                    <a:pt x="181" y="452"/>
                  </a:lnTo>
                  <a:lnTo>
                    <a:pt x="222" y="411"/>
                  </a:lnTo>
                  <a:lnTo>
                    <a:pt x="58" y="247"/>
                  </a:lnTo>
                  <a:lnTo>
                    <a:pt x="58"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820;p22">
              <a:extLst>
                <a:ext uri="{FF2B5EF4-FFF2-40B4-BE49-F238E27FC236}">
                  <a16:creationId xmlns:a16="http://schemas.microsoft.com/office/drawing/2014/main" xmlns="" id="{460AD4B3-3C50-4753-881C-42911BB2EBD4}"/>
                </a:ext>
              </a:extLst>
            </p:cNvPr>
            <p:cNvSpPr/>
            <p:nvPr/>
          </p:nvSpPr>
          <p:spPr>
            <a:xfrm>
              <a:off x="6391598" y="3443804"/>
              <a:ext cx="5783" cy="5882"/>
            </a:xfrm>
            <a:custGeom>
              <a:avLst/>
              <a:gdLst/>
              <a:ahLst/>
              <a:cxnLst/>
              <a:rect l="l" t="t" r="r" b="b"/>
              <a:pathLst>
                <a:path w="58" h="59" extrusionOk="0">
                  <a:moveTo>
                    <a:pt x="0" y="0"/>
                  </a:moveTo>
                  <a:lnTo>
                    <a:pt x="0" y="58"/>
                  </a:lnTo>
                  <a:lnTo>
                    <a:pt x="58" y="58"/>
                  </a:lnTo>
                  <a:lnTo>
                    <a:pt x="58"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821;p22">
              <a:extLst>
                <a:ext uri="{FF2B5EF4-FFF2-40B4-BE49-F238E27FC236}">
                  <a16:creationId xmlns:a16="http://schemas.microsoft.com/office/drawing/2014/main" xmlns="" id="{620C961C-35AE-457A-A733-2D4587417BF1}"/>
                </a:ext>
              </a:extLst>
            </p:cNvPr>
            <p:cNvSpPr/>
            <p:nvPr/>
          </p:nvSpPr>
          <p:spPr>
            <a:xfrm>
              <a:off x="6403063" y="3443804"/>
              <a:ext cx="5783" cy="5882"/>
            </a:xfrm>
            <a:custGeom>
              <a:avLst/>
              <a:gdLst/>
              <a:ahLst/>
              <a:cxnLst/>
              <a:rect l="l" t="t" r="r" b="b"/>
              <a:pathLst>
                <a:path w="58" h="59" extrusionOk="0">
                  <a:moveTo>
                    <a:pt x="0" y="0"/>
                  </a:moveTo>
                  <a:lnTo>
                    <a:pt x="0" y="58"/>
                  </a:lnTo>
                  <a:lnTo>
                    <a:pt x="58" y="58"/>
                  </a:lnTo>
                  <a:lnTo>
                    <a:pt x="58"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822;p22">
              <a:extLst>
                <a:ext uri="{FF2B5EF4-FFF2-40B4-BE49-F238E27FC236}">
                  <a16:creationId xmlns:a16="http://schemas.microsoft.com/office/drawing/2014/main" xmlns="" id="{F940B475-4D21-4512-9192-B59A257FB77F}"/>
                </a:ext>
              </a:extLst>
            </p:cNvPr>
            <p:cNvSpPr/>
            <p:nvPr/>
          </p:nvSpPr>
          <p:spPr>
            <a:xfrm>
              <a:off x="6380032" y="3443804"/>
              <a:ext cx="5882" cy="5882"/>
            </a:xfrm>
            <a:custGeom>
              <a:avLst/>
              <a:gdLst/>
              <a:ahLst/>
              <a:cxnLst/>
              <a:rect l="l" t="t" r="r" b="b"/>
              <a:pathLst>
                <a:path w="59" h="59" extrusionOk="0">
                  <a:moveTo>
                    <a:pt x="1" y="0"/>
                  </a:moveTo>
                  <a:lnTo>
                    <a:pt x="1" y="58"/>
                  </a:lnTo>
                  <a:lnTo>
                    <a:pt x="58" y="58"/>
                  </a:lnTo>
                  <a:lnTo>
                    <a:pt x="58" y="0"/>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823;p22">
            <a:extLst>
              <a:ext uri="{FF2B5EF4-FFF2-40B4-BE49-F238E27FC236}">
                <a16:creationId xmlns:a16="http://schemas.microsoft.com/office/drawing/2014/main" xmlns="" id="{552C4F81-1146-4DCC-B9B7-DB0ED21A3008}"/>
              </a:ext>
            </a:extLst>
          </p:cNvPr>
          <p:cNvGrpSpPr/>
          <p:nvPr/>
        </p:nvGrpSpPr>
        <p:grpSpPr>
          <a:xfrm>
            <a:off x="14477147" y="5054580"/>
            <a:ext cx="176738" cy="257317"/>
            <a:chOff x="6064477" y="4246093"/>
            <a:chExt cx="108576" cy="155137"/>
          </a:xfrm>
        </p:grpSpPr>
        <p:sp>
          <p:nvSpPr>
            <p:cNvPr id="107" name="Google Shape;824;p22">
              <a:extLst>
                <a:ext uri="{FF2B5EF4-FFF2-40B4-BE49-F238E27FC236}">
                  <a16:creationId xmlns:a16="http://schemas.microsoft.com/office/drawing/2014/main" xmlns="" id="{3DAB57AC-9036-4595-A2BF-F0392F08857F}"/>
                </a:ext>
              </a:extLst>
            </p:cNvPr>
            <p:cNvSpPr/>
            <p:nvPr/>
          </p:nvSpPr>
          <p:spPr>
            <a:xfrm>
              <a:off x="6064477" y="4246093"/>
              <a:ext cx="108576" cy="155137"/>
            </a:xfrm>
            <a:custGeom>
              <a:avLst/>
              <a:gdLst/>
              <a:ahLst/>
              <a:cxnLst/>
              <a:rect l="l" t="t" r="r" b="b"/>
              <a:pathLst>
                <a:path w="1089" h="1556" extrusionOk="0">
                  <a:moveTo>
                    <a:pt x="959" y="53"/>
                  </a:moveTo>
                  <a:cubicBezTo>
                    <a:pt x="1002" y="53"/>
                    <a:pt x="1037" y="88"/>
                    <a:pt x="1037" y="130"/>
                  </a:cubicBezTo>
                  <a:lnTo>
                    <a:pt x="1037" y="156"/>
                  </a:lnTo>
                  <a:lnTo>
                    <a:pt x="52" y="156"/>
                  </a:lnTo>
                  <a:lnTo>
                    <a:pt x="52" y="130"/>
                  </a:lnTo>
                  <a:cubicBezTo>
                    <a:pt x="52" y="88"/>
                    <a:pt x="87" y="53"/>
                    <a:pt x="130" y="53"/>
                  </a:cubicBezTo>
                  <a:close/>
                  <a:moveTo>
                    <a:pt x="1037" y="208"/>
                  </a:moveTo>
                  <a:lnTo>
                    <a:pt x="1037" y="1296"/>
                  </a:lnTo>
                  <a:lnTo>
                    <a:pt x="52" y="1296"/>
                  </a:lnTo>
                  <a:lnTo>
                    <a:pt x="52" y="208"/>
                  </a:lnTo>
                  <a:close/>
                  <a:moveTo>
                    <a:pt x="1037" y="1348"/>
                  </a:moveTo>
                  <a:lnTo>
                    <a:pt x="1037" y="1426"/>
                  </a:lnTo>
                  <a:cubicBezTo>
                    <a:pt x="1037" y="1469"/>
                    <a:pt x="1002" y="1504"/>
                    <a:pt x="959" y="1504"/>
                  </a:cubicBezTo>
                  <a:lnTo>
                    <a:pt x="130" y="1504"/>
                  </a:lnTo>
                  <a:cubicBezTo>
                    <a:pt x="87" y="1504"/>
                    <a:pt x="52" y="1469"/>
                    <a:pt x="52" y="1426"/>
                  </a:cubicBezTo>
                  <a:lnTo>
                    <a:pt x="52" y="1348"/>
                  </a:lnTo>
                  <a:close/>
                  <a:moveTo>
                    <a:pt x="130" y="0"/>
                  </a:moveTo>
                  <a:cubicBezTo>
                    <a:pt x="58" y="0"/>
                    <a:pt x="1" y="59"/>
                    <a:pt x="1" y="130"/>
                  </a:cubicBezTo>
                  <a:lnTo>
                    <a:pt x="1" y="1426"/>
                  </a:lnTo>
                  <a:cubicBezTo>
                    <a:pt x="1" y="1498"/>
                    <a:pt x="58" y="1555"/>
                    <a:pt x="130" y="1555"/>
                  </a:cubicBezTo>
                  <a:lnTo>
                    <a:pt x="959" y="1555"/>
                  </a:lnTo>
                  <a:cubicBezTo>
                    <a:pt x="1031" y="1555"/>
                    <a:pt x="1089" y="1498"/>
                    <a:pt x="1089" y="1426"/>
                  </a:cubicBezTo>
                  <a:lnTo>
                    <a:pt x="1089" y="130"/>
                  </a:lnTo>
                  <a:cubicBezTo>
                    <a:pt x="1089" y="59"/>
                    <a:pt x="1031" y="0"/>
                    <a:pt x="959"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825;p22">
              <a:extLst>
                <a:ext uri="{FF2B5EF4-FFF2-40B4-BE49-F238E27FC236}">
                  <a16:creationId xmlns:a16="http://schemas.microsoft.com/office/drawing/2014/main" xmlns="" id="{0C73A9DF-640A-4B50-A2C4-3F86C23B2868}"/>
                </a:ext>
              </a:extLst>
            </p:cNvPr>
            <p:cNvSpPr/>
            <p:nvPr/>
          </p:nvSpPr>
          <p:spPr>
            <a:xfrm>
              <a:off x="6078036" y="4277499"/>
              <a:ext cx="80360" cy="77269"/>
            </a:xfrm>
            <a:custGeom>
              <a:avLst/>
              <a:gdLst/>
              <a:ahLst/>
              <a:cxnLst/>
              <a:rect l="l" t="t" r="r" b="b"/>
              <a:pathLst>
                <a:path w="806" h="775" extrusionOk="0">
                  <a:moveTo>
                    <a:pt x="197" y="52"/>
                  </a:moveTo>
                  <a:cubicBezTo>
                    <a:pt x="204" y="52"/>
                    <a:pt x="210" y="55"/>
                    <a:pt x="215" y="60"/>
                  </a:cubicBezTo>
                  <a:lnTo>
                    <a:pt x="216" y="60"/>
                  </a:lnTo>
                  <a:lnTo>
                    <a:pt x="298" y="142"/>
                  </a:lnTo>
                  <a:cubicBezTo>
                    <a:pt x="307" y="152"/>
                    <a:pt x="307" y="168"/>
                    <a:pt x="298" y="179"/>
                  </a:cubicBezTo>
                  <a:lnTo>
                    <a:pt x="231" y="245"/>
                  </a:lnTo>
                  <a:cubicBezTo>
                    <a:pt x="225" y="250"/>
                    <a:pt x="223" y="257"/>
                    <a:pt x="223" y="263"/>
                  </a:cubicBezTo>
                  <a:cubicBezTo>
                    <a:pt x="223" y="270"/>
                    <a:pt x="225" y="277"/>
                    <a:pt x="231" y="282"/>
                  </a:cubicBezTo>
                  <a:lnTo>
                    <a:pt x="515" y="567"/>
                  </a:lnTo>
                  <a:cubicBezTo>
                    <a:pt x="520" y="572"/>
                    <a:pt x="527" y="575"/>
                    <a:pt x="534" y="575"/>
                  </a:cubicBezTo>
                  <a:cubicBezTo>
                    <a:pt x="540" y="575"/>
                    <a:pt x="547" y="572"/>
                    <a:pt x="552" y="567"/>
                  </a:cubicBezTo>
                  <a:lnTo>
                    <a:pt x="619" y="500"/>
                  </a:lnTo>
                  <a:cubicBezTo>
                    <a:pt x="624" y="495"/>
                    <a:pt x="631" y="493"/>
                    <a:pt x="637" y="493"/>
                  </a:cubicBezTo>
                  <a:cubicBezTo>
                    <a:pt x="644" y="493"/>
                    <a:pt x="651" y="495"/>
                    <a:pt x="656" y="500"/>
                  </a:cubicBezTo>
                  <a:lnTo>
                    <a:pt x="738" y="582"/>
                  </a:lnTo>
                  <a:cubicBezTo>
                    <a:pt x="748" y="592"/>
                    <a:pt x="748" y="609"/>
                    <a:pt x="738" y="619"/>
                  </a:cubicBezTo>
                  <a:lnTo>
                    <a:pt x="688" y="669"/>
                  </a:lnTo>
                  <a:cubicBezTo>
                    <a:pt x="654" y="703"/>
                    <a:pt x="609" y="722"/>
                    <a:pt x="560" y="722"/>
                  </a:cubicBezTo>
                  <a:cubicBezTo>
                    <a:pt x="512" y="722"/>
                    <a:pt x="465" y="703"/>
                    <a:pt x="431" y="669"/>
                  </a:cubicBezTo>
                  <a:lnTo>
                    <a:pt x="128" y="366"/>
                  </a:lnTo>
                  <a:cubicBezTo>
                    <a:pt x="58" y="296"/>
                    <a:pt x="58" y="180"/>
                    <a:pt x="128" y="110"/>
                  </a:cubicBezTo>
                  <a:lnTo>
                    <a:pt x="179" y="60"/>
                  </a:lnTo>
                  <a:cubicBezTo>
                    <a:pt x="183" y="55"/>
                    <a:pt x="190" y="52"/>
                    <a:pt x="197" y="52"/>
                  </a:cubicBezTo>
                  <a:close/>
                  <a:moveTo>
                    <a:pt x="197" y="1"/>
                  </a:moveTo>
                  <a:cubicBezTo>
                    <a:pt x="177" y="1"/>
                    <a:pt x="157" y="8"/>
                    <a:pt x="142" y="23"/>
                  </a:cubicBezTo>
                  <a:lnTo>
                    <a:pt x="92" y="73"/>
                  </a:lnTo>
                  <a:cubicBezTo>
                    <a:pt x="1" y="164"/>
                    <a:pt x="1" y="312"/>
                    <a:pt x="92" y="403"/>
                  </a:cubicBezTo>
                  <a:lnTo>
                    <a:pt x="395" y="706"/>
                  </a:lnTo>
                  <a:cubicBezTo>
                    <a:pt x="439" y="750"/>
                    <a:pt x="498" y="774"/>
                    <a:pt x="560" y="774"/>
                  </a:cubicBezTo>
                  <a:cubicBezTo>
                    <a:pt x="622" y="774"/>
                    <a:pt x="681" y="750"/>
                    <a:pt x="725" y="706"/>
                  </a:cubicBezTo>
                  <a:lnTo>
                    <a:pt x="774" y="655"/>
                  </a:lnTo>
                  <a:cubicBezTo>
                    <a:pt x="805" y="626"/>
                    <a:pt x="805" y="576"/>
                    <a:pt x="774" y="545"/>
                  </a:cubicBezTo>
                  <a:lnTo>
                    <a:pt x="692" y="463"/>
                  </a:lnTo>
                  <a:cubicBezTo>
                    <a:pt x="678" y="449"/>
                    <a:pt x="658" y="442"/>
                    <a:pt x="638" y="442"/>
                  </a:cubicBezTo>
                  <a:cubicBezTo>
                    <a:pt x="618" y="442"/>
                    <a:pt x="597" y="449"/>
                    <a:pt x="582" y="463"/>
                  </a:cubicBezTo>
                  <a:lnTo>
                    <a:pt x="534" y="512"/>
                  </a:lnTo>
                  <a:lnTo>
                    <a:pt x="286" y="263"/>
                  </a:lnTo>
                  <a:lnTo>
                    <a:pt x="334" y="215"/>
                  </a:lnTo>
                  <a:cubicBezTo>
                    <a:pt x="364" y="185"/>
                    <a:pt x="364" y="136"/>
                    <a:pt x="334" y="105"/>
                  </a:cubicBezTo>
                  <a:lnTo>
                    <a:pt x="251" y="23"/>
                  </a:lnTo>
                  <a:cubicBezTo>
                    <a:pt x="237" y="8"/>
                    <a:pt x="217" y="1"/>
                    <a:pt x="197" y="1"/>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826;p22">
              <a:extLst>
                <a:ext uri="{FF2B5EF4-FFF2-40B4-BE49-F238E27FC236}">
                  <a16:creationId xmlns:a16="http://schemas.microsoft.com/office/drawing/2014/main" xmlns="" id="{503E5557-7F13-4694-B7AA-20AF61008A4F}"/>
                </a:ext>
              </a:extLst>
            </p:cNvPr>
            <p:cNvSpPr/>
            <p:nvPr/>
          </p:nvSpPr>
          <p:spPr>
            <a:xfrm>
              <a:off x="6116122" y="4359751"/>
              <a:ext cx="5284" cy="5284"/>
            </a:xfrm>
            <a:custGeom>
              <a:avLst/>
              <a:gdLst/>
              <a:ahLst/>
              <a:cxnLst/>
              <a:rect l="l" t="t" r="r" b="b"/>
              <a:pathLst>
                <a:path w="53" h="53" extrusionOk="0">
                  <a:moveTo>
                    <a:pt x="0" y="1"/>
                  </a:moveTo>
                  <a:lnTo>
                    <a:pt x="0" y="53"/>
                  </a:lnTo>
                  <a:lnTo>
                    <a:pt x="53" y="53"/>
                  </a:lnTo>
                  <a:lnTo>
                    <a:pt x="53"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827;p22">
              <a:extLst>
                <a:ext uri="{FF2B5EF4-FFF2-40B4-BE49-F238E27FC236}">
                  <a16:creationId xmlns:a16="http://schemas.microsoft.com/office/drawing/2014/main" xmlns="" id="{FBA8DA4A-2DB1-4D72-A6AF-C079B153E473}"/>
                </a:ext>
              </a:extLst>
            </p:cNvPr>
            <p:cNvSpPr/>
            <p:nvPr/>
          </p:nvSpPr>
          <p:spPr>
            <a:xfrm>
              <a:off x="6105853" y="4359751"/>
              <a:ext cx="5185" cy="5284"/>
            </a:xfrm>
            <a:custGeom>
              <a:avLst/>
              <a:gdLst/>
              <a:ahLst/>
              <a:cxnLst/>
              <a:rect l="l" t="t" r="r" b="b"/>
              <a:pathLst>
                <a:path w="52" h="53" extrusionOk="0">
                  <a:moveTo>
                    <a:pt x="0" y="1"/>
                  </a:moveTo>
                  <a:lnTo>
                    <a:pt x="0" y="53"/>
                  </a:lnTo>
                  <a:lnTo>
                    <a:pt x="52" y="53"/>
                  </a:lnTo>
                  <a:lnTo>
                    <a:pt x="52"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828;p22">
              <a:extLst>
                <a:ext uri="{FF2B5EF4-FFF2-40B4-BE49-F238E27FC236}">
                  <a16:creationId xmlns:a16="http://schemas.microsoft.com/office/drawing/2014/main" xmlns="" id="{F57525F8-31FE-4097-8266-E4777FD9E34E}"/>
                </a:ext>
              </a:extLst>
            </p:cNvPr>
            <p:cNvSpPr/>
            <p:nvPr/>
          </p:nvSpPr>
          <p:spPr>
            <a:xfrm>
              <a:off x="6126491" y="4359751"/>
              <a:ext cx="5284" cy="5284"/>
            </a:xfrm>
            <a:custGeom>
              <a:avLst/>
              <a:gdLst/>
              <a:ahLst/>
              <a:cxnLst/>
              <a:rect l="l" t="t" r="r" b="b"/>
              <a:pathLst>
                <a:path w="53" h="53" extrusionOk="0">
                  <a:moveTo>
                    <a:pt x="0" y="1"/>
                  </a:moveTo>
                  <a:lnTo>
                    <a:pt x="0" y="53"/>
                  </a:lnTo>
                  <a:lnTo>
                    <a:pt x="53" y="53"/>
                  </a:lnTo>
                  <a:lnTo>
                    <a:pt x="53" y="1"/>
                  </a:ln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829;p22">
              <a:extLst>
                <a:ext uri="{FF2B5EF4-FFF2-40B4-BE49-F238E27FC236}">
                  <a16:creationId xmlns:a16="http://schemas.microsoft.com/office/drawing/2014/main" xmlns="" id="{AC85F477-B61B-4597-9DA9-0EF2F1B6487D}"/>
                </a:ext>
              </a:extLst>
            </p:cNvPr>
            <p:cNvSpPr/>
            <p:nvPr/>
          </p:nvSpPr>
          <p:spPr>
            <a:xfrm>
              <a:off x="6118714" y="4302922"/>
              <a:ext cx="12961" cy="13061"/>
            </a:xfrm>
            <a:custGeom>
              <a:avLst/>
              <a:gdLst/>
              <a:ahLst/>
              <a:cxnLst/>
              <a:rect l="l" t="t" r="r" b="b"/>
              <a:pathLst>
                <a:path w="130" h="131" extrusionOk="0">
                  <a:moveTo>
                    <a:pt x="1" y="0"/>
                  </a:moveTo>
                  <a:lnTo>
                    <a:pt x="1" y="53"/>
                  </a:lnTo>
                  <a:cubicBezTo>
                    <a:pt x="43" y="53"/>
                    <a:pt x="78" y="88"/>
                    <a:pt x="78" y="131"/>
                  </a:cubicBezTo>
                  <a:lnTo>
                    <a:pt x="130" y="131"/>
                  </a:lnTo>
                  <a:cubicBezTo>
                    <a:pt x="130" y="59"/>
                    <a:pt x="72" y="0"/>
                    <a:pt x="1"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830;p22">
              <a:extLst>
                <a:ext uri="{FF2B5EF4-FFF2-40B4-BE49-F238E27FC236}">
                  <a16:creationId xmlns:a16="http://schemas.microsoft.com/office/drawing/2014/main" xmlns="" id="{1E603AA1-9DCB-4064-881A-D0FED40D8C27}"/>
                </a:ext>
              </a:extLst>
            </p:cNvPr>
            <p:cNvSpPr/>
            <p:nvPr/>
          </p:nvSpPr>
          <p:spPr>
            <a:xfrm>
              <a:off x="6118714" y="4292553"/>
              <a:ext cx="23330" cy="23430"/>
            </a:xfrm>
            <a:custGeom>
              <a:avLst/>
              <a:gdLst/>
              <a:ahLst/>
              <a:cxnLst/>
              <a:rect l="l" t="t" r="r" b="b"/>
              <a:pathLst>
                <a:path w="234" h="235" extrusionOk="0">
                  <a:moveTo>
                    <a:pt x="1" y="1"/>
                  </a:moveTo>
                  <a:lnTo>
                    <a:pt x="1" y="53"/>
                  </a:lnTo>
                  <a:cubicBezTo>
                    <a:pt x="101" y="53"/>
                    <a:pt x="182" y="134"/>
                    <a:pt x="182" y="235"/>
                  </a:cubicBezTo>
                  <a:lnTo>
                    <a:pt x="234" y="235"/>
                  </a:lnTo>
                  <a:cubicBezTo>
                    <a:pt x="234" y="105"/>
                    <a:pt x="129" y="1"/>
                    <a:pt x="1" y="1"/>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831;p22">
              <a:extLst>
                <a:ext uri="{FF2B5EF4-FFF2-40B4-BE49-F238E27FC236}">
                  <a16:creationId xmlns:a16="http://schemas.microsoft.com/office/drawing/2014/main" xmlns="" id="{052BFD62-9E6B-48B1-80B4-2EDFF6EF15B7}"/>
                </a:ext>
              </a:extLst>
            </p:cNvPr>
            <p:cNvSpPr/>
            <p:nvPr/>
          </p:nvSpPr>
          <p:spPr>
            <a:xfrm>
              <a:off x="6118714" y="4282284"/>
              <a:ext cx="33699" cy="33699"/>
            </a:xfrm>
            <a:custGeom>
              <a:avLst/>
              <a:gdLst/>
              <a:ahLst/>
              <a:cxnLst/>
              <a:rect l="l" t="t" r="r" b="b"/>
              <a:pathLst>
                <a:path w="338" h="338" extrusionOk="0">
                  <a:moveTo>
                    <a:pt x="1" y="1"/>
                  </a:moveTo>
                  <a:lnTo>
                    <a:pt x="1" y="52"/>
                  </a:lnTo>
                  <a:cubicBezTo>
                    <a:pt x="158" y="52"/>
                    <a:pt x="286" y="180"/>
                    <a:pt x="286" y="338"/>
                  </a:cubicBezTo>
                  <a:lnTo>
                    <a:pt x="338" y="338"/>
                  </a:lnTo>
                  <a:cubicBezTo>
                    <a:pt x="338" y="152"/>
                    <a:pt x="187" y="1"/>
                    <a:pt x="1" y="1"/>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718;p22">
            <a:extLst>
              <a:ext uri="{FF2B5EF4-FFF2-40B4-BE49-F238E27FC236}">
                <a16:creationId xmlns:a16="http://schemas.microsoft.com/office/drawing/2014/main" xmlns="" id="{1323C327-D6F2-4402-803B-D5251D50B1BD}"/>
              </a:ext>
            </a:extLst>
          </p:cNvPr>
          <p:cNvGrpSpPr/>
          <p:nvPr/>
        </p:nvGrpSpPr>
        <p:grpSpPr>
          <a:xfrm>
            <a:off x="15387172" y="3629090"/>
            <a:ext cx="2319305" cy="644795"/>
            <a:chOff x="5941100" y="2054463"/>
            <a:chExt cx="2485751" cy="678146"/>
          </a:xfrm>
        </p:grpSpPr>
        <p:grpSp>
          <p:nvGrpSpPr>
            <p:cNvPr id="116" name="Google Shape;719;p22">
              <a:extLst>
                <a:ext uri="{FF2B5EF4-FFF2-40B4-BE49-F238E27FC236}">
                  <a16:creationId xmlns:a16="http://schemas.microsoft.com/office/drawing/2014/main" xmlns="" id="{C9603178-D671-4346-8740-03BAAE1E9D9A}"/>
                </a:ext>
              </a:extLst>
            </p:cNvPr>
            <p:cNvGrpSpPr/>
            <p:nvPr/>
          </p:nvGrpSpPr>
          <p:grpSpPr>
            <a:xfrm flipH="1">
              <a:off x="5941100" y="2054463"/>
              <a:ext cx="2485751" cy="678146"/>
              <a:chOff x="800213" y="1002738"/>
              <a:chExt cx="2485751" cy="678146"/>
            </a:xfrm>
          </p:grpSpPr>
          <p:sp>
            <p:nvSpPr>
              <p:cNvPr id="118" name="Google Shape;720;p22">
                <a:extLst>
                  <a:ext uri="{FF2B5EF4-FFF2-40B4-BE49-F238E27FC236}">
                    <a16:creationId xmlns:a16="http://schemas.microsoft.com/office/drawing/2014/main" xmlns="" id="{E0F86E45-337B-47EA-B4BE-C18D4C0FB696}"/>
                  </a:ext>
                </a:extLst>
              </p:cNvPr>
              <p:cNvSpPr/>
              <p:nvPr/>
            </p:nvSpPr>
            <p:spPr>
              <a:xfrm>
                <a:off x="800213" y="1122363"/>
                <a:ext cx="2334900" cy="438900"/>
              </a:xfrm>
              <a:prstGeom prst="roundRect">
                <a:avLst>
                  <a:gd name="adj" fmla="val 50000"/>
                </a:avLst>
              </a:prstGeom>
              <a:solidFill>
                <a:srgbClr val="00B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9" name="Google Shape;721;p22">
                <a:extLst>
                  <a:ext uri="{FF2B5EF4-FFF2-40B4-BE49-F238E27FC236}">
                    <a16:creationId xmlns:a16="http://schemas.microsoft.com/office/drawing/2014/main" xmlns="" id="{285E9FE5-2493-4483-9C21-C8CA9603F9D3}"/>
                  </a:ext>
                </a:extLst>
              </p:cNvPr>
              <p:cNvSpPr/>
              <p:nvPr/>
            </p:nvSpPr>
            <p:spPr>
              <a:xfrm flipH="1">
                <a:off x="2607888" y="1002738"/>
                <a:ext cx="678076" cy="678146"/>
              </a:xfrm>
              <a:custGeom>
                <a:avLst/>
                <a:gdLst/>
                <a:ahLst/>
                <a:cxnLst/>
                <a:rect l="l" t="t" r="r" b="b"/>
                <a:pathLst>
                  <a:path w="6557" h="6558" extrusionOk="0">
                    <a:moveTo>
                      <a:pt x="3279" y="1"/>
                    </a:moveTo>
                    <a:cubicBezTo>
                      <a:pt x="1469" y="1"/>
                      <a:pt x="1" y="1469"/>
                      <a:pt x="1" y="3280"/>
                    </a:cubicBezTo>
                    <a:cubicBezTo>
                      <a:pt x="1" y="5090"/>
                      <a:pt x="1469" y="6558"/>
                      <a:pt x="3279" y="6558"/>
                    </a:cubicBezTo>
                    <a:cubicBezTo>
                      <a:pt x="5089" y="6558"/>
                      <a:pt x="6557" y="5090"/>
                      <a:pt x="6557" y="3280"/>
                    </a:cubicBezTo>
                    <a:cubicBezTo>
                      <a:pt x="6557" y="1469"/>
                      <a:pt x="5089" y="1"/>
                      <a:pt x="3279" y="1"/>
                    </a:cubicBezTo>
                    <a:close/>
                  </a:path>
                </a:pathLst>
              </a:custGeom>
              <a:solidFill>
                <a:srgbClr val="FFFFF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sp>
          <p:nvSpPr>
            <p:cNvPr id="117" name="Google Shape;722;p22">
              <a:extLst>
                <a:ext uri="{FF2B5EF4-FFF2-40B4-BE49-F238E27FC236}">
                  <a16:creationId xmlns:a16="http://schemas.microsoft.com/office/drawing/2014/main" xmlns="" id="{C242FB7A-3111-4CC2-8120-70565669FD3B}"/>
                </a:ext>
              </a:extLst>
            </p:cNvPr>
            <p:cNvSpPr txBox="1"/>
            <p:nvPr/>
          </p:nvSpPr>
          <p:spPr>
            <a:xfrm>
              <a:off x="6569231" y="2168351"/>
              <a:ext cx="1841981" cy="44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err="1">
                  <a:solidFill>
                    <a:srgbClr val="FFFFFF"/>
                  </a:solidFill>
                  <a:latin typeface="Roboto"/>
                  <a:ea typeface="Roboto"/>
                  <a:cs typeface="Roboto"/>
                  <a:sym typeface="Roboto"/>
                </a:rPr>
                <a:t>社会心理服务中心</a:t>
              </a:r>
              <a:endParaRPr sz="1200" b="1" dirty="0">
                <a:solidFill>
                  <a:srgbClr val="FFFFFF"/>
                </a:solidFill>
                <a:latin typeface="Roboto"/>
                <a:ea typeface="Roboto"/>
                <a:cs typeface="Roboto"/>
                <a:sym typeface="Roboto"/>
              </a:endParaRPr>
            </a:p>
          </p:txBody>
        </p:sp>
      </p:grpSp>
      <p:grpSp>
        <p:nvGrpSpPr>
          <p:cNvPr id="120" name="Google Shape;808;p22">
            <a:extLst>
              <a:ext uri="{FF2B5EF4-FFF2-40B4-BE49-F238E27FC236}">
                <a16:creationId xmlns:a16="http://schemas.microsoft.com/office/drawing/2014/main" xmlns="" id="{E22CB298-8D82-4220-ABEF-8C0DCE579E29}"/>
              </a:ext>
            </a:extLst>
          </p:cNvPr>
          <p:cNvGrpSpPr/>
          <p:nvPr/>
        </p:nvGrpSpPr>
        <p:grpSpPr>
          <a:xfrm>
            <a:off x="15587875" y="3842053"/>
            <a:ext cx="257582" cy="253621"/>
            <a:chOff x="6252315" y="2481197"/>
            <a:chExt cx="191727" cy="185245"/>
          </a:xfrm>
        </p:grpSpPr>
        <p:sp>
          <p:nvSpPr>
            <p:cNvPr id="121" name="Google Shape;809;p22">
              <a:extLst>
                <a:ext uri="{FF2B5EF4-FFF2-40B4-BE49-F238E27FC236}">
                  <a16:creationId xmlns:a16="http://schemas.microsoft.com/office/drawing/2014/main" xmlns="" id="{416DBE45-D1FD-498E-A042-52895D760246}"/>
                </a:ext>
              </a:extLst>
            </p:cNvPr>
            <p:cNvSpPr/>
            <p:nvPr/>
          </p:nvSpPr>
          <p:spPr>
            <a:xfrm>
              <a:off x="6252315" y="2542014"/>
              <a:ext cx="165606" cy="82354"/>
            </a:xfrm>
            <a:custGeom>
              <a:avLst/>
              <a:gdLst/>
              <a:ahLst/>
              <a:cxnLst/>
              <a:rect l="l" t="t" r="r" b="b"/>
              <a:pathLst>
                <a:path w="1661" h="826" extrusionOk="0">
                  <a:moveTo>
                    <a:pt x="28" y="1"/>
                  </a:moveTo>
                  <a:cubicBezTo>
                    <a:pt x="13" y="1"/>
                    <a:pt x="1" y="13"/>
                    <a:pt x="1" y="28"/>
                  </a:cubicBezTo>
                  <a:lnTo>
                    <a:pt x="1" y="799"/>
                  </a:lnTo>
                  <a:cubicBezTo>
                    <a:pt x="1" y="814"/>
                    <a:pt x="13" y="826"/>
                    <a:pt x="28" y="826"/>
                  </a:cubicBezTo>
                  <a:lnTo>
                    <a:pt x="1119" y="826"/>
                  </a:lnTo>
                  <a:cubicBezTo>
                    <a:pt x="1135" y="826"/>
                    <a:pt x="1147" y="814"/>
                    <a:pt x="1147" y="799"/>
                  </a:cubicBezTo>
                  <a:cubicBezTo>
                    <a:pt x="1147" y="783"/>
                    <a:pt x="1135" y="771"/>
                    <a:pt x="1119" y="771"/>
                  </a:cubicBezTo>
                  <a:lnTo>
                    <a:pt x="56" y="771"/>
                  </a:lnTo>
                  <a:lnTo>
                    <a:pt x="56" y="56"/>
                  </a:lnTo>
                  <a:lnTo>
                    <a:pt x="1606" y="56"/>
                  </a:lnTo>
                  <a:lnTo>
                    <a:pt x="1606" y="125"/>
                  </a:lnTo>
                  <a:cubicBezTo>
                    <a:pt x="1606" y="139"/>
                    <a:pt x="1618" y="152"/>
                    <a:pt x="1634" y="152"/>
                  </a:cubicBezTo>
                  <a:cubicBezTo>
                    <a:pt x="1649" y="152"/>
                    <a:pt x="1661" y="139"/>
                    <a:pt x="1661" y="125"/>
                  </a:cubicBezTo>
                  <a:lnTo>
                    <a:pt x="1661" y="28"/>
                  </a:lnTo>
                  <a:cubicBezTo>
                    <a:pt x="1661" y="13"/>
                    <a:pt x="1649" y="1"/>
                    <a:pt x="1634" y="1"/>
                  </a:cubicBezTo>
                  <a:close/>
                </a:path>
              </a:pathLst>
            </a:custGeom>
            <a:solidFill>
              <a:srgbClr val="828181"/>
            </a:solidFill>
            <a:ln>
              <a:solidFill>
                <a:schemeClr val="tx1">
                  <a:lumMod val="50000"/>
                  <a:lumOff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810;p22">
              <a:extLst>
                <a:ext uri="{FF2B5EF4-FFF2-40B4-BE49-F238E27FC236}">
                  <a16:creationId xmlns:a16="http://schemas.microsoft.com/office/drawing/2014/main" xmlns="" id="{341289A0-413F-4590-BE88-7737C1488F0D}"/>
                </a:ext>
              </a:extLst>
            </p:cNvPr>
            <p:cNvSpPr/>
            <p:nvPr/>
          </p:nvSpPr>
          <p:spPr>
            <a:xfrm>
              <a:off x="6258496" y="2500439"/>
              <a:ext cx="140281" cy="34397"/>
            </a:xfrm>
            <a:custGeom>
              <a:avLst/>
              <a:gdLst/>
              <a:ahLst/>
              <a:cxnLst/>
              <a:rect l="l" t="t" r="r" b="b"/>
              <a:pathLst>
                <a:path w="1407" h="345" extrusionOk="0">
                  <a:moveTo>
                    <a:pt x="94" y="0"/>
                  </a:moveTo>
                  <a:cubicBezTo>
                    <a:pt x="89" y="0"/>
                    <a:pt x="85" y="2"/>
                    <a:pt x="80" y="5"/>
                  </a:cubicBezTo>
                  <a:cubicBezTo>
                    <a:pt x="74" y="8"/>
                    <a:pt x="69" y="14"/>
                    <a:pt x="68" y="21"/>
                  </a:cubicBezTo>
                  <a:lnTo>
                    <a:pt x="4" y="310"/>
                  </a:lnTo>
                  <a:cubicBezTo>
                    <a:pt x="0" y="325"/>
                    <a:pt x="10" y="340"/>
                    <a:pt x="24" y="343"/>
                  </a:cubicBezTo>
                  <a:cubicBezTo>
                    <a:pt x="27" y="344"/>
                    <a:pt x="29" y="344"/>
                    <a:pt x="31" y="344"/>
                  </a:cubicBezTo>
                  <a:cubicBezTo>
                    <a:pt x="43" y="344"/>
                    <a:pt x="55" y="335"/>
                    <a:pt x="58" y="322"/>
                  </a:cubicBezTo>
                  <a:lnTo>
                    <a:pt x="115" y="61"/>
                  </a:lnTo>
                  <a:lnTo>
                    <a:pt x="1373" y="343"/>
                  </a:lnTo>
                  <a:cubicBezTo>
                    <a:pt x="1374" y="343"/>
                    <a:pt x="1377" y="344"/>
                    <a:pt x="1379" y="344"/>
                  </a:cubicBezTo>
                  <a:cubicBezTo>
                    <a:pt x="1394" y="344"/>
                    <a:pt x="1407" y="332"/>
                    <a:pt x="1407" y="316"/>
                  </a:cubicBezTo>
                  <a:cubicBezTo>
                    <a:pt x="1406" y="303"/>
                    <a:pt x="1397" y="293"/>
                    <a:pt x="1385" y="289"/>
                  </a:cubicBezTo>
                  <a:lnTo>
                    <a:pt x="100" y="1"/>
                  </a:lnTo>
                  <a:cubicBezTo>
                    <a:pt x="98" y="1"/>
                    <a:pt x="96" y="0"/>
                    <a:pt x="94"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811;p22">
              <a:extLst>
                <a:ext uri="{FF2B5EF4-FFF2-40B4-BE49-F238E27FC236}">
                  <a16:creationId xmlns:a16="http://schemas.microsoft.com/office/drawing/2014/main" xmlns="" id="{478DB6DB-5B2D-4A9E-960E-26472A6676EE}"/>
                </a:ext>
              </a:extLst>
            </p:cNvPr>
            <p:cNvSpPr/>
            <p:nvPr/>
          </p:nvSpPr>
          <p:spPr>
            <a:xfrm>
              <a:off x="6293491" y="2481197"/>
              <a:ext cx="89633" cy="37588"/>
            </a:xfrm>
            <a:custGeom>
              <a:avLst/>
              <a:gdLst/>
              <a:ahLst/>
              <a:cxnLst/>
              <a:rect l="l" t="t" r="r" b="b"/>
              <a:pathLst>
                <a:path w="899" h="377" extrusionOk="0">
                  <a:moveTo>
                    <a:pt x="98" y="0"/>
                  </a:moveTo>
                  <a:cubicBezTo>
                    <a:pt x="87" y="0"/>
                    <a:pt x="77" y="6"/>
                    <a:pt x="72" y="16"/>
                  </a:cubicBezTo>
                  <a:lnTo>
                    <a:pt x="8" y="144"/>
                  </a:lnTo>
                  <a:cubicBezTo>
                    <a:pt x="1" y="157"/>
                    <a:pt x="5" y="174"/>
                    <a:pt x="19" y="181"/>
                  </a:cubicBezTo>
                  <a:cubicBezTo>
                    <a:pt x="23" y="184"/>
                    <a:pt x="28" y="185"/>
                    <a:pt x="32" y="185"/>
                  </a:cubicBezTo>
                  <a:cubicBezTo>
                    <a:pt x="42" y="185"/>
                    <a:pt x="51" y="179"/>
                    <a:pt x="57" y="171"/>
                  </a:cubicBezTo>
                  <a:cubicBezTo>
                    <a:pt x="57" y="170"/>
                    <a:pt x="57" y="169"/>
                    <a:pt x="58" y="169"/>
                  </a:cubicBezTo>
                  <a:lnTo>
                    <a:pt x="110" y="63"/>
                  </a:lnTo>
                  <a:lnTo>
                    <a:pt x="857" y="374"/>
                  </a:lnTo>
                  <a:cubicBezTo>
                    <a:pt x="860" y="376"/>
                    <a:pt x="864" y="376"/>
                    <a:pt x="868" y="376"/>
                  </a:cubicBezTo>
                  <a:cubicBezTo>
                    <a:pt x="878" y="376"/>
                    <a:pt x="888" y="370"/>
                    <a:pt x="892" y="359"/>
                  </a:cubicBezTo>
                  <a:cubicBezTo>
                    <a:pt x="898" y="345"/>
                    <a:pt x="891" y="330"/>
                    <a:pt x="878" y="323"/>
                  </a:cubicBezTo>
                  <a:lnTo>
                    <a:pt x="107" y="2"/>
                  </a:lnTo>
                  <a:cubicBezTo>
                    <a:pt x="104" y="1"/>
                    <a:pt x="101" y="0"/>
                    <a:pt x="98"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812;p22">
              <a:extLst>
                <a:ext uri="{FF2B5EF4-FFF2-40B4-BE49-F238E27FC236}">
                  <a16:creationId xmlns:a16="http://schemas.microsoft.com/office/drawing/2014/main" xmlns="" id="{B3AA854D-3DE2-4019-ADFD-CB94AB5BC1E2}"/>
                </a:ext>
              </a:extLst>
            </p:cNvPr>
            <p:cNvSpPr/>
            <p:nvPr/>
          </p:nvSpPr>
          <p:spPr>
            <a:xfrm>
              <a:off x="6354708" y="2554875"/>
              <a:ext cx="31007" cy="5583"/>
            </a:xfrm>
            <a:custGeom>
              <a:avLst/>
              <a:gdLst/>
              <a:ahLst/>
              <a:cxnLst/>
              <a:rect l="l" t="t" r="r" b="b"/>
              <a:pathLst>
                <a:path w="311" h="56" extrusionOk="0">
                  <a:moveTo>
                    <a:pt x="29" y="0"/>
                  </a:moveTo>
                  <a:cubicBezTo>
                    <a:pt x="13" y="0"/>
                    <a:pt x="1" y="12"/>
                    <a:pt x="1" y="27"/>
                  </a:cubicBezTo>
                  <a:cubicBezTo>
                    <a:pt x="1" y="43"/>
                    <a:pt x="13" y="55"/>
                    <a:pt x="29" y="55"/>
                  </a:cubicBezTo>
                  <a:lnTo>
                    <a:pt x="284" y="55"/>
                  </a:lnTo>
                  <a:cubicBezTo>
                    <a:pt x="298" y="55"/>
                    <a:pt x="311" y="43"/>
                    <a:pt x="311" y="27"/>
                  </a:cubicBezTo>
                  <a:cubicBezTo>
                    <a:pt x="311" y="12"/>
                    <a:pt x="298" y="0"/>
                    <a:pt x="284"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813;p22">
              <a:extLst>
                <a:ext uri="{FF2B5EF4-FFF2-40B4-BE49-F238E27FC236}">
                  <a16:creationId xmlns:a16="http://schemas.microsoft.com/office/drawing/2014/main" xmlns="" id="{30FB1D2D-BDDE-4EC9-B89B-F5B617D44B25}"/>
                </a:ext>
              </a:extLst>
            </p:cNvPr>
            <p:cNvSpPr/>
            <p:nvPr/>
          </p:nvSpPr>
          <p:spPr>
            <a:xfrm>
              <a:off x="6303761" y="2554975"/>
              <a:ext cx="56332" cy="56432"/>
            </a:xfrm>
            <a:custGeom>
              <a:avLst/>
              <a:gdLst/>
              <a:ahLst/>
              <a:cxnLst/>
              <a:rect l="l" t="t" r="r" b="b"/>
              <a:pathLst>
                <a:path w="565" h="566" extrusionOk="0">
                  <a:moveTo>
                    <a:pt x="283" y="52"/>
                  </a:moveTo>
                  <a:cubicBezTo>
                    <a:pt x="410" y="52"/>
                    <a:pt x="513" y="155"/>
                    <a:pt x="513" y="283"/>
                  </a:cubicBezTo>
                  <a:cubicBezTo>
                    <a:pt x="513" y="411"/>
                    <a:pt x="410" y="514"/>
                    <a:pt x="283" y="514"/>
                  </a:cubicBezTo>
                  <a:cubicBezTo>
                    <a:pt x="155" y="514"/>
                    <a:pt x="52" y="411"/>
                    <a:pt x="52" y="283"/>
                  </a:cubicBezTo>
                  <a:cubicBezTo>
                    <a:pt x="52" y="155"/>
                    <a:pt x="155" y="52"/>
                    <a:pt x="283" y="52"/>
                  </a:cubicBezTo>
                  <a:close/>
                  <a:moveTo>
                    <a:pt x="283" y="1"/>
                  </a:moveTo>
                  <a:cubicBezTo>
                    <a:pt x="127" y="1"/>
                    <a:pt x="0" y="127"/>
                    <a:pt x="0" y="283"/>
                  </a:cubicBezTo>
                  <a:cubicBezTo>
                    <a:pt x="0" y="439"/>
                    <a:pt x="127" y="566"/>
                    <a:pt x="283" y="566"/>
                  </a:cubicBezTo>
                  <a:cubicBezTo>
                    <a:pt x="438" y="566"/>
                    <a:pt x="565" y="439"/>
                    <a:pt x="565" y="283"/>
                  </a:cubicBezTo>
                  <a:cubicBezTo>
                    <a:pt x="565" y="127"/>
                    <a:pt x="438" y="1"/>
                    <a:pt x="283" y="1"/>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814;p22">
              <a:extLst>
                <a:ext uri="{FF2B5EF4-FFF2-40B4-BE49-F238E27FC236}">
                  <a16:creationId xmlns:a16="http://schemas.microsoft.com/office/drawing/2014/main" xmlns="" id="{F6DCC974-3466-4B71-A9EB-F2CA0315222A}"/>
                </a:ext>
              </a:extLst>
            </p:cNvPr>
            <p:cNvSpPr/>
            <p:nvPr/>
          </p:nvSpPr>
          <p:spPr>
            <a:xfrm>
              <a:off x="6373552" y="2563948"/>
              <a:ext cx="70490" cy="102494"/>
            </a:xfrm>
            <a:custGeom>
              <a:avLst/>
              <a:gdLst/>
              <a:ahLst/>
              <a:cxnLst/>
              <a:rect l="l" t="t" r="r" b="b"/>
              <a:pathLst>
                <a:path w="707" h="1028" extrusionOk="0">
                  <a:moveTo>
                    <a:pt x="353" y="64"/>
                  </a:moveTo>
                  <a:cubicBezTo>
                    <a:pt x="539" y="64"/>
                    <a:pt x="636" y="111"/>
                    <a:pt x="642" y="129"/>
                  </a:cubicBezTo>
                  <a:cubicBezTo>
                    <a:pt x="636" y="147"/>
                    <a:pt x="539" y="193"/>
                    <a:pt x="353" y="193"/>
                  </a:cubicBezTo>
                  <a:cubicBezTo>
                    <a:pt x="165" y="193"/>
                    <a:pt x="69" y="146"/>
                    <a:pt x="64" y="130"/>
                  </a:cubicBezTo>
                  <a:lnTo>
                    <a:pt x="64" y="129"/>
                  </a:lnTo>
                  <a:cubicBezTo>
                    <a:pt x="69" y="112"/>
                    <a:pt x="165" y="64"/>
                    <a:pt x="353" y="64"/>
                  </a:cubicBezTo>
                  <a:close/>
                  <a:moveTo>
                    <a:pt x="642" y="207"/>
                  </a:moveTo>
                  <a:lnTo>
                    <a:pt x="642" y="257"/>
                  </a:lnTo>
                  <a:cubicBezTo>
                    <a:pt x="637" y="275"/>
                    <a:pt x="541" y="321"/>
                    <a:pt x="353" y="321"/>
                  </a:cubicBezTo>
                  <a:cubicBezTo>
                    <a:pt x="165" y="321"/>
                    <a:pt x="69" y="275"/>
                    <a:pt x="64" y="257"/>
                  </a:cubicBezTo>
                  <a:lnTo>
                    <a:pt x="64" y="207"/>
                  </a:lnTo>
                  <a:cubicBezTo>
                    <a:pt x="132" y="241"/>
                    <a:pt x="246" y="257"/>
                    <a:pt x="353" y="257"/>
                  </a:cubicBezTo>
                  <a:cubicBezTo>
                    <a:pt x="461" y="257"/>
                    <a:pt x="574" y="241"/>
                    <a:pt x="642" y="207"/>
                  </a:cubicBezTo>
                  <a:close/>
                  <a:moveTo>
                    <a:pt x="642" y="335"/>
                  </a:moveTo>
                  <a:lnTo>
                    <a:pt x="642" y="385"/>
                  </a:lnTo>
                  <a:cubicBezTo>
                    <a:pt x="637" y="403"/>
                    <a:pt x="541" y="450"/>
                    <a:pt x="353" y="450"/>
                  </a:cubicBezTo>
                  <a:cubicBezTo>
                    <a:pt x="165" y="450"/>
                    <a:pt x="69" y="403"/>
                    <a:pt x="64" y="386"/>
                  </a:cubicBezTo>
                  <a:lnTo>
                    <a:pt x="64" y="335"/>
                  </a:lnTo>
                  <a:cubicBezTo>
                    <a:pt x="132" y="369"/>
                    <a:pt x="246" y="386"/>
                    <a:pt x="353" y="386"/>
                  </a:cubicBezTo>
                  <a:cubicBezTo>
                    <a:pt x="461" y="386"/>
                    <a:pt x="574" y="369"/>
                    <a:pt x="642" y="335"/>
                  </a:cubicBezTo>
                  <a:close/>
                  <a:moveTo>
                    <a:pt x="642" y="463"/>
                  </a:moveTo>
                  <a:lnTo>
                    <a:pt x="642" y="514"/>
                  </a:lnTo>
                  <a:cubicBezTo>
                    <a:pt x="637" y="532"/>
                    <a:pt x="541" y="579"/>
                    <a:pt x="353" y="579"/>
                  </a:cubicBezTo>
                  <a:cubicBezTo>
                    <a:pt x="165" y="579"/>
                    <a:pt x="69" y="532"/>
                    <a:pt x="64" y="514"/>
                  </a:cubicBezTo>
                  <a:lnTo>
                    <a:pt x="64" y="463"/>
                  </a:lnTo>
                  <a:cubicBezTo>
                    <a:pt x="132" y="498"/>
                    <a:pt x="246" y="514"/>
                    <a:pt x="353" y="514"/>
                  </a:cubicBezTo>
                  <a:cubicBezTo>
                    <a:pt x="461" y="514"/>
                    <a:pt x="574" y="498"/>
                    <a:pt x="642" y="463"/>
                  </a:cubicBezTo>
                  <a:close/>
                  <a:moveTo>
                    <a:pt x="642" y="592"/>
                  </a:moveTo>
                  <a:lnTo>
                    <a:pt x="642" y="642"/>
                  </a:lnTo>
                  <a:cubicBezTo>
                    <a:pt x="637" y="660"/>
                    <a:pt x="541" y="707"/>
                    <a:pt x="353" y="707"/>
                  </a:cubicBezTo>
                  <a:cubicBezTo>
                    <a:pt x="165" y="707"/>
                    <a:pt x="69" y="660"/>
                    <a:pt x="64" y="642"/>
                  </a:cubicBezTo>
                  <a:lnTo>
                    <a:pt x="64" y="592"/>
                  </a:lnTo>
                  <a:cubicBezTo>
                    <a:pt x="132" y="627"/>
                    <a:pt x="246" y="642"/>
                    <a:pt x="353" y="642"/>
                  </a:cubicBezTo>
                  <a:cubicBezTo>
                    <a:pt x="461" y="642"/>
                    <a:pt x="574" y="627"/>
                    <a:pt x="642" y="592"/>
                  </a:cubicBezTo>
                  <a:close/>
                  <a:moveTo>
                    <a:pt x="642" y="720"/>
                  </a:moveTo>
                  <a:lnTo>
                    <a:pt x="642" y="771"/>
                  </a:lnTo>
                  <a:cubicBezTo>
                    <a:pt x="637" y="788"/>
                    <a:pt x="541" y="835"/>
                    <a:pt x="353" y="835"/>
                  </a:cubicBezTo>
                  <a:cubicBezTo>
                    <a:pt x="165" y="835"/>
                    <a:pt x="69" y="788"/>
                    <a:pt x="64" y="771"/>
                  </a:cubicBezTo>
                  <a:lnTo>
                    <a:pt x="64" y="720"/>
                  </a:lnTo>
                  <a:cubicBezTo>
                    <a:pt x="132" y="755"/>
                    <a:pt x="246" y="771"/>
                    <a:pt x="353" y="771"/>
                  </a:cubicBezTo>
                  <a:cubicBezTo>
                    <a:pt x="461" y="771"/>
                    <a:pt x="574" y="755"/>
                    <a:pt x="642" y="720"/>
                  </a:cubicBezTo>
                  <a:close/>
                  <a:moveTo>
                    <a:pt x="642" y="848"/>
                  </a:moveTo>
                  <a:lnTo>
                    <a:pt x="642" y="899"/>
                  </a:lnTo>
                  <a:cubicBezTo>
                    <a:pt x="637" y="917"/>
                    <a:pt x="541" y="964"/>
                    <a:pt x="353" y="964"/>
                  </a:cubicBezTo>
                  <a:cubicBezTo>
                    <a:pt x="165" y="964"/>
                    <a:pt x="69" y="917"/>
                    <a:pt x="64" y="899"/>
                  </a:cubicBezTo>
                  <a:lnTo>
                    <a:pt x="64" y="848"/>
                  </a:lnTo>
                  <a:cubicBezTo>
                    <a:pt x="132" y="883"/>
                    <a:pt x="246" y="899"/>
                    <a:pt x="353" y="899"/>
                  </a:cubicBezTo>
                  <a:cubicBezTo>
                    <a:pt x="461" y="899"/>
                    <a:pt x="574" y="883"/>
                    <a:pt x="642" y="848"/>
                  </a:cubicBezTo>
                  <a:close/>
                  <a:moveTo>
                    <a:pt x="353" y="1"/>
                  </a:moveTo>
                  <a:cubicBezTo>
                    <a:pt x="183" y="1"/>
                    <a:pt x="0" y="41"/>
                    <a:pt x="0" y="129"/>
                  </a:cubicBezTo>
                  <a:lnTo>
                    <a:pt x="0" y="899"/>
                  </a:lnTo>
                  <a:cubicBezTo>
                    <a:pt x="0" y="987"/>
                    <a:pt x="183" y="1027"/>
                    <a:pt x="353" y="1027"/>
                  </a:cubicBezTo>
                  <a:cubicBezTo>
                    <a:pt x="523" y="1027"/>
                    <a:pt x="707" y="987"/>
                    <a:pt x="707" y="899"/>
                  </a:cubicBezTo>
                  <a:lnTo>
                    <a:pt x="707" y="129"/>
                  </a:lnTo>
                  <a:cubicBezTo>
                    <a:pt x="707" y="41"/>
                    <a:pt x="523" y="1"/>
                    <a:pt x="353" y="1"/>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815;p22">
              <a:extLst>
                <a:ext uri="{FF2B5EF4-FFF2-40B4-BE49-F238E27FC236}">
                  <a16:creationId xmlns:a16="http://schemas.microsoft.com/office/drawing/2014/main" xmlns="" id="{3DFBCAA8-27EB-4ABF-B7B6-A4020887B9C5}"/>
                </a:ext>
              </a:extLst>
            </p:cNvPr>
            <p:cNvSpPr/>
            <p:nvPr/>
          </p:nvSpPr>
          <p:spPr>
            <a:xfrm>
              <a:off x="6265176" y="2554875"/>
              <a:ext cx="43969" cy="56731"/>
            </a:xfrm>
            <a:custGeom>
              <a:avLst/>
              <a:gdLst/>
              <a:ahLst/>
              <a:cxnLst/>
              <a:rect l="l" t="t" r="r" b="b"/>
              <a:pathLst>
                <a:path w="441" h="569" extrusionOk="0">
                  <a:moveTo>
                    <a:pt x="171" y="0"/>
                  </a:moveTo>
                  <a:cubicBezTo>
                    <a:pt x="164" y="0"/>
                    <a:pt x="157" y="3"/>
                    <a:pt x="152" y="8"/>
                  </a:cubicBezTo>
                  <a:lnTo>
                    <a:pt x="8" y="148"/>
                  </a:lnTo>
                  <a:cubicBezTo>
                    <a:pt x="3" y="154"/>
                    <a:pt x="0" y="162"/>
                    <a:pt x="0" y="170"/>
                  </a:cubicBezTo>
                  <a:lnTo>
                    <a:pt x="0" y="398"/>
                  </a:lnTo>
                  <a:cubicBezTo>
                    <a:pt x="0" y="405"/>
                    <a:pt x="3" y="412"/>
                    <a:pt x="7" y="416"/>
                  </a:cubicBezTo>
                  <a:lnTo>
                    <a:pt x="138" y="560"/>
                  </a:lnTo>
                  <a:cubicBezTo>
                    <a:pt x="143" y="565"/>
                    <a:pt x="150" y="568"/>
                    <a:pt x="158" y="568"/>
                  </a:cubicBezTo>
                  <a:lnTo>
                    <a:pt x="413" y="568"/>
                  </a:lnTo>
                  <a:cubicBezTo>
                    <a:pt x="428" y="568"/>
                    <a:pt x="440" y="556"/>
                    <a:pt x="440" y="541"/>
                  </a:cubicBezTo>
                  <a:cubicBezTo>
                    <a:pt x="440" y="526"/>
                    <a:pt x="428" y="513"/>
                    <a:pt x="413" y="513"/>
                  </a:cubicBezTo>
                  <a:lnTo>
                    <a:pt x="171" y="513"/>
                  </a:lnTo>
                  <a:lnTo>
                    <a:pt x="55" y="388"/>
                  </a:lnTo>
                  <a:lnTo>
                    <a:pt x="55" y="179"/>
                  </a:lnTo>
                  <a:lnTo>
                    <a:pt x="182" y="55"/>
                  </a:lnTo>
                  <a:lnTo>
                    <a:pt x="413" y="55"/>
                  </a:lnTo>
                  <a:cubicBezTo>
                    <a:pt x="428" y="55"/>
                    <a:pt x="440" y="43"/>
                    <a:pt x="440" y="27"/>
                  </a:cubicBezTo>
                  <a:cubicBezTo>
                    <a:pt x="440" y="12"/>
                    <a:pt x="428" y="0"/>
                    <a:pt x="413" y="0"/>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816;p22">
              <a:extLst>
                <a:ext uri="{FF2B5EF4-FFF2-40B4-BE49-F238E27FC236}">
                  <a16:creationId xmlns:a16="http://schemas.microsoft.com/office/drawing/2014/main" xmlns="" id="{00A41AA8-9176-4048-8D1B-AC50660B00F4}"/>
                </a:ext>
              </a:extLst>
            </p:cNvPr>
            <p:cNvSpPr/>
            <p:nvPr/>
          </p:nvSpPr>
          <p:spPr>
            <a:xfrm>
              <a:off x="6322305" y="2568734"/>
              <a:ext cx="19243" cy="28914"/>
            </a:xfrm>
            <a:custGeom>
              <a:avLst/>
              <a:gdLst/>
              <a:ahLst/>
              <a:cxnLst/>
              <a:rect l="l" t="t" r="r" b="b"/>
              <a:pathLst>
                <a:path w="193" h="290" extrusionOk="0">
                  <a:moveTo>
                    <a:pt x="97" y="1"/>
                  </a:moveTo>
                  <a:cubicBezTo>
                    <a:pt x="79" y="1"/>
                    <a:pt x="65" y="15"/>
                    <a:pt x="65" y="33"/>
                  </a:cubicBezTo>
                  <a:lnTo>
                    <a:pt x="65" y="34"/>
                  </a:lnTo>
                  <a:cubicBezTo>
                    <a:pt x="29" y="39"/>
                    <a:pt x="2" y="69"/>
                    <a:pt x="0" y="105"/>
                  </a:cubicBezTo>
                  <a:cubicBezTo>
                    <a:pt x="3" y="146"/>
                    <a:pt x="36" y="177"/>
                    <a:pt x="76" y="177"/>
                  </a:cubicBezTo>
                  <a:cubicBezTo>
                    <a:pt x="77" y="177"/>
                    <a:pt x="79" y="177"/>
                    <a:pt x="80" y="177"/>
                  </a:cubicBezTo>
                  <a:lnTo>
                    <a:pt x="113" y="177"/>
                  </a:lnTo>
                  <a:cubicBezTo>
                    <a:pt x="123" y="177"/>
                    <a:pt x="129" y="183"/>
                    <a:pt x="129" y="185"/>
                  </a:cubicBezTo>
                  <a:cubicBezTo>
                    <a:pt x="129" y="188"/>
                    <a:pt x="123" y="194"/>
                    <a:pt x="113" y="194"/>
                  </a:cubicBezTo>
                  <a:lnTo>
                    <a:pt x="32" y="194"/>
                  </a:lnTo>
                  <a:cubicBezTo>
                    <a:pt x="15" y="194"/>
                    <a:pt x="0" y="208"/>
                    <a:pt x="0" y="225"/>
                  </a:cubicBezTo>
                  <a:cubicBezTo>
                    <a:pt x="0" y="243"/>
                    <a:pt x="15" y="257"/>
                    <a:pt x="32" y="257"/>
                  </a:cubicBezTo>
                  <a:lnTo>
                    <a:pt x="65" y="257"/>
                  </a:lnTo>
                  <a:cubicBezTo>
                    <a:pt x="65" y="275"/>
                    <a:pt x="79" y="290"/>
                    <a:pt x="97" y="290"/>
                  </a:cubicBezTo>
                  <a:cubicBezTo>
                    <a:pt x="114" y="290"/>
                    <a:pt x="129" y="275"/>
                    <a:pt x="129" y="257"/>
                  </a:cubicBezTo>
                  <a:lnTo>
                    <a:pt x="129" y="256"/>
                  </a:lnTo>
                  <a:cubicBezTo>
                    <a:pt x="164" y="251"/>
                    <a:pt x="191" y="222"/>
                    <a:pt x="193" y="186"/>
                  </a:cubicBezTo>
                  <a:cubicBezTo>
                    <a:pt x="190" y="145"/>
                    <a:pt x="157" y="113"/>
                    <a:pt x="117" y="113"/>
                  </a:cubicBezTo>
                  <a:cubicBezTo>
                    <a:pt x="116" y="113"/>
                    <a:pt x="114" y="113"/>
                    <a:pt x="113" y="113"/>
                  </a:cubicBezTo>
                  <a:lnTo>
                    <a:pt x="80" y="113"/>
                  </a:lnTo>
                  <a:cubicBezTo>
                    <a:pt x="71" y="113"/>
                    <a:pt x="65" y="107"/>
                    <a:pt x="65" y="105"/>
                  </a:cubicBezTo>
                  <a:cubicBezTo>
                    <a:pt x="65" y="103"/>
                    <a:pt x="71" y="97"/>
                    <a:pt x="80" y="97"/>
                  </a:cubicBezTo>
                  <a:lnTo>
                    <a:pt x="161" y="97"/>
                  </a:lnTo>
                  <a:cubicBezTo>
                    <a:pt x="179" y="97"/>
                    <a:pt x="193" y="83"/>
                    <a:pt x="193" y="65"/>
                  </a:cubicBezTo>
                  <a:cubicBezTo>
                    <a:pt x="193" y="47"/>
                    <a:pt x="179" y="33"/>
                    <a:pt x="161" y="33"/>
                  </a:cubicBezTo>
                  <a:lnTo>
                    <a:pt x="129" y="33"/>
                  </a:lnTo>
                  <a:cubicBezTo>
                    <a:pt x="129" y="15"/>
                    <a:pt x="114" y="1"/>
                    <a:pt x="97" y="1"/>
                  </a:cubicBezTo>
                  <a:close/>
                </a:path>
              </a:pathLst>
            </a:custGeom>
            <a:solidFill>
              <a:srgbClr val="828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737;p22">
            <a:extLst>
              <a:ext uri="{FF2B5EF4-FFF2-40B4-BE49-F238E27FC236}">
                <a16:creationId xmlns:a16="http://schemas.microsoft.com/office/drawing/2014/main" xmlns="" id="{DA736F8D-AF30-47EC-ACA8-C0530635F99B}"/>
              </a:ext>
            </a:extLst>
          </p:cNvPr>
          <p:cNvSpPr txBox="1"/>
          <p:nvPr/>
        </p:nvSpPr>
        <p:spPr>
          <a:xfrm>
            <a:off x="13510609" y="3567995"/>
            <a:ext cx="1541475" cy="518887"/>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400" dirty="0">
                <a:solidFill>
                  <a:schemeClr val="bg1"/>
                </a:solidFill>
                <a:latin typeface="DM Sans Bold" panose="020B0604020202020204" charset="0"/>
                <a:ea typeface="Roboto"/>
                <a:cs typeface="Roboto"/>
                <a:sym typeface="Roboto"/>
              </a:rPr>
              <a:t>"发展战略集群"</a:t>
            </a:r>
            <a:endParaRPr sz="1400" dirty="0">
              <a:solidFill>
                <a:schemeClr val="bg1"/>
              </a:solidFill>
              <a:latin typeface="DM Sans Bold" panose="020B0604020202020204" charset="0"/>
              <a:ea typeface="Roboto"/>
              <a:cs typeface="Roboto"/>
              <a:sym typeface="Roboto"/>
            </a:endParaRPr>
          </a:p>
        </p:txBody>
      </p:sp>
      <p:sp>
        <p:nvSpPr>
          <p:cNvPr id="130" name="TextBox 129">
            <a:extLst>
              <a:ext uri="{FF2B5EF4-FFF2-40B4-BE49-F238E27FC236}">
                <a16:creationId xmlns:a16="http://schemas.microsoft.com/office/drawing/2014/main" xmlns="" id="{5F2459D8-4F6C-4332-B5F0-B472F1D3EEA5}"/>
              </a:ext>
            </a:extLst>
          </p:cNvPr>
          <p:cNvSpPr txBox="1"/>
          <p:nvPr/>
        </p:nvSpPr>
        <p:spPr>
          <a:xfrm>
            <a:off x="14222164" y="1247781"/>
            <a:ext cx="2604665" cy="307777"/>
          </a:xfrm>
          <a:prstGeom prst="rect">
            <a:avLst/>
          </a:prstGeom>
          <a:noFill/>
        </p:spPr>
        <p:txBody>
          <a:bodyPr wrap="square">
            <a:spAutoFit/>
          </a:bodyPr>
          <a:lstStyle/>
          <a:p>
            <a:pPr algn="just"/>
            <a:r>
              <a:rPr lang="en-US" sz="1400" dirty="0">
                <a:solidFill>
                  <a:schemeClr val="bg1"/>
                </a:solidFill>
                <a:latin typeface="DM Sans Bold" charset="0"/>
              </a:rPr>
              <a:t>精神文化工作</a:t>
            </a:r>
            <a:endParaRPr lang="uz-Cyrl-UZ" sz="1400" dirty="0">
              <a:solidFill>
                <a:schemeClr val="bg1"/>
              </a:solidFill>
            </a:endParaRPr>
          </a:p>
        </p:txBody>
      </p:sp>
      <p:sp>
        <p:nvSpPr>
          <p:cNvPr id="131" name="TextBox 130">
            <a:extLst>
              <a:ext uri="{FF2B5EF4-FFF2-40B4-BE49-F238E27FC236}">
                <a16:creationId xmlns:a16="http://schemas.microsoft.com/office/drawing/2014/main" xmlns="" id="{D4B4C1EA-2C01-4650-81D3-EA55A83B47A8}"/>
              </a:ext>
            </a:extLst>
          </p:cNvPr>
          <p:cNvSpPr txBox="1"/>
          <p:nvPr/>
        </p:nvSpPr>
        <p:spPr>
          <a:xfrm>
            <a:off x="13411200" y="1671409"/>
            <a:ext cx="3999187" cy="738664"/>
          </a:xfrm>
          <a:prstGeom prst="rect">
            <a:avLst/>
          </a:prstGeom>
          <a:noFill/>
        </p:spPr>
        <p:txBody>
          <a:bodyPr wrap="square">
            <a:spAutoFit/>
          </a:bodyPr>
          <a:lstStyle/>
          <a:p>
            <a:pPr algn="just"/>
            <a:r>
              <a:rPr lang="en-US" sz="1400" dirty="0">
                <a:solidFill>
                  <a:schemeClr val="bg1"/>
                </a:solidFill>
                <a:latin typeface="DM Sans Bold" charset="0"/>
              </a:rPr>
              <a:t>"发展战略集群"框架内建立的俱乐部和兴趣小组</a:t>
            </a:r>
            <a:endParaRPr lang="uz-Cyrl-UZ" sz="1400" dirty="0">
              <a:solidFill>
                <a:schemeClr val="bg1"/>
              </a:solidFill>
            </a:endParaRPr>
          </a:p>
        </p:txBody>
      </p:sp>
      <p:sp>
        <p:nvSpPr>
          <p:cNvPr id="132" name="TextBox 131">
            <a:extLst>
              <a:ext uri="{FF2B5EF4-FFF2-40B4-BE49-F238E27FC236}">
                <a16:creationId xmlns:a16="http://schemas.microsoft.com/office/drawing/2014/main" xmlns="" id="{4BDDA4AB-4FF7-4832-8405-56A22984868F}"/>
              </a:ext>
            </a:extLst>
          </p:cNvPr>
          <p:cNvSpPr txBox="1"/>
          <p:nvPr/>
        </p:nvSpPr>
        <p:spPr>
          <a:xfrm>
            <a:off x="13544943" y="5746943"/>
            <a:ext cx="4847369" cy="307777"/>
          </a:xfrm>
          <a:prstGeom prst="rect">
            <a:avLst/>
          </a:prstGeom>
          <a:noFill/>
        </p:spPr>
        <p:txBody>
          <a:bodyPr wrap="square">
            <a:spAutoFit/>
          </a:bodyPr>
          <a:lstStyle/>
          <a:p>
            <a:pPr algn="just"/>
            <a:r>
              <a:rPr lang="en-US" sz="1400" dirty="0">
                <a:solidFill>
                  <a:schemeClr val="bg1"/>
                </a:solidFill>
                <a:latin typeface="DM Sans Bold" charset="0"/>
              </a:rPr>
              <a:t>提高女学生积极性</a:t>
            </a:r>
          </a:p>
        </p:txBody>
      </p:sp>
      <p:sp>
        <p:nvSpPr>
          <p:cNvPr id="133" name="Text 0">
            <a:extLst>
              <a:ext uri="{FF2B5EF4-FFF2-40B4-BE49-F238E27FC236}">
                <a16:creationId xmlns:a16="http://schemas.microsoft.com/office/drawing/2014/main" xmlns="" id="{1175C718-D5FC-4F1F-AFEE-818DA6F84B1A}"/>
              </a:ext>
            </a:extLst>
          </p:cNvPr>
          <p:cNvSpPr/>
          <p:nvPr/>
        </p:nvSpPr>
        <p:spPr>
          <a:xfrm>
            <a:off x="12984300" y="6204703"/>
            <a:ext cx="2344597" cy="240594"/>
          </a:xfrm>
          <a:prstGeom prst="rect">
            <a:avLst/>
          </a:prstGeom>
          <a:noFill/>
          <a:ln/>
        </p:spPr>
        <p:txBody>
          <a:bodyPr wrap="none" lIns="0" tIns="0" rIns="0" bIns="0" rtlCol="0" anchor="t"/>
          <a:lstStyle/>
          <a:p>
            <a:pPr marL="0" indent="0">
              <a:buNone/>
            </a:pPr>
            <a:r>
              <a:rPr lang="en-US" sz="1400" b="1" dirty="0">
                <a:solidFill>
                  <a:schemeClr val="bg1"/>
                </a:solidFill>
                <a:latin typeface="DM Sans Bold" charset="0"/>
                <a:ea typeface="Crimson Pro Semi Bold" pitchFamily="34" charset="-122"/>
                <a:cs typeface="Crimson Pro Semi Bold" pitchFamily="34" charset="-120"/>
              </a:rPr>
              <a:t>"学生艺术团"</a:t>
            </a:r>
            <a:endParaRPr lang="uz-Cyrl-UZ" sz="1400" b="1" dirty="0">
              <a:solidFill>
                <a:schemeClr val="bg1"/>
              </a:solidFill>
            </a:endParaRPr>
          </a:p>
        </p:txBody>
      </p:sp>
      <p:sp>
        <p:nvSpPr>
          <p:cNvPr id="134" name="Text 0">
            <a:extLst>
              <a:ext uri="{FF2B5EF4-FFF2-40B4-BE49-F238E27FC236}">
                <a16:creationId xmlns:a16="http://schemas.microsoft.com/office/drawing/2014/main" xmlns="" id="{9A4B9E74-C0C5-42BB-9413-72B644D4E502}"/>
              </a:ext>
            </a:extLst>
          </p:cNvPr>
          <p:cNvSpPr/>
          <p:nvPr/>
        </p:nvSpPr>
        <p:spPr>
          <a:xfrm>
            <a:off x="12978552" y="6614940"/>
            <a:ext cx="4847369" cy="240594"/>
          </a:xfrm>
          <a:prstGeom prst="rect">
            <a:avLst/>
          </a:prstGeom>
          <a:noFill/>
          <a:ln/>
        </p:spPr>
        <p:txBody>
          <a:bodyPr wrap="none" lIns="0" tIns="0" rIns="0" bIns="0" rtlCol="0" anchor="t"/>
          <a:lstStyle/>
          <a:p>
            <a:pPr marL="0" indent="0">
              <a:buNone/>
            </a:pPr>
            <a:r>
              <a:rPr lang="en-US" sz="1400" b="1" dirty="0">
                <a:solidFill>
                  <a:schemeClr val="bg1"/>
                </a:solidFill>
                <a:latin typeface="DM Sans Bold" charset="0"/>
              </a:rPr>
              <a:t>设立"大学荣誉"特别胸章</a:t>
            </a:r>
            <a:endParaRPr lang="uz-Cyrl-UZ" sz="1400" b="1" dirty="0">
              <a:solidFill>
                <a:schemeClr val="bg1"/>
              </a:solidFill>
            </a:endParaRPr>
          </a:p>
        </p:txBody>
      </p:sp>
      <p:sp>
        <p:nvSpPr>
          <p:cNvPr id="135" name="Text 0">
            <a:extLst>
              <a:ext uri="{FF2B5EF4-FFF2-40B4-BE49-F238E27FC236}">
                <a16:creationId xmlns:a16="http://schemas.microsoft.com/office/drawing/2014/main" xmlns="" id="{2C680DDB-AFE2-42F4-8935-A611F6F2EBDE}"/>
              </a:ext>
            </a:extLst>
          </p:cNvPr>
          <p:cNvSpPr/>
          <p:nvPr/>
        </p:nvSpPr>
        <p:spPr>
          <a:xfrm>
            <a:off x="13012128" y="7046320"/>
            <a:ext cx="4715530" cy="240594"/>
          </a:xfrm>
          <a:prstGeom prst="rect">
            <a:avLst/>
          </a:prstGeom>
          <a:noFill/>
          <a:ln/>
        </p:spPr>
        <p:txBody>
          <a:bodyPr wrap="none" lIns="0" tIns="0" rIns="0" bIns="0" rtlCol="0" anchor="t"/>
          <a:lstStyle/>
          <a:p>
            <a:pPr marL="0" indent="0">
              <a:buNone/>
            </a:pPr>
            <a:r>
              <a:rPr lang="en-US" sz="1400" b="1" dirty="0">
                <a:solidFill>
                  <a:schemeClr val="bg1"/>
                </a:solidFill>
                <a:latin typeface="DM Sans Bold" charset="0"/>
              </a:rPr>
              <a:t>"裁缝与设计"兴趣小组</a:t>
            </a:r>
            <a:endParaRPr lang="uz-Cyrl-UZ" sz="1400" b="1" dirty="0">
              <a:solidFill>
                <a:schemeClr val="bg1"/>
              </a:solidFill>
            </a:endParaRPr>
          </a:p>
        </p:txBody>
      </p:sp>
      <p:sp>
        <p:nvSpPr>
          <p:cNvPr id="136" name="Text 0">
            <a:extLst>
              <a:ext uri="{FF2B5EF4-FFF2-40B4-BE49-F238E27FC236}">
                <a16:creationId xmlns:a16="http://schemas.microsoft.com/office/drawing/2014/main" xmlns="" id="{8D50556A-3781-4D3D-9A73-1BBED6105FFC}"/>
              </a:ext>
            </a:extLst>
          </p:cNvPr>
          <p:cNvSpPr/>
          <p:nvPr/>
        </p:nvSpPr>
        <p:spPr>
          <a:xfrm>
            <a:off x="12996806" y="7506285"/>
            <a:ext cx="4823990" cy="240594"/>
          </a:xfrm>
          <a:prstGeom prst="rect">
            <a:avLst/>
          </a:prstGeom>
          <a:noFill/>
          <a:ln/>
        </p:spPr>
        <p:txBody>
          <a:bodyPr wrap="none" lIns="0" tIns="0" rIns="0" bIns="0" rtlCol="0" anchor="t"/>
          <a:lstStyle/>
          <a:p>
            <a:pPr marL="0" indent="0">
              <a:buNone/>
            </a:pPr>
            <a:r>
              <a:rPr lang="en-US" sz="1400" b="1" dirty="0">
                <a:solidFill>
                  <a:schemeClr val="bg1"/>
                </a:solidFill>
                <a:latin typeface="DM Sans Bold" charset="0"/>
              </a:rPr>
              <a:t>开展"祖勒菲娅夫人追随者"俱乐部活动</a:t>
            </a:r>
            <a:endParaRPr lang="uz-Cyrl-UZ" sz="1400" b="1" dirty="0">
              <a:solidFill>
                <a:schemeClr val="bg1"/>
              </a:solidFill>
            </a:endParaRPr>
          </a:p>
        </p:txBody>
      </p:sp>
      <p:sp>
        <p:nvSpPr>
          <p:cNvPr id="137" name="TextBox 136">
            <a:extLst>
              <a:ext uri="{FF2B5EF4-FFF2-40B4-BE49-F238E27FC236}">
                <a16:creationId xmlns:a16="http://schemas.microsoft.com/office/drawing/2014/main" xmlns="" id="{9CCE0E6A-517D-41D5-B4B8-1C5775CDA010}"/>
              </a:ext>
            </a:extLst>
          </p:cNvPr>
          <p:cNvSpPr txBox="1"/>
          <p:nvPr/>
        </p:nvSpPr>
        <p:spPr>
          <a:xfrm>
            <a:off x="12861144" y="8066600"/>
            <a:ext cx="4976493" cy="307777"/>
          </a:xfrm>
          <a:prstGeom prst="rect">
            <a:avLst/>
          </a:prstGeom>
          <a:noFill/>
        </p:spPr>
        <p:txBody>
          <a:bodyPr wrap="square">
            <a:spAutoFit/>
          </a:bodyPr>
          <a:lstStyle/>
          <a:p>
            <a:pPr algn="just"/>
            <a:r>
              <a:rPr lang="en-US" sz="1400" dirty="0">
                <a:solidFill>
                  <a:schemeClr val="bg1"/>
                </a:solidFill>
                <a:latin typeface="DM Sans Bold" charset="0"/>
              </a:rPr>
              <a:t>开展"学生媒体中心"活动</a:t>
            </a:r>
          </a:p>
        </p:txBody>
      </p:sp>
      <p:sp>
        <p:nvSpPr>
          <p:cNvPr id="138" name="Text 0">
            <a:extLst>
              <a:ext uri="{FF2B5EF4-FFF2-40B4-BE49-F238E27FC236}">
                <a16:creationId xmlns:a16="http://schemas.microsoft.com/office/drawing/2014/main" xmlns="" id="{5AE3D51E-AD4E-4C77-9634-2D73653B4435}"/>
              </a:ext>
            </a:extLst>
          </p:cNvPr>
          <p:cNvSpPr/>
          <p:nvPr/>
        </p:nvSpPr>
        <p:spPr>
          <a:xfrm>
            <a:off x="11864548" y="8827683"/>
            <a:ext cx="1409027" cy="240594"/>
          </a:xfrm>
          <a:prstGeom prst="rect">
            <a:avLst/>
          </a:prstGeom>
          <a:noFill/>
          <a:ln/>
        </p:spPr>
        <p:txBody>
          <a:bodyPr wrap="none" lIns="0" tIns="0" rIns="0" bIns="0" rtlCol="0" anchor="t"/>
          <a:lstStyle/>
          <a:p>
            <a:pPr marL="0" indent="0">
              <a:buNone/>
            </a:pPr>
            <a:r>
              <a:rPr lang="en-US" sz="1400" b="1" dirty="0" err="1">
                <a:solidFill>
                  <a:schemeClr val="bg1"/>
                </a:solidFill>
                <a:latin typeface="DM Sans" charset="0"/>
                <a:ea typeface="Crimson Pro Semi Bold" pitchFamily="34" charset="-122"/>
                <a:cs typeface="Crimson Pro Semi Bold" pitchFamily="34" charset="-120"/>
              </a:rPr>
              <a:t>学生新闻俱乐部</a:t>
            </a:r>
            <a:endParaRPr lang="uz-Cyrl-UZ" sz="1400" b="1" dirty="0">
              <a:solidFill>
                <a:schemeClr val="bg1"/>
              </a:solidFill>
            </a:endParaRPr>
          </a:p>
        </p:txBody>
      </p:sp>
      <p:sp>
        <p:nvSpPr>
          <p:cNvPr id="139" name="Text 0">
            <a:extLst>
              <a:ext uri="{FF2B5EF4-FFF2-40B4-BE49-F238E27FC236}">
                <a16:creationId xmlns:a16="http://schemas.microsoft.com/office/drawing/2014/main" xmlns="" id="{EBC4EDD9-4065-4B85-8CFC-0E424114B243}"/>
              </a:ext>
            </a:extLst>
          </p:cNvPr>
          <p:cNvSpPr/>
          <p:nvPr/>
        </p:nvSpPr>
        <p:spPr>
          <a:xfrm>
            <a:off x="12064403" y="9558406"/>
            <a:ext cx="1251183" cy="198674"/>
          </a:xfrm>
          <a:prstGeom prst="rect">
            <a:avLst/>
          </a:prstGeom>
          <a:noFill/>
          <a:ln/>
        </p:spPr>
        <p:txBody>
          <a:bodyPr wrap="none" lIns="0" tIns="0" rIns="0" bIns="0" rtlCol="0" anchor="t"/>
          <a:lstStyle/>
          <a:p>
            <a:pPr marL="0" indent="0">
              <a:buNone/>
            </a:pPr>
            <a:r>
              <a:rPr lang="en-US" sz="1400" b="1" dirty="0" err="1">
                <a:solidFill>
                  <a:schemeClr val="bg1"/>
                </a:solidFill>
                <a:latin typeface="DM Sans" charset="0"/>
              </a:rPr>
              <a:t>平面设计</a:t>
            </a:r>
            <a:endParaRPr lang="en-US" sz="1400" b="1" dirty="0">
              <a:solidFill>
                <a:schemeClr val="bg1"/>
              </a:solidFill>
              <a:latin typeface="DM Sans" charset="0"/>
            </a:endParaRPr>
          </a:p>
          <a:p>
            <a:pPr marL="0" indent="0">
              <a:buNone/>
            </a:pPr>
            <a:endParaRPr lang="uz-Cyrl-UZ" sz="1400" b="1" dirty="0">
              <a:solidFill>
                <a:schemeClr val="bg1"/>
              </a:solidFill>
            </a:endParaRPr>
          </a:p>
        </p:txBody>
      </p:sp>
      <p:sp>
        <p:nvSpPr>
          <p:cNvPr id="140" name="Text 0">
            <a:extLst>
              <a:ext uri="{FF2B5EF4-FFF2-40B4-BE49-F238E27FC236}">
                <a16:creationId xmlns:a16="http://schemas.microsoft.com/office/drawing/2014/main" xmlns="" id="{AAB3EE3C-8261-4DAE-9DF0-1DCE3D73EF57}"/>
              </a:ext>
            </a:extLst>
          </p:cNvPr>
          <p:cNvSpPr/>
          <p:nvPr/>
        </p:nvSpPr>
        <p:spPr>
          <a:xfrm>
            <a:off x="14643750" y="8834964"/>
            <a:ext cx="843837" cy="198674"/>
          </a:xfrm>
          <a:prstGeom prst="rect">
            <a:avLst/>
          </a:prstGeom>
          <a:noFill/>
          <a:ln/>
        </p:spPr>
        <p:txBody>
          <a:bodyPr wrap="none" lIns="0" tIns="0" rIns="0" bIns="0" rtlCol="0" anchor="t"/>
          <a:lstStyle/>
          <a:p>
            <a:pPr marL="0" indent="0">
              <a:buNone/>
            </a:pPr>
            <a:r>
              <a:rPr lang="en-US" sz="1400" b="1" dirty="0" err="1">
                <a:solidFill>
                  <a:schemeClr val="bg1"/>
                </a:solidFill>
                <a:latin typeface="DM Sans" charset="0"/>
                <a:ea typeface="Crimson Pro Semi Bold" pitchFamily="34" charset="-122"/>
                <a:cs typeface="Crimson Pro Semi Bold" pitchFamily="34" charset="-120"/>
              </a:rPr>
              <a:t>电视演播室</a:t>
            </a:r>
            <a:endParaRPr lang="uz-Cyrl-UZ" sz="1400" b="1" dirty="0">
              <a:solidFill>
                <a:schemeClr val="bg1"/>
              </a:solidFill>
            </a:endParaRPr>
          </a:p>
        </p:txBody>
      </p:sp>
      <p:sp>
        <p:nvSpPr>
          <p:cNvPr id="141" name="Text 0">
            <a:extLst>
              <a:ext uri="{FF2B5EF4-FFF2-40B4-BE49-F238E27FC236}">
                <a16:creationId xmlns:a16="http://schemas.microsoft.com/office/drawing/2014/main" xmlns="" id="{CB18E556-7D75-48FC-917F-607B90B79D02}"/>
              </a:ext>
            </a:extLst>
          </p:cNvPr>
          <p:cNvSpPr/>
          <p:nvPr/>
        </p:nvSpPr>
        <p:spPr>
          <a:xfrm>
            <a:off x="14630027" y="9558100"/>
            <a:ext cx="683337" cy="198674"/>
          </a:xfrm>
          <a:prstGeom prst="rect">
            <a:avLst/>
          </a:prstGeom>
          <a:noFill/>
          <a:ln/>
        </p:spPr>
        <p:txBody>
          <a:bodyPr wrap="none" lIns="0" tIns="0" rIns="0" bIns="0" rtlCol="0" anchor="t"/>
          <a:lstStyle/>
          <a:p>
            <a:pPr marL="0" indent="0">
              <a:buNone/>
            </a:pPr>
            <a:r>
              <a:rPr lang="en-US" sz="1400" b="1" dirty="0" err="1">
                <a:solidFill>
                  <a:schemeClr val="bg1"/>
                </a:solidFill>
                <a:latin typeface="DM Sans" charset="0"/>
              </a:rPr>
              <a:t>媒体台</a:t>
            </a:r>
            <a:endParaRPr lang="uz-Cyrl-UZ" sz="1400" b="1" dirty="0">
              <a:solidFill>
                <a:schemeClr val="bg1"/>
              </a:solidFill>
            </a:endParaRPr>
          </a:p>
        </p:txBody>
      </p:sp>
      <p:sp>
        <p:nvSpPr>
          <p:cNvPr id="142" name="Text 0">
            <a:extLst>
              <a:ext uri="{FF2B5EF4-FFF2-40B4-BE49-F238E27FC236}">
                <a16:creationId xmlns:a16="http://schemas.microsoft.com/office/drawing/2014/main" xmlns="" id="{ABFA676E-4510-46C0-ABE4-339E8615CC11}"/>
              </a:ext>
            </a:extLst>
          </p:cNvPr>
          <p:cNvSpPr/>
          <p:nvPr/>
        </p:nvSpPr>
        <p:spPr>
          <a:xfrm>
            <a:off x="16566550" y="8807768"/>
            <a:ext cx="843837" cy="198674"/>
          </a:xfrm>
          <a:prstGeom prst="rect">
            <a:avLst/>
          </a:prstGeom>
          <a:noFill/>
          <a:ln/>
        </p:spPr>
        <p:txBody>
          <a:bodyPr wrap="none" lIns="0" tIns="0" rIns="0" bIns="0" rtlCol="0" anchor="t"/>
          <a:lstStyle/>
          <a:p>
            <a:pPr marL="0" indent="0">
              <a:buNone/>
            </a:pPr>
            <a:r>
              <a:rPr lang="en-US" sz="1400" b="1" dirty="0" err="1">
                <a:solidFill>
                  <a:schemeClr val="bg1"/>
                </a:solidFill>
                <a:latin typeface="DM Sans" charset="0"/>
              </a:rPr>
              <a:t>手机摄影</a:t>
            </a:r>
            <a:endParaRPr lang="uz-Cyrl-UZ" sz="1400" b="1" dirty="0">
              <a:solidFill>
                <a:schemeClr val="bg1"/>
              </a:solidFill>
            </a:endParaRPr>
          </a:p>
        </p:txBody>
      </p:sp>
      <p:sp>
        <p:nvSpPr>
          <p:cNvPr id="143" name="Text 0">
            <a:extLst>
              <a:ext uri="{FF2B5EF4-FFF2-40B4-BE49-F238E27FC236}">
                <a16:creationId xmlns:a16="http://schemas.microsoft.com/office/drawing/2014/main" xmlns="" id="{C60B4A63-6652-4D58-A091-B4F8C1C836B6}"/>
              </a:ext>
            </a:extLst>
          </p:cNvPr>
          <p:cNvSpPr/>
          <p:nvPr/>
        </p:nvSpPr>
        <p:spPr>
          <a:xfrm>
            <a:off x="16582046" y="9562794"/>
            <a:ext cx="683337" cy="198674"/>
          </a:xfrm>
          <a:prstGeom prst="rect">
            <a:avLst/>
          </a:prstGeom>
          <a:noFill/>
          <a:ln/>
        </p:spPr>
        <p:txBody>
          <a:bodyPr wrap="none" lIns="0" tIns="0" rIns="0" bIns="0" rtlCol="0" anchor="t"/>
          <a:lstStyle/>
          <a:p>
            <a:pPr marL="0" indent="0">
              <a:buNone/>
            </a:pPr>
            <a:r>
              <a:rPr lang="en-US" sz="1400" b="1" dirty="0">
                <a:solidFill>
                  <a:schemeClr val="bg1"/>
                </a:solidFill>
              </a:rPr>
              <a:t>SMM经理</a:t>
            </a:r>
            <a:endParaRPr lang="uz-Cyrl-UZ" sz="1400" b="1" dirty="0">
              <a:solidFill>
                <a:schemeClr val="bg1"/>
              </a:solidFill>
            </a:endParaRPr>
          </a:p>
        </p:txBody>
      </p:sp>
      <p:pic>
        <p:nvPicPr>
          <p:cNvPr id="144" name="Рисунок 143" descr="Расширение бизнеса со сплошной заливкой">
            <a:extLst>
              <a:ext uri="{FF2B5EF4-FFF2-40B4-BE49-F238E27FC236}">
                <a16:creationId xmlns:a16="http://schemas.microsoft.com/office/drawing/2014/main" xmlns="" id="{BE8AB87C-A131-4A48-B88E-988E53A15C3A}"/>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2571028" y="6568096"/>
            <a:ext cx="292783" cy="292783"/>
          </a:xfrm>
          <a:prstGeom prst="rect">
            <a:avLst/>
          </a:prstGeom>
        </p:spPr>
      </p:pic>
      <p:pic>
        <p:nvPicPr>
          <p:cNvPr id="145" name="Рисунок 144" descr="Группа женщин со сплошной заливкой">
            <a:extLst>
              <a:ext uri="{FF2B5EF4-FFF2-40B4-BE49-F238E27FC236}">
                <a16:creationId xmlns:a16="http://schemas.microsoft.com/office/drawing/2014/main" xmlns="" id="{61AA1059-B735-4646-8559-0704F6FDA4AE}"/>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2597897" y="7474552"/>
            <a:ext cx="292783" cy="292783"/>
          </a:xfrm>
          <a:prstGeom prst="rect">
            <a:avLst/>
          </a:prstGeom>
        </p:spPr>
      </p:pic>
      <p:pic>
        <p:nvPicPr>
          <p:cNvPr id="146" name="Рисунок 145" descr="Маркетинг со сплошной заливкой">
            <a:extLst>
              <a:ext uri="{FF2B5EF4-FFF2-40B4-BE49-F238E27FC236}">
                <a16:creationId xmlns:a16="http://schemas.microsoft.com/office/drawing/2014/main" xmlns="" id="{2C240DAC-6B67-4F8B-85E1-01D87065921C}"/>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14101798" y="9454268"/>
            <a:ext cx="339776" cy="339776"/>
          </a:xfrm>
          <a:prstGeom prst="rect">
            <a:avLst/>
          </a:prstGeom>
        </p:spPr>
      </p:pic>
      <p:pic>
        <p:nvPicPr>
          <p:cNvPr id="147" name="Рисунок 146" descr="Собрание со сплошной заливкой">
            <a:extLst>
              <a:ext uri="{FF2B5EF4-FFF2-40B4-BE49-F238E27FC236}">
                <a16:creationId xmlns:a16="http://schemas.microsoft.com/office/drawing/2014/main" xmlns="" id="{4E747502-4284-4547-B409-77D0640CF894}"/>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11430001" y="8717502"/>
            <a:ext cx="381868" cy="381868"/>
          </a:xfrm>
          <a:prstGeom prst="rect">
            <a:avLst/>
          </a:prstGeom>
        </p:spPr>
      </p:pic>
      <p:pic>
        <p:nvPicPr>
          <p:cNvPr id="148" name="Рисунок 147" descr="Музыкальные ноты со сплошной заливкой">
            <a:extLst>
              <a:ext uri="{FF2B5EF4-FFF2-40B4-BE49-F238E27FC236}">
                <a16:creationId xmlns:a16="http://schemas.microsoft.com/office/drawing/2014/main" xmlns="" id="{5B433DB4-587C-4513-931F-D3E59045AB66}"/>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2568145" y="6094121"/>
            <a:ext cx="352288" cy="352288"/>
          </a:xfrm>
          <a:prstGeom prst="rect">
            <a:avLst/>
          </a:prstGeom>
        </p:spPr>
      </p:pic>
      <p:pic>
        <p:nvPicPr>
          <p:cNvPr id="149" name="Рисунок 148" descr="Пьедестал со сплошной заливкой">
            <a:extLst>
              <a:ext uri="{FF2B5EF4-FFF2-40B4-BE49-F238E27FC236}">
                <a16:creationId xmlns:a16="http://schemas.microsoft.com/office/drawing/2014/main" xmlns="" id="{EED30707-C165-4DC0-86D6-0AF3519DAF15}"/>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12589327" y="7002100"/>
            <a:ext cx="329033" cy="329033"/>
          </a:xfrm>
          <a:prstGeom prst="rect">
            <a:avLst/>
          </a:prstGeom>
        </p:spPr>
      </p:pic>
      <p:pic>
        <p:nvPicPr>
          <p:cNvPr id="150" name="Рисунок 149" descr="Преподаватель со сплошной заливкой">
            <a:extLst>
              <a:ext uri="{FF2B5EF4-FFF2-40B4-BE49-F238E27FC236}">
                <a16:creationId xmlns:a16="http://schemas.microsoft.com/office/drawing/2014/main" xmlns="" id="{BDDD6BF2-10D2-4B54-AB89-C76F7F9807D0}"/>
              </a:ext>
            </a:extLst>
          </p:cNvPr>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1450573" y="9486900"/>
            <a:ext cx="319205" cy="319205"/>
          </a:xfrm>
          <a:prstGeom prst="rect">
            <a:avLst/>
          </a:prstGeom>
        </p:spPr>
      </p:pic>
      <p:pic>
        <p:nvPicPr>
          <p:cNvPr id="151" name="Рисунок 150">
            <a:extLst>
              <a:ext uri="{FF2B5EF4-FFF2-40B4-BE49-F238E27FC236}">
                <a16:creationId xmlns:a16="http://schemas.microsoft.com/office/drawing/2014/main" xmlns="" id="{82F13651-865A-458C-92EF-C351FEF19D97}"/>
              </a:ext>
            </a:extLst>
          </p:cNvPr>
          <p:cNvPicPr>
            <a:picLocks noChangeAspect="1"/>
          </p:cNvPicPr>
          <p:nvPr/>
        </p:nvPicPr>
        <p:blipFill>
          <a:blip r:embed="rId18">
            <a:duotone>
              <a:schemeClr val="bg2">
                <a:shade val="45000"/>
                <a:satMod val="135000"/>
              </a:schemeClr>
              <a:prstClr val="white"/>
            </a:duotone>
            <a:extLst>
              <a:ext uri="{BEBA8EAE-BF5A-486C-A8C5-ECC9F3942E4B}">
                <a14:imgProps xmlns:a14="http://schemas.microsoft.com/office/drawing/2010/main">
                  <a14:imgLayer r:embed="rId19">
                    <a14:imgEffect>
                      <a14:brightnessContrast bright="100000" contrast="40000"/>
                    </a14:imgEffect>
                  </a14:imgLayer>
                </a14:imgProps>
              </a:ext>
            </a:extLst>
          </a:blip>
          <a:stretch>
            <a:fillRect/>
          </a:stretch>
        </p:blipFill>
        <p:spPr>
          <a:xfrm>
            <a:off x="14102967" y="8705931"/>
            <a:ext cx="339777" cy="339777"/>
          </a:xfrm>
          <a:prstGeom prst="rect">
            <a:avLst/>
          </a:prstGeom>
          <a:noFill/>
          <a:effectLst>
            <a:glow>
              <a:schemeClr val="bg1">
                <a:alpha val="40000"/>
              </a:schemeClr>
            </a:glow>
          </a:effectLst>
        </p:spPr>
      </p:pic>
      <p:pic>
        <p:nvPicPr>
          <p:cNvPr id="152" name="Picture 6" descr="Manager, person, profession, smm icon - Download on Iconfinder">
            <a:extLst>
              <a:ext uri="{FF2B5EF4-FFF2-40B4-BE49-F238E27FC236}">
                <a16:creationId xmlns:a16="http://schemas.microsoft.com/office/drawing/2014/main" xmlns="" id="{A34AAA17-0E06-4C61-8F4A-5E8AC8E63607}"/>
              </a:ext>
            </a:extLst>
          </p:cNvPr>
          <p:cNvPicPr>
            <a:picLocks noChangeAspect="1" noChangeArrowheads="1"/>
          </p:cNvPicPr>
          <p:nvPr/>
        </p:nvPicPr>
        <p:blipFill>
          <a:blip r:embed="rId20" cstate="print">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6148367" y="9504662"/>
            <a:ext cx="278435" cy="278435"/>
          </a:xfrm>
          <a:prstGeom prst="rect">
            <a:avLst/>
          </a:prstGeom>
          <a:noFill/>
          <a:extLst>
            <a:ext uri="{909E8E84-426E-40DD-AFC4-6F175D3DCCD1}">
              <a14:hiddenFill xmlns:a14="http://schemas.microsoft.com/office/drawing/2010/main">
                <a:solidFill>
                  <a:srgbClr val="FFFFFF"/>
                </a:solidFill>
              </a14:hiddenFill>
            </a:ext>
          </a:extLst>
        </p:spPr>
      </p:pic>
      <p:pic>
        <p:nvPicPr>
          <p:cNvPr id="153" name="Рисунок 152" descr="Диаграмма с подъемом со сплошной заливкой">
            <a:extLst>
              <a:ext uri="{FF2B5EF4-FFF2-40B4-BE49-F238E27FC236}">
                <a16:creationId xmlns:a16="http://schemas.microsoft.com/office/drawing/2014/main" xmlns="" id="{F8A61731-326F-4935-B654-C39159D9741E}"/>
              </a:ext>
            </a:extLst>
          </p:cNvPr>
          <p:cNvPicPr>
            <a:picLocks noChangeAspect="1"/>
          </p:cNvPicPr>
          <p:nvPr/>
        </p:nvPicPr>
        <p:blipFill>
          <a:blip r:embed="rId22">
            <a:extLst>
              <a:ext uri="{96DAC541-7B7A-43D3-8B79-37D633B846F1}">
                <asvg:svgBlip xmlns:asvg="http://schemas.microsoft.com/office/drawing/2016/SVG/main" xmlns="" r:embed="rId23"/>
              </a:ext>
            </a:extLst>
          </a:blip>
          <a:stretch>
            <a:fillRect/>
          </a:stretch>
        </p:blipFill>
        <p:spPr>
          <a:xfrm>
            <a:off x="6909294" y="6568096"/>
            <a:ext cx="466060" cy="466060"/>
          </a:xfrm>
          <a:prstGeom prst="rect">
            <a:avLst/>
          </a:prstGeom>
        </p:spPr>
      </p:pic>
      <p:pic>
        <p:nvPicPr>
          <p:cNvPr id="154" name="Рисунок 153" descr="Расширение бизнеса со сплошной заливкой">
            <a:extLst>
              <a:ext uri="{FF2B5EF4-FFF2-40B4-BE49-F238E27FC236}">
                <a16:creationId xmlns:a16="http://schemas.microsoft.com/office/drawing/2014/main" xmlns="" id="{DDA2708E-A880-49F9-BF91-455EB538EEAD}"/>
              </a:ext>
            </a:extLst>
          </p:cNvPr>
          <p:cNvPicPr>
            <a:picLocks noChangeAspect="1"/>
          </p:cNvPicPr>
          <p:nvPr/>
        </p:nvPicPr>
        <p:blipFill>
          <a:blip r:embed="rId24">
            <a:extLst>
              <a:ext uri="{96DAC541-7B7A-43D3-8B79-37D633B846F1}">
                <asvg:svgBlip xmlns:asvg="http://schemas.microsoft.com/office/drawing/2016/SVG/main" xmlns="" r:embed="rId25"/>
              </a:ext>
            </a:extLst>
          </a:blip>
          <a:stretch>
            <a:fillRect/>
          </a:stretch>
        </p:blipFill>
        <p:spPr>
          <a:xfrm>
            <a:off x="543006" y="7276341"/>
            <a:ext cx="677581" cy="677581"/>
          </a:xfrm>
          <a:prstGeom prst="rect">
            <a:avLst/>
          </a:prstGeom>
        </p:spPr>
      </p:pic>
      <p:pic>
        <p:nvPicPr>
          <p:cNvPr id="155" name="Рисунок 154" descr="Школьный класс со сплошной заливкой">
            <a:extLst>
              <a:ext uri="{FF2B5EF4-FFF2-40B4-BE49-F238E27FC236}">
                <a16:creationId xmlns:a16="http://schemas.microsoft.com/office/drawing/2014/main" xmlns="" id="{BAABFB42-D1AD-4DF2-B3F8-136F14C44635}"/>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789382" y="1388288"/>
            <a:ext cx="519460" cy="519460"/>
          </a:xfrm>
          <a:prstGeom prst="rect">
            <a:avLst/>
          </a:prstGeom>
        </p:spPr>
      </p:pic>
      <p:pic>
        <p:nvPicPr>
          <p:cNvPr id="156" name="Рисунок 155" descr="Танец со сплошной заливкой">
            <a:extLst>
              <a:ext uri="{FF2B5EF4-FFF2-40B4-BE49-F238E27FC236}">
                <a16:creationId xmlns:a16="http://schemas.microsoft.com/office/drawing/2014/main" xmlns="" id="{350EFF04-E3F4-47B5-A773-D2D3445C7C15}"/>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flipH="1">
            <a:off x="652248" y="3358535"/>
            <a:ext cx="592035" cy="592035"/>
          </a:xfrm>
          <a:prstGeom prst="rect">
            <a:avLst/>
          </a:prstGeom>
        </p:spPr>
      </p:pic>
      <p:pic>
        <p:nvPicPr>
          <p:cNvPr id="157" name="Рисунок 156" descr="Группа женщин со сплошной заливкой">
            <a:extLst>
              <a:ext uri="{FF2B5EF4-FFF2-40B4-BE49-F238E27FC236}">
                <a16:creationId xmlns:a16="http://schemas.microsoft.com/office/drawing/2014/main" xmlns="" id="{361816CE-FBE4-40C4-9364-BF74BD2C13F8}"/>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652248" y="5478754"/>
            <a:ext cx="527565" cy="519460"/>
          </a:xfrm>
          <a:prstGeom prst="rect">
            <a:avLst/>
          </a:prstGeom>
        </p:spPr>
      </p:pic>
      <p:pic>
        <p:nvPicPr>
          <p:cNvPr id="158" name="Рисунок 157" descr="Презентация с круговой диаграммой со сплошной заливкой">
            <a:extLst>
              <a:ext uri="{FF2B5EF4-FFF2-40B4-BE49-F238E27FC236}">
                <a16:creationId xmlns:a16="http://schemas.microsoft.com/office/drawing/2014/main" xmlns="" id="{A6E82D6C-D20C-464F-B813-AF20154B47C0}"/>
              </a:ext>
            </a:extLst>
          </p:cNvPr>
          <p:cNvPicPr>
            <a:picLocks noChangeAspect="1"/>
          </p:cNvPicPr>
          <p:nvPr/>
        </p:nvPicPr>
        <p:blipFill>
          <a:blip r:embed="rId32">
            <a:extLst>
              <a:ext uri="{96DAC541-7B7A-43D3-8B79-37D633B846F1}">
                <asvg:svgBlip xmlns:asvg="http://schemas.microsoft.com/office/drawing/2016/SVG/main" xmlns="" r:embed="rId33"/>
              </a:ext>
            </a:extLst>
          </a:blip>
          <a:stretch>
            <a:fillRect/>
          </a:stretch>
        </p:blipFill>
        <p:spPr>
          <a:xfrm>
            <a:off x="12815541" y="1576041"/>
            <a:ext cx="519459" cy="519459"/>
          </a:xfrm>
          <a:prstGeom prst="rect">
            <a:avLst/>
          </a:prstGeom>
        </p:spPr>
      </p:pic>
      <p:pic>
        <p:nvPicPr>
          <p:cNvPr id="159" name="Рисунок 158" descr="Футбольный мяч со сплошной заливкой">
            <a:extLst>
              <a:ext uri="{FF2B5EF4-FFF2-40B4-BE49-F238E27FC236}">
                <a16:creationId xmlns:a16="http://schemas.microsoft.com/office/drawing/2014/main" xmlns="" id="{A339FA93-A080-427C-986D-D5B2DBFF7153}"/>
              </a:ext>
            </a:extLst>
          </p:cNvPr>
          <p:cNvPicPr>
            <a:picLocks noChangeAspect="1"/>
          </p:cNvPicPr>
          <p:nvPr/>
        </p:nvPicPr>
        <p:blipFill>
          <a:blip r:embed="rId34">
            <a:extLst>
              <a:ext uri="{96DAC541-7B7A-43D3-8B79-37D633B846F1}">
                <asvg:svgBlip xmlns:asvg="http://schemas.microsoft.com/office/drawing/2016/SVG/main" xmlns="" r:embed="rId35"/>
              </a:ext>
            </a:extLst>
          </a:blip>
          <a:stretch>
            <a:fillRect/>
          </a:stretch>
        </p:blipFill>
        <p:spPr>
          <a:xfrm>
            <a:off x="6630463" y="1423060"/>
            <a:ext cx="519460" cy="519460"/>
          </a:xfrm>
          <a:prstGeom prst="rect">
            <a:avLst/>
          </a:prstGeom>
        </p:spPr>
      </p:pic>
      <p:pic>
        <p:nvPicPr>
          <p:cNvPr id="160" name="Рисунок 159" descr="Смартфон со сплошной заливкой">
            <a:extLst>
              <a:ext uri="{FF2B5EF4-FFF2-40B4-BE49-F238E27FC236}">
                <a16:creationId xmlns:a16="http://schemas.microsoft.com/office/drawing/2014/main" xmlns="" id="{D05E857B-C716-43EF-BDFB-E9D560923504}"/>
              </a:ext>
            </a:extLst>
          </p:cNvPr>
          <p:cNvPicPr>
            <a:picLocks noChangeAspect="1"/>
          </p:cNvPicPr>
          <p:nvPr/>
        </p:nvPicPr>
        <p:blipFill rotWithShape="1">
          <a:blip r:embed="rId36">
            <a:extLst>
              <a:ext uri="{96DAC541-7B7A-43D3-8B79-37D633B846F1}">
                <asvg:svgBlip xmlns:asvg="http://schemas.microsoft.com/office/drawing/2016/SVG/main" xmlns="" r:embed="rId37"/>
              </a:ext>
            </a:extLst>
          </a:blip>
          <a:srcRect l="19190" r="16313"/>
          <a:stretch/>
        </p:blipFill>
        <p:spPr>
          <a:xfrm>
            <a:off x="16148367" y="8759601"/>
            <a:ext cx="200435" cy="310770"/>
          </a:xfrm>
          <a:prstGeom prst="rect">
            <a:avLst/>
          </a:prstGeom>
        </p:spPr>
      </p:pic>
      <p:sp>
        <p:nvSpPr>
          <p:cNvPr id="161" name="AutoShape 2">
            <a:extLst>
              <a:ext uri="{FF2B5EF4-FFF2-40B4-BE49-F238E27FC236}">
                <a16:creationId xmlns:a16="http://schemas.microsoft.com/office/drawing/2014/main" xmlns="" id="{1528C03D-8065-4F4B-8C03-F52EC047BC02}"/>
              </a:ext>
            </a:extLst>
          </p:cNvPr>
          <p:cNvSpPr/>
          <p:nvPr/>
        </p:nvSpPr>
        <p:spPr>
          <a:xfrm>
            <a:off x="6309965" y="2900811"/>
            <a:ext cx="0" cy="4676296"/>
          </a:xfrm>
          <a:prstGeom prst="line">
            <a:avLst/>
          </a:prstGeom>
          <a:ln w="47625" cap="flat">
            <a:solidFill>
              <a:srgbClr val="FFFFFF"/>
            </a:solidFill>
            <a:prstDash val="solid"/>
            <a:headEnd type="none" w="sm" len="sm"/>
            <a:tailEnd type="none" w="sm" len="sm"/>
          </a:ln>
        </p:spPr>
      </p:sp>
      <p:sp>
        <p:nvSpPr>
          <p:cNvPr id="162" name="AutoShape 2">
            <a:extLst>
              <a:ext uri="{FF2B5EF4-FFF2-40B4-BE49-F238E27FC236}">
                <a16:creationId xmlns:a16="http://schemas.microsoft.com/office/drawing/2014/main" xmlns="" id="{0ED83AF6-0509-4989-8743-752EB0F77F93}"/>
              </a:ext>
            </a:extLst>
          </p:cNvPr>
          <p:cNvSpPr/>
          <p:nvPr/>
        </p:nvSpPr>
        <p:spPr>
          <a:xfrm>
            <a:off x="12344400" y="2919806"/>
            <a:ext cx="0" cy="4676296"/>
          </a:xfrm>
          <a:prstGeom prst="line">
            <a:avLst/>
          </a:prstGeom>
          <a:ln w="47625" cap="flat">
            <a:solidFill>
              <a:srgbClr val="FFFFFF"/>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7" name="Freeform 27"/>
          <p:cNvSpPr/>
          <p:nvPr/>
        </p:nvSpPr>
        <p:spPr>
          <a:xfrm rot="5113615">
            <a:off x="-5193126" y="3168351"/>
            <a:ext cx="7086596" cy="7086596"/>
          </a:xfrm>
          <a:custGeom>
            <a:avLst/>
            <a:gdLst/>
            <a:ahLst/>
            <a:cxnLst/>
            <a:rect l="l" t="t" r="r" b="b"/>
            <a:pathLst>
              <a:path w="7086596" h="7086596">
                <a:moveTo>
                  <a:pt x="0" y="0"/>
                </a:moveTo>
                <a:lnTo>
                  <a:pt x="7086596" y="0"/>
                </a:lnTo>
                <a:lnTo>
                  <a:pt x="7086596" y="7086596"/>
                </a:lnTo>
                <a:lnTo>
                  <a:pt x="0" y="708659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28" name="Freeform 28"/>
          <p:cNvSpPr/>
          <p:nvPr/>
        </p:nvSpPr>
        <p:spPr>
          <a:xfrm rot="10436461">
            <a:off x="14152110" y="-4118246"/>
            <a:ext cx="6566182" cy="6566182"/>
          </a:xfrm>
          <a:custGeom>
            <a:avLst/>
            <a:gdLst/>
            <a:ahLst/>
            <a:cxnLst/>
            <a:rect l="l" t="t" r="r" b="b"/>
            <a:pathLst>
              <a:path w="6566182" h="6566182">
                <a:moveTo>
                  <a:pt x="0" y="0"/>
                </a:moveTo>
                <a:lnTo>
                  <a:pt x="6566182" y="0"/>
                </a:lnTo>
                <a:lnTo>
                  <a:pt x="6566182" y="6566183"/>
                </a:lnTo>
                <a:lnTo>
                  <a:pt x="0" y="656618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3" name="Freeform 7">
            <a:extLst>
              <a:ext uri="{FF2B5EF4-FFF2-40B4-BE49-F238E27FC236}">
                <a16:creationId xmlns:a16="http://schemas.microsoft.com/office/drawing/2014/main" xmlns="" id="{545DEB48-2A00-48AE-9AAD-90E10E65AAF9}"/>
              </a:ext>
            </a:extLst>
          </p:cNvPr>
          <p:cNvSpPr/>
          <p:nvPr/>
        </p:nvSpPr>
        <p:spPr>
          <a:xfrm>
            <a:off x="6737291" y="2654564"/>
            <a:ext cx="1320170" cy="1223630"/>
          </a:xfrm>
          <a:custGeom>
            <a:avLst/>
            <a:gdLst/>
            <a:ahLst/>
            <a:cxnLst/>
            <a:rect l="l" t="t" r="r" b="b"/>
            <a:pathLst>
              <a:path w="933584" h="933584">
                <a:moveTo>
                  <a:pt x="0" y="0"/>
                </a:moveTo>
                <a:lnTo>
                  <a:pt x="933584" y="0"/>
                </a:lnTo>
                <a:lnTo>
                  <a:pt x="933584" y="933584"/>
                </a:lnTo>
                <a:lnTo>
                  <a:pt x="0" y="93358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4" name="Freeform 8">
            <a:extLst>
              <a:ext uri="{FF2B5EF4-FFF2-40B4-BE49-F238E27FC236}">
                <a16:creationId xmlns:a16="http://schemas.microsoft.com/office/drawing/2014/main" xmlns="" id="{039BE0DC-8E6E-4019-BFBE-808958ECE664}"/>
              </a:ext>
            </a:extLst>
          </p:cNvPr>
          <p:cNvSpPr/>
          <p:nvPr/>
        </p:nvSpPr>
        <p:spPr>
          <a:xfrm>
            <a:off x="7113344" y="2946520"/>
            <a:ext cx="613761" cy="656195"/>
          </a:xfrm>
          <a:custGeom>
            <a:avLst/>
            <a:gdLst/>
            <a:ahLst/>
            <a:cxnLst/>
            <a:rect l="l" t="t" r="r" b="b"/>
            <a:pathLst>
              <a:path w="434033" h="500652">
                <a:moveTo>
                  <a:pt x="0" y="0"/>
                </a:moveTo>
                <a:lnTo>
                  <a:pt x="434034" y="0"/>
                </a:lnTo>
                <a:lnTo>
                  <a:pt x="434034" y="500652"/>
                </a:lnTo>
                <a:lnTo>
                  <a:pt x="0" y="500652"/>
                </a:lnTo>
                <a:lnTo>
                  <a:pt x="0" y="0"/>
                </a:lnTo>
                <a:close/>
              </a:path>
            </a:pathLst>
          </a:custGeom>
          <a:blipFill>
            <a:blip r:embed="rId6"/>
            <a:stretch>
              <a:fillRect/>
            </a:stretch>
          </a:blipFill>
        </p:spPr>
      </p:sp>
      <p:sp>
        <p:nvSpPr>
          <p:cNvPr id="60" name="Freeform 34">
            <a:extLst>
              <a:ext uri="{FF2B5EF4-FFF2-40B4-BE49-F238E27FC236}">
                <a16:creationId xmlns:a16="http://schemas.microsoft.com/office/drawing/2014/main" xmlns="" id="{589E93FB-632F-47E1-B11E-8C3C88370CEE}"/>
              </a:ext>
            </a:extLst>
          </p:cNvPr>
          <p:cNvSpPr/>
          <p:nvPr/>
        </p:nvSpPr>
        <p:spPr>
          <a:xfrm>
            <a:off x="10092470" y="2487052"/>
            <a:ext cx="1440000" cy="1440000"/>
          </a:xfrm>
          <a:custGeom>
            <a:avLst/>
            <a:gdLst/>
            <a:ahLst/>
            <a:cxnLst/>
            <a:rect l="l" t="t" r="r" b="b"/>
            <a:pathLst>
              <a:path w="729587" h="722954">
                <a:moveTo>
                  <a:pt x="0" y="0"/>
                </a:moveTo>
                <a:lnTo>
                  <a:pt x="729587" y="0"/>
                </a:lnTo>
                <a:lnTo>
                  <a:pt x="729587" y="722954"/>
                </a:lnTo>
                <a:lnTo>
                  <a:pt x="0" y="722954"/>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61" name="Freeform 35">
            <a:extLst>
              <a:ext uri="{FF2B5EF4-FFF2-40B4-BE49-F238E27FC236}">
                <a16:creationId xmlns:a16="http://schemas.microsoft.com/office/drawing/2014/main" xmlns="" id="{494A1B22-4AF0-4908-9BE3-1838ECE6A610}"/>
              </a:ext>
            </a:extLst>
          </p:cNvPr>
          <p:cNvSpPr/>
          <p:nvPr/>
        </p:nvSpPr>
        <p:spPr>
          <a:xfrm>
            <a:off x="15925800" y="4008763"/>
            <a:ext cx="250177" cy="518501"/>
          </a:xfrm>
          <a:custGeom>
            <a:avLst/>
            <a:gdLst/>
            <a:ahLst/>
            <a:cxnLst/>
            <a:rect l="l" t="t" r="r" b="b"/>
            <a:pathLst>
              <a:path w="170125" h="352590">
                <a:moveTo>
                  <a:pt x="0" y="0"/>
                </a:moveTo>
                <a:lnTo>
                  <a:pt x="170125" y="0"/>
                </a:lnTo>
                <a:lnTo>
                  <a:pt x="170125" y="352590"/>
                </a:lnTo>
                <a:lnTo>
                  <a:pt x="0" y="35259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62" name="Freeform 36">
            <a:extLst>
              <a:ext uri="{FF2B5EF4-FFF2-40B4-BE49-F238E27FC236}">
                <a16:creationId xmlns:a16="http://schemas.microsoft.com/office/drawing/2014/main" xmlns="" id="{92CE66E7-159C-46E2-993D-FA6720368EB5}"/>
              </a:ext>
            </a:extLst>
          </p:cNvPr>
          <p:cNvSpPr/>
          <p:nvPr/>
        </p:nvSpPr>
        <p:spPr>
          <a:xfrm>
            <a:off x="14508731" y="4000500"/>
            <a:ext cx="274069" cy="526763"/>
          </a:xfrm>
          <a:custGeom>
            <a:avLst/>
            <a:gdLst/>
            <a:ahLst/>
            <a:cxnLst/>
            <a:rect l="l" t="t" r="r" b="b"/>
            <a:pathLst>
              <a:path w="186372" h="343544">
                <a:moveTo>
                  <a:pt x="0" y="0"/>
                </a:moveTo>
                <a:lnTo>
                  <a:pt x="186373" y="0"/>
                </a:lnTo>
                <a:lnTo>
                  <a:pt x="186373" y="343543"/>
                </a:lnTo>
                <a:lnTo>
                  <a:pt x="0" y="343543"/>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67" name="TextBox 41">
            <a:extLst>
              <a:ext uri="{FF2B5EF4-FFF2-40B4-BE49-F238E27FC236}">
                <a16:creationId xmlns:a16="http://schemas.microsoft.com/office/drawing/2014/main" xmlns="" id="{AFC642DA-CC30-46E6-98CF-5915EA98F69A}"/>
              </a:ext>
            </a:extLst>
          </p:cNvPr>
          <p:cNvSpPr txBox="1"/>
          <p:nvPr/>
        </p:nvSpPr>
        <p:spPr>
          <a:xfrm>
            <a:off x="4949578" y="868929"/>
            <a:ext cx="8388845" cy="392415"/>
          </a:xfrm>
          <a:prstGeom prst="rect">
            <a:avLst/>
          </a:prstGeom>
        </p:spPr>
        <p:txBody>
          <a:bodyPr wrap="square" lIns="0" tIns="0" rIns="0" bIns="0" rtlCol="0" anchor="t">
            <a:spAutoFit/>
          </a:bodyPr>
          <a:lstStyle/>
          <a:p>
            <a:pPr algn="ctr">
              <a:lnSpc>
                <a:spcPts val="2796"/>
              </a:lnSpc>
            </a:pPr>
            <a:r>
              <a:rPr lang="en-US" sz="3200" b="1" dirty="0">
                <a:solidFill>
                  <a:srgbClr val="FFFFFF"/>
                </a:solidFill>
                <a:latin typeface="Now Bold"/>
                <a:sym typeface="Lora Bold"/>
              </a:rPr>
              <a:t>总体指标</a:t>
            </a:r>
          </a:p>
        </p:txBody>
      </p:sp>
      <p:sp>
        <p:nvSpPr>
          <p:cNvPr id="68" name="TextBox 42">
            <a:extLst>
              <a:ext uri="{FF2B5EF4-FFF2-40B4-BE49-F238E27FC236}">
                <a16:creationId xmlns:a16="http://schemas.microsoft.com/office/drawing/2014/main" xmlns="" id="{39839B4B-9C87-46BB-9340-7238D43ABBFE}"/>
              </a:ext>
            </a:extLst>
          </p:cNvPr>
          <p:cNvSpPr txBox="1"/>
          <p:nvPr/>
        </p:nvSpPr>
        <p:spPr>
          <a:xfrm>
            <a:off x="1534835" y="2018341"/>
            <a:ext cx="2762033" cy="231730"/>
          </a:xfrm>
          <a:prstGeom prst="rect">
            <a:avLst/>
          </a:prstGeom>
        </p:spPr>
        <p:txBody>
          <a:bodyPr wrap="square" lIns="0" tIns="0" rIns="0" bIns="0" rtlCol="0" anchor="t">
            <a:spAutoFit/>
          </a:bodyPr>
          <a:lstStyle/>
          <a:p>
            <a:pPr algn="ctr">
              <a:lnSpc>
                <a:spcPts val="1822"/>
              </a:lnSpc>
            </a:pPr>
            <a:r>
              <a:rPr lang="en-US" sz="1600" dirty="0">
                <a:solidFill>
                  <a:schemeClr val="bg1"/>
                </a:solidFill>
                <a:latin typeface="DM Sans Bold" charset="0"/>
                <a:sym typeface="Lora Bold"/>
              </a:rPr>
              <a:t>主要指标</a:t>
            </a:r>
          </a:p>
        </p:txBody>
      </p:sp>
      <p:sp>
        <p:nvSpPr>
          <p:cNvPr id="69" name="TextBox 43">
            <a:extLst>
              <a:ext uri="{FF2B5EF4-FFF2-40B4-BE49-F238E27FC236}">
                <a16:creationId xmlns:a16="http://schemas.microsoft.com/office/drawing/2014/main" xmlns="" id="{991F3E95-5642-4405-8EC4-07F2FF1C08E4}"/>
              </a:ext>
            </a:extLst>
          </p:cNvPr>
          <p:cNvSpPr txBox="1"/>
          <p:nvPr/>
        </p:nvSpPr>
        <p:spPr>
          <a:xfrm>
            <a:off x="5397804" y="1952445"/>
            <a:ext cx="3890800" cy="231730"/>
          </a:xfrm>
          <a:prstGeom prst="rect">
            <a:avLst/>
          </a:prstGeom>
        </p:spPr>
        <p:txBody>
          <a:bodyPr wrap="square" lIns="0" tIns="0" rIns="0" bIns="0" rtlCol="0" anchor="t">
            <a:spAutoFit/>
          </a:bodyPr>
          <a:lstStyle/>
          <a:p>
            <a:pPr algn="ctr">
              <a:lnSpc>
                <a:spcPts val="1822"/>
              </a:lnSpc>
            </a:pPr>
            <a:r>
              <a:rPr lang="en-US" sz="1600" b="1" dirty="0">
                <a:solidFill>
                  <a:schemeClr val="bg1"/>
                </a:solidFill>
                <a:latin typeface="DM Sans Bold" pitchFamily="2" charset="0"/>
                <a:ea typeface="Lora Bold"/>
                <a:cs typeface="Lora Bold"/>
                <a:sym typeface="Lora Bold"/>
              </a:rPr>
              <a:t>教学方法保障</a:t>
            </a:r>
          </a:p>
        </p:txBody>
      </p:sp>
      <p:sp>
        <p:nvSpPr>
          <p:cNvPr id="70" name="TextBox 44">
            <a:extLst>
              <a:ext uri="{FF2B5EF4-FFF2-40B4-BE49-F238E27FC236}">
                <a16:creationId xmlns:a16="http://schemas.microsoft.com/office/drawing/2014/main" xmlns="" id="{3C706FD7-8893-4C5D-9C50-D7F338E83FF4}"/>
              </a:ext>
            </a:extLst>
          </p:cNvPr>
          <p:cNvSpPr txBox="1"/>
          <p:nvPr/>
        </p:nvSpPr>
        <p:spPr>
          <a:xfrm>
            <a:off x="9993902" y="1877121"/>
            <a:ext cx="7459905" cy="231730"/>
          </a:xfrm>
          <a:prstGeom prst="rect">
            <a:avLst/>
          </a:prstGeom>
        </p:spPr>
        <p:txBody>
          <a:bodyPr wrap="square" lIns="0" tIns="0" rIns="0" bIns="0" rtlCol="0" anchor="t">
            <a:spAutoFit/>
          </a:bodyPr>
          <a:lstStyle/>
          <a:p>
            <a:pPr algn="ctr">
              <a:lnSpc>
                <a:spcPts val="1822"/>
              </a:lnSpc>
            </a:pPr>
            <a:r>
              <a:rPr lang="en-US" sz="1600" b="1" dirty="0">
                <a:solidFill>
                  <a:schemeClr val="bg1"/>
                </a:solidFill>
                <a:latin typeface="DM Sans Bold" pitchFamily="2" charset="0"/>
                <a:sym typeface="Lora Bold"/>
              </a:rPr>
              <a:t>教职人员组成及科研潜力</a:t>
            </a:r>
          </a:p>
        </p:txBody>
      </p:sp>
      <p:sp>
        <p:nvSpPr>
          <p:cNvPr id="71" name="TextBox 45">
            <a:extLst>
              <a:ext uri="{FF2B5EF4-FFF2-40B4-BE49-F238E27FC236}">
                <a16:creationId xmlns:a16="http://schemas.microsoft.com/office/drawing/2014/main" xmlns="" id="{AA580D1F-F34B-4F34-BBB1-12622F6CBC8A}"/>
              </a:ext>
            </a:extLst>
          </p:cNvPr>
          <p:cNvSpPr txBox="1"/>
          <p:nvPr/>
        </p:nvSpPr>
        <p:spPr>
          <a:xfrm>
            <a:off x="1414690" y="2488061"/>
            <a:ext cx="1903330" cy="193258"/>
          </a:xfrm>
          <a:prstGeom prst="rect">
            <a:avLst/>
          </a:prstGeom>
        </p:spPr>
        <p:txBody>
          <a:bodyPr wrap="square" lIns="0" tIns="0" rIns="0" bIns="0" rtlCol="0" anchor="t">
            <a:spAutoFit/>
          </a:bodyPr>
          <a:lstStyle/>
          <a:p>
            <a:pPr marL="210829" lvl="1" indent="-105415" algn="l">
              <a:lnSpc>
                <a:spcPts val="1367"/>
              </a:lnSpc>
              <a:buFont typeface="Arial"/>
              <a:buChar char="•"/>
            </a:pPr>
            <a:r>
              <a:rPr lang="en-US" sz="1600" b="1" dirty="0" err="1">
                <a:solidFill>
                  <a:schemeClr val="bg1"/>
                </a:solidFill>
                <a:latin typeface="DM Sans" pitchFamily="2" charset="0"/>
                <a:ea typeface="Lora Bold"/>
                <a:cs typeface="Lora Bold"/>
                <a:sym typeface="Lora Bold"/>
              </a:rPr>
              <a:t>学院数量</a:t>
            </a:r>
            <a:endParaRPr lang="en-US" sz="1600" b="1" dirty="0">
              <a:solidFill>
                <a:schemeClr val="bg1"/>
              </a:solidFill>
              <a:latin typeface="DM Sans" pitchFamily="2" charset="0"/>
              <a:ea typeface="Lora Bold"/>
              <a:cs typeface="Lora Bold"/>
              <a:sym typeface="Lora Bold"/>
            </a:endParaRPr>
          </a:p>
        </p:txBody>
      </p:sp>
      <p:sp>
        <p:nvSpPr>
          <p:cNvPr id="72" name="TextBox 46">
            <a:extLst>
              <a:ext uri="{FF2B5EF4-FFF2-40B4-BE49-F238E27FC236}">
                <a16:creationId xmlns:a16="http://schemas.microsoft.com/office/drawing/2014/main" xmlns="" id="{C1918E82-B7A3-41D3-8EB2-090DB4E37BF4}"/>
              </a:ext>
            </a:extLst>
          </p:cNvPr>
          <p:cNvSpPr txBox="1"/>
          <p:nvPr/>
        </p:nvSpPr>
        <p:spPr>
          <a:xfrm>
            <a:off x="1414690" y="2816642"/>
            <a:ext cx="1985003" cy="193258"/>
          </a:xfrm>
          <a:prstGeom prst="rect">
            <a:avLst/>
          </a:prstGeom>
        </p:spPr>
        <p:txBody>
          <a:bodyPr wrap="square" lIns="0" tIns="0" rIns="0" bIns="0" rtlCol="0" anchor="t">
            <a:spAutoFit/>
          </a:bodyPr>
          <a:lstStyle/>
          <a:p>
            <a:pPr marL="210829" lvl="1" indent="-105415" algn="l">
              <a:lnSpc>
                <a:spcPts val="1367"/>
              </a:lnSpc>
              <a:buFont typeface="Arial"/>
              <a:buChar char="•"/>
            </a:pPr>
            <a:r>
              <a:rPr lang="en-US" sz="1600" b="1" dirty="0" err="1">
                <a:solidFill>
                  <a:schemeClr val="bg1"/>
                </a:solidFill>
                <a:latin typeface="DM Sans" pitchFamily="2" charset="0"/>
                <a:ea typeface="Lora Bold"/>
                <a:cs typeface="Lora Bold"/>
                <a:sym typeface="Lora Bold"/>
              </a:rPr>
              <a:t>教研室数量</a:t>
            </a:r>
            <a:endParaRPr lang="en-US" sz="1600" b="1" dirty="0">
              <a:solidFill>
                <a:schemeClr val="bg1"/>
              </a:solidFill>
              <a:latin typeface="DM Sans" pitchFamily="2" charset="0"/>
              <a:ea typeface="Lora Bold"/>
              <a:cs typeface="Lora Bold"/>
              <a:sym typeface="Lora Bold"/>
            </a:endParaRPr>
          </a:p>
        </p:txBody>
      </p:sp>
      <p:sp>
        <p:nvSpPr>
          <p:cNvPr id="73" name="TextBox 47">
            <a:extLst>
              <a:ext uri="{FF2B5EF4-FFF2-40B4-BE49-F238E27FC236}">
                <a16:creationId xmlns:a16="http://schemas.microsoft.com/office/drawing/2014/main" xmlns="" id="{2DCFAE14-B294-40A4-A5A1-27DC34689026}"/>
              </a:ext>
            </a:extLst>
          </p:cNvPr>
          <p:cNvSpPr txBox="1"/>
          <p:nvPr/>
        </p:nvSpPr>
        <p:spPr>
          <a:xfrm>
            <a:off x="1414689" y="3170506"/>
            <a:ext cx="2170955" cy="372794"/>
          </a:xfrm>
          <a:prstGeom prst="rect">
            <a:avLst/>
          </a:prstGeom>
        </p:spPr>
        <p:txBody>
          <a:bodyPr wrap="square" lIns="0" tIns="0" rIns="0" bIns="0" rtlCol="0" anchor="t">
            <a:spAutoFit/>
          </a:bodyPr>
          <a:lstStyle/>
          <a:p>
            <a:pPr marL="210829" lvl="1" indent="-105415" algn="l">
              <a:lnSpc>
                <a:spcPts val="1367"/>
              </a:lnSpc>
              <a:buFont typeface="Arial"/>
              <a:buChar char="•"/>
            </a:pPr>
            <a:r>
              <a:rPr lang="en-US" sz="1600" b="1" dirty="0" err="1">
                <a:solidFill>
                  <a:schemeClr val="bg1"/>
                </a:solidFill>
                <a:latin typeface="DM Sans" pitchFamily="2" charset="0"/>
                <a:ea typeface="Lora Bold"/>
                <a:cs typeface="Lora Bold"/>
                <a:sym typeface="Lora Bold"/>
              </a:rPr>
              <a:t>本科专业方向</a:t>
            </a:r>
            <a:endParaRPr lang="en-US" sz="1600" b="1" dirty="0">
              <a:solidFill>
                <a:schemeClr val="bg1"/>
              </a:solidFill>
              <a:latin typeface="DM Sans" pitchFamily="2" charset="0"/>
              <a:ea typeface="Lora Bold"/>
              <a:cs typeface="Lora Bold"/>
              <a:sym typeface="Lora Bold"/>
            </a:endParaRPr>
          </a:p>
        </p:txBody>
      </p:sp>
      <p:sp>
        <p:nvSpPr>
          <p:cNvPr id="74" name="TextBox 48">
            <a:extLst>
              <a:ext uri="{FF2B5EF4-FFF2-40B4-BE49-F238E27FC236}">
                <a16:creationId xmlns:a16="http://schemas.microsoft.com/office/drawing/2014/main" xmlns="" id="{5D06BE43-2062-4C12-9C14-D80C3FC79A68}"/>
              </a:ext>
            </a:extLst>
          </p:cNvPr>
          <p:cNvSpPr txBox="1"/>
          <p:nvPr/>
        </p:nvSpPr>
        <p:spPr>
          <a:xfrm>
            <a:off x="1446706" y="3713487"/>
            <a:ext cx="2092596" cy="372794"/>
          </a:xfrm>
          <a:prstGeom prst="rect">
            <a:avLst/>
          </a:prstGeom>
        </p:spPr>
        <p:txBody>
          <a:bodyPr wrap="square" lIns="0" tIns="0" rIns="0" bIns="0" rtlCol="0" anchor="t">
            <a:spAutoFit/>
          </a:bodyPr>
          <a:lstStyle/>
          <a:p>
            <a:pPr marL="210829" lvl="1" indent="-105415" algn="l">
              <a:lnSpc>
                <a:spcPts val="1367"/>
              </a:lnSpc>
              <a:buFont typeface="Arial"/>
              <a:buChar char="•"/>
            </a:pPr>
            <a:r>
              <a:rPr lang="en-US" sz="1600" b="1" dirty="0" err="1">
                <a:solidFill>
                  <a:schemeClr val="bg1"/>
                </a:solidFill>
                <a:latin typeface="DM Sans" pitchFamily="2" charset="0"/>
                <a:ea typeface="Lora Bold"/>
                <a:cs typeface="Lora Bold"/>
                <a:sym typeface="Lora Bold"/>
              </a:rPr>
              <a:t>研究生专业</a:t>
            </a:r>
            <a:endParaRPr lang="en-US" sz="1600" b="1" dirty="0">
              <a:solidFill>
                <a:schemeClr val="bg1"/>
              </a:solidFill>
              <a:latin typeface="DM Sans" pitchFamily="2" charset="0"/>
              <a:ea typeface="Lora Bold"/>
              <a:cs typeface="Lora Bold"/>
              <a:sym typeface="Lora Bold"/>
            </a:endParaRPr>
          </a:p>
        </p:txBody>
      </p:sp>
      <p:sp>
        <p:nvSpPr>
          <p:cNvPr id="75" name="TextBox 49">
            <a:extLst>
              <a:ext uri="{FF2B5EF4-FFF2-40B4-BE49-F238E27FC236}">
                <a16:creationId xmlns:a16="http://schemas.microsoft.com/office/drawing/2014/main" xmlns="" id="{8FD63C97-B9E5-4004-8226-04AA4DB7EFD4}"/>
              </a:ext>
            </a:extLst>
          </p:cNvPr>
          <p:cNvSpPr txBox="1"/>
          <p:nvPr/>
        </p:nvSpPr>
        <p:spPr>
          <a:xfrm>
            <a:off x="3707229" y="2505372"/>
            <a:ext cx="730512" cy="193258"/>
          </a:xfrm>
          <a:prstGeom prst="rect">
            <a:avLst/>
          </a:prstGeom>
        </p:spPr>
        <p:txBody>
          <a:bodyPr wrap="square" lIns="0" tIns="0" rIns="0" bIns="0" rtlCol="0" anchor="t">
            <a:spAutoFit/>
          </a:bodyPr>
          <a:lstStyle/>
          <a:p>
            <a:pPr algn="l">
              <a:lnSpc>
                <a:spcPts val="1367"/>
              </a:lnSpc>
            </a:pPr>
            <a:r>
              <a:rPr lang="en-US" sz="1600" b="1" dirty="0">
                <a:solidFill>
                  <a:schemeClr val="bg1"/>
                </a:solidFill>
                <a:latin typeface="DM Sans" pitchFamily="2" charset="0"/>
                <a:ea typeface="Lora Bold"/>
                <a:cs typeface="Lora Bold"/>
                <a:sym typeface="Lora Bold"/>
              </a:rPr>
              <a:t>3个</a:t>
            </a:r>
          </a:p>
        </p:txBody>
      </p:sp>
      <p:sp>
        <p:nvSpPr>
          <p:cNvPr id="76" name="TextBox 50">
            <a:extLst>
              <a:ext uri="{FF2B5EF4-FFF2-40B4-BE49-F238E27FC236}">
                <a16:creationId xmlns:a16="http://schemas.microsoft.com/office/drawing/2014/main" xmlns="" id="{7AC54AEF-2112-4A1A-BF9F-8BA2534A3A14}"/>
              </a:ext>
            </a:extLst>
          </p:cNvPr>
          <p:cNvSpPr txBox="1"/>
          <p:nvPr/>
        </p:nvSpPr>
        <p:spPr>
          <a:xfrm>
            <a:off x="3733800" y="2857500"/>
            <a:ext cx="1021381" cy="193258"/>
          </a:xfrm>
          <a:prstGeom prst="rect">
            <a:avLst/>
          </a:prstGeom>
        </p:spPr>
        <p:txBody>
          <a:bodyPr wrap="square" lIns="0" tIns="0" rIns="0" bIns="0" rtlCol="0" anchor="t">
            <a:spAutoFit/>
          </a:bodyPr>
          <a:lstStyle/>
          <a:p>
            <a:pPr algn="l">
              <a:lnSpc>
                <a:spcPts val="1367"/>
              </a:lnSpc>
            </a:pPr>
            <a:r>
              <a:rPr lang="en-US" sz="1600" b="1" dirty="0">
                <a:solidFill>
                  <a:schemeClr val="bg1"/>
                </a:solidFill>
                <a:latin typeface="DM Sans" pitchFamily="2" charset="0"/>
                <a:ea typeface="Lora Bold"/>
                <a:cs typeface="Lora Bold"/>
                <a:sym typeface="Lora Bold"/>
              </a:rPr>
              <a:t>16个</a:t>
            </a:r>
          </a:p>
        </p:txBody>
      </p:sp>
      <p:sp>
        <p:nvSpPr>
          <p:cNvPr id="77" name="TextBox 51">
            <a:extLst>
              <a:ext uri="{FF2B5EF4-FFF2-40B4-BE49-F238E27FC236}">
                <a16:creationId xmlns:a16="http://schemas.microsoft.com/office/drawing/2014/main" xmlns="" id="{818DA73F-BC14-456C-9740-B08666BBE328}"/>
              </a:ext>
            </a:extLst>
          </p:cNvPr>
          <p:cNvSpPr txBox="1"/>
          <p:nvPr/>
        </p:nvSpPr>
        <p:spPr>
          <a:xfrm>
            <a:off x="3713425" y="3314700"/>
            <a:ext cx="916609" cy="193258"/>
          </a:xfrm>
          <a:prstGeom prst="rect">
            <a:avLst/>
          </a:prstGeom>
        </p:spPr>
        <p:txBody>
          <a:bodyPr wrap="square" lIns="0" tIns="0" rIns="0" bIns="0" rtlCol="0" anchor="t">
            <a:spAutoFit/>
          </a:bodyPr>
          <a:lstStyle/>
          <a:p>
            <a:pPr algn="l">
              <a:lnSpc>
                <a:spcPts val="1367"/>
              </a:lnSpc>
            </a:pPr>
            <a:r>
              <a:rPr lang="en-US" sz="1600" b="1" dirty="0">
                <a:solidFill>
                  <a:schemeClr val="bg1"/>
                </a:solidFill>
                <a:latin typeface="DM Sans" pitchFamily="2" charset="0"/>
                <a:ea typeface="Lora Bold"/>
                <a:cs typeface="Lora Bold"/>
                <a:sym typeface="Lora Bold"/>
              </a:rPr>
              <a:t>28个</a:t>
            </a:r>
          </a:p>
        </p:txBody>
      </p:sp>
      <p:sp>
        <p:nvSpPr>
          <p:cNvPr id="78" name="TextBox 52">
            <a:extLst>
              <a:ext uri="{FF2B5EF4-FFF2-40B4-BE49-F238E27FC236}">
                <a16:creationId xmlns:a16="http://schemas.microsoft.com/office/drawing/2014/main" xmlns="" id="{6F64E683-771C-43CB-9E50-5E9AF9B4E777}"/>
              </a:ext>
            </a:extLst>
          </p:cNvPr>
          <p:cNvSpPr txBox="1"/>
          <p:nvPr/>
        </p:nvSpPr>
        <p:spPr>
          <a:xfrm>
            <a:off x="3733800" y="3771900"/>
            <a:ext cx="1095088" cy="193258"/>
          </a:xfrm>
          <a:prstGeom prst="rect">
            <a:avLst/>
          </a:prstGeom>
        </p:spPr>
        <p:txBody>
          <a:bodyPr wrap="square" lIns="0" tIns="0" rIns="0" bIns="0" rtlCol="0" anchor="t">
            <a:spAutoFit/>
          </a:bodyPr>
          <a:lstStyle/>
          <a:p>
            <a:pPr algn="l">
              <a:lnSpc>
                <a:spcPts val="1367"/>
              </a:lnSpc>
            </a:pPr>
            <a:r>
              <a:rPr lang="en-US" sz="1600" b="1" dirty="0">
                <a:solidFill>
                  <a:schemeClr val="bg1"/>
                </a:solidFill>
                <a:latin typeface="DM Sans" pitchFamily="2" charset="0"/>
                <a:ea typeface="Lora Bold"/>
                <a:cs typeface="Lora Bold"/>
                <a:sym typeface="Lora Bold"/>
              </a:rPr>
              <a:t>13个</a:t>
            </a:r>
          </a:p>
        </p:txBody>
      </p:sp>
      <p:sp>
        <p:nvSpPr>
          <p:cNvPr id="79" name="TextBox 53">
            <a:extLst>
              <a:ext uri="{FF2B5EF4-FFF2-40B4-BE49-F238E27FC236}">
                <a16:creationId xmlns:a16="http://schemas.microsoft.com/office/drawing/2014/main" xmlns="" id="{25271C17-3795-46DB-883A-EF09999239A7}"/>
              </a:ext>
            </a:extLst>
          </p:cNvPr>
          <p:cNvSpPr txBox="1"/>
          <p:nvPr/>
        </p:nvSpPr>
        <p:spPr>
          <a:xfrm>
            <a:off x="5414100" y="3510785"/>
            <a:ext cx="1994136" cy="193258"/>
          </a:xfrm>
          <a:prstGeom prst="rect">
            <a:avLst/>
          </a:prstGeom>
        </p:spPr>
        <p:txBody>
          <a:bodyPr wrap="square" lIns="0" tIns="0" rIns="0" bIns="0" rtlCol="0" anchor="t">
            <a:spAutoFit/>
          </a:bodyPr>
          <a:lstStyle/>
          <a:p>
            <a:pPr algn="l">
              <a:lnSpc>
                <a:spcPts val="1367"/>
              </a:lnSpc>
            </a:pPr>
            <a:r>
              <a:rPr lang="en-US" sz="1600" b="1" dirty="0" err="1">
                <a:solidFill>
                  <a:schemeClr val="bg1"/>
                </a:solidFill>
                <a:latin typeface="DM Sans Bold" pitchFamily="2" charset="0"/>
                <a:ea typeface="Lora Bold"/>
                <a:cs typeface="Lora Bold"/>
                <a:sym typeface="Lora Bold"/>
              </a:rPr>
              <a:t>专著</a:t>
            </a:r>
            <a:endParaRPr lang="en-US" sz="1600" b="1" dirty="0">
              <a:solidFill>
                <a:schemeClr val="bg1"/>
              </a:solidFill>
              <a:latin typeface="DM Sans Bold" pitchFamily="2" charset="0"/>
              <a:ea typeface="Lora Bold"/>
              <a:cs typeface="Lora Bold"/>
              <a:sym typeface="Lora Bold"/>
            </a:endParaRPr>
          </a:p>
        </p:txBody>
      </p:sp>
      <p:sp>
        <p:nvSpPr>
          <p:cNvPr id="80" name="TextBox 54">
            <a:extLst>
              <a:ext uri="{FF2B5EF4-FFF2-40B4-BE49-F238E27FC236}">
                <a16:creationId xmlns:a16="http://schemas.microsoft.com/office/drawing/2014/main" xmlns="" id="{0C33F051-86D4-4E11-814F-ECEC5FC8B9AE}"/>
              </a:ext>
            </a:extLst>
          </p:cNvPr>
          <p:cNvSpPr txBox="1"/>
          <p:nvPr/>
        </p:nvSpPr>
        <p:spPr>
          <a:xfrm>
            <a:off x="5716492" y="2591577"/>
            <a:ext cx="2524173" cy="372794"/>
          </a:xfrm>
          <a:prstGeom prst="rect">
            <a:avLst/>
          </a:prstGeom>
        </p:spPr>
        <p:txBody>
          <a:bodyPr wrap="square" lIns="0" tIns="0" rIns="0" bIns="0" rtlCol="0" anchor="t">
            <a:spAutoFit/>
          </a:bodyPr>
          <a:lstStyle/>
          <a:p>
            <a:pPr algn="l">
              <a:lnSpc>
                <a:spcPts val="1367"/>
              </a:lnSpc>
            </a:pPr>
            <a:r>
              <a:rPr lang="en-US" sz="1600" b="1" dirty="0" err="1">
                <a:solidFill>
                  <a:schemeClr val="bg1"/>
                </a:solidFill>
                <a:latin typeface="DM Sans Bold" pitchFamily="2" charset="0"/>
                <a:ea typeface="Lora Bold"/>
                <a:cs typeface="Lora Bold"/>
                <a:sym typeface="Lora Bold"/>
              </a:rPr>
              <a:t>方法论
手册</a:t>
            </a:r>
          </a:p>
          <a:p>
            <a:pPr algn="l">
              <a:lnSpc>
                <a:spcPts val="1367"/>
              </a:lnSpc>
            </a:pPr>
            <a:r>
              <a:rPr lang="en-US" sz="1600" b="1" dirty="0" err="1">
                <a:solidFill>
                  <a:schemeClr val="bg1"/>
                </a:solidFill>
                <a:latin typeface="DM Sans Bold" pitchFamily="2" charset="0"/>
                <a:ea typeface="Lora Bold"/>
                <a:cs typeface="Lora Bold"/>
                <a:sym typeface="Lora Bold"/>
              </a:rPr>
              <a:t>qo‘llanma</a:t>
            </a:r>
            <a:endParaRPr lang="en-US" sz="1600" b="1" dirty="0">
              <a:solidFill>
                <a:schemeClr val="bg1"/>
              </a:solidFill>
              <a:latin typeface="DM Sans Bold" pitchFamily="2" charset="0"/>
              <a:ea typeface="Lora Bold"/>
              <a:cs typeface="Lora Bold"/>
              <a:sym typeface="Lora Bold"/>
            </a:endParaRPr>
          </a:p>
        </p:txBody>
      </p:sp>
      <p:sp>
        <p:nvSpPr>
          <p:cNvPr id="81" name="TextBox 55">
            <a:extLst>
              <a:ext uri="{FF2B5EF4-FFF2-40B4-BE49-F238E27FC236}">
                <a16:creationId xmlns:a16="http://schemas.microsoft.com/office/drawing/2014/main" xmlns="" id="{75EC4BDF-3F80-4431-99D1-F27B061B97C5}"/>
              </a:ext>
            </a:extLst>
          </p:cNvPr>
          <p:cNvSpPr txBox="1"/>
          <p:nvPr/>
        </p:nvSpPr>
        <p:spPr>
          <a:xfrm>
            <a:off x="8108930" y="2710253"/>
            <a:ext cx="1590748" cy="193258"/>
          </a:xfrm>
          <a:prstGeom prst="rect">
            <a:avLst/>
          </a:prstGeom>
        </p:spPr>
        <p:txBody>
          <a:bodyPr wrap="square" lIns="0" tIns="0" rIns="0" bIns="0" rtlCol="0" anchor="t">
            <a:spAutoFit/>
          </a:bodyPr>
          <a:lstStyle/>
          <a:p>
            <a:pPr algn="l">
              <a:lnSpc>
                <a:spcPts val="1367"/>
              </a:lnSpc>
            </a:pPr>
            <a:r>
              <a:rPr lang="en-US" sz="1600" b="1" dirty="0" err="1">
                <a:solidFill>
                  <a:schemeClr val="bg1"/>
                </a:solidFill>
                <a:latin typeface="DM Sans Bold" pitchFamily="2" charset="0"/>
                <a:ea typeface="Lora Bold"/>
                <a:cs typeface="Lora Bold"/>
                <a:sym typeface="Lora Bold"/>
              </a:rPr>
              <a:t>教材</a:t>
            </a:r>
            <a:endParaRPr lang="en-US" sz="1600" b="1" dirty="0">
              <a:solidFill>
                <a:schemeClr val="bg1"/>
              </a:solidFill>
              <a:latin typeface="DM Sans Bold" pitchFamily="2" charset="0"/>
              <a:ea typeface="Lora Bold"/>
              <a:cs typeface="Lora Bold"/>
              <a:sym typeface="Lora Bold"/>
            </a:endParaRPr>
          </a:p>
        </p:txBody>
      </p:sp>
      <p:sp>
        <p:nvSpPr>
          <p:cNvPr id="82" name="TextBox 56">
            <a:extLst>
              <a:ext uri="{FF2B5EF4-FFF2-40B4-BE49-F238E27FC236}">
                <a16:creationId xmlns:a16="http://schemas.microsoft.com/office/drawing/2014/main" xmlns="" id="{AF913728-DB7E-45B9-9602-3514988777B3}"/>
              </a:ext>
            </a:extLst>
          </p:cNvPr>
          <p:cNvSpPr txBox="1"/>
          <p:nvPr/>
        </p:nvSpPr>
        <p:spPr>
          <a:xfrm>
            <a:off x="7969460" y="3537705"/>
            <a:ext cx="1976432" cy="193258"/>
          </a:xfrm>
          <a:prstGeom prst="rect">
            <a:avLst/>
          </a:prstGeom>
        </p:spPr>
        <p:txBody>
          <a:bodyPr wrap="square" lIns="0" tIns="0" rIns="0" bIns="0" rtlCol="0" anchor="t">
            <a:spAutoFit/>
          </a:bodyPr>
          <a:lstStyle/>
          <a:p>
            <a:pPr algn="l">
              <a:lnSpc>
                <a:spcPts val="1367"/>
              </a:lnSpc>
            </a:pPr>
            <a:r>
              <a:rPr lang="en-US" sz="1600" b="1" dirty="0" err="1">
                <a:solidFill>
                  <a:schemeClr val="bg1"/>
                </a:solidFill>
                <a:latin typeface="DM Sans Bold" pitchFamily="2" charset="0"/>
                <a:ea typeface="Lora Bold"/>
                <a:cs typeface="Lora Bold"/>
                <a:sym typeface="Lora Bold"/>
              </a:rPr>
              <a:t>教学辅助材料</a:t>
            </a:r>
            <a:endParaRPr lang="en-US" sz="1600" b="1" dirty="0">
              <a:solidFill>
                <a:schemeClr val="bg1"/>
              </a:solidFill>
              <a:latin typeface="DM Sans Bold" pitchFamily="2" charset="0"/>
              <a:ea typeface="Lora Bold"/>
              <a:cs typeface="Lora Bold"/>
              <a:sym typeface="Lora Bold"/>
            </a:endParaRPr>
          </a:p>
        </p:txBody>
      </p:sp>
      <p:grpSp>
        <p:nvGrpSpPr>
          <p:cNvPr id="29" name="Группа 28">
            <a:extLst>
              <a:ext uri="{FF2B5EF4-FFF2-40B4-BE49-F238E27FC236}">
                <a16:creationId xmlns:a16="http://schemas.microsoft.com/office/drawing/2014/main" xmlns="" id="{F45715F4-1880-4FCF-B210-DEC9652AFB5D}"/>
              </a:ext>
            </a:extLst>
          </p:cNvPr>
          <p:cNvGrpSpPr/>
          <p:nvPr/>
        </p:nvGrpSpPr>
        <p:grpSpPr>
          <a:xfrm>
            <a:off x="9945892" y="5869742"/>
            <a:ext cx="7841696" cy="3687821"/>
            <a:chOff x="10340648" y="6043938"/>
            <a:chExt cx="7841696" cy="3687821"/>
          </a:xfrm>
        </p:grpSpPr>
        <p:sp>
          <p:nvSpPr>
            <p:cNvPr id="40" name="Freeform 14">
              <a:extLst>
                <a:ext uri="{FF2B5EF4-FFF2-40B4-BE49-F238E27FC236}">
                  <a16:creationId xmlns:a16="http://schemas.microsoft.com/office/drawing/2014/main" xmlns="" id="{2D3C6725-2947-4120-9A99-94FEF2D252C2}"/>
                </a:ext>
              </a:extLst>
            </p:cNvPr>
            <p:cNvSpPr/>
            <p:nvPr/>
          </p:nvSpPr>
          <p:spPr>
            <a:xfrm>
              <a:off x="11052711" y="6587944"/>
              <a:ext cx="5181150" cy="2668292"/>
            </a:xfrm>
            <a:custGeom>
              <a:avLst/>
              <a:gdLst/>
              <a:ahLst/>
              <a:cxnLst/>
              <a:rect l="l" t="t" r="r" b="b"/>
              <a:pathLst>
                <a:path w="4000227" h="2060117">
                  <a:moveTo>
                    <a:pt x="0" y="0"/>
                  </a:moveTo>
                  <a:lnTo>
                    <a:pt x="4000227" y="0"/>
                  </a:lnTo>
                  <a:lnTo>
                    <a:pt x="4000227" y="2060117"/>
                  </a:lnTo>
                  <a:lnTo>
                    <a:pt x="0" y="2060117"/>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sp>
        <p:grpSp>
          <p:nvGrpSpPr>
            <p:cNvPr id="41" name="Group 15">
              <a:extLst>
                <a:ext uri="{FF2B5EF4-FFF2-40B4-BE49-F238E27FC236}">
                  <a16:creationId xmlns:a16="http://schemas.microsoft.com/office/drawing/2014/main" xmlns="" id="{E48EEE9E-D61A-4C11-9BA7-FF8ECE4E18B4}"/>
                </a:ext>
              </a:extLst>
            </p:cNvPr>
            <p:cNvGrpSpPr/>
            <p:nvPr/>
          </p:nvGrpSpPr>
          <p:grpSpPr>
            <a:xfrm>
              <a:off x="11784854" y="8947217"/>
              <a:ext cx="526870" cy="526870"/>
              <a:chOff x="0" y="0"/>
              <a:chExt cx="812800" cy="812800"/>
            </a:xfrm>
          </p:grpSpPr>
          <p:sp>
            <p:nvSpPr>
              <p:cNvPr id="42" name="Freeform 16">
                <a:extLst>
                  <a:ext uri="{FF2B5EF4-FFF2-40B4-BE49-F238E27FC236}">
                    <a16:creationId xmlns:a16="http://schemas.microsoft.com/office/drawing/2014/main" xmlns="" id="{AAEDD2FE-745D-4EC9-9DD7-D30677C5831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5"/>
                <a:stretch>
                  <a:fillRect l="-50502" r="-50502"/>
                </a:stretch>
              </a:blipFill>
              <a:ln w="9525" cap="sq">
                <a:solidFill>
                  <a:srgbClr val="000000"/>
                </a:solidFill>
                <a:prstDash val="solid"/>
                <a:miter/>
              </a:ln>
            </p:spPr>
          </p:sp>
        </p:grpSp>
        <p:grpSp>
          <p:nvGrpSpPr>
            <p:cNvPr id="43" name="Group 17">
              <a:extLst>
                <a:ext uri="{FF2B5EF4-FFF2-40B4-BE49-F238E27FC236}">
                  <a16:creationId xmlns:a16="http://schemas.microsoft.com/office/drawing/2014/main" xmlns="" id="{FADE7C28-F69D-4503-9E06-1AFA03BE4C94}"/>
                </a:ext>
              </a:extLst>
            </p:cNvPr>
            <p:cNvGrpSpPr/>
            <p:nvPr/>
          </p:nvGrpSpPr>
          <p:grpSpPr>
            <a:xfrm>
              <a:off x="13116254" y="8982153"/>
              <a:ext cx="526870" cy="526870"/>
              <a:chOff x="0" y="0"/>
              <a:chExt cx="812800" cy="812800"/>
            </a:xfrm>
          </p:grpSpPr>
          <p:sp>
            <p:nvSpPr>
              <p:cNvPr id="44" name="Freeform 18">
                <a:extLst>
                  <a:ext uri="{FF2B5EF4-FFF2-40B4-BE49-F238E27FC236}">
                    <a16:creationId xmlns:a16="http://schemas.microsoft.com/office/drawing/2014/main" xmlns="" id="{95844B00-82FE-4824-BEC6-CA9F151757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25046" r="-25046"/>
                </a:stretch>
              </a:blipFill>
              <a:ln w="9525" cap="sq">
                <a:solidFill>
                  <a:srgbClr val="000000"/>
                </a:solidFill>
                <a:prstDash val="solid"/>
                <a:miter/>
              </a:ln>
            </p:spPr>
          </p:sp>
        </p:grpSp>
        <p:grpSp>
          <p:nvGrpSpPr>
            <p:cNvPr id="45" name="Group 19">
              <a:extLst>
                <a:ext uri="{FF2B5EF4-FFF2-40B4-BE49-F238E27FC236}">
                  <a16:creationId xmlns:a16="http://schemas.microsoft.com/office/drawing/2014/main" xmlns="" id="{D393514D-7C82-4DE6-92EB-5E63074A4743}"/>
                </a:ext>
              </a:extLst>
            </p:cNvPr>
            <p:cNvGrpSpPr/>
            <p:nvPr/>
          </p:nvGrpSpPr>
          <p:grpSpPr>
            <a:xfrm>
              <a:off x="14299878" y="8760751"/>
              <a:ext cx="526870" cy="526870"/>
              <a:chOff x="0" y="0"/>
              <a:chExt cx="812800" cy="812800"/>
            </a:xfrm>
          </p:grpSpPr>
          <p:sp>
            <p:nvSpPr>
              <p:cNvPr id="46" name="Freeform 20">
                <a:extLst>
                  <a:ext uri="{FF2B5EF4-FFF2-40B4-BE49-F238E27FC236}">
                    <a16:creationId xmlns:a16="http://schemas.microsoft.com/office/drawing/2014/main" xmlns="" id="{3096321A-83CF-4394-9B45-2D573890D4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r="-66666"/>
                </a:stretch>
              </a:blipFill>
              <a:ln w="9525" cap="sq">
                <a:solidFill>
                  <a:srgbClr val="000000"/>
                </a:solidFill>
                <a:prstDash val="solid"/>
                <a:miter/>
              </a:ln>
            </p:spPr>
          </p:sp>
        </p:grpSp>
        <p:grpSp>
          <p:nvGrpSpPr>
            <p:cNvPr id="47" name="Group 21">
              <a:extLst>
                <a:ext uri="{FF2B5EF4-FFF2-40B4-BE49-F238E27FC236}">
                  <a16:creationId xmlns:a16="http://schemas.microsoft.com/office/drawing/2014/main" xmlns="" id="{0002414C-E74B-465B-84FE-6C9B6D93AD64}"/>
                </a:ext>
              </a:extLst>
            </p:cNvPr>
            <p:cNvGrpSpPr/>
            <p:nvPr/>
          </p:nvGrpSpPr>
          <p:grpSpPr>
            <a:xfrm>
              <a:off x="15219391" y="8947217"/>
              <a:ext cx="526870" cy="526870"/>
              <a:chOff x="0" y="0"/>
              <a:chExt cx="812800" cy="812800"/>
            </a:xfrm>
          </p:grpSpPr>
          <p:sp>
            <p:nvSpPr>
              <p:cNvPr id="48" name="Freeform 22">
                <a:extLst>
                  <a:ext uri="{FF2B5EF4-FFF2-40B4-BE49-F238E27FC236}">
                    <a16:creationId xmlns:a16="http://schemas.microsoft.com/office/drawing/2014/main" xmlns="" id="{98615B7F-1736-4031-9287-AB71487878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8"/>
                <a:stretch>
                  <a:fillRect l="-25046" r="-25046"/>
                </a:stretch>
              </a:blipFill>
              <a:ln w="9525" cap="sq">
                <a:solidFill>
                  <a:srgbClr val="000000"/>
                </a:solidFill>
                <a:prstDash val="solid"/>
                <a:miter/>
              </a:ln>
            </p:spPr>
          </p:sp>
        </p:grpSp>
        <p:grpSp>
          <p:nvGrpSpPr>
            <p:cNvPr id="49" name="Group 23">
              <a:extLst>
                <a:ext uri="{FF2B5EF4-FFF2-40B4-BE49-F238E27FC236}">
                  <a16:creationId xmlns:a16="http://schemas.microsoft.com/office/drawing/2014/main" xmlns="" id="{7CD7E07F-DD77-43AB-BA28-1ED8CF05C86A}"/>
                </a:ext>
              </a:extLst>
            </p:cNvPr>
            <p:cNvGrpSpPr/>
            <p:nvPr/>
          </p:nvGrpSpPr>
          <p:grpSpPr>
            <a:xfrm>
              <a:off x="16357462" y="8795965"/>
              <a:ext cx="526870" cy="526870"/>
              <a:chOff x="0" y="0"/>
              <a:chExt cx="812800" cy="812800"/>
            </a:xfrm>
          </p:grpSpPr>
          <p:sp>
            <p:nvSpPr>
              <p:cNvPr id="50" name="Freeform 24">
                <a:extLst>
                  <a:ext uri="{FF2B5EF4-FFF2-40B4-BE49-F238E27FC236}">
                    <a16:creationId xmlns:a16="http://schemas.microsoft.com/office/drawing/2014/main" xmlns="" id="{9993F62B-E999-452D-B11F-4F5854D793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l="-25046" r="-25046"/>
                </a:stretch>
              </a:blipFill>
              <a:ln w="9525" cap="sq">
                <a:solidFill>
                  <a:srgbClr val="000000"/>
                </a:solidFill>
                <a:prstDash val="solid"/>
                <a:miter/>
              </a:ln>
            </p:spPr>
          </p:sp>
        </p:grpSp>
        <p:grpSp>
          <p:nvGrpSpPr>
            <p:cNvPr id="51" name="Group 25">
              <a:extLst>
                <a:ext uri="{FF2B5EF4-FFF2-40B4-BE49-F238E27FC236}">
                  <a16:creationId xmlns:a16="http://schemas.microsoft.com/office/drawing/2014/main" xmlns="" id="{7C3D7AB3-79B0-4970-B3E6-3FB8C8DED466}"/>
                </a:ext>
              </a:extLst>
            </p:cNvPr>
            <p:cNvGrpSpPr/>
            <p:nvPr/>
          </p:nvGrpSpPr>
          <p:grpSpPr>
            <a:xfrm>
              <a:off x="16150073" y="7920880"/>
              <a:ext cx="526870" cy="526870"/>
              <a:chOff x="0" y="0"/>
              <a:chExt cx="812800" cy="812800"/>
            </a:xfrm>
          </p:grpSpPr>
          <p:sp>
            <p:nvSpPr>
              <p:cNvPr id="52" name="Freeform 26">
                <a:extLst>
                  <a:ext uri="{FF2B5EF4-FFF2-40B4-BE49-F238E27FC236}">
                    <a16:creationId xmlns:a16="http://schemas.microsoft.com/office/drawing/2014/main" xmlns="" id="{28DB05E6-A4D0-4959-B448-BC2B660997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0"/>
                <a:stretch>
                  <a:fillRect r="-100000"/>
                </a:stretch>
              </a:blipFill>
              <a:ln w="9525" cap="sq">
                <a:solidFill>
                  <a:srgbClr val="000000"/>
                </a:solidFill>
                <a:prstDash val="solid"/>
                <a:miter/>
              </a:ln>
            </p:spPr>
          </p:sp>
        </p:grpSp>
        <p:grpSp>
          <p:nvGrpSpPr>
            <p:cNvPr id="53" name="Group 27">
              <a:extLst>
                <a:ext uri="{FF2B5EF4-FFF2-40B4-BE49-F238E27FC236}">
                  <a16:creationId xmlns:a16="http://schemas.microsoft.com/office/drawing/2014/main" xmlns="" id="{66636FFA-5EC5-4D9C-BBB5-23C362C5BB79}"/>
                </a:ext>
              </a:extLst>
            </p:cNvPr>
            <p:cNvGrpSpPr/>
            <p:nvPr/>
          </p:nvGrpSpPr>
          <p:grpSpPr>
            <a:xfrm>
              <a:off x="10342168" y="7019580"/>
              <a:ext cx="526870" cy="526870"/>
              <a:chOff x="0" y="0"/>
              <a:chExt cx="812800" cy="812800"/>
            </a:xfrm>
          </p:grpSpPr>
          <p:sp>
            <p:nvSpPr>
              <p:cNvPr id="54" name="Freeform 28">
                <a:extLst>
                  <a:ext uri="{FF2B5EF4-FFF2-40B4-BE49-F238E27FC236}">
                    <a16:creationId xmlns:a16="http://schemas.microsoft.com/office/drawing/2014/main" xmlns="" id="{AB24DA7B-9CBF-48E3-94F4-5079633FDE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1"/>
                <a:stretch>
                  <a:fillRect l="-31799" r="-31799"/>
                </a:stretch>
              </a:blipFill>
              <a:ln w="9525" cap="sq">
                <a:solidFill>
                  <a:srgbClr val="000000"/>
                </a:solidFill>
                <a:prstDash val="solid"/>
                <a:miter/>
              </a:ln>
            </p:spPr>
          </p:sp>
        </p:grpSp>
        <p:grpSp>
          <p:nvGrpSpPr>
            <p:cNvPr id="55" name="Group 29">
              <a:extLst>
                <a:ext uri="{FF2B5EF4-FFF2-40B4-BE49-F238E27FC236}">
                  <a16:creationId xmlns:a16="http://schemas.microsoft.com/office/drawing/2014/main" xmlns="" id="{85F8ECE7-4CF9-45BE-B649-F8D4C02B5F9C}"/>
                </a:ext>
              </a:extLst>
            </p:cNvPr>
            <p:cNvGrpSpPr/>
            <p:nvPr/>
          </p:nvGrpSpPr>
          <p:grpSpPr>
            <a:xfrm>
              <a:off x="11155269" y="7930043"/>
              <a:ext cx="609295" cy="526870"/>
              <a:chOff x="0" y="0"/>
              <a:chExt cx="812800" cy="812800"/>
            </a:xfrm>
          </p:grpSpPr>
          <p:sp>
            <p:nvSpPr>
              <p:cNvPr id="56" name="Freeform 30">
                <a:extLst>
                  <a:ext uri="{FF2B5EF4-FFF2-40B4-BE49-F238E27FC236}">
                    <a16:creationId xmlns:a16="http://schemas.microsoft.com/office/drawing/2014/main" xmlns="" id="{85481A23-4C08-49C8-B202-9B6D4511D80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2"/>
                <a:stretch>
                  <a:fillRect l="-25046" r="-25046"/>
                </a:stretch>
              </a:blipFill>
              <a:ln w="9525" cap="sq">
                <a:solidFill>
                  <a:srgbClr val="000000"/>
                </a:solidFill>
                <a:prstDash val="solid"/>
                <a:miter/>
              </a:ln>
            </p:spPr>
          </p:sp>
        </p:grpSp>
        <p:grpSp>
          <p:nvGrpSpPr>
            <p:cNvPr id="57" name="Group 31">
              <a:extLst>
                <a:ext uri="{FF2B5EF4-FFF2-40B4-BE49-F238E27FC236}">
                  <a16:creationId xmlns:a16="http://schemas.microsoft.com/office/drawing/2014/main" xmlns="" id="{0B1F77DE-536E-48FF-B7FD-3B80E130DC07}"/>
                </a:ext>
              </a:extLst>
            </p:cNvPr>
            <p:cNvGrpSpPr/>
            <p:nvPr/>
          </p:nvGrpSpPr>
          <p:grpSpPr>
            <a:xfrm>
              <a:off x="16403973" y="7063502"/>
              <a:ext cx="526870" cy="526870"/>
              <a:chOff x="0" y="0"/>
              <a:chExt cx="812800" cy="812800"/>
            </a:xfrm>
          </p:grpSpPr>
          <p:sp>
            <p:nvSpPr>
              <p:cNvPr id="58" name="Freeform 32">
                <a:extLst>
                  <a:ext uri="{FF2B5EF4-FFF2-40B4-BE49-F238E27FC236}">
                    <a16:creationId xmlns:a16="http://schemas.microsoft.com/office/drawing/2014/main" xmlns="" id="{36171087-CAEB-45C3-962C-0687B856D1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3"/>
                <a:stretch>
                  <a:fillRect l="-25046" r="-25046"/>
                </a:stretch>
              </a:blipFill>
              <a:ln w="9525" cap="sq">
                <a:solidFill>
                  <a:srgbClr val="000000"/>
                </a:solidFill>
                <a:prstDash val="solid"/>
                <a:miter/>
              </a:ln>
            </p:spPr>
          </p:sp>
        </p:grpSp>
        <p:sp>
          <p:nvSpPr>
            <p:cNvPr id="84" name="TextBox 58">
              <a:extLst>
                <a:ext uri="{FF2B5EF4-FFF2-40B4-BE49-F238E27FC236}">
                  <a16:creationId xmlns:a16="http://schemas.microsoft.com/office/drawing/2014/main" xmlns="" id="{2D0652F9-5F1E-4850-807F-98A200546C48}"/>
                </a:ext>
              </a:extLst>
            </p:cNvPr>
            <p:cNvSpPr txBox="1"/>
            <p:nvPr/>
          </p:nvSpPr>
          <p:spPr>
            <a:xfrm>
              <a:off x="11526082" y="6043938"/>
              <a:ext cx="6392336" cy="231730"/>
            </a:xfrm>
            <a:prstGeom prst="rect">
              <a:avLst/>
            </a:prstGeom>
          </p:spPr>
          <p:txBody>
            <a:bodyPr wrap="square" lIns="0" tIns="0" rIns="0" bIns="0" rtlCol="0" anchor="t">
              <a:spAutoFit/>
            </a:bodyPr>
            <a:lstStyle/>
            <a:p>
              <a:pPr algn="l">
                <a:lnSpc>
                  <a:spcPts val="1822"/>
                </a:lnSpc>
              </a:pPr>
              <a:r>
                <a:rPr lang="en-US" sz="1600" b="1" dirty="0">
                  <a:solidFill>
                    <a:schemeClr val="bg1"/>
                  </a:solidFill>
                  <a:latin typeface="DM Sans Bold" pitchFamily="2" charset="0"/>
                  <a:ea typeface="Lora Bold"/>
                  <a:cs typeface="Lora Bold"/>
                  <a:sym typeface="Lora Bold"/>
                </a:rPr>
                <a:t>大学国际合作关系</a:t>
              </a:r>
            </a:p>
          </p:txBody>
        </p:sp>
        <p:sp>
          <p:nvSpPr>
            <p:cNvPr id="108" name="TextBox 82">
              <a:extLst>
                <a:ext uri="{FF2B5EF4-FFF2-40B4-BE49-F238E27FC236}">
                  <a16:creationId xmlns:a16="http://schemas.microsoft.com/office/drawing/2014/main" xmlns="" id="{AE47E745-FD0B-41D9-A20B-E30D4B7EE043}"/>
                </a:ext>
              </a:extLst>
            </p:cNvPr>
            <p:cNvSpPr txBox="1"/>
            <p:nvPr/>
          </p:nvSpPr>
          <p:spPr>
            <a:xfrm>
              <a:off x="10340648" y="7640228"/>
              <a:ext cx="1567213"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哈萨克斯坦</a:t>
              </a:r>
              <a:endParaRPr lang="en-US" sz="1400" b="1" dirty="0">
                <a:solidFill>
                  <a:schemeClr val="bg1"/>
                </a:solidFill>
                <a:latin typeface="DM Sans Bold" pitchFamily="2" charset="0"/>
                <a:ea typeface="Lora Bold"/>
                <a:cs typeface="Lora Bold"/>
                <a:sym typeface="Lora Bold"/>
              </a:endParaRPr>
            </a:p>
          </p:txBody>
        </p:sp>
        <p:sp>
          <p:nvSpPr>
            <p:cNvPr id="109" name="TextBox 83">
              <a:extLst>
                <a:ext uri="{FF2B5EF4-FFF2-40B4-BE49-F238E27FC236}">
                  <a16:creationId xmlns:a16="http://schemas.microsoft.com/office/drawing/2014/main" xmlns="" id="{79527EB2-BA46-437E-84EC-B7CB71B81B34}"/>
                </a:ext>
              </a:extLst>
            </p:cNvPr>
            <p:cNvSpPr txBox="1"/>
            <p:nvPr/>
          </p:nvSpPr>
          <p:spPr>
            <a:xfrm>
              <a:off x="11269014" y="8618757"/>
              <a:ext cx="1579272"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俄罗斯</a:t>
              </a:r>
              <a:endParaRPr lang="en-US" sz="1400" b="1" dirty="0">
                <a:solidFill>
                  <a:schemeClr val="bg1"/>
                </a:solidFill>
                <a:latin typeface="DM Sans Bold" pitchFamily="2" charset="0"/>
                <a:ea typeface="Lora Bold"/>
                <a:cs typeface="Lora Bold"/>
                <a:sym typeface="Lora Bold"/>
              </a:endParaRPr>
            </a:p>
          </p:txBody>
        </p:sp>
        <p:sp>
          <p:nvSpPr>
            <p:cNvPr id="110" name="TextBox 84">
              <a:extLst>
                <a:ext uri="{FF2B5EF4-FFF2-40B4-BE49-F238E27FC236}">
                  <a16:creationId xmlns:a16="http://schemas.microsoft.com/office/drawing/2014/main" xmlns="" id="{BCD109F2-9431-4A6E-A9BD-F0D58CCCF771}"/>
                </a:ext>
              </a:extLst>
            </p:cNvPr>
            <p:cNvSpPr txBox="1"/>
            <p:nvPr/>
          </p:nvSpPr>
          <p:spPr>
            <a:xfrm>
              <a:off x="11662657" y="9555846"/>
              <a:ext cx="1529772"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塔吉克斯坦</a:t>
              </a:r>
              <a:endParaRPr lang="en-US" sz="1400" b="1" dirty="0">
                <a:solidFill>
                  <a:schemeClr val="bg1"/>
                </a:solidFill>
                <a:latin typeface="DM Sans Bold" pitchFamily="2" charset="0"/>
                <a:ea typeface="Lora Bold"/>
                <a:cs typeface="Lora Bold"/>
                <a:sym typeface="Lora Bold"/>
              </a:endParaRPr>
            </a:p>
          </p:txBody>
        </p:sp>
        <p:sp>
          <p:nvSpPr>
            <p:cNvPr id="111" name="TextBox 85">
              <a:extLst>
                <a:ext uri="{FF2B5EF4-FFF2-40B4-BE49-F238E27FC236}">
                  <a16:creationId xmlns:a16="http://schemas.microsoft.com/office/drawing/2014/main" xmlns="" id="{ABA6E309-3389-416D-B275-FABE4996DE9A}"/>
                </a:ext>
              </a:extLst>
            </p:cNvPr>
            <p:cNvSpPr txBox="1"/>
            <p:nvPr/>
          </p:nvSpPr>
          <p:spPr>
            <a:xfrm>
              <a:off x="13025268" y="9547916"/>
              <a:ext cx="1550683"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日本</a:t>
              </a:r>
              <a:endParaRPr lang="en-US" sz="1400" b="1" dirty="0">
                <a:solidFill>
                  <a:schemeClr val="bg1"/>
                </a:solidFill>
                <a:latin typeface="DM Sans Bold" pitchFamily="2" charset="0"/>
                <a:ea typeface="Lora Bold"/>
                <a:cs typeface="Lora Bold"/>
                <a:sym typeface="Lora Bold"/>
              </a:endParaRPr>
            </a:p>
          </p:txBody>
        </p:sp>
        <p:sp>
          <p:nvSpPr>
            <p:cNvPr id="112" name="TextBox 86">
              <a:extLst>
                <a:ext uri="{FF2B5EF4-FFF2-40B4-BE49-F238E27FC236}">
                  <a16:creationId xmlns:a16="http://schemas.microsoft.com/office/drawing/2014/main" xmlns="" id="{02A53F06-4F09-424B-A986-9D1C59F953A6}"/>
                </a:ext>
              </a:extLst>
            </p:cNvPr>
            <p:cNvSpPr txBox="1"/>
            <p:nvPr/>
          </p:nvSpPr>
          <p:spPr>
            <a:xfrm>
              <a:off x="14293452" y="9370056"/>
              <a:ext cx="1211968"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中国</a:t>
              </a:r>
              <a:endParaRPr lang="en-US" sz="1400" b="1" dirty="0">
                <a:solidFill>
                  <a:schemeClr val="bg1"/>
                </a:solidFill>
                <a:latin typeface="DM Sans Bold" pitchFamily="2" charset="0"/>
                <a:ea typeface="Lora Bold"/>
                <a:cs typeface="Lora Bold"/>
                <a:sym typeface="Lora Bold"/>
              </a:endParaRPr>
            </a:p>
          </p:txBody>
        </p:sp>
        <p:sp>
          <p:nvSpPr>
            <p:cNvPr id="113" name="TextBox 87">
              <a:extLst>
                <a:ext uri="{FF2B5EF4-FFF2-40B4-BE49-F238E27FC236}">
                  <a16:creationId xmlns:a16="http://schemas.microsoft.com/office/drawing/2014/main" xmlns="" id="{9ABF3A56-D11E-4FBE-853E-024529466746}"/>
                </a:ext>
              </a:extLst>
            </p:cNvPr>
            <p:cNvSpPr txBox="1"/>
            <p:nvPr/>
          </p:nvSpPr>
          <p:spPr>
            <a:xfrm>
              <a:off x="15171644" y="9574665"/>
              <a:ext cx="1448231"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印度</a:t>
              </a:r>
              <a:endParaRPr lang="en-US" sz="1400" b="1" dirty="0">
                <a:solidFill>
                  <a:schemeClr val="bg1"/>
                </a:solidFill>
                <a:latin typeface="DM Sans Bold" pitchFamily="2" charset="0"/>
                <a:ea typeface="Lora Bold"/>
                <a:cs typeface="Lora Bold"/>
                <a:sym typeface="Lora Bold"/>
              </a:endParaRPr>
            </a:p>
          </p:txBody>
        </p:sp>
        <p:sp>
          <p:nvSpPr>
            <p:cNvPr id="114" name="TextBox 88">
              <a:extLst>
                <a:ext uri="{FF2B5EF4-FFF2-40B4-BE49-F238E27FC236}">
                  <a16:creationId xmlns:a16="http://schemas.microsoft.com/office/drawing/2014/main" xmlns="" id="{A2729594-154E-4BC3-9BEA-CAFED1A87B03}"/>
                </a:ext>
              </a:extLst>
            </p:cNvPr>
            <p:cNvSpPr txBox="1"/>
            <p:nvPr/>
          </p:nvSpPr>
          <p:spPr>
            <a:xfrm>
              <a:off x="16238615" y="9431919"/>
              <a:ext cx="1943729"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捷克</a:t>
              </a:r>
              <a:endParaRPr lang="en-US" sz="1400" b="1" dirty="0">
                <a:solidFill>
                  <a:schemeClr val="bg1"/>
                </a:solidFill>
                <a:latin typeface="DM Sans Bold" pitchFamily="2" charset="0"/>
                <a:ea typeface="Lora Bold"/>
                <a:cs typeface="Lora Bold"/>
                <a:sym typeface="Lora Bold"/>
              </a:endParaRPr>
            </a:p>
          </p:txBody>
        </p:sp>
        <p:sp>
          <p:nvSpPr>
            <p:cNvPr id="115" name="TextBox 89">
              <a:extLst>
                <a:ext uri="{FF2B5EF4-FFF2-40B4-BE49-F238E27FC236}">
                  <a16:creationId xmlns:a16="http://schemas.microsoft.com/office/drawing/2014/main" xmlns="" id="{17F922B5-5C3B-49C6-905E-B4710801DAB7}"/>
                </a:ext>
              </a:extLst>
            </p:cNvPr>
            <p:cNvSpPr txBox="1"/>
            <p:nvPr/>
          </p:nvSpPr>
          <p:spPr>
            <a:xfrm>
              <a:off x="15972403" y="8556200"/>
              <a:ext cx="1365728"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马来西亚</a:t>
              </a:r>
              <a:endParaRPr lang="en-US" sz="1400" b="1" dirty="0">
                <a:solidFill>
                  <a:schemeClr val="bg1"/>
                </a:solidFill>
                <a:latin typeface="DM Sans Bold" pitchFamily="2" charset="0"/>
                <a:ea typeface="Lora Bold"/>
                <a:cs typeface="Lora Bold"/>
                <a:sym typeface="Lora Bold"/>
              </a:endParaRPr>
            </a:p>
          </p:txBody>
        </p:sp>
        <p:sp>
          <p:nvSpPr>
            <p:cNvPr id="116" name="TextBox 90">
              <a:extLst>
                <a:ext uri="{FF2B5EF4-FFF2-40B4-BE49-F238E27FC236}">
                  <a16:creationId xmlns:a16="http://schemas.microsoft.com/office/drawing/2014/main" xmlns="" id="{05B0000D-28C8-4E56-94F9-D202669038A7}"/>
                </a:ext>
              </a:extLst>
            </p:cNvPr>
            <p:cNvSpPr txBox="1"/>
            <p:nvPr/>
          </p:nvSpPr>
          <p:spPr>
            <a:xfrm>
              <a:off x="16201034" y="7657665"/>
              <a:ext cx="1112079" cy="157094"/>
            </a:xfrm>
            <a:prstGeom prst="rect">
              <a:avLst/>
            </a:prstGeom>
          </p:spPr>
          <p:txBody>
            <a:bodyPr wrap="square" lIns="0" tIns="0" rIns="0" bIns="0" rtlCol="0" anchor="t">
              <a:spAutoFit/>
            </a:bodyPr>
            <a:lstStyle/>
            <a:p>
              <a:pPr algn="l">
                <a:lnSpc>
                  <a:spcPts val="1112"/>
                </a:lnSpc>
              </a:pPr>
              <a:r>
                <a:rPr lang="en-US" sz="1400" b="1" dirty="0" err="1">
                  <a:solidFill>
                    <a:schemeClr val="bg1"/>
                  </a:solidFill>
                  <a:latin typeface="DM Sans Bold" pitchFamily="2" charset="0"/>
                  <a:ea typeface="Lora Bold"/>
                  <a:cs typeface="Lora Bold"/>
                  <a:sym typeface="Lora Bold"/>
                </a:rPr>
                <a:t>土耳其</a:t>
              </a:r>
              <a:endParaRPr lang="en-US" sz="1400" b="1" dirty="0">
                <a:solidFill>
                  <a:schemeClr val="bg1"/>
                </a:solidFill>
                <a:latin typeface="DM Sans Bold" pitchFamily="2" charset="0"/>
                <a:ea typeface="Lora Bold"/>
                <a:cs typeface="Lora Bold"/>
                <a:sym typeface="Lora Bold"/>
              </a:endParaRPr>
            </a:p>
          </p:txBody>
        </p:sp>
      </p:grpSp>
      <p:sp>
        <p:nvSpPr>
          <p:cNvPr id="117" name="TextBox 91">
            <a:extLst>
              <a:ext uri="{FF2B5EF4-FFF2-40B4-BE49-F238E27FC236}">
                <a16:creationId xmlns:a16="http://schemas.microsoft.com/office/drawing/2014/main" xmlns="" id="{1B4B5CB8-D48C-49AC-91C7-9C725CF502C0}"/>
              </a:ext>
            </a:extLst>
          </p:cNvPr>
          <p:cNvSpPr txBox="1"/>
          <p:nvPr/>
        </p:nvSpPr>
        <p:spPr>
          <a:xfrm>
            <a:off x="13178118" y="2994536"/>
            <a:ext cx="2380720" cy="166712"/>
          </a:xfrm>
          <a:prstGeom prst="rect">
            <a:avLst/>
          </a:prstGeom>
        </p:spPr>
        <p:txBody>
          <a:bodyPr wrap="square" lIns="0" tIns="0" rIns="0" bIns="0" rtlCol="0" anchor="t">
            <a:spAutoFit/>
          </a:bodyPr>
          <a:lstStyle/>
          <a:p>
            <a:pPr marL="189705" lvl="1" indent="-94853" algn="l">
              <a:lnSpc>
                <a:spcPts val="1230"/>
              </a:lnSpc>
              <a:buFont typeface="Arial"/>
              <a:buChar char="•"/>
            </a:pPr>
            <a:r>
              <a:rPr lang="en-US" sz="1400" dirty="0">
                <a:solidFill>
                  <a:schemeClr val="bg1"/>
                </a:solidFill>
                <a:latin typeface="DM Sans" pitchFamily="2" charset="0"/>
                <a:ea typeface="Lora"/>
                <a:cs typeface="Lora"/>
                <a:sym typeface="Lora"/>
              </a:rPr>
              <a:t>科学博士 (DSc)</a:t>
            </a:r>
          </a:p>
        </p:txBody>
      </p:sp>
      <p:sp>
        <p:nvSpPr>
          <p:cNvPr id="118" name="TextBox 92">
            <a:extLst>
              <a:ext uri="{FF2B5EF4-FFF2-40B4-BE49-F238E27FC236}">
                <a16:creationId xmlns:a16="http://schemas.microsoft.com/office/drawing/2014/main" xmlns="" id="{AC010686-7D7E-4EE7-9C18-FBFA87E9F7CB}"/>
              </a:ext>
            </a:extLst>
          </p:cNvPr>
          <p:cNvSpPr txBox="1"/>
          <p:nvPr/>
        </p:nvSpPr>
        <p:spPr>
          <a:xfrm>
            <a:off x="13170576" y="3321558"/>
            <a:ext cx="2457154" cy="166712"/>
          </a:xfrm>
          <a:prstGeom prst="rect">
            <a:avLst/>
          </a:prstGeom>
        </p:spPr>
        <p:txBody>
          <a:bodyPr wrap="square" lIns="0" tIns="0" rIns="0" bIns="0" rtlCol="0" anchor="t">
            <a:spAutoFit/>
          </a:bodyPr>
          <a:lstStyle/>
          <a:p>
            <a:pPr marL="189705" lvl="1" indent="-94853" algn="l">
              <a:lnSpc>
                <a:spcPts val="1230"/>
              </a:lnSpc>
              <a:buFont typeface="Arial"/>
              <a:buChar char="•"/>
            </a:pPr>
            <a:r>
              <a:rPr lang="en-US" sz="1400" dirty="0">
                <a:solidFill>
                  <a:schemeClr val="bg1"/>
                </a:solidFill>
                <a:latin typeface="DM Sans" pitchFamily="2" charset="0"/>
                <a:ea typeface="Lora"/>
                <a:cs typeface="Lora"/>
                <a:sym typeface="Lora"/>
              </a:rPr>
              <a:t>科学候选人 (PhD)</a:t>
            </a:r>
          </a:p>
        </p:txBody>
      </p:sp>
      <p:sp>
        <p:nvSpPr>
          <p:cNvPr id="119" name="TextBox 93">
            <a:extLst>
              <a:ext uri="{FF2B5EF4-FFF2-40B4-BE49-F238E27FC236}">
                <a16:creationId xmlns:a16="http://schemas.microsoft.com/office/drawing/2014/main" xmlns="" id="{F636FCBE-0AA2-4765-8D3F-78BF34C3CAE0}"/>
              </a:ext>
            </a:extLst>
          </p:cNvPr>
          <p:cNvSpPr txBox="1"/>
          <p:nvPr/>
        </p:nvSpPr>
        <p:spPr>
          <a:xfrm>
            <a:off x="13173513" y="3644496"/>
            <a:ext cx="3057786" cy="166712"/>
          </a:xfrm>
          <a:prstGeom prst="rect">
            <a:avLst/>
          </a:prstGeom>
        </p:spPr>
        <p:txBody>
          <a:bodyPr wrap="square" lIns="0" tIns="0" rIns="0" bIns="0" rtlCol="0" anchor="t">
            <a:spAutoFit/>
          </a:bodyPr>
          <a:lstStyle/>
          <a:p>
            <a:pPr marL="189705" lvl="1" indent="-94853" algn="l">
              <a:lnSpc>
                <a:spcPts val="1230"/>
              </a:lnSpc>
              <a:buFont typeface="Arial"/>
              <a:buChar char="•"/>
            </a:pPr>
            <a:r>
              <a:rPr lang="en-US" sz="1400" dirty="0" err="1">
                <a:solidFill>
                  <a:schemeClr val="bg1"/>
                </a:solidFill>
                <a:latin typeface="DM Sans" pitchFamily="2" charset="0"/>
                <a:ea typeface="Lora"/>
                <a:cs typeface="Lora"/>
                <a:sym typeface="Lora"/>
              </a:rPr>
              <a:t>无学位教师</a:t>
            </a:r>
            <a:endParaRPr lang="en-US" sz="1400" dirty="0">
              <a:solidFill>
                <a:schemeClr val="bg1"/>
              </a:solidFill>
              <a:latin typeface="DM Sans" pitchFamily="2" charset="0"/>
              <a:ea typeface="Lora"/>
              <a:cs typeface="Lora"/>
              <a:sym typeface="Lora"/>
            </a:endParaRPr>
          </a:p>
        </p:txBody>
      </p:sp>
      <p:sp>
        <p:nvSpPr>
          <p:cNvPr id="120" name="TextBox 94">
            <a:extLst>
              <a:ext uri="{FF2B5EF4-FFF2-40B4-BE49-F238E27FC236}">
                <a16:creationId xmlns:a16="http://schemas.microsoft.com/office/drawing/2014/main" xmlns="" id="{5BBC9FFB-7750-4D11-9574-DB1B9BF99EC0}"/>
              </a:ext>
            </a:extLst>
          </p:cNvPr>
          <p:cNvSpPr txBox="1"/>
          <p:nvPr/>
        </p:nvSpPr>
        <p:spPr>
          <a:xfrm>
            <a:off x="13223381" y="2765010"/>
            <a:ext cx="2679864"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Bold" pitchFamily="2" charset="0"/>
                <a:sym typeface="Lora Bold"/>
              </a:rPr>
              <a:t>教职人员总数</a:t>
            </a:r>
          </a:p>
        </p:txBody>
      </p:sp>
      <p:sp>
        <p:nvSpPr>
          <p:cNvPr id="121" name="TextBox 95">
            <a:extLst>
              <a:ext uri="{FF2B5EF4-FFF2-40B4-BE49-F238E27FC236}">
                <a16:creationId xmlns:a16="http://schemas.microsoft.com/office/drawing/2014/main" xmlns="" id="{4C02B8BB-1AEF-4215-BF6F-E97095B1486C}"/>
              </a:ext>
            </a:extLst>
          </p:cNvPr>
          <p:cNvSpPr txBox="1"/>
          <p:nvPr/>
        </p:nvSpPr>
        <p:spPr>
          <a:xfrm>
            <a:off x="16478281" y="2778831"/>
            <a:ext cx="957399"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Bold"/>
                <a:cs typeface="Lora Bold"/>
                <a:sym typeface="Lora Bold"/>
              </a:rPr>
              <a:t>281人</a:t>
            </a:r>
          </a:p>
        </p:txBody>
      </p:sp>
      <p:sp>
        <p:nvSpPr>
          <p:cNvPr id="122" name="TextBox 96">
            <a:extLst>
              <a:ext uri="{FF2B5EF4-FFF2-40B4-BE49-F238E27FC236}">
                <a16:creationId xmlns:a16="http://schemas.microsoft.com/office/drawing/2014/main" xmlns="" id="{A2C1C462-B149-48A1-912B-86909243EF1B}"/>
              </a:ext>
            </a:extLst>
          </p:cNvPr>
          <p:cNvSpPr txBox="1"/>
          <p:nvPr/>
        </p:nvSpPr>
        <p:spPr>
          <a:xfrm>
            <a:off x="16484149" y="3072668"/>
            <a:ext cx="1663082"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a:cs typeface="Lora"/>
                <a:sym typeface="Lora"/>
              </a:rPr>
              <a:t>10人</a:t>
            </a:r>
          </a:p>
        </p:txBody>
      </p:sp>
      <p:sp>
        <p:nvSpPr>
          <p:cNvPr id="123" name="TextBox 97">
            <a:extLst>
              <a:ext uri="{FF2B5EF4-FFF2-40B4-BE49-F238E27FC236}">
                <a16:creationId xmlns:a16="http://schemas.microsoft.com/office/drawing/2014/main" xmlns="" id="{A6DDD7EF-2D12-4942-A5FA-ED270C10299E}"/>
              </a:ext>
            </a:extLst>
          </p:cNvPr>
          <p:cNvSpPr txBox="1"/>
          <p:nvPr/>
        </p:nvSpPr>
        <p:spPr>
          <a:xfrm>
            <a:off x="16489576" y="3373139"/>
            <a:ext cx="1485613"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a:cs typeface="Lora"/>
                <a:sym typeface="Lora"/>
              </a:rPr>
              <a:t>111人</a:t>
            </a:r>
          </a:p>
        </p:txBody>
      </p:sp>
      <p:sp>
        <p:nvSpPr>
          <p:cNvPr id="124" name="TextBox 98">
            <a:extLst>
              <a:ext uri="{FF2B5EF4-FFF2-40B4-BE49-F238E27FC236}">
                <a16:creationId xmlns:a16="http://schemas.microsoft.com/office/drawing/2014/main" xmlns="" id="{2F0B4A25-596D-4824-853C-CC753C1F6481}"/>
              </a:ext>
            </a:extLst>
          </p:cNvPr>
          <p:cNvSpPr txBox="1"/>
          <p:nvPr/>
        </p:nvSpPr>
        <p:spPr>
          <a:xfrm>
            <a:off x="16478281" y="3660503"/>
            <a:ext cx="1770607"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a:cs typeface="Lora"/>
                <a:sym typeface="Lora"/>
              </a:rPr>
              <a:t>160人</a:t>
            </a:r>
          </a:p>
        </p:txBody>
      </p:sp>
      <p:sp>
        <p:nvSpPr>
          <p:cNvPr id="125" name="TextBox 99">
            <a:extLst>
              <a:ext uri="{FF2B5EF4-FFF2-40B4-BE49-F238E27FC236}">
                <a16:creationId xmlns:a16="http://schemas.microsoft.com/office/drawing/2014/main" xmlns="" id="{5D82FFBF-A37C-4C68-A540-5CB0DB1AD03A}"/>
              </a:ext>
            </a:extLst>
          </p:cNvPr>
          <p:cNvSpPr txBox="1"/>
          <p:nvPr/>
        </p:nvSpPr>
        <p:spPr>
          <a:xfrm>
            <a:off x="9993902" y="2845042"/>
            <a:ext cx="1663945" cy="646331"/>
          </a:xfrm>
          <a:prstGeom prst="rect">
            <a:avLst/>
          </a:prstGeom>
        </p:spPr>
        <p:txBody>
          <a:bodyPr wrap="square" lIns="0" tIns="0" rIns="0" bIns="0" rtlCol="0" anchor="t">
            <a:spAutoFit/>
          </a:bodyPr>
          <a:lstStyle/>
          <a:p>
            <a:pPr algn="ctr"/>
            <a:r>
              <a:rPr lang="en-US" sz="1400" b="1" dirty="0">
                <a:solidFill>
                  <a:schemeClr val="bg1"/>
                </a:solidFill>
                <a:latin typeface="DM Sans" pitchFamily="2" charset="0"/>
                <a:ea typeface="Lora Bold"/>
                <a:cs typeface="Lora Bold"/>
                <a:sym typeface="Lora Bold"/>
              </a:rPr>
              <a:t>42,6%</a:t>
            </a:r>
          </a:p>
          <a:p>
            <a:pPr algn="ctr"/>
            <a:r>
              <a:rPr lang="en-US" sz="1400" b="1" dirty="0" err="1">
                <a:solidFill>
                  <a:schemeClr val="bg1"/>
                </a:solidFill>
                <a:latin typeface="DM Sans" pitchFamily="2" charset="0"/>
                <a:ea typeface="Lora Bold"/>
                <a:cs typeface="Lora Bold"/>
                <a:sym typeface="Lora Bold"/>
              </a:rPr>
              <a:t>科研</a:t>
            </a:r>
          </a:p>
          <a:p>
            <a:pPr algn="ctr"/>
            <a:r>
              <a:rPr lang="en-US" sz="1400" b="1" dirty="0" err="1">
                <a:solidFill>
                  <a:schemeClr val="bg1"/>
                </a:solidFill>
                <a:latin typeface="DM Sans" pitchFamily="2" charset="0"/>
                <a:ea typeface="Lora Bold"/>
                <a:cs typeface="Lora Bold"/>
                <a:sym typeface="Lora Bold"/>
              </a:rPr>
              <a:t>潜力</a:t>
            </a:r>
            <a:endParaRPr lang="en-US" sz="1400" b="1" dirty="0">
              <a:solidFill>
                <a:schemeClr val="bg1"/>
              </a:solidFill>
              <a:latin typeface="DM Sans" pitchFamily="2" charset="0"/>
              <a:ea typeface="Lora Bold"/>
              <a:cs typeface="Lora Bold"/>
              <a:sym typeface="Lora Bold"/>
            </a:endParaRPr>
          </a:p>
        </p:txBody>
      </p:sp>
      <p:sp>
        <p:nvSpPr>
          <p:cNvPr id="126" name="TextBox 100">
            <a:extLst>
              <a:ext uri="{FF2B5EF4-FFF2-40B4-BE49-F238E27FC236}">
                <a16:creationId xmlns:a16="http://schemas.microsoft.com/office/drawing/2014/main" xmlns="" id="{1E7AB665-919B-48D3-8DDC-33ED9E6F3FE1}"/>
              </a:ext>
            </a:extLst>
          </p:cNvPr>
          <p:cNvSpPr txBox="1"/>
          <p:nvPr/>
        </p:nvSpPr>
        <p:spPr>
          <a:xfrm>
            <a:off x="16221964" y="4183097"/>
            <a:ext cx="1336243"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Bold"/>
                <a:cs typeface="Lora Bold"/>
                <a:sym typeface="Lora Bold"/>
              </a:rPr>
              <a:t>133人</a:t>
            </a:r>
          </a:p>
        </p:txBody>
      </p:sp>
      <p:sp>
        <p:nvSpPr>
          <p:cNvPr id="127" name="TextBox 101">
            <a:extLst>
              <a:ext uri="{FF2B5EF4-FFF2-40B4-BE49-F238E27FC236}">
                <a16:creationId xmlns:a16="http://schemas.microsoft.com/office/drawing/2014/main" xmlns="" id="{4FF18650-76DB-4A9D-A6BE-3ECAC07493AB}"/>
              </a:ext>
            </a:extLst>
          </p:cNvPr>
          <p:cNvSpPr txBox="1"/>
          <p:nvPr/>
        </p:nvSpPr>
        <p:spPr>
          <a:xfrm>
            <a:off x="14812432" y="4178743"/>
            <a:ext cx="1113368"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Bold"/>
                <a:cs typeface="Lora Bold"/>
                <a:sym typeface="Lora Bold"/>
              </a:rPr>
              <a:t>148人</a:t>
            </a:r>
          </a:p>
        </p:txBody>
      </p:sp>
      <p:sp>
        <p:nvSpPr>
          <p:cNvPr id="128" name="TextBox 102">
            <a:extLst>
              <a:ext uri="{FF2B5EF4-FFF2-40B4-BE49-F238E27FC236}">
                <a16:creationId xmlns:a16="http://schemas.microsoft.com/office/drawing/2014/main" xmlns="" id="{DD26D450-32E8-4988-88DB-28FE88A0E436}"/>
              </a:ext>
            </a:extLst>
          </p:cNvPr>
          <p:cNvSpPr txBox="1"/>
          <p:nvPr/>
        </p:nvSpPr>
        <p:spPr>
          <a:xfrm>
            <a:off x="16287481" y="4398174"/>
            <a:ext cx="1236181"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Bold"/>
                <a:cs typeface="Lora Bold"/>
                <a:sym typeface="Lora Bold"/>
              </a:rPr>
              <a:t>47,33%</a:t>
            </a:r>
          </a:p>
        </p:txBody>
      </p:sp>
      <p:sp>
        <p:nvSpPr>
          <p:cNvPr id="129" name="TextBox 103">
            <a:extLst>
              <a:ext uri="{FF2B5EF4-FFF2-40B4-BE49-F238E27FC236}">
                <a16:creationId xmlns:a16="http://schemas.microsoft.com/office/drawing/2014/main" xmlns="" id="{055B3A7C-892F-46CF-9CF3-CEE5F18A8F23}"/>
              </a:ext>
            </a:extLst>
          </p:cNvPr>
          <p:cNvSpPr txBox="1"/>
          <p:nvPr/>
        </p:nvSpPr>
        <p:spPr>
          <a:xfrm>
            <a:off x="14859000" y="4409782"/>
            <a:ext cx="1169164" cy="166712"/>
          </a:xfrm>
          <a:prstGeom prst="rect">
            <a:avLst/>
          </a:prstGeom>
        </p:spPr>
        <p:txBody>
          <a:bodyPr wrap="square" lIns="0" tIns="0" rIns="0" bIns="0" rtlCol="0" anchor="t">
            <a:spAutoFit/>
          </a:bodyPr>
          <a:lstStyle/>
          <a:p>
            <a:pPr algn="l">
              <a:lnSpc>
                <a:spcPts val="1230"/>
              </a:lnSpc>
            </a:pPr>
            <a:r>
              <a:rPr lang="en-US" sz="1400" b="1" dirty="0">
                <a:solidFill>
                  <a:schemeClr val="bg1"/>
                </a:solidFill>
                <a:latin typeface="DM Sans" pitchFamily="2" charset="0"/>
                <a:ea typeface="Lora Bold"/>
                <a:cs typeface="Lora Bold"/>
                <a:sym typeface="Lora Bold"/>
              </a:rPr>
              <a:t>52,67%</a:t>
            </a:r>
          </a:p>
        </p:txBody>
      </p:sp>
      <p:sp>
        <p:nvSpPr>
          <p:cNvPr id="131" name="TextBox 105">
            <a:extLst>
              <a:ext uri="{FF2B5EF4-FFF2-40B4-BE49-F238E27FC236}">
                <a16:creationId xmlns:a16="http://schemas.microsoft.com/office/drawing/2014/main" xmlns="" id="{5C2EB053-5EB0-4215-BFBA-781266B7A59C}"/>
              </a:ext>
            </a:extLst>
          </p:cNvPr>
          <p:cNvSpPr txBox="1"/>
          <p:nvPr/>
        </p:nvSpPr>
        <p:spPr>
          <a:xfrm>
            <a:off x="10815595" y="4188545"/>
            <a:ext cx="340492" cy="118046"/>
          </a:xfrm>
          <a:prstGeom prst="rect">
            <a:avLst/>
          </a:prstGeom>
        </p:spPr>
        <p:txBody>
          <a:bodyPr wrap="square" lIns="0" tIns="0" rIns="0" bIns="0" rtlCol="0" anchor="t">
            <a:spAutoFit/>
          </a:bodyPr>
          <a:lstStyle/>
          <a:p>
            <a:pPr algn="l">
              <a:lnSpc>
                <a:spcPts val="1045"/>
              </a:lnSpc>
            </a:pPr>
            <a:r>
              <a:rPr lang="en-US" sz="747" b="1" i="1" dirty="0">
                <a:latin typeface="Lora Bold Italics"/>
                <a:ea typeface="Lora Bold Italics"/>
                <a:cs typeface="Lora Bold Italics"/>
                <a:sym typeface="Lora Bold Italics"/>
              </a:rPr>
              <a:t>3,55%</a:t>
            </a:r>
          </a:p>
        </p:txBody>
      </p:sp>
      <p:sp>
        <p:nvSpPr>
          <p:cNvPr id="134" name="TextBox 108">
            <a:extLst>
              <a:ext uri="{FF2B5EF4-FFF2-40B4-BE49-F238E27FC236}">
                <a16:creationId xmlns:a16="http://schemas.microsoft.com/office/drawing/2014/main" xmlns="" id="{7E08B4E6-425A-4E5C-961A-8EBF441E2F1A}"/>
              </a:ext>
            </a:extLst>
          </p:cNvPr>
          <p:cNvSpPr txBox="1"/>
          <p:nvPr/>
        </p:nvSpPr>
        <p:spPr>
          <a:xfrm>
            <a:off x="10818273" y="4610062"/>
            <a:ext cx="331681" cy="118046"/>
          </a:xfrm>
          <a:prstGeom prst="rect">
            <a:avLst/>
          </a:prstGeom>
        </p:spPr>
        <p:txBody>
          <a:bodyPr wrap="square" lIns="0" tIns="0" rIns="0" bIns="0" rtlCol="0" anchor="t">
            <a:spAutoFit/>
          </a:bodyPr>
          <a:lstStyle/>
          <a:p>
            <a:pPr algn="l">
              <a:lnSpc>
                <a:spcPts val="1045"/>
              </a:lnSpc>
            </a:pPr>
            <a:r>
              <a:rPr lang="en-US" sz="747" b="1" i="1" dirty="0">
                <a:latin typeface="Lora Bold Italics"/>
                <a:ea typeface="Lora Bold Italics"/>
                <a:cs typeface="Lora Bold Italics"/>
                <a:sym typeface="Lora Bold Italics"/>
              </a:rPr>
              <a:t>39,5%</a:t>
            </a:r>
          </a:p>
        </p:txBody>
      </p:sp>
      <p:sp>
        <p:nvSpPr>
          <p:cNvPr id="138" name="TextBox 112">
            <a:extLst>
              <a:ext uri="{FF2B5EF4-FFF2-40B4-BE49-F238E27FC236}">
                <a16:creationId xmlns:a16="http://schemas.microsoft.com/office/drawing/2014/main" xmlns="" id="{E84F6559-F65D-4240-99C0-511BF3457D11}"/>
              </a:ext>
            </a:extLst>
          </p:cNvPr>
          <p:cNvSpPr txBox="1"/>
          <p:nvPr/>
        </p:nvSpPr>
        <p:spPr>
          <a:xfrm>
            <a:off x="7931418" y="2512607"/>
            <a:ext cx="545371" cy="193258"/>
          </a:xfrm>
          <a:prstGeom prst="rect">
            <a:avLst/>
          </a:prstGeom>
        </p:spPr>
        <p:txBody>
          <a:bodyPr wrap="square" lIns="0" tIns="0" rIns="0" bIns="0" rtlCol="0" anchor="t">
            <a:spAutoFit/>
          </a:bodyPr>
          <a:lstStyle/>
          <a:p>
            <a:pPr algn="l">
              <a:lnSpc>
                <a:spcPts val="1400"/>
              </a:lnSpc>
            </a:pPr>
            <a:r>
              <a:rPr lang="en-US" sz="1600" b="1" i="1" dirty="0">
                <a:solidFill>
                  <a:schemeClr val="bg1"/>
                </a:solidFill>
                <a:latin typeface="DM Sans Bold" pitchFamily="2" charset="0"/>
                <a:ea typeface="Lora Bold Italics"/>
                <a:cs typeface="Lora Bold Italics"/>
                <a:sym typeface="Lora Bold Italics"/>
              </a:rPr>
              <a:t>14</a:t>
            </a:r>
          </a:p>
        </p:txBody>
      </p:sp>
      <p:sp>
        <p:nvSpPr>
          <p:cNvPr id="139" name="TextBox 113">
            <a:extLst>
              <a:ext uri="{FF2B5EF4-FFF2-40B4-BE49-F238E27FC236}">
                <a16:creationId xmlns:a16="http://schemas.microsoft.com/office/drawing/2014/main" xmlns="" id="{BC47481A-F2FA-48B0-A201-58111CAC736A}"/>
              </a:ext>
            </a:extLst>
          </p:cNvPr>
          <p:cNvSpPr txBox="1"/>
          <p:nvPr/>
        </p:nvSpPr>
        <p:spPr>
          <a:xfrm>
            <a:off x="6506391" y="3819717"/>
            <a:ext cx="561664" cy="193258"/>
          </a:xfrm>
          <a:prstGeom prst="rect">
            <a:avLst/>
          </a:prstGeom>
        </p:spPr>
        <p:txBody>
          <a:bodyPr wrap="square" lIns="0" tIns="0" rIns="0" bIns="0" rtlCol="0" anchor="t">
            <a:spAutoFit/>
          </a:bodyPr>
          <a:lstStyle/>
          <a:p>
            <a:pPr algn="l">
              <a:lnSpc>
                <a:spcPts val="1399"/>
              </a:lnSpc>
            </a:pPr>
            <a:r>
              <a:rPr lang="en-US" sz="1600" b="1" i="1" dirty="0">
                <a:solidFill>
                  <a:schemeClr val="bg1"/>
                </a:solidFill>
                <a:latin typeface="DM Sans Bold" pitchFamily="2" charset="0"/>
                <a:ea typeface="Lora Bold Italics"/>
                <a:cs typeface="Lora Bold Italics"/>
                <a:sym typeface="Lora Bold Italics"/>
              </a:rPr>
              <a:t>62</a:t>
            </a:r>
          </a:p>
        </p:txBody>
      </p:sp>
      <p:sp>
        <p:nvSpPr>
          <p:cNvPr id="140" name="TextBox 114">
            <a:extLst>
              <a:ext uri="{FF2B5EF4-FFF2-40B4-BE49-F238E27FC236}">
                <a16:creationId xmlns:a16="http://schemas.microsoft.com/office/drawing/2014/main" xmlns="" id="{51E79EAD-3740-42C8-B73A-9DB1A0820415}"/>
              </a:ext>
            </a:extLst>
          </p:cNvPr>
          <p:cNvSpPr txBox="1"/>
          <p:nvPr/>
        </p:nvSpPr>
        <p:spPr>
          <a:xfrm>
            <a:off x="8037838" y="3793092"/>
            <a:ext cx="255566" cy="193258"/>
          </a:xfrm>
          <a:prstGeom prst="rect">
            <a:avLst/>
          </a:prstGeom>
        </p:spPr>
        <p:txBody>
          <a:bodyPr wrap="square" lIns="0" tIns="0" rIns="0" bIns="0" rtlCol="0" anchor="t">
            <a:spAutoFit/>
          </a:bodyPr>
          <a:lstStyle/>
          <a:p>
            <a:pPr algn="l">
              <a:lnSpc>
                <a:spcPts val="1399"/>
              </a:lnSpc>
            </a:pPr>
            <a:r>
              <a:rPr lang="en-US" sz="1600" b="1" i="1" dirty="0">
                <a:solidFill>
                  <a:schemeClr val="bg1"/>
                </a:solidFill>
                <a:latin typeface="DM Sans Bold" pitchFamily="2" charset="0"/>
                <a:ea typeface="Lora Bold Italics"/>
                <a:cs typeface="Lora Bold Italics"/>
                <a:sym typeface="Lora Bold Italics"/>
              </a:rPr>
              <a:t>55</a:t>
            </a:r>
          </a:p>
        </p:txBody>
      </p:sp>
      <p:sp>
        <p:nvSpPr>
          <p:cNvPr id="141" name="TextBox 115">
            <a:extLst>
              <a:ext uri="{FF2B5EF4-FFF2-40B4-BE49-F238E27FC236}">
                <a16:creationId xmlns:a16="http://schemas.microsoft.com/office/drawing/2014/main" xmlns="" id="{1EB73C92-9D95-470F-8AC5-F58170F7623F}"/>
              </a:ext>
            </a:extLst>
          </p:cNvPr>
          <p:cNvSpPr txBox="1"/>
          <p:nvPr/>
        </p:nvSpPr>
        <p:spPr>
          <a:xfrm>
            <a:off x="6558485" y="2518034"/>
            <a:ext cx="741147" cy="193258"/>
          </a:xfrm>
          <a:prstGeom prst="rect">
            <a:avLst/>
          </a:prstGeom>
        </p:spPr>
        <p:txBody>
          <a:bodyPr wrap="square" lIns="0" tIns="0" rIns="0" bIns="0" rtlCol="0" anchor="t">
            <a:spAutoFit/>
          </a:bodyPr>
          <a:lstStyle/>
          <a:p>
            <a:pPr algn="l">
              <a:lnSpc>
                <a:spcPts val="1400"/>
              </a:lnSpc>
            </a:pPr>
            <a:r>
              <a:rPr lang="en-US" sz="1600" b="1" i="1" dirty="0">
                <a:solidFill>
                  <a:schemeClr val="bg1"/>
                </a:solidFill>
                <a:latin typeface="DM Sans Bold" pitchFamily="2" charset="0"/>
                <a:ea typeface="Lora Bold Italics"/>
                <a:cs typeface="Lora Bold Italics"/>
                <a:sym typeface="Lora Bold Italics"/>
              </a:rPr>
              <a:t>26</a:t>
            </a:r>
          </a:p>
        </p:txBody>
      </p:sp>
      <p:grpSp>
        <p:nvGrpSpPr>
          <p:cNvPr id="25" name="Группа 24">
            <a:extLst>
              <a:ext uri="{FF2B5EF4-FFF2-40B4-BE49-F238E27FC236}">
                <a16:creationId xmlns:a16="http://schemas.microsoft.com/office/drawing/2014/main" xmlns="" id="{39801CAF-6749-4695-B3D4-1A8F459EF97A}"/>
              </a:ext>
            </a:extLst>
          </p:cNvPr>
          <p:cNvGrpSpPr/>
          <p:nvPr/>
        </p:nvGrpSpPr>
        <p:grpSpPr>
          <a:xfrm>
            <a:off x="1566317" y="4176049"/>
            <a:ext cx="9131357" cy="5232406"/>
            <a:chOff x="54977" y="4652138"/>
            <a:chExt cx="9131357" cy="5232406"/>
          </a:xfrm>
        </p:grpSpPr>
        <p:pic>
          <p:nvPicPr>
            <p:cNvPr id="64" name="Рисунок 63">
              <a:extLst>
                <a:ext uri="{FF2B5EF4-FFF2-40B4-BE49-F238E27FC236}">
                  <a16:creationId xmlns:a16="http://schemas.microsoft.com/office/drawing/2014/main" xmlns="" id="{A284ECE2-5362-4584-A09C-3177FBE29E6B}"/>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4977" y="4652138"/>
              <a:ext cx="8661278" cy="5232406"/>
            </a:xfrm>
            <a:prstGeom prst="rect">
              <a:avLst/>
            </a:prstGeom>
          </p:spPr>
        </p:pic>
        <p:sp>
          <p:nvSpPr>
            <p:cNvPr id="83" name="TextBox 57">
              <a:extLst>
                <a:ext uri="{FF2B5EF4-FFF2-40B4-BE49-F238E27FC236}">
                  <a16:creationId xmlns:a16="http://schemas.microsoft.com/office/drawing/2014/main" xmlns="" id="{9D698CC8-443D-4BF6-BDF8-DFBC6D048AEE}"/>
                </a:ext>
              </a:extLst>
            </p:cNvPr>
            <p:cNvSpPr txBox="1"/>
            <p:nvPr/>
          </p:nvSpPr>
          <p:spPr>
            <a:xfrm>
              <a:off x="3035926" y="5086604"/>
              <a:ext cx="6150408" cy="231730"/>
            </a:xfrm>
            <a:prstGeom prst="rect">
              <a:avLst/>
            </a:prstGeom>
          </p:spPr>
          <p:txBody>
            <a:bodyPr wrap="square" lIns="0" tIns="0" rIns="0" bIns="0" rtlCol="0" anchor="t">
              <a:spAutoFit/>
            </a:bodyPr>
            <a:lstStyle/>
            <a:p>
              <a:pPr algn="l">
                <a:lnSpc>
                  <a:spcPts val="1822"/>
                </a:lnSpc>
              </a:pPr>
              <a:r>
                <a:rPr lang="en-US" sz="1600" b="1" dirty="0">
                  <a:solidFill>
                    <a:schemeClr val="bg1"/>
                  </a:solidFill>
                  <a:latin typeface="DM Sans Bold" pitchFamily="2" charset="0"/>
                  <a:ea typeface="Lora Bold"/>
                  <a:cs typeface="Lora Bold"/>
                  <a:sym typeface="Lora Bold"/>
                </a:rPr>
                <a:t>按地区学生人数分布</a:t>
              </a:r>
            </a:p>
          </p:txBody>
        </p:sp>
        <p:sp>
          <p:nvSpPr>
            <p:cNvPr id="95" name="TextBox 69">
              <a:extLst>
                <a:ext uri="{FF2B5EF4-FFF2-40B4-BE49-F238E27FC236}">
                  <a16:creationId xmlns:a16="http://schemas.microsoft.com/office/drawing/2014/main" xmlns="" id="{858B7D2E-8E1B-40A5-B0FE-9E752FCB4CEB}"/>
                </a:ext>
              </a:extLst>
            </p:cNvPr>
            <p:cNvSpPr txBox="1"/>
            <p:nvPr/>
          </p:nvSpPr>
          <p:spPr>
            <a:xfrm>
              <a:off x="1219200" y="6275121"/>
              <a:ext cx="131577"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7 </a:t>
              </a:r>
            </a:p>
          </p:txBody>
        </p:sp>
        <p:sp>
          <p:nvSpPr>
            <p:cNvPr id="96" name="TextBox 70">
              <a:extLst>
                <a:ext uri="{FF2B5EF4-FFF2-40B4-BE49-F238E27FC236}">
                  <a16:creationId xmlns:a16="http://schemas.microsoft.com/office/drawing/2014/main" xmlns="" id="{6B3F42C6-10DE-4443-B44B-12062B45E72A}"/>
                </a:ext>
              </a:extLst>
            </p:cNvPr>
            <p:cNvSpPr txBox="1"/>
            <p:nvPr/>
          </p:nvSpPr>
          <p:spPr>
            <a:xfrm>
              <a:off x="2421978" y="7176699"/>
              <a:ext cx="173334"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13</a:t>
              </a:r>
            </a:p>
          </p:txBody>
        </p:sp>
        <p:sp>
          <p:nvSpPr>
            <p:cNvPr id="97" name="TextBox 71">
              <a:extLst>
                <a:ext uri="{FF2B5EF4-FFF2-40B4-BE49-F238E27FC236}">
                  <a16:creationId xmlns:a16="http://schemas.microsoft.com/office/drawing/2014/main" xmlns="" id="{0161B45B-94CC-49A2-A1AC-348AE293CF0B}"/>
                </a:ext>
              </a:extLst>
            </p:cNvPr>
            <p:cNvSpPr txBox="1"/>
            <p:nvPr/>
          </p:nvSpPr>
          <p:spPr>
            <a:xfrm>
              <a:off x="3917288" y="7270521"/>
              <a:ext cx="103339" cy="161647"/>
            </a:xfrm>
            <a:prstGeom prst="rect">
              <a:avLst/>
            </a:prstGeom>
          </p:spPr>
          <p:txBody>
            <a:bodyPr wrap="square" lIns="0" tIns="0" rIns="0" bIns="0" rtlCol="0" anchor="t">
              <a:spAutoFit/>
            </a:bodyPr>
            <a:lstStyle/>
            <a:p>
              <a:pPr algn="l">
                <a:lnSpc>
                  <a:spcPts val="1275"/>
                </a:lnSpc>
              </a:pPr>
              <a:r>
                <a:rPr lang="en-US" sz="1000" b="1">
                  <a:solidFill>
                    <a:schemeClr val="bg1">
                      <a:lumMod val="95000"/>
                    </a:schemeClr>
                  </a:solidFill>
                  <a:latin typeface="DM Sans Bold" pitchFamily="2" charset="0"/>
                  <a:ea typeface="Lora Bold"/>
                  <a:cs typeface="Lora Bold"/>
                  <a:sym typeface="Lora Bold"/>
                </a:rPr>
                <a:t>9</a:t>
              </a:r>
            </a:p>
          </p:txBody>
        </p:sp>
        <p:sp>
          <p:nvSpPr>
            <p:cNvPr id="98" name="TextBox 72">
              <a:extLst>
                <a:ext uri="{FF2B5EF4-FFF2-40B4-BE49-F238E27FC236}">
                  <a16:creationId xmlns:a16="http://schemas.microsoft.com/office/drawing/2014/main" xmlns="" id="{8B874E1A-9C27-4AB2-AA36-992316806B41}"/>
                </a:ext>
              </a:extLst>
            </p:cNvPr>
            <p:cNvSpPr txBox="1"/>
            <p:nvPr/>
          </p:nvSpPr>
          <p:spPr>
            <a:xfrm>
              <a:off x="3836178" y="8217211"/>
              <a:ext cx="209833"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20</a:t>
              </a:r>
            </a:p>
          </p:txBody>
        </p:sp>
        <p:sp>
          <p:nvSpPr>
            <p:cNvPr id="99" name="TextBox 73">
              <a:extLst>
                <a:ext uri="{FF2B5EF4-FFF2-40B4-BE49-F238E27FC236}">
                  <a16:creationId xmlns:a16="http://schemas.microsoft.com/office/drawing/2014/main" xmlns="" id="{383A8302-A2DE-4D6F-9FF9-3AA2198653D0}"/>
                </a:ext>
              </a:extLst>
            </p:cNvPr>
            <p:cNvSpPr txBox="1"/>
            <p:nvPr/>
          </p:nvSpPr>
          <p:spPr>
            <a:xfrm>
              <a:off x="5030406" y="8911280"/>
              <a:ext cx="173795"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66</a:t>
              </a:r>
            </a:p>
          </p:txBody>
        </p:sp>
        <p:sp>
          <p:nvSpPr>
            <p:cNvPr id="100" name="TextBox 74">
              <a:extLst>
                <a:ext uri="{FF2B5EF4-FFF2-40B4-BE49-F238E27FC236}">
                  <a16:creationId xmlns:a16="http://schemas.microsoft.com/office/drawing/2014/main" xmlns="" id="{AE78007E-B3B5-4589-B43C-C1EF639137A4}"/>
                </a:ext>
              </a:extLst>
            </p:cNvPr>
            <p:cNvSpPr txBox="1"/>
            <p:nvPr/>
          </p:nvSpPr>
          <p:spPr>
            <a:xfrm>
              <a:off x="5011785" y="8342547"/>
              <a:ext cx="211035"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50</a:t>
              </a:r>
            </a:p>
          </p:txBody>
        </p:sp>
        <p:sp>
          <p:nvSpPr>
            <p:cNvPr id="101" name="TextBox 75">
              <a:extLst>
                <a:ext uri="{FF2B5EF4-FFF2-40B4-BE49-F238E27FC236}">
                  <a16:creationId xmlns:a16="http://schemas.microsoft.com/office/drawing/2014/main" xmlns="" id="{F1CBE332-2FFE-422B-BE97-7FA44D1904B1}"/>
                </a:ext>
              </a:extLst>
            </p:cNvPr>
            <p:cNvSpPr txBox="1"/>
            <p:nvPr/>
          </p:nvSpPr>
          <p:spPr>
            <a:xfrm>
              <a:off x="5517473" y="8075467"/>
              <a:ext cx="199019"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29</a:t>
              </a:r>
            </a:p>
          </p:txBody>
        </p:sp>
        <p:sp>
          <p:nvSpPr>
            <p:cNvPr id="102" name="TextBox 76">
              <a:extLst>
                <a:ext uri="{FF2B5EF4-FFF2-40B4-BE49-F238E27FC236}">
                  <a16:creationId xmlns:a16="http://schemas.microsoft.com/office/drawing/2014/main" xmlns="" id="{F6ADC33E-0451-46AE-B74E-D35ABDFD5DC8}"/>
                </a:ext>
              </a:extLst>
            </p:cNvPr>
            <p:cNvSpPr txBox="1"/>
            <p:nvPr/>
          </p:nvSpPr>
          <p:spPr>
            <a:xfrm>
              <a:off x="5900811" y="7890115"/>
              <a:ext cx="176386"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15</a:t>
              </a:r>
            </a:p>
          </p:txBody>
        </p:sp>
        <p:sp>
          <p:nvSpPr>
            <p:cNvPr id="103" name="TextBox 77">
              <a:extLst>
                <a:ext uri="{FF2B5EF4-FFF2-40B4-BE49-F238E27FC236}">
                  <a16:creationId xmlns:a16="http://schemas.microsoft.com/office/drawing/2014/main" xmlns="" id="{4349BF34-F608-42FE-9247-61633DB88EE2}"/>
                </a:ext>
              </a:extLst>
            </p:cNvPr>
            <p:cNvSpPr txBox="1"/>
            <p:nvPr/>
          </p:nvSpPr>
          <p:spPr>
            <a:xfrm>
              <a:off x="6506390" y="7235383"/>
              <a:ext cx="271717"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126</a:t>
              </a:r>
            </a:p>
          </p:txBody>
        </p:sp>
        <p:sp>
          <p:nvSpPr>
            <p:cNvPr id="104" name="TextBox 78">
              <a:extLst>
                <a:ext uri="{FF2B5EF4-FFF2-40B4-BE49-F238E27FC236}">
                  <a16:creationId xmlns:a16="http://schemas.microsoft.com/office/drawing/2014/main" xmlns="" id="{30C9C227-9E88-41F6-B467-479914C40FA7}"/>
                </a:ext>
              </a:extLst>
            </p:cNvPr>
            <p:cNvSpPr txBox="1"/>
            <p:nvPr/>
          </p:nvSpPr>
          <p:spPr>
            <a:xfrm>
              <a:off x="6459902" y="7600030"/>
              <a:ext cx="182347"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47</a:t>
              </a:r>
            </a:p>
          </p:txBody>
        </p:sp>
        <p:sp>
          <p:nvSpPr>
            <p:cNvPr id="105" name="TextBox 79">
              <a:extLst>
                <a:ext uri="{FF2B5EF4-FFF2-40B4-BE49-F238E27FC236}">
                  <a16:creationId xmlns:a16="http://schemas.microsoft.com/office/drawing/2014/main" xmlns="" id="{4EC7D453-518B-40A1-ABE5-D0B38FEC935D}"/>
                </a:ext>
              </a:extLst>
            </p:cNvPr>
            <p:cNvSpPr txBox="1"/>
            <p:nvPr/>
          </p:nvSpPr>
          <p:spPr>
            <a:xfrm>
              <a:off x="7179678" y="7491776"/>
              <a:ext cx="203074"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38</a:t>
              </a:r>
            </a:p>
          </p:txBody>
        </p:sp>
        <p:sp>
          <p:nvSpPr>
            <p:cNvPr id="106" name="TextBox 80">
              <a:extLst>
                <a:ext uri="{FF2B5EF4-FFF2-40B4-BE49-F238E27FC236}">
                  <a16:creationId xmlns:a16="http://schemas.microsoft.com/office/drawing/2014/main" xmlns="" id="{5A7088D1-CFDF-4CDD-9397-089D5341B3D1}"/>
                </a:ext>
              </a:extLst>
            </p:cNvPr>
            <p:cNvSpPr txBox="1"/>
            <p:nvPr/>
          </p:nvSpPr>
          <p:spPr>
            <a:xfrm>
              <a:off x="7678286" y="7497975"/>
              <a:ext cx="203676"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63</a:t>
              </a:r>
            </a:p>
          </p:txBody>
        </p:sp>
        <p:sp>
          <p:nvSpPr>
            <p:cNvPr id="107" name="TextBox 81">
              <a:extLst>
                <a:ext uri="{FF2B5EF4-FFF2-40B4-BE49-F238E27FC236}">
                  <a16:creationId xmlns:a16="http://schemas.microsoft.com/office/drawing/2014/main" xmlns="" id="{CFFC5319-BE6E-4F7E-BB8E-317DF581E2BE}"/>
                </a:ext>
              </a:extLst>
            </p:cNvPr>
            <p:cNvSpPr txBox="1"/>
            <p:nvPr/>
          </p:nvSpPr>
          <p:spPr>
            <a:xfrm>
              <a:off x="7288583" y="7722203"/>
              <a:ext cx="196165" cy="161647"/>
            </a:xfrm>
            <a:prstGeom prst="rect">
              <a:avLst/>
            </a:prstGeom>
          </p:spPr>
          <p:txBody>
            <a:bodyPr wrap="square" lIns="0" tIns="0" rIns="0" bIns="0" rtlCol="0" anchor="t">
              <a:spAutoFit/>
            </a:bodyPr>
            <a:lstStyle/>
            <a:p>
              <a:pPr algn="l">
                <a:lnSpc>
                  <a:spcPts val="1275"/>
                </a:lnSpc>
              </a:pPr>
              <a:r>
                <a:rPr lang="en-US" sz="1000" b="1" dirty="0">
                  <a:solidFill>
                    <a:schemeClr val="bg1">
                      <a:lumMod val="95000"/>
                    </a:schemeClr>
                  </a:solidFill>
                  <a:latin typeface="DM Sans Bold" pitchFamily="2" charset="0"/>
                  <a:ea typeface="Lora Bold"/>
                  <a:cs typeface="Lora Bold"/>
                  <a:sym typeface="Lora Bold"/>
                </a:rPr>
                <a:t>32</a:t>
              </a:r>
            </a:p>
          </p:txBody>
        </p:sp>
        <p:sp>
          <p:nvSpPr>
            <p:cNvPr id="142" name="TextBox 116">
              <a:extLst>
                <a:ext uri="{FF2B5EF4-FFF2-40B4-BE49-F238E27FC236}">
                  <a16:creationId xmlns:a16="http://schemas.microsoft.com/office/drawing/2014/main" xmlns="" id="{B0C2A395-E265-4E0C-A146-75E317585F3E}"/>
                </a:ext>
              </a:extLst>
            </p:cNvPr>
            <p:cNvSpPr txBox="1"/>
            <p:nvPr/>
          </p:nvSpPr>
          <p:spPr>
            <a:xfrm>
              <a:off x="5399372" y="9419623"/>
              <a:ext cx="485156" cy="155042"/>
            </a:xfrm>
            <a:prstGeom prst="rect">
              <a:avLst/>
            </a:prstGeom>
          </p:spPr>
          <p:txBody>
            <a:bodyPr wrap="square" lIns="0" tIns="0" rIns="0" bIns="0" rtlCol="0" anchor="t">
              <a:spAutoFit/>
            </a:bodyPr>
            <a:lstStyle/>
            <a:p>
              <a:pPr algn="l">
                <a:lnSpc>
                  <a:spcPts val="1275"/>
                </a:lnSpc>
              </a:pPr>
              <a:r>
                <a:rPr lang="en-US" sz="911" b="1" dirty="0">
                  <a:solidFill>
                    <a:schemeClr val="bg1"/>
                  </a:solidFill>
                  <a:latin typeface="Lora Bold"/>
                  <a:ea typeface="Lora Bold"/>
                  <a:cs typeface="Lora Bold"/>
                  <a:sym typeface="Lora Bold"/>
                </a:rPr>
                <a:t>22702</a:t>
              </a:r>
            </a:p>
          </p:txBody>
        </p:sp>
      </p:grpSp>
      <p:sp>
        <p:nvSpPr>
          <p:cNvPr id="5" name="Прямоугольник: скругленные углы 4">
            <a:extLst>
              <a:ext uri="{FF2B5EF4-FFF2-40B4-BE49-F238E27FC236}">
                <a16:creationId xmlns:a16="http://schemas.microsoft.com/office/drawing/2014/main" xmlns="" id="{D2FDD236-4D22-4FA3-8A28-116A0FCE5E72}"/>
              </a:ext>
            </a:extLst>
          </p:cNvPr>
          <p:cNvSpPr/>
          <p:nvPr/>
        </p:nvSpPr>
        <p:spPr>
          <a:xfrm>
            <a:off x="10194727" y="4361322"/>
            <a:ext cx="1853562" cy="349460"/>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DM Sans" pitchFamily="2" charset="0"/>
                <a:ea typeface="Lora Bold"/>
                <a:cs typeface="Lora Bold"/>
                <a:sym typeface="Lora Bold"/>
              </a:rPr>
              <a:t>科学博士，DSc</a:t>
            </a:r>
          </a:p>
        </p:txBody>
      </p:sp>
      <p:sp>
        <p:nvSpPr>
          <p:cNvPr id="143" name="Прямоугольник: скругленные углы 142">
            <a:extLst>
              <a:ext uri="{FF2B5EF4-FFF2-40B4-BE49-F238E27FC236}">
                <a16:creationId xmlns:a16="http://schemas.microsoft.com/office/drawing/2014/main" xmlns="" id="{4C49A632-EEA6-4F9A-B068-60572663BD1B}"/>
              </a:ext>
            </a:extLst>
          </p:cNvPr>
          <p:cNvSpPr/>
          <p:nvPr/>
        </p:nvSpPr>
        <p:spPr>
          <a:xfrm>
            <a:off x="10591800" y="4121938"/>
            <a:ext cx="1022276" cy="270869"/>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i="1" dirty="0">
                <a:latin typeface="Lora Bold Italics"/>
                <a:ea typeface="Lora Bold Italics"/>
                <a:cs typeface="Lora Bold Italics"/>
                <a:sym typeface="Lora Bold Italics"/>
              </a:rPr>
              <a:t>3,55%</a:t>
            </a:r>
          </a:p>
        </p:txBody>
      </p:sp>
      <p:sp>
        <p:nvSpPr>
          <p:cNvPr id="144" name="Прямоугольник: скругленные углы 143">
            <a:extLst>
              <a:ext uri="{FF2B5EF4-FFF2-40B4-BE49-F238E27FC236}">
                <a16:creationId xmlns:a16="http://schemas.microsoft.com/office/drawing/2014/main" xmlns="" id="{1FBF37A3-195F-4A4C-8C29-E2A2406BAD43}"/>
              </a:ext>
            </a:extLst>
          </p:cNvPr>
          <p:cNvSpPr/>
          <p:nvPr/>
        </p:nvSpPr>
        <p:spPr>
          <a:xfrm rot="10800000" flipH="1" flipV="1">
            <a:off x="10205088" y="4922541"/>
            <a:ext cx="1853562" cy="349460"/>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DM Sans" pitchFamily="2" charset="0"/>
                <a:ea typeface="Lora Bold"/>
                <a:cs typeface="Lora Bold"/>
                <a:sym typeface="Lora Bold"/>
              </a:rPr>
              <a:t>科学候选人 (PhD)</a:t>
            </a:r>
          </a:p>
        </p:txBody>
      </p:sp>
      <p:sp>
        <p:nvSpPr>
          <p:cNvPr id="145" name="Прямоугольник: скругленные углы 144">
            <a:extLst>
              <a:ext uri="{FF2B5EF4-FFF2-40B4-BE49-F238E27FC236}">
                <a16:creationId xmlns:a16="http://schemas.microsoft.com/office/drawing/2014/main" xmlns="" id="{E5BD2679-C939-4E27-8FAA-0BF56F052D22}"/>
              </a:ext>
            </a:extLst>
          </p:cNvPr>
          <p:cNvSpPr/>
          <p:nvPr/>
        </p:nvSpPr>
        <p:spPr>
          <a:xfrm rot="10800000" flipH="1" flipV="1">
            <a:off x="10566741" y="5239121"/>
            <a:ext cx="1022276" cy="270869"/>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DM Sans" pitchFamily="2" charset="0"/>
              </a:rPr>
              <a:t>39,5%</a:t>
            </a:r>
            <a:endParaRPr lang="ru-RU" sz="1400" b="1" dirty="0"/>
          </a:p>
        </p:txBody>
      </p:sp>
      <p:sp>
        <p:nvSpPr>
          <p:cNvPr id="146" name="Прямоугольник: скругленные углы 145">
            <a:extLst>
              <a:ext uri="{FF2B5EF4-FFF2-40B4-BE49-F238E27FC236}">
                <a16:creationId xmlns:a16="http://schemas.microsoft.com/office/drawing/2014/main" xmlns="" id="{955129C4-09D0-4148-8F22-56EA7A6AD45F}"/>
              </a:ext>
            </a:extLst>
          </p:cNvPr>
          <p:cNvSpPr/>
          <p:nvPr/>
        </p:nvSpPr>
        <p:spPr>
          <a:xfrm>
            <a:off x="12309277" y="4342272"/>
            <a:ext cx="1853562" cy="349460"/>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latin typeface="DM Sans" pitchFamily="2" charset="0"/>
                <a:ea typeface="Lora Bold"/>
                <a:cs typeface="Lora Bold"/>
                <a:sym typeface="Lora Bold"/>
              </a:rPr>
              <a:t>平均年龄</a:t>
            </a:r>
            <a:endParaRPr lang="en-US" sz="1400" b="1" dirty="0">
              <a:latin typeface="DM Sans" pitchFamily="2" charset="0"/>
              <a:ea typeface="Lora Bold"/>
              <a:cs typeface="Lora Bold"/>
              <a:sym typeface="Lora Bold"/>
            </a:endParaRPr>
          </a:p>
        </p:txBody>
      </p:sp>
      <p:sp>
        <p:nvSpPr>
          <p:cNvPr id="147" name="Прямоугольник: скругленные углы 146">
            <a:extLst>
              <a:ext uri="{FF2B5EF4-FFF2-40B4-BE49-F238E27FC236}">
                <a16:creationId xmlns:a16="http://schemas.microsoft.com/office/drawing/2014/main" xmlns="" id="{DDE8AF67-0832-485C-AE20-3EB484992FD7}"/>
              </a:ext>
            </a:extLst>
          </p:cNvPr>
          <p:cNvSpPr/>
          <p:nvPr/>
        </p:nvSpPr>
        <p:spPr>
          <a:xfrm>
            <a:off x="12706350" y="4102888"/>
            <a:ext cx="1022276" cy="270869"/>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i="1" dirty="0">
                <a:latin typeface="Lora Bold Italics"/>
                <a:ea typeface="Lora Bold Italics"/>
                <a:cs typeface="Lora Bold Italics"/>
                <a:sym typeface="Lora Bold Italics"/>
              </a:rPr>
              <a:t>37</a:t>
            </a:r>
          </a:p>
        </p:txBody>
      </p:sp>
      <p:sp>
        <p:nvSpPr>
          <p:cNvPr id="148" name="Прямоугольник: скругленные углы 147">
            <a:extLst>
              <a:ext uri="{FF2B5EF4-FFF2-40B4-BE49-F238E27FC236}">
                <a16:creationId xmlns:a16="http://schemas.microsoft.com/office/drawing/2014/main" xmlns="" id="{CF4C9BFD-71A3-42E7-B36A-AA18196C62C5}"/>
              </a:ext>
            </a:extLst>
          </p:cNvPr>
          <p:cNvSpPr/>
          <p:nvPr/>
        </p:nvSpPr>
        <p:spPr>
          <a:xfrm rot="10800000" flipH="1" flipV="1">
            <a:off x="12319638" y="4903491"/>
            <a:ext cx="1853562" cy="349460"/>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latin typeface="DM Sans" pitchFamily="2" charset="0"/>
                <a:ea typeface="Lora Bold"/>
                <a:cs typeface="Lora Bold"/>
                <a:sym typeface="Lora Bold"/>
              </a:rPr>
              <a:t>科研潜力</a:t>
            </a:r>
            <a:endParaRPr lang="en-US" sz="1400" b="1" dirty="0">
              <a:latin typeface="DM Sans" pitchFamily="2" charset="0"/>
              <a:ea typeface="Lora Bold"/>
              <a:cs typeface="Lora Bold"/>
              <a:sym typeface="Lora Bold"/>
            </a:endParaRPr>
          </a:p>
        </p:txBody>
      </p:sp>
      <p:sp>
        <p:nvSpPr>
          <p:cNvPr id="149" name="Прямоугольник: скругленные углы 148">
            <a:extLst>
              <a:ext uri="{FF2B5EF4-FFF2-40B4-BE49-F238E27FC236}">
                <a16:creationId xmlns:a16="http://schemas.microsoft.com/office/drawing/2014/main" xmlns="" id="{E334E676-0DFE-4AE0-B00A-40C0EB887F86}"/>
              </a:ext>
            </a:extLst>
          </p:cNvPr>
          <p:cNvSpPr/>
          <p:nvPr/>
        </p:nvSpPr>
        <p:spPr>
          <a:xfrm rot="10800000" flipH="1" flipV="1">
            <a:off x="12681291" y="5220071"/>
            <a:ext cx="1022276" cy="270869"/>
          </a:xfrm>
          <a:prstGeom prst="roundRect">
            <a:avLst/>
          </a:prstGeom>
          <a:solidFill>
            <a:srgbClr val="092D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i="1" dirty="0">
                <a:latin typeface="DM Sans" pitchFamily="2" charset="0"/>
                <a:ea typeface="Lora Bold Italics"/>
                <a:cs typeface="Lora Bold Italics"/>
                <a:sym typeface="Lora Bold Italics"/>
              </a:rPr>
              <a:t>42,6%</a:t>
            </a:r>
          </a:p>
        </p:txBody>
      </p:sp>
      <p:pic>
        <p:nvPicPr>
          <p:cNvPr id="7" name="Рисунок 6">
            <a:extLst>
              <a:ext uri="{FF2B5EF4-FFF2-40B4-BE49-F238E27FC236}">
                <a16:creationId xmlns:a16="http://schemas.microsoft.com/office/drawing/2014/main" xmlns="" id="{43BF1DDD-D665-4BE9-95A6-1C776B3A83D8}"/>
              </a:ext>
            </a:extLst>
          </p:cNvPr>
          <p:cNvPicPr>
            <a:picLocks noChangeAspect="1"/>
          </p:cNvPicPr>
          <p:nvPr/>
        </p:nvPicPr>
        <p:blipFill rotWithShape="1">
          <a:blip r:embed="rId25" cstate="print">
            <a:extLst>
              <a:ext uri="{28A0092B-C50C-407E-A947-70E740481C1C}">
                <a14:useLocalDpi xmlns:a14="http://schemas.microsoft.com/office/drawing/2010/main" val="0"/>
              </a:ext>
            </a:extLst>
          </a:blip>
          <a:srcRect l="11843" t="2147" r="17477" b="1675"/>
          <a:stretch/>
        </p:blipFill>
        <p:spPr>
          <a:xfrm>
            <a:off x="11657847" y="2505372"/>
            <a:ext cx="1512729" cy="1372822"/>
          </a:xfrm>
          <a:prstGeom prst="rect">
            <a:avLst/>
          </a:prstGeom>
        </p:spPr>
      </p:pic>
      <p:sp>
        <p:nvSpPr>
          <p:cNvPr id="150" name="TextBox 92">
            <a:extLst>
              <a:ext uri="{FF2B5EF4-FFF2-40B4-BE49-F238E27FC236}">
                <a16:creationId xmlns:a16="http://schemas.microsoft.com/office/drawing/2014/main" xmlns="" id="{078D5D52-1598-4E8F-9245-6557882FE489}"/>
              </a:ext>
            </a:extLst>
          </p:cNvPr>
          <p:cNvSpPr txBox="1"/>
          <p:nvPr/>
        </p:nvSpPr>
        <p:spPr>
          <a:xfrm>
            <a:off x="12125857" y="2369088"/>
            <a:ext cx="359385" cy="144720"/>
          </a:xfrm>
          <a:prstGeom prst="rect">
            <a:avLst/>
          </a:prstGeom>
        </p:spPr>
        <p:txBody>
          <a:bodyPr wrap="square" lIns="0" tIns="0" rIns="0" bIns="0" rtlCol="0" anchor="t">
            <a:spAutoFit/>
          </a:bodyPr>
          <a:lstStyle/>
          <a:p>
            <a:pPr marL="94852" lvl="1" algn="l">
              <a:lnSpc>
                <a:spcPts val="1230"/>
              </a:lnSpc>
            </a:pPr>
            <a:r>
              <a:rPr lang="en-US" sz="800" b="1" dirty="0">
                <a:solidFill>
                  <a:schemeClr val="bg1"/>
                </a:solidFill>
                <a:effectLst>
                  <a:outerShdw blurRad="38100" dist="38100" dir="2700000" algn="tl">
                    <a:srgbClr val="000000">
                      <a:alpha val="43137"/>
                    </a:srgbClr>
                  </a:outerShdw>
                </a:effectLst>
                <a:latin typeface="DM Sans" pitchFamily="2" charset="0"/>
                <a:ea typeface="Lora"/>
                <a:cs typeface="Lora"/>
                <a:sym typeface="Lora"/>
              </a:rPr>
              <a:t>3,6%</a:t>
            </a:r>
          </a:p>
        </p:txBody>
      </p:sp>
      <p:sp>
        <p:nvSpPr>
          <p:cNvPr id="151" name="TextBox 92">
            <a:extLst>
              <a:ext uri="{FF2B5EF4-FFF2-40B4-BE49-F238E27FC236}">
                <a16:creationId xmlns:a16="http://schemas.microsoft.com/office/drawing/2014/main" xmlns="" id="{ADBFB9AE-46F1-4D12-AF24-5275A782C122}"/>
              </a:ext>
            </a:extLst>
          </p:cNvPr>
          <p:cNvSpPr txBox="1"/>
          <p:nvPr/>
        </p:nvSpPr>
        <p:spPr>
          <a:xfrm>
            <a:off x="12516382" y="3054888"/>
            <a:ext cx="513818" cy="144720"/>
          </a:xfrm>
          <a:prstGeom prst="rect">
            <a:avLst/>
          </a:prstGeom>
        </p:spPr>
        <p:txBody>
          <a:bodyPr wrap="square" lIns="0" tIns="0" rIns="0" bIns="0" rtlCol="0" anchor="t">
            <a:spAutoFit/>
          </a:bodyPr>
          <a:lstStyle/>
          <a:p>
            <a:pPr marL="94852" lvl="1" algn="l">
              <a:lnSpc>
                <a:spcPts val="1230"/>
              </a:lnSpc>
            </a:pPr>
            <a:r>
              <a:rPr lang="en-US" sz="800" b="1" dirty="0">
                <a:solidFill>
                  <a:srgbClr val="092D58"/>
                </a:solidFill>
                <a:effectLst>
                  <a:outerShdw blurRad="38100" dist="38100" dir="2700000" algn="tl">
                    <a:srgbClr val="000000">
                      <a:alpha val="43137"/>
                    </a:srgbClr>
                  </a:outerShdw>
                </a:effectLst>
                <a:latin typeface="DM Sans" pitchFamily="2" charset="0"/>
                <a:ea typeface="Lora"/>
                <a:cs typeface="Lora"/>
                <a:sym typeface="Lora"/>
              </a:rPr>
              <a:t>39,5%</a:t>
            </a:r>
          </a:p>
        </p:txBody>
      </p:sp>
      <p:sp>
        <p:nvSpPr>
          <p:cNvPr id="152" name="TextBox 92">
            <a:extLst>
              <a:ext uri="{FF2B5EF4-FFF2-40B4-BE49-F238E27FC236}">
                <a16:creationId xmlns:a16="http://schemas.microsoft.com/office/drawing/2014/main" xmlns="" id="{62E9A380-6058-4862-9A3B-33FFCB2D7B72}"/>
              </a:ext>
            </a:extLst>
          </p:cNvPr>
          <p:cNvSpPr txBox="1"/>
          <p:nvPr/>
        </p:nvSpPr>
        <p:spPr>
          <a:xfrm>
            <a:off x="11954407" y="3359688"/>
            <a:ext cx="475828" cy="144720"/>
          </a:xfrm>
          <a:prstGeom prst="rect">
            <a:avLst/>
          </a:prstGeom>
        </p:spPr>
        <p:txBody>
          <a:bodyPr wrap="square" lIns="0" tIns="0" rIns="0" bIns="0" rtlCol="0" anchor="t">
            <a:spAutoFit/>
          </a:bodyPr>
          <a:lstStyle/>
          <a:p>
            <a:pPr marL="94852" lvl="1" algn="l">
              <a:lnSpc>
                <a:spcPts val="1230"/>
              </a:lnSpc>
            </a:pPr>
            <a:r>
              <a:rPr lang="en-US" sz="800" b="1" dirty="0">
                <a:solidFill>
                  <a:srgbClr val="092D58"/>
                </a:solidFill>
                <a:effectLst>
                  <a:outerShdw blurRad="38100" dist="38100" dir="2700000" algn="tl">
                    <a:srgbClr val="000000">
                      <a:alpha val="43137"/>
                    </a:srgbClr>
                  </a:outerShdw>
                </a:effectLst>
                <a:latin typeface="DM Sans" pitchFamily="2" charset="0"/>
                <a:ea typeface="Lora"/>
                <a:cs typeface="Lora"/>
                <a:sym typeface="Lora"/>
              </a:rPr>
              <a:t>56,9%</a:t>
            </a:r>
          </a:p>
        </p:txBody>
      </p:sp>
      <p:grpSp>
        <p:nvGrpSpPr>
          <p:cNvPr id="6" name="Группа 5">
            <a:extLst>
              <a:ext uri="{FF2B5EF4-FFF2-40B4-BE49-F238E27FC236}">
                <a16:creationId xmlns:a16="http://schemas.microsoft.com/office/drawing/2014/main" xmlns="" id="{722F4731-F1AC-465C-9DD1-99DA035B4391}"/>
              </a:ext>
            </a:extLst>
          </p:cNvPr>
          <p:cNvGrpSpPr/>
          <p:nvPr/>
        </p:nvGrpSpPr>
        <p:grpSpPr>
          <a:xfrm>
            <a:off x="1095196" y="7743533"/>
            <a:ext cx="3481522" cy="1705070"/>
            <a:chOff x="6653078" y="8316244"/>
            <a:chExt cx="3481522" cy="1705070"/>
          </a:xfrm>
        </p:grpSpPr>
        <p:sp>
          <p:nvSpPr>
            <p:cNvPr id="36" name="Freeform 10">
              <a:extLst>
                <a:ext uri="{FF2B5EF4-FFF2-40B4-BE49-F238E27FC236}">
                  <a16:creationId xmlns:a16="http://schemas.microsoft.com/office/drawing/2014/main" xmlns="" id="{4265627E-BAFD-4A18-B5BD-1227DE91A131}"/>
                </a:ext>
              </a:extLst>
            </p:cNvPr>
            <p:cNvSpPr/>
            <p:nvPr/>
          </p:nvSpPr>
          <p:spPr>
            <a:xfrm>
              <a:off x="6653078" y="9021357"/>
              <a:ext cx="389736" cy="301478"/>
            </a:xfrm>
            <a:custGeom>
              <a:avLst/>
              <a:gdLst/>
              <a:ahLst/>
              <a:cxnLst/>
              <a:rect l="l" t="t" r="r" b="b"/>
              <a:pathLst>
                <a:path w="209789" h="132954">
                  <a:moveTo>
                    <a:pt x="0" y="0"/>
                  </a:moveTo>
                  <a:lnTo>
                    <a:pt x="209789" y="0"/>
                  </a:lnTo>
                  <a:lnTo>
                    <a:pt x="209789" y="132954"/>
                  </a:lnTo>
                  <a:lnTo>
                    <a:pt x="0" y="132954"/>
                  </a:lnTo>
                  <a:lnTo>
                    <a:pt x="0" y="0"/>
                  </a:lnTo>
                  <a:close/>
                </a:path>
              </a:pathLst>
            </a:custGeom>
            <a:blipFill>
              <a:blip r:embed="rId26">
                <a:extLst>
                  <a:ext uri="{96DAC541-7B7A-43D3-8B79-37D633B846F1}">
                    <asvg:svgBlip xmlns:asvg="http://schemas.microsoft.com/office/drawing/2016/SVG/main" xmlns="" r:embed="rId27"/>
                  </a:ext>
                </a:extLst>
              </a:blip>
              <a:stretch>
                <a:fillRect/>
              </a:stretch>
            </a:blipFill>
          </p:spPr>
        </p:sp>
        <p:sp>
          <p:nvSpPr>
            <p:cNvPr id="37" name="Freeform 11">
              <a:extLst>
                <a:ext uri="{FF2B5EF4-FFF2-40B4-BE49-F238E27FC236}">
                  <a16:creationId xmlns:a16="http://schemas.microsoft.com/office/drawing/2014/main" xmlns="" id="{E9FEAFEC-85D0-4BE5-A071-0F7CEFC2A687}"/>
                </a:ext>
              </a:extLst>
            </p:cNvPr>
            <p:cNvSpPr/>
            <p:nvPr/>
          </p:nvSpPr>
          <p:spPr>
            <a:xfrm>
              <a:off x="6653078" y="8708790"/>
              <a:ext cx="368856" cy="246312"/>
            </a:xfrm>
            <a:custGeom>
              <a:avLst/>
              <a:gdLst/>
              <a:ahLst/>
              <a:cxnLst/>
              <a:rect l="l" t="t" r="r" b="b"/>
              <a:pathLst>
                <a:path w="201473" h="134987">
                  <a:moveTo>
                    <a:pt x="0" y="0"/>
                  </a:moveTo>
                  <a:lnTo>
                    <a:pt x="201473" y="0"/>
                  </a:lnTo>
                  <a:lnTo>
                    <a:pt x="201473" y="134987"/>
                  </a:lnTo>
                  <a:lnTo>
                    <a:pt x="0" y="134987"/>
                  </a:lnTo>
                  <a:lnTo>
                    <a:pt x="0" y="0"/>
                  </a:lnTo>
                  <a:close/>
                </a:path>
              </a:pathLst>
            </a:custGeom>
            <a:blipFill>
              <a:blip r:embed="rId28">
                <a:extLst>
                  <a:ext uri="{96DAC541-7B7A-43D3-8B79-37D633B846F1}">
                    <asvg:svgBlip xmlns:asvg="http://schemas.microsoft.com/office/drawing/2016/SVG/main" xmlns="" r:embed="rId29"/>
                  </a:ext>
                </a:extLst>
              </a:blip>
              <a:stretch>
                <a:fillRect/>
              </a:stretch>
            </a:blipFill>
          </p:spPr>
        </p:sp>
        <p:sp>
          <p:nvSpPr>
            <p:cNvPr id="38" name="Freeform 12">
              <a:extLst>
                <a:ext uri="{FF2B5EF4-FFF2-40B4-BE49-F238E27FC236}">
                  <a16:creationId xmlns:a16="http://schemas.microsoft.com/office/drawing/2014/main" xmlns="" id="{AF68606A-9691-4132-A159-93BB1C2C04A3}"/>
                </a:ext>
              </a:extLst>
            </p:cNvPr>
            <p:cNvSpPr/>
            <p:nvPr/>
          </p:nvSpPr>
          <p:spPr>
            <a:xfrm>
              <a:off x="6653078" y="9380243"/>
              <a:ext cx="271871" cy="279370"/>
            </a:xfrm>
            <a:custGeom>
              <a:avLst/>
              <a:gdLst/>
              <a:ahLst/>
              <a:cxnLst/>
              <a:rect l="l" t="t" r="r" b="b"/>
              <a:pathLst>
                <a:path w="141589" h="155379">
                  <a:moveTo>
                    <a:pt x="0" y="0"/>
                  </a:moveTo>
                  <a:lnTo>
                    <a:pt x="141589" y="0"/>
                  </a:lnTo>
                  <a:lnTo>
                    <a:pt x="141589" y="155379"/>
                  </a:lnTo>
                  <a:lnTo>
                    <a:pt x="0" y="155379"/>
                  </a:lnTo>
                  <a:lnTo>
                    <a:pt x="0" y="0"/>
                  </a:lnTo>
                  <a:close/>
                </a:path>
              </a:pathLst>
            </a:custGeom>
            <a:blipFill>
              <a:blip r:embed="rId30">
                <a:extLst>
                  <a:ext uri="{96DAC541-7B7A-43D3-8B79-37D633B846F1}">
                    <asvg:svgBlip xmlns:asvg="http://schemas.microsoft.com/office/drawing/2016/SVG/main" xmlns="" r:embed="rId31"/>
                  </a:ext>
                </a:extLst>
              </a:blip>
              <a:stretch>
                <a:fillRect/>
              </a:stretch>
            </a:blipFill>
          </p:spPr>
        </p:sp>
        <p:sp>
          <p:nvSpPr>
            <p:cNvPr id="39" name="Freeform 13">
              <a:extLst>
                <a:ext uri="{FF2B5EF4-FFF2-40B4-BE49-F238E27FC236}">
                  <a16:creationId xmlns:a16="http://schemas.microsoft.com/office/drawing/2014/main" xmlns="" id="{1B1D68A5-C434-4236-A965-C3E4234CD45E}"/>
                </a:ext>
              </a:extLst>
            </p:cNvPr>
            <p:cNvSpPr/>
            <p:nvPr/>
          </p:nvSpPr>
          <p:spPr>
            <a:xfrm>
              <a:off x="6653078" y="9741944"/>
              <a:ext cx="257680" cy="279370"/>
            </a:xfrm>
            <a:custGeom>
              <a:avLst/>
              <a:gdLst/>
              <a:ahLst/>
              <a:cxnLst/>
              <a:rect l="l" t="t" r="r" b="b"/>
              <a:pathLst>
                <a:path w="124631" h="164530">
                  <a:moveTo>
                    <a:pt x="0" y="0"/>
                  </a:moveTo>
                  <a:lnTo>
                    <a:pt x="124631" y="0"/>
                  </a:lnTo>
                  <a:lnTo>
                    <a:pt x="124631" y="164529"/>
                  </a:lnTo>
                  <a:lnTo>
                    <a:pt x="0" y="164529"/>
                  </a:lnTo>
                  <a:lnTo>
                    <a:pt x="0" y="0"/>
                  </a:lnTo>
                  <a:close/>
                </a:path>
              </a:pathLst>
            </a:custGeom>
            <a:blipFill>
              <a:blip r:embed="rId32">
                <a:extLst>
                  <a:ext uri="{96DAC541-7B7A-43D3-8B79-37D633B846F1}">
                    <asvg:svgBlip xmlns:asvg="http://schemas.microsoft.com/office/drawing/2016/SVG/main" xmlns="" r:embed="rId33"/>
                  </a:ext>
                </a:extLst>
              </a:blip>
              <a:stretch>
                <a:fillRect/>
              </a:stretch>
            </a:blipFill>
          </p:spPr>
        </p:sp>
        <p:sp>
          <p:nvSpPr>
            <p:cNvPr id="85" name="TextBox 59">
              <a:extLst>
                <a:ext uri="{FF2B5EF4-FFF2-40B4-BE49-F238E27FC236}">
                  <a16:creationId xmlns:a16="http://schemas.microsoft.com/office/drawing/2014/main" xmlns="" id="{8B44471A-2A73-4379-82E7-BD57DBE10ECC}"/>
                </a:ext>
              </a:extLst>
            </p:cNvPr>
            <p:cNvSpPr txBox="1"/>
            <p:nvPr/>
          </p:nvSpPr>
          <p:spPr>
            <a:xfrm>
              <a:off x="7259881" y="8374260"/>
              <a:ext cx="2671619" cy="171137"/>
            </a:xfrm>
            <a:prstGeom prst="rect">
              <a:avLst/>
            </a:prstGeom>
          </p:spPr>
          <p:txBody>
            <a:bodyPr wrap="square" lIns="0" tIns="0" rIns="0" bIns="0" rtlCol="0" anchor="t">
              <a:spAutoFit/>
            </a:bodyPr>
            <a:lstStyle/>
            <a:p>
              <a:pPr algn="l">
                <a:lnSpc>
                  <a:spcPts val="1275"/>
                </a:lnSpc>
              </a:pPr>
              <a:r>
                <a:rPr lang="en-US" sz="1400" b="1" dirty="0">
                  <a:solidFill>
                    <a:schemeClr val="bg1"/>
                  </a:solidFill>
                  <a:latin typeface="Lora Bold"/>
                  <a:ea typeface="Lora Bold"/>
                  <a:cs typeface="Lora Bold"/>
                  <a:sym typeface="Lora Bold"/>
                </a:rPr>
                <a:t>学生总数</a:t>
              </a:r>
            </a:p>
          </p:txBody>
        </p:sp>
        <p:sp>
          <p:nvSpPr>
            <p:cNvPr id="86" name="TextBox 60">
              <a:extLst>
                <a:ext uri="{FF2B5EF4-FFF2-40B4-BE49-F238E27FC236}">
                  <a16:creationId xmlns:a16="http://schemas.microsoft.com/office/drawing/2014/main" xmlns="" id="{B68645AA-89BA-4CB5-83E0-AF8A281892AB}"/>
                </a:ext>
              </a:extLst>
            </p:cNvPr>
            <p:cNvSpPr txBox="1"/>
            <p:nvPr/>
          </p:nvSpPr>
          <p:spPr>
            <a:xfrm>
              <a:off x="7259881" y="8742178"/>
              <a:ext cx="1036245" cy="179536"/>
            </a:xfrm>
            <a:prstGeom prst="rect">
              <a:avLst/>
            </a:prstGeom>
          </p:spPr>
          <p:txBody>
            <a:bodyPr wrap="square" lIns="0" tIns="0" rIns="0" bIns="0" rtlCol="0" anchor="t">
              <a:spAutoFit/>
            </a:bodyPr>
            <a:lstStyle/>
            <a:p>
              <a:pPr algn="l">
                <a:lnSpc>
                  <a:spcPts val="1367"/>
                </a:lnSpc>
              </a:pPr>
              <a:r>
                <a:rPr lang="en-US" sz="1400" b="1" dirty="0">
                  <a:solidFill>
                    <a:schemeClr val="bg1"/>
                  </a:solidFill>
                  <a:latin typeface="Lora Bold"/>
                  <a:sym typeface="Lora Bold"/>
                </a:rPr>
                <a:t>研究生</a:t>
              </a:r>
            </a:p>
          </p:txBody>
        </p:sp>
        <p:sp>
          <p:nvSpPr>
            <p:cNvPr id="87" name="TextBox 61">
              <a:extLst>
                <a:ext uri="{FF2B5EF4-FFF2-40B4-BE49-F238E27FC236}">
                  <a16:creationId xmlns:a16="http://schemas.microsoft.com/office/drawing/2014/main" xmlns="" id="{FD14D834-555A-48E3-B8C5-420AC3EC6619}"/>
                </a:ext>
              </a:extLst>
            </p:cNvPr>
            <p:cNvSpPr txBox="1"/>
            <p:nvPr/>
          </p:nvSpPr>
          <p:spPr>
            <a:xfrm>
              <a:off x="7259881" y="9106050"/>
              <a:ext cx="959187" cy="180755"/>
            </a:xfrm>
            <a:prstGeom prst="rect">
              <a:avLst/>
            </a:prstGeom>
          </p:spPr>
          <p:txBody>
            <a:bodyPr wrap="square" lIns="0" tIns="0" rIns="0" bIns="0" rtlCol="0" anchor="t">
              <a:spAutoFit/>
            </a:bodyPr>
            <a:lstStyle/>
            <a:p>
              <a:pPr algn="l">
                <a:lnSpc>
                  <a:spcPts val="1367"/>
                </a:lnSpc>
              </a:pPr>
              <a:r>
                <a:rPr lang="en-US" sz="1400" b="1" dirty="0">
                  <a:solidFill>
                    <a:schemeClr val="bg1"/>
                  </a:solidFill>
                  <a:latin typeface="Lora Bold"/>
                  <a:sym typeface="Lora Bold"/>
                </a:rPr>
                <a:t>本科生</a:t>
              </a:r>
            </a:p>
          </p:txBody>
        </p:sp>
        <p:sp>
          <p:nvSpPr>
            <p:cNvPr id="88" name="TextBox 62">
              <a:extLst>
                <a:ext uri="{FF2B5EF4-FFF2-40B4-BE49-F238E27FC236}">
                  <a16:creationId xmlns:a16="http://schemas.microsoft.com/office/drawing/2014/main" xmlns="" id="{45A06979-F6B3-41A4-86CB-E0A3C318B366}"/>
                </a:ext>
              </a:extLst>
            </p:cNvPr>
            <p:cNvSpPr txBox="1"/>
            <p:nvPr/>
          </p:nvSpPr>
          <p:spPr>
            <a:xfrm>
              <a:off x="7259881" y="9466372"/>
              <a:ext cx="1198319" cy="180755"/>
            </a:xfrm>
            <a:prstGeom prst="rect">
              <a:avLst/>
            </a:prstGeom>
          </p:spPr>
          <p:txBody>
            <a:bodyPr wrap="square" lIns="0" tIns="0" rIns="0" bIns="0" rtlCol="0" anchor="t">
              <a:spAutoFit/>
            </a:bodyPr>
            <a:lstStyle/>
            <a:p>
              <a:pPr algn="l">
                <a:lnSpc>
                  <a:spcPts val="1367"/>
                </a:lnSpc>
              </a:pPr>
              <a:r>
                <a:rPr lang="en-US" sz="1400" b="1" dirty="0">
                  <a:solidFill>
                    <a:schemeClr val="bg1"/>
                  </a:solidFill>
                  <a:latin typeface="Lora Bold"/>
                  <a:sym typeface="Lora Bold"/>
                </a:rPr>
                <a:t>男生</a:t>
              </a:r>
            </a:p>
          </p:txBody>
        </p:sp>
        <p:sp>
          <p:nvSpPr>
            <p:cNvPr id="89" name="TextBox 63">
              <a:extLst>
                <a:ext uri="{FF2B5EF4-FFF2-40B4-BE49-F238E27FC236}">
                  <a16:creationId xmlns:a16="http://schemas.microsoft.com/office/drawing/2014/main" xmlns="" id="{3C11B03B-7ECD-4780-AFEA-35C1DA3D0E05}"/>
                </a:ext>
              </a:extLst>
            </p:cNvPr>
            <p:cNvSpPr txBox="1"/>
            <p:nvPr/>
          </p:nvSpPr>
          <p:spPr>
            <a:xfrm>
              <a:off x="7259881" y="9818299"/>
              <a:ext cx="582937" cy="180755"/>
            </a:xfrm>
            <a:prstGeom prst="rect">
              <a:avLst/>
            </a:prstGeom>
          </p:spPr>
          <p:txBody>
            <a:bodyPr wrap="square" lIns="0" tIns="0" rIns="0" bIns="0" rtlCol="0" anchor="t">
              <a:spAutoFit/>
            </a:bodyPr>
            <a:lstStyle/>
            <a:p>
              <a:pPr algn="l">
                <a:lnSpc>
                  <a:spcPts val="1367"/>
                </a:lnSpc>
              </a:pPr>
              <a:r>
                <a:rPr lang="en-US" sz="1400" b="1" dirty="0">
                  <a:solidFill>
                    <a:schemeClr val="bg1"/>
                  </a:solidFill>
                  <a:latin typeface="Lora Bold"/>
                  <a:sym typeface="Lora Bold"/>
                </a:rPr>
                <a:t>女生</a:t>
              </a:r>
            </a:p>
          </p:txBody>
        </p:sp>
        <p:sp>
          <p:nvSpPr>
            <p:cNvPr id="90" name="TextBox 64">
              <a:extLst>
                <a:ext uri="{FF2B5EF4-FFF2-40B4-BE49-F238E27FC236}">
                  <a16:creationId xmlns:a16="http://schemas.microsoft.com/office/drawing/2014/main" xmlns="" id="{597AD70F-B2BF-4D00-9C9E-731230072212}"/>
                </a:ext>
              </a:extLst>
            </p:cNvPr>
            <p:cNvSpPr txBox="1"/>
            <p:nvPr/>
          </p:nvSpPr>
          <p:spPr>
            <a:xfrm>
              <a:off x="9525000" y="8374260"/>
              <a:ext cx="559699" cy="171137"/>
            </a:xfrm>
            <a:prstGeom prst="rect">
              <a:avLst/>
            </a:prstGeom>
          </p:spPr>
          <p:txBody>
            <a:bodyPr wrap="square" lIns="0" tIns="0" rIns="0" bIns="0" rtlCol="0" anchor="t">
              <a:spAutoFit/>
            </a:bodyPr>
            <a:lstStyle/>
            <a:p>
              <a:pPr algn="l">
                <a:lnSpc>
                  <a:spcPts val="1275"/>
                </a:lnSpc>
              </a:pPr>
              <a:r>
                <a:rPr lang="en-US" sz="1400" b="1" dirty="0">
                  <a:solidFill>
                    <a:schemeClr val="bg1"/>
                  </a:solidFill>
                  <a:latin typeface="Lora Bold"/>
                  <a:ea typeface="Lora Bold"/>
                  <a:cs typeface="Lora Bold"/>
                  <a:sym typeface="Lora Bold"/>
                </a:rPr>
                <a:t>23684</a:t>
              </a:r>
            </a:p>
          </p:txBody>
        </p:sp>
        <p:sp>
          <p:nvSpPr>
            <p:cNvPr id="91" name="TextBox 65">
              <a:extLst>
                <a:ext uri="{FF2B5EF4-FFF2-40B4-BE49-F238E27FC236}">
                  <a16:creationId xmlns:a16="http://schemas.microsoft.com/office/drawing/2014/main" xmlns="" id="{EFCC5740-5809-4B87-BD4C-80770321C268}"/>
                </a:ext>
              </a:extLst>
            </p:cNvPr>
            <p:cNvSpPr txBox="1"/>
            <p:nvPr/>
          </p:nvSpPr>
          <p:spPr>
            <a:xfrm>
              <a:off x="9620464" y="8724900"/>
              <a:ext cx="285536" cy="171137"/>
            </a:xfrm>
            <a:prstGeom prst="rect">
              <a:avLst/>
            </a:prstGeom>
          </p:spPr>
          <p:txBody>
            <a:bodyPr wrap="square" lIns="0" tIns="0" rIns="0" bIns="0" rtlCol="0" anchor="t">
              <a:spAutoFit/>
            </a:bodyPr>
            <a:lstStyle/>
            <a:p>
              <a:pPr algn="l">
                <a:lnSpc>
                  <a:spcPts val="1275"/>
                </a:lnSpc>
              </a:pPr>
              <a:r>
                <a:rPr lang="en-US" sz="1400" b="1" dirty="0">
                  <a:solidFill>
                    <a:schemeClr val="bg1"/>
                  </a:solidFill>
                  <a:latin typeface="Lora Bold"/>
                  <a:ea typeface="Lora Bold"/>
                  <a:cs typeface="Lora Bold"/>
                  <a:sym typeface="Lora Bold"/>
                </a:rPr>
                <a:t>467</a:t>
              </a:r>
            </a:p>
          </p:txBody>
        </p:sp>
        <p:sp>
          <p:nvSpPr>
            <p:cNvPr id="92" name="TextBox 66">
              <a:extLst>
                <a:ext uri="{FF2B5EF4-FFF2-40B4-BE49-F238E27FC236}">
                  <a16:creationId xmlns:a16="http://schemas.microsoft.com/office/drawing/2014/main" xmlns="" id="{1CD28D21-B952-4D70-A74B-67C17EEF269F}"/>
                </a:ext>
              </a:extLst>
            </p:cNvPr>
            <p:cNvSpPr txBox="1"/>
            <p:nvPr/>
          </p:nvSpPr>
          <p:spPr>
            <a:xfrm>
              <a:off x="9525000" y="9105900"/>
              <a:ext cx="559699" cy="171137"/>
            </a:xfrm>
            <a:prstGeom prst="rect">
              <a:avLst/>
            </a:prstGeom>
          </p:spPr>
          <p:txBody>
            <a:bodyPr wrap="square" lIns="0" tIns="0" rIns="0" bIns="0" rtlCol="0" anchor="t">
              <a:spAutoFit/>
            </a:bodyPr>
            <a:lstStyle/>
            <a:p>
              <a:pPr algn="l">
                <a:lnSpc>
                  <a:spcPts val="1275"/>
                </a:lnSpc>
              </a:pPr>
              <a:r>
                <a:rPr lang="en-US" sz="1400" b="1" dirty="0">
                  <a:solidFill>
                    <a:schemeClr val="bg1"/>
                  </a:solidFill>
                  <a:latin typeface="Lora Bold"/>
                  <a:sym typeface="Lora Bold"/>
                </a:rPr>
                <a:t>23217</a:t>
              </a:r>
            </a:p>
          </p:txBody>
        </p:sp>
        <p:sp>
          <p:nvSpPr>
            <p:cNvPr id="93" name="TextBox 67">
              <a:extLst>
                <a:ext uri="{FF2B5EF4-FFF2-40B4-BE49-F238E27FC236}">
                  <a16:creationId xmlns:a16="http://schemas.microsoft.com/office/drawing/2014/main" xmlns="" id="{30A659C2-04E1-404D-9139-11C25D361797}"/>
                </a:ext>
              </a:extLst>
            </p:cNvPr>
            <p:cNvSpPr txBox="1"/>
            <p:nvPr/>
          </p:nvSpPr>
          <p:spPr>
            <a:xfrm>
              <a:off x="9574901" y="9489096"/>
              <a:ext cx="559699" cy="171137"/>
            </a:xfrm>
            <a:prstGeom prst="rect">
              <a:avLst/>
            </a:prstGeom>
          </p:spPr>
          <p:txBody>
            <a:bodyPr wrap="square" lIns="0" tIns="0" rIns="0" bIns="0" rtlCol="0" anchor="t">
              <a:spAutoFit/>
            </a:bodyPr>
            <a:lstStyle/>
            <a:p>
              <a:pPr algn="l">
                <a:lnSpc>
                  <a:spcPts val="1275"/>
                </a:lnSpc>
              </a:pPr>
              <a:r>
                <a:rPr lang="en-US" sz="1400" b="1" dirty="0">
                  <a:solidFill>
                    <a:schemeClr val="bg1"/>
                  </a:solidFill>
                  <a:latin typeface="Lora Bold"/>
                  <a:sym typeface="Lora Bold"/>
                </a:rPr>
                <a:t>7475</a:t>
              </a:r>
            </a:p>
          </p:txBody>
        </p:sp>
        <p:sp>
          <p:nvSpPr>
            <p:cNvPr id="94" name="TextBox 68">
              <a:extLst>
                <a:ext uri="{FF2B5EF4-FFF2-40B4-BE49-F238E27FC236}">
                  <a16:creationId xmlns:a16="http://schemas.microsoft.com/office/drawing/2014/main" xmlns="" id="{63F1369A-8E6F-4928-BC2A-8F7E41BE9335}"/>
                </a:ext>
              </a:extLst>
            </p:cNvPr>
            <p:cNvSpPr txBox="1"/>
            <p:nvPr/>
          </p:nvSpPr>
          <p:spPr>
            <a:xfrm>
              <a:off x="9525000" y="9841689"/>
              <a:ext cx="559699" cy="171137"/>
            </a:xfrm>
            <a:prstGeom prst="rect">
              <a:avLst/>
            </a:prstGeom>
          </p:spPr>
          <p:txBody>
            <a:bodyPr wrap="square" lIns="0" tIns="0" rIns="0" bIns="0" rtlCol="0" anchor="t">
              <a:spAutoFit/>
            </a:bodyPr>
            <a:lstStyle/>
            <a:p>
              <a:pPr algn="l">
                <a:lnSpc>
                  <a:spcPts val="1275"/>
                </a:lnSpc>
              </a:pPr>
              <a:r>
                <a:rPr lang="en-US" sz="1400" b="1" dirty="0">
                  <a:solidFill>
                    <a:schemeClr val="bg1"/>
                  </a:solidFill>
                  <a:latin typeface="Lora Bold"/>
                  <a:sym typeface="Lora Bold"/>
                </a:rPr>
                <a:t>16209</a:t>
              </a:r>
            </a:p>
          </p:txBody>
        </p:sp>
        <p:sp>
          <p:nvSpPr>
            <p:cNvPr id="154" name="Freeform 9">
              <a:extLst>
                <a:ext uri="{FF2B5EF4-FFF2-40B4-BE49-F238E27FC236}">
                  <a16:creationId xmlns:a16="http://schemas.microsoft.com/office/drawing/2014/main" xmlns="" id="{61B508BF-CCA0-43A1-BAC3-C24ADA21141A}"/>
                </a:ext>
              </a:extLst>
            </p:cNvPr>
            <p:cNvSpPr/>
            <p:nvPr/>
          </p:nvSpPr>
          <p:spPr>
            <a:xfrm>
              <a:off x="6653078" y="8316244"/>
              <a:ext cx="369140" cy="275931"/>
            </a:xfrm>
            <a:custGeom>
              <a:avLst/>
              <a:gdLst/>
              <a:ahLst/>
              <a:cxnLst/>
              <a:rect l="l" t="t" r="r" b="b"/>
              <a:pathLst>
                <a:path w="160350" h="119861">
                  <a:moveTo>
                    <a:pt x="0" y="0"/>
                  </a:moveTo>
                  <a:lnTo>
                    <a:pt x="160349" y="0"/>
                  </a:lnTo>
                  <a:lnTo>
                    <a:pt x="160349" y="119861"/>
                  </a:lnTo>
                  <a:lnTo>
                    <a:pt x="0" y="119861"/>
                  </a:lnTo>
                  <a:lnTo>
                    <a:pt x="0" y="0"/>
                  </a:lnTo>
                  <a:close/>
                </a:path>
              </a:pathLst>
            </a:custGeom>
            <a:blipFill>
              <a:blip r:embed="rId34">
                <a:extLst>
                  <a:ext uri="{96DAC541-7B7A-43D3-8B79-37D633B846F1}">
                    <asvg:svgBlip xmlns:asvg="http://schemas.microsoft.com/office/drawing/2016/SVG/main" xmlns="" r:embed="rId35"/>
                  </a:ext>
                </a:extLst>
              </a:blip>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grpSp>
        <p:nvGrpSpPr>
          <p:cNvPr id="23" name="Group 23"/>
          <p:cNvGrpSpPr/>
          <p:nvPr/>
        </p:nvGrpSpPr>
        <p:grpSpPr>
          <a:xfrm>
            <a:off x="-228600" y="-29449"/>
            <a:ext cx="19210521" cy="1325742"/>
            <a:chOff x="0" y="0"/>
            <a:chExt cx="5059561" cy="1172906"/>
          </a:xfrm>
        </p:grpSpPr>
        <p:sp>
          <p:nvSpPr>
            <p:cNvPr id="24" name="Freeform 24"/>
            <p:cNvSpPr/>
            <p:nvPr/>
          </p:nvSpPr>
          <p:spPr>
            <a:xfrm>
              <a:off x="0" y="0"/>
              <a:ext cx="5059561" cy="1172906"/>
            </a:xfrm>
            <a:custGeom>
              <a:avLst/>
              <a:gdLst/>
              <a:ahLst/>
              <a:cxnLst/>
              <a:rect l="l" t="t" r="r" b="b"/>
              <a:pathLst>
                <a:path w="5059561" h="1172906">
                  <a:moveTo>
                    <a:pt x="0" y="0"/>
                  </a:moveTo>
                  <a:lnTo>
                    <a:pt x="5059561" y="0"/>
                  </a:lnTo>
                  <a:lnTo>
                    <a:pt x="5059561" y="1172906"/>
                  </a:lnTo>
                  <a:lnTo>
                    <a:pt x="0" y="1172906"/>
                  </a:lnTo>
                  <a:close/>
                </a:path>
              </a:pathLst>
            </a:custGeom>
            <a:solidFill>
              <a:srgbClr val="051D40"/>
            </a:solidFill>
            <a:ln w="38100" cap="sq">
              <a:solidFill>
                <a:srgbClr val="56AEFF"/>
              </a:solidFill>
              <a:prstDash val="solid"/>
              <a:miter/>
            </a:ln>
          </p:spPr>
        </p:sp>
        <p:sp>
          <p:nvSpPr>
            <p:cNvPr id="25" name="TextBox 25"/>
            <p:cNvSpPr txBox="1"/>
            <p:nvPr/>
          </p:nvSpPr>
          <p:spPr>
            <a:xfrm>
              <a:off x="0" y="-38100"/>
              <a:ext cx="5059561" cy="1211006"/>
            </a:xfrm>
            <a:prstGeom prst="rect">
              <a:avLst/>
            </a:prstGeom>
          </p:spPr>
          <p:txBody>
            <a:bodyPr lIns="50800" tIns="50800" rIns="50800" bIns="50800" rtlCol="0" anchor="ctr"/>
            <a:lstStyle/>
            <a:p>
              <a:pPr algn="ctr">
                <a:lnSpc>
                  <a:spcPts val="2605"/>
                </a:lnSpc>
              </a:pPr>
              <a:endParaRPr/>
            </a:p>
          </p:txBody>
        </p:sp>
      </p:grpSp>
      <p:sp>
        <p:nvSpPr>
          <p:cNvPr id="33" name="Freeform 33"/>
          <p:cNvSpPr/>
          <p:nvPr/>
        </p:nvSpPr>
        <p:spPr>
          <a:xfrm>
            <a:off x="16695052" y="9129133"/>
            <a:ext cx="1715127" cy="1715127"/>
          </a:xfrm>
          <a:custGeom>
            <a:avLst/>
            <a:gdLst/>
            <a:ahLst/>
            <a:cxnLst/>
            <a:rect l="l" t="t" r="r" b="b"/>
            <a:pathLst>
              <a:path w="1715127" h="1715127">
                <a:moveTo>
                  <a:pt x="0" y="0"/>
                </a:moveTo>
                <a:lnTo>
                  <a:pt x="1715127" y="0"/>
                </a:lnTo>
                <a:lnTo>
                  <a:pt x="1715127" y="1715126"/>
                </a:lnTo>
                <a:lnTo>
                  <a:pt x="0" y="171512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4" name="Freeform 34"/>
          <p:cNvSpPr/>
          <p:nvPr/>
        </p:nvSpPr>
        <p:spPr>
          <a:xfrm>
            <a:off x="-363441" y="-390286"/>
            <a:ext cx="1715127" cy="1715127"/>
          </a:xfrm>
          <a:custGeom>
            <a:avLst/>
            <a:gdLst/>
            <a:ahLst/>
            <a:cxnLst/>
            <a:rect l="l" t="t" r="r" b="b"/>
            <a:pathLst>
              <a:path w="1715127" h="1715127">
                <a:moveTo>
                  <a:pt x="0" y="0"/>
                </a:moveTo>
                <a:lnTo>
                  <a:pt x="1715127" y="0"/>
                </a:lnTo>
                <a:lnTo>
                  <a:pt x="1715127" y="1715127"/>
                </a:lnTo>
                <a:lnTo>
                  <a:pt x="0" y="171512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5" name="Freeform 35"/>
          <p:cNvSpPr/>
          <p:nvPr/>
        </p:nvSpPr>
        <p:spPr>
          <a:xfrm>
            <a:off x="14398071" y="-136788"/>
            <a:ext cx="2988937" cy="570615"/>
          </a:xfrm>
          <a:custGeom>
            <a:avLst/>
            <a:gdLst/>
            <a:ahLst/>
            <a:cxnLst/>
            <a:rect l="l" t="t" r="r" b="b"/>
            <a:pathLst>
              <a:path w="2988937" h="570615">
                <a:moveTo>
                  <a:pt x="0" y="0"/>
                </a:moveTo>
                <a:lnTo>
                  <a:pt x="2988938" y="0"/>
                </a:lnTo>
                <a:lnTo>
                  <a:pt x="2988938" y="570616"/>
                </a:lnTo>
                <a:lnTo>
                  <a:pt x="0" y="5706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6" name="Freeform 36"/>
          <p:cNvSpPr/>
          <p:nvPr/>
        </p:nvSpPr>
        <p:spPr>
          <a:xfrm>
            <a:off x="900991" y="9922935"/>
            <a:ext cx="2988937" cy="570615"/>
          </a:xfrm>
          <a:custGeom>
            <a:avLst/>
            <a:gdLst/>
            <a:ahLst/>
            <a:cxnLst/>
            <a:rect l="l" t="t" r="r" b="b"/>
            <a:pathLst>
              <a:path w="2988937" h="570615">
                <a:moveTo>
                  <a:pt x="0" y="0"/>
                </a:moveTo>
                <a:lnTo>
                  <a:pt x="2988938" y="0"/>
                </a:lnTo>
                <a:lnTo>
                  <a:pt x="2988938" y="570616"/>
                </a:lnTo>
                <a:lnTo>
                  <a:pt x="0" y="5706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7" name="TextBox 41">
            <a:extLst>
              <a:ext uri="{FF2B5EF4-FFF2-40B4-BE49-F238E27FC236}">
                <a16:creationId xmlns:a16="http://schemas.microsoft.com/office/drawing/2014/main" xmlns="" id="{47E74DE1-BD99-4FB9-882B-4A084CC2F8DF}"/>
              </a:ext>
            </a:extLst>
          </p:cNvPr>
          <p:cNvSpPr txBox="1"/>
          <p:nvPr/>
        </p:nvSpPr>
        <p:spPr>
          <a:xfrm>
            <a:off x="2481037" y="573484"/>
            <a:ext cx="13194602" cy="392415"/>
          </a:xfrm>
          <a:prstGeom prst="rect">
            <a:avLst/>
          </a:prstGeom>
        </p:spPr>
        <p:txBody>
          <a:bodyPr wrap="square" lIns="0" tIns="0" rIns="0" bIns="0" rtlCol="0" anchor="t">
            <a:spAutoFit/>
          </a:bodyPr>
          <a:lstStyle/>
          <a:p>
            <a:pPr algn="ctr">
              <a:lnSpc>
                <a:spcPts val="2796"/>
              </a:lnSpc>
            </a:pPr>
            <a:r>
              <a:rPr lang="en-US" sz="3200" b="1" dirty="0">
                <a:solidFill>
                  <a:srgbClr val="FFFFFF"/>
                </a:solidFill>
                <a:latin typeface="Now Bold"/>
                <a:sym typeface="Lora Bold"/>
              </a:rPr>
              <a:t>教学方法保障发展战略</a:t>
            </a:r>
          </a:p>
        </p:txBody>
      </p:sp>
      <p:graphicFrame>
        <p:nvGraphicFramePr>
          <p:cNvPr id="40" name="Table 5">
            <a:extLst>
              <a:ext uri="{FF2B5EF4-FFF2-40B4-BE49-F238E27FC236}">
                <a16:creationId xmlns:a16="http://schemas.microsoft.com/office/drawing/2014/main" xmlns="" id="{AFA0424C-0824-454A-B056-FD089792F6D6}"/>
              </a:ext>
            </a:extLst>
          </p:cNvPr>
          <p:cNvGraphicFramePr>
            <a:graphicFrameLocks noGrp="1"/>
          </p:cNvGraphicFramePr>
          <p:nvPr>
            <p:extLst>
              <p:ext uri="{D42A27DB-BD31-4B8C-83A1-F6EECF244321}">
                <p14:modId xmlns:p14="http://schemas.microsoft.com/office/powerpoint/2010/main" val="796434707"/>
              </p:ext>
            </p:extLst>
          </p:nvPr>
        </p:nvGraphicFramePr>
        <p:xfrm>
          <a:off x="9431370" y="5169436"/>
          <a:ext cx="7392191" cy="2599576"/>
        </p:xfrm>
        <a:graphic>
          <a:graphicData uri="http://schemas.openxmlformats.org/drawingml/2006/table">
            <a:tbl>
              <a:tblPr>
                <a:tableStyleId>{2D5ABB26-0587-4C30-8999-92F81FD0307C}</a:tableStyleId>
              </a:tblPr>
              <a:tblGrid>
                <a:gridCol w="3517681">
                  <a:extLst>
                    <a:ext uri="{9D8B030D-6E8A-4147-A177-3AD203B41FA5}">
                      <a16:colId xmlns:a16="http://schemas.microsoft.com/office/drawing/2014/main" xmlns="" val="20000"/>
                    </a:ext>
                  </a:extLst>
                </a:gridCol>
                <a:gridCol w="1858217">
                  <a:extLst>
                    <a:ext uri="{9D8B030D-6E8A-4147-A177-3AD203B41FA5}">
                      <a16:colId xmlns:a16="http://schemas.microsoft.com/office/drawing/2014/main" xmlns="" val="20001"/>
                    </a:ext>
                  </a:extLst>
                </a:gridCol>
                <a:gridCol w="2016293">
                  <a:extLst>
                    <a:ext uri="{9D8B030D-6E8A-4147-A177-3AD203B41FA5}">
                      <a16:colId xmlns:a16="http://schemas.microsoft.com/office/drawing/2014/main" xmlns="" val="20002"/>
                    </a:ext>
                  </a:extLst>
                </a:gridCol>
              </a:tblGrid>
              <a:tr h="474066">
                <a:tc rowSpan="2">
                  <a:txBody>
                    <a:bodyPr/>
                    <a:lstStyle/>
                    <a:p>
                      <a:pPr algn="ctr">
                        <a:lnSpc>
                          <a:spcPts val="527"/>
                        </a:lnSpc>
                        <a:defRPr/>
                      </a:pPr>
                      <a:endParaRPr lang="en-US" sz="1100" dirty="0"/>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gridSpan="2">
                  <a:txBody>
                    <a:bodyPr/>
                    <a:lstStyle/>
                    <a:p>
                      <a:pPr algn="l">
                        <a:lnSpc>
                          <a:spcPts val="387"/>
                        </a:lnSpc>
                        <a:defRPr/>
                      </a:pPr>
                      <a:endParaRPr lang="en-US" sz="1100"/>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hMerge="1">
                  <a:txBody>
                    <a:bodyPr/>
                    <a:lstStyle/>
                    <a:p>
                      <a:pPr algn="l">
                        <a:lnSpc>
                          <a:spcPts val="387"/>
                        </a:lnSpc>
                        <a:defRPr/>
                      </a:pPr>
                      <a:endParaRPr lang="en-US" sz="1100"/>
                    </a:p>
                  </a:txBody>
                  <a:tcPr marL="161925" marR="161925" marT="161925" marB="161925" anchor="ctr">
                    <a:lnL w="8779" cap="flat" cmpd="sng" algn="ctr">
                      <a:solidFill>
                        <a:srgbClr val="FF9999"/>
                      </a:solidFill>
                      <a:prstDash val="solid"/>
                      <a:round/>
                      <a:headEnd type="none" w="med" len="med"/>
                      <a:tailEnd type="none" w="med" len="med"/>
                    </a:lnL>
                    <a:lnR w="8779" cap="flat" cmpd="sng" algn="ctr">
                      <a:solidFill>
                        <a:srgbClr val="FF9999"/>
                      </a:solidFill>
                      <a:prstDash val="solid"/>
                      <a:round/>
                      <a:headEnd type="none" w="med" len="med"/>
                      <a:tailEnd type="none" w="med" len="med"/>
                    </a:lnR>
                    <a:lnT w="8779" cap="flat" cmpd="sng" algn="ctr">
                      <a:solidFill>
                        <a:srgbClr val="FF9999"/>
                      </a:solidFill>
                      <a:prstDash val="solid"/>
                      <a:round/>
                      <a:headEnd type="none" w="med" len="med"/>
                      <a:tailEnd type="none" w="med" len="med"/>
                    </a:lnT>
                    <a:lnB w="8779" cap="flat" cmpd="sng" algn="ctr">
                      <a:solidFill>
                        <a:srgbClr val="FF9999"/>
                      </a:solidFill>
                      <a:prstDash val="solid"/>
                      <a:round/>
                      <a:headEnd type="none" w="med" len="med"/>
                      <a:tailEnd type="none" w="med" len="med"/>
                    </a:lnB>
                  </a:tcPr>
                </a:tc>
                <a:extLst>
                  <a:ext uri="{0D108BD9-81ED-4DB2-BD59-A6C34878D82A}">
                    <a16:rowId xmlns:a16="http://schemas.microsoft.com/office/drawing/2014/main" xmlns="" val="10000"/>
                  </a:ext>
                </a:extLst>
              </a:tr>
              <a:tr h="414398">
                <a:tc vMerge="1">
                  <a:txBody>
                    <a:bodyPr/>
                    <a:lstStyle/>
                    <a:p>
                      <a:pPr algn="ctr">
                        <a:lnSpc>
                          <a:spcPts val="527"/>
                        </a:lnSpc>
                        <a:defRPr/>
                      </a:pPr>
                      <a:endParaRPr lang="en-US" sz="1100"/>
                    </a:p>
                  </a:txBody>
                  <a:tcPr marL="161925" marR="161925" marT="161925" marB="161925" anchor="ctr">
                    <a:lnL w="8779" cap="flat" cmpd="sng" algn="ctr">
                      <a:solidFill>
                        <a:srgbClr val="FF9999"/>
                      </a:solidFill>
                      <a:prstDash val="solid"/>
                      <a:round/>
                      <a:headEnd type="none" w="med" len="med"/>
                      <a:tailEnd type="none" w="med" len="med"/>
                    </a:lnL>
                    <a:lnR w="8779" cap="flat" cmpd="sng" algn="ctr">
                      <a:solidFill>
                        <a:srgbClr val="FF9999"/>
                      </a:solidFill>
                      <a:prstDash val="solid"/>
                      <a:round/>
                      <a:headEnd type="none" w="med" len="med"/>
                      <a:tailEnd type="none" w="med" len="med"/>
                    </a:lnR>
                    <a:lnT w="8779" cap="flat" cmpd="sng" algn="ctr">
                      <a:solidFill>
                        <a:srgbClr val="FF9999"/>
                      </a:solidFill>
                      <a:prstDash val="solid"/>
                      <a:round/>
                      <a:headEnd type="none" w="med" len="med"/>
                      <a:tailEnd type="none" w="med" len="med"/>
                    </a:lnT>
                    <a:lnB w="8779" cap="flat" cmpd="sng" algn="ctr">
                      <a:solidFill>
                        <a:srgbClr val="FF9999"/>
                      </a:solidFill>
                      <a:prstDash val="solid"/>
                      <a:round/>
                      <a:headEnd type="none" w="med" len="med"/>
                      <a:tailEnd type="none" w="med" len="med"/>
                    </a:lnB>
                  </a:tcPr>
                </a:tc>
                <a:tc>
                  <a:txBody>
                    <a:bodyPr/>
                    <a:lstStyle/>
                    <a:p>
                      <a:pPr algn="ctr">
                        <a:lnSpc>
                          <a:spcPts val="1399"/>
                        </a:lnSpc>
                        <a:defRPr/>
                      </a:pPr>
                      <a:r>
                        <a:rPr lang="en-US" sz="1400" b="1" dirty="0" err="1">
                          <a:solidFill>
                            <a:schemeClr val="bg1"/>
                          </a:solidFill>
                          <a:sym typeface="Lora Bold"/>
                        </a:rPr>
                        <a:t>年份</a:t>
                      </a:r>
                      <a:endParaRPr lang="en-US" sz="1400" dirty="0">
                        <a:solidFill>
                          <a:schemeClr val="bg1"/>
                        </a:solidFill>
                      </a:endParaRPr>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a:txBody>
                    <a:bodyPr/>
                    <a:lstStyle/>
                    <a:p>
                      <a:pPr algn="ctr">
                        <a:lnSpc>
                          <a:spcPts val="1399"/>
                        </a:lnSpc>
                        <a:defRPr/>
                      </a:pPr>
                      <a:r>
                        <a:rPr lang="en-US" sz="1400" b="1" dirty="0" err="1">
                          <a:solidFill>
                            <a:schemeClr val="bg1"/>
                          </a:solidFill>
                          <a:sym typeface="Lora Bold"/>
                        </a:rPr>
                        <a:t>资金（百万苏姆）</a:t>
                      </a:r>
                      <a:endParaRPr lang="en-US" sz="1400" dirty="0">
                        <a:solidFill>
                          <a:schemeClr val="bg1"/>
                        </a:solidFill>
                      </a:endParaRPr>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extLst>
                  <a:ext uri="{0D108BD9-81ED-4DB2-BD59-A6C34878D82A}">
                    <a16:rowId xmlns:a16="http://schemas.microsoft.com/office/drawing/2014/main" xmlns="" val="10001"/>
                  </a:ext>
                </a:extLst>
              </a:tr>
              <a:tr h="850536">
                <a:tc>
                  <a:txBody>
                    <a:bodyPr/>
                    <a:lstStyle/>
                    <a:p>
                      <a:pPr algn="ctr">
                        <a:lnSpc>
                          <a:spcPts val="1399"/>
                        </a:lnSpc>
                        <a:defRPr/>
                      </a:pPr>
                      <a:endParaRPr lang="en-US" sz="1100" dirty="0"/>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a:txBody>
                    <a:bodyPr/>
                    <a:lstStyle/>
                    <a:p>
                      <a:pPr algn="ctr">
                        <a:lnSpc>
                          <a:spcPts val="1399"/>
                        </a:lnSpc>
                        <a:defRPr/>
                      </a:pPr>
                      <a:r>
                        <a:rPr lang="en-US" sz="1400" b="1" dirty="0">
                          <a:solidFill>
                            <a:schemeClr val="bg1"/>
                          </a:solidFill>
                          <a:sym typeface="Lora Bold"/>
                        </a:rPr>
                        <a:t>2022</a:t>
                      </a:r>
                      <a:endParaRPr lang="en-US" sz="1400" dirty="0">
                        <a:solidFill>
                          <a:schemeClr val="bg1"/>
                        </a:solidFill>
                      </a:endParaRPr>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a:txBody>
                    <a:bodyPr/>
                    <a:lstStyle/>
                    <a:p>
                      <a:pPr algn="ctr">
                        <a:lnSpc>
                          <a:spcPts val="387"/>
                        </a:lnSpc>
                        <a:defRPr/>
                      </a:pPr>
                      <a:endParaRPr lang="en-US" sz="1400" dirty="0"/>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extLst>
                  <a:ext uri="{0D108BD9-81ED-4DB2-BD59-A6C34878D82A}">
                    <a16:rowId xmlns:a16="http://schemas.microsoft.com/office/drawing/2014/main" xmlns="" val="10002"/>
                  </a:ext>
                </a:extLst>
              </a:tr>
              <a:tr h="773324">
                <a:tc>
                  <a:txBody>
                    <a:bodyPr/>
                    <a:lstStyle/>
                    <a:p>
                      <a:pPr algn="ctr">
                        <a:lnSpc>
                          <a:spcPts val="387"/>
                        </a:lnSpc>
                        <a:defRPr/>
                      </a:pPr>
                      <a:endParaRPr lang="en-US" sz="1100" dirty="0"/>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a:txBody>
                    <a:bodyPr/>
                    <a:lstStyle/>
                    <a:p>
                      <a:pPr algn="ctr">
                        <a:lnSpc>
                          <a:spcPts val="1399"/>
                        </a:lnSpc>
                        <a:defRPr/>
                      </a:pPr>
                      <a:r>
                        <a:rPr lang="en-US" sz="1400" b="1" dirty="0">
                          <a:solidFill>
                            <a:schemeClr val="bg1"/>
                          </a:solidFill>
                          <a:sym typeface="Lora Bold"/>
                        </a:rPr>
                        <a:t>2026</a:t>
                      </a:r>
                      <a:endParaRPr lang="en-US" sz="1400" dirty="0">
                        <a:solidFill>
                          <a:schemeClr val="bg1"/>
                        </a:solidFill>
                      </a:endParaRPr>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tc>
                  <a:txBody>
                    <a:bodyPr/>
                    <a:lstStyle/>
                    <a:p>
                      <a:pPr algn="ctr">
                        <a:lnSpc>
                          <a:spcPts val="387"/>
                        </a:lnSpc>
                        <a:defRPr/>
                      </a:pPr>
                      <a:endParaRPr lang="en-US" sz="1400" dirty="0"/>
                    </a:p>
                  </a:txBody>
                  <a:tcPr marL="161925" marR="161925" marT="161925" marB="16192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51D40"/>
                    </a:solidFill>
                  </a:tcPr>
                </a:tc>
                <a:extLst>
                  <a:ext uri="{0D108BD9-81ED-4DB2-BD59-A6C34878D82A}">
                    <a16:rowId xmlns:a16="http://schemas.microsoft.com/office/drawing/2014/main" xmlns="" val="10003"/>
                  </a:ext>
                </a:extLst>
              </a:tr>
            </a:tbl>
          </a:graphicData>
        </a:graphic>
      </p:graphicFrame>
      <p:sp>
        <p:nvSpPr>
          <p:cNvPr id="56" name="Freeform 21">
            <a:extLst>
              <a:ext uri="{FF2B5EF4-FFF2-40B4-BE49-F238E27FC236}">
                <a16:creationId xmlns:a16="http://schemas.microsoft.com/office/drawing/2014/main" xmlns="" id="{5DEB4B88-1C27-4411-8966-F0455FBAC05E}"/>
              </a:ext>
            </a:extLst>
          </p:cNvPr>
          <p:cNvSpPr/>
          <p:nvPr/>
        </p:nvSpPr>
        <p:spPr>
          <a:xfrm>
            <a:off x="1872780" y="6033700"/>
            <a:ext cx="4650122" cy="3341680"/>
          </a:xfrm>
          <a:custGeom>
            <a:avLst/>
            <a:gdLst/>
            <a:ahLst/>
            <a:cxnLst/>
            <a:rect l="l" t="t" r="r" b="b"/>
            <a:pathLst>
              <a:path w="2898120" h="2212232">
                <a:moveTo>
                  <a:pt x="0" y="0"/>
                </a:moveTo>
                <a:lnTo>
                  <a:pt x="2898120" y="0"/>
                </a:lnTo>
                <a:lnTo>
                  <a:pt x="2898120" y="2212232"/>
                </a:lnTo>
                <a:lnTo>
                  <a:pt x="0" y="221223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8" name="TextBox 23">
            <a:extLst>
              <a:ext uri="{FF2B5EF4-FFF2-40B4-BE49-F238E27FC236}">
                <a16:creationId xmlns:a16="http://schemas.microsoft.com/office/drawing/2014/main" xmlns="" id="{994BE138-6B24-4676-A97B-5FDF4958A29C}"/>
              </a:ext>
            </a:extLst>
          </p:cNvPr>
          <p:cNvSpPr txBox="1"/>
          <p:nvPr/>
        </p:nvSpPr>
        <p:spPr>
          <a:xfrm>
            <a:off x="1076547" y="1621740"/>
            <a:ext cx="7404809" cy="222112"/>
          </a:xfrm>
          <a:prstGeom prst="rect">
            <a:avLst/>
          </a:prstGeom>
        </p:spPr>
        <p:txBody>
          <a:bodyPr wrap="square" lIns="0" tIns="0" rIns="0" bIns="0" rtlCol="0" anchor="t">
            <a:spAutoFit/>
          </a:bodyPr>
          <a:lstStyle/>
          <a:p>
            <a:pPr algn="l">
              <a:lnSpc>
                <a:spcPts val="1679"/>
              </a:lnSpc>
            </a:pPr>
            <a:r>
              <a:rPr lang="en-US" sz="1600" b="1" dirty="0">
                <a:solidFill>
                  <a:schemeClr val="bg1"/>
                </a:solidFill>
                <a:latin typeface="DM Sans Bold" pitchFamily="2" charset="0"/>
                <a:ea typeface="Lora Bold"/>
                <a:cs typeface="Lora Bold"/>
                <a:sym typeface="Lora Bold"/>
              </a:rPr>
              <a:t>组织人才持续职业发展</a:t>
            </a:r>
          </a:p>
        </p:txBody>
      </p:sp>
      <p:sp>
        <p:nvSpPr>
          <p:cNvPr id="60" name="TextBox 25">
            <a:extLst>
              <a:ext uri="{FF2B5EF4-FFF2-40B4-BE49-F238E27FC236}">
                <a16:creationId xmlns:a16="http://schemas.microsoft.com/office/drawing/2014/main" xmlns="" id="{05FA7C76-64DB-4032-A556-767371365BD4}"/>
              </a:ext>
            </a:extLst>
          </p:cNvPr>
          <p:cNvSpPr txBox="1"/>
          <p:nvPr/>
        </p:nvSpPr>
        <p:spPr>
          <a:xfrm>
            <a:off x="11887200" y="4743250"/>
            <a:ext cx="3087151" cy="224420"/>
          </a:xfrm>
          <a:prstGeom prst="rect">
            <a:avLst/>
          </a:prstGeom>
        </p:spPr>
        <p:txBody>
          <a:bodyPr wrap="square" lIns="0" tIns="0" rIns="0" bIns="0" rtlCol="0" anchor="t">
            <a:spAutoFit/>
          </a:bodyPr>
          <a:lstStyle/>
          <a:p>
            <a:pPr algn="ctr">
              <a:lnSpc>
                <a:spcPts val="1822"/>
              </a:lnSpc>
            </a:pPr>
            <a:r>
              <a:rPr lang="en-US" sz="1400" b="1" dirty="0" err="1">
                <a:solidFill>
                  <a:schemeClr val="bg1"/>
                </a:solidFill>
                <a:latin typeface="DM Sans Bold" pitchFamily="2" charset="0"/>
                <a:ea typeface="Lora Bold"/>
                <a:cs typeface="Lora Bold"/>
                <a:sym typeface="Lora Bold"/>
              </a:rPr>
              <a:t>方法技术保障</a:t>
            </a:r>
            <a:endParaRPr lang="en-US" sz="1400" b="1" dirty="0">
              <a:solidFill>
                <a:schemeClr val="bg1"/>
              </a:solidFill>
              <a:latin typeface="DM Sans Bold" pitchFamily="2" charset="0"/>
              <a:ea typeface="Lora Bold"/>
              <a:cs typeface="Lora Bold"/>
              <a:sym typeface="Lora Bold"/>
            </a:endParaRPr>
          </a:p>
        </p:txBody>
      </p:sp>
      <p:sp>
        <p:nvSpPr>
          <p:cNvPr id="66" name="TextBox 31">
            <a:extLst>
              <a:ext uri="{FF2B5EF4-FFF2-40B4-BE49-F238E27FC236}">
                <a16:creationId xmlns:a16="http://schemas.microsoft.com/office/drawing/2014/main" xmlns="" id="{E4C7DE68-745A-42B6-9123-2B7D4731475B}"/>
              </a:ext>
            </a:extLst>
          </p:cNvPr>
          <p:cNvSpPr txBox="1"/>
          <p:nvPr/>
        </p:nvSpPr>
        <p:spPr>
          <a:xfrm>
            <a:off x="1020055" y="3507442"/>
            <a:ext cx="7012741" cy="202876"/>
          </a:xfrm>
          <a:prstGeom prst="rect">
            <a:avLst/>
          </a:prstGeom>
        </p:spPr>
        <p:txBody>
          <a:bodyPr wrap="square" lIns="0" tIns="0" rIns="0" bIns="0" rtlCol="0" anchor="t">
            <a:spAutoFit/>
          </a:bodyPr>
          <a:lstStyle/>
          <a:p>
            <a:pPr algn="ctr">
              <a:lnSpc>
                <a:spcPts val="1539"/>
              </a:lnSpc>
            </a:pPr>
            <a:r>
              <a:rPr lang="en-US" sz="1600" b="1" dirty="0">
                <a:solidFill>
                  <a:schemeClr val="bg1"/>
                </a:solidFill>
                <a:latin typeface="DM Sans Bold" pitchFamily="2" charset="0"/>
                <a:ea typeface="Lora Bold"/>
                <a:cs typeface="Lora Bold"/>
                <a:sym typeface="Lora Bold"/>
              </a:rPr>
              <a:t>发展大学"语言中心"活动</a:t>
            </a:r>
          </a:p>
        </p:txBody>
      </p:sp>
      <p:sp>
        <p:nvSpPr>
          <p:cNvPr id="67" name="TextBox 32">
            <a:extLst>
              <a:ext uri="{FF2B5EF4-FFF2-40B4-BE49-F238E27FC236}">
                <a16:creationId xmlns:a16="http://schemas.microsoft.com/office/drawing/2014/main" xmlns="" id="{663F56D9-56AF-474E-849F-24410BD67CF6}"/>
              </a:ext>
            </a:extLst>
          </p:cNvPr>
          <p:cNvSpPr txBox="1"/>
          <p:nvPr/>
        </p:nvSpPr>
        <p:spPr>
          <a:xfrm>
            <a:off x="403600" y="5692322"/>
            <a:ext cx="7588482" cy="195566"/>
          </a:xfrm>
          <a:prstGeom prst="rect">
            <a:avLst/>
          </a:prstGeom>
        </p:spPr>
        <p:txBody>
          <a:bodyPr wrap="square" lIns="0" tIns="0" rIns="0" bIns="0" rtlCol="0" anchor="t">
            <a:spAutoFit/>
          </a:bodyPr>
          <a:lstStyle/>
          <a:p>
            <a:pPr algn="ctr">
              <a:lnSpc>
                <a:spcPts val="1539"/>
              </a:lnSpc>
            </a:pPr>
            <a:r>
              <a:rPr lang="en-US" sz="1400" b="1" dirty="0">
                <a:solidFill>
                  <a:schemeClr val="bg1"/>
                </a:solidFill>
                <a:latin typeface="DM Sans Bold" pitchFamily="2" charset="0"/>
                <a:ea typeface="Lora Bold"/>
                <a:cs typeface="Lora Bold"/>
                <a:sym typeface="Lora Bold"/>
              </a:rPr>
              <a:t>持续吸引教职人员和学生参与语言中心</a:t>
            </a:r>
          </a:p>
        </p:txBody>
      </p:sp>
      <p:sp>
        <p:nvSpPr>
          <p:cNvPr id="68" name="TextBox 33">
            <a:extLst>
              <a:ext uri="{FF2B5EF4-FFF2-40B4-BE49-F238E27FC236}">
                <a16:creationId xmlns:a16="http://schemas.microsoft.com/office/drawing/2014/main" xmlns="" id="{5230F3E9-F640-491F-8676-BE4DFF735CC3}"/>
              </a:ext>
            </a:extLst>
          </p:cNvPr>
          <p:cNvSpPr txBox="1"/>
          <p:nvPr/>
        </p:nvSpPr>
        <p:spPr>
          <a:xfrm>
            <a:off x="2027837" y="6525506"/>
            <a:ext cx="1987141" cy="646331"/>
          </a:xfrm>
          <a:prstGeom prst="rect">
            <a:avLst/>
          </a:prstGeom>
        </p:spPr>
        <p:txBody>
          <a:bodyPr wrap="square" lIns="0" tIns="0" rIns="0" bIns="0" rtlCol="0" anchor="t">
            <a:spAutoFit/>
          </a:bodyPr>
          <a:lstStyle/>
          <a:p>
            <a:pPr algn="ctr"/>
            <a:r>
              <a:rPr lang="en-US" sz="1400" b="1" dirty="0" err="1">
                <a:solidFill>
                  <a:schemeClr val="bg1"/>
                </a:solidFill>
                <a:latin typeface="DM Sans Bold" pitchFamily="2" charset="0"/>
                <a:ea typeface="Lora Bold"/>
                <a:cs typeface="Lora Bold"/>
                <a:sym typeface="Lora Bold"/>
              </a:rPr>
              <a:t>学年结束时"教师评级"</a:t>
            </a:r>
          </a:p>
        </p:txBody>
      </p:sp>
      <p:sp>
        <p:nvSpPr>
          <p:cNvPr id="69" name="TextBox 34">
            <a:extLst>
              <a:ext uri="{FF2B5EF4-FFF2-40B4-BE49-F238E27FC236}">
                <a16:creationId xmlns:a16="http://schemas.microsoft.com/office/drawing/2014/main" xmlns="" id="{443E334E-5113-4A91-81F3-7234920A3CAB}"/>
              </a:ext>
            </a:extLst>
          </p:cNvPr>
          <p:cNvSpPr txBox="1"/>
          <p:nvPr/>
        </p:nvSpPr>
        <p:spPr>
          <a:xfrm>
            <a:off x="811382" y="2152784"/>
            <a:ext cx="6351418" cy="365485"/>
          </a:xfrm>
          <a:prstGeom prst="rect">
            <a:avLst/>
          </a:prstGeom>
        </p:spPr>
        <p:txBody>
          <a:bodyPr wrap="square" lIns="0" tIns="0" rIns="0" bIns="0" rtlCol="0" anchor="t">
            <a:spAutoFit/>
          </a:bodyPr>
          <a:lstStyle/>
          <a:p>
            <a:pPr marL="215901" lvl="1" indent="-107951" algn="just">
              <a:lnSpc>
                <a:spcPts val="1400"/>
              </a:lnSpc>
              <a:buFont typeface="Arial"/>
              <a:buChar char="•"/>
            </a:pPr>
            <a:r>
              <a:rPr lang="en-US" sz="1400" b="1" dirty="0" err="1">
                <a:solidFill>
                  <a:schemeClr val="bg1"/>
                </a:solidFill>
                <a:latin typeface="DM Sans" pitchFamily="2" charset="0"/>
                <a:ea typeface="Lora Bold"/>
                <a:cs typeface="Lora Bold"/>
                <a:sym typeface="Lora Bold"/>
              </a:rPr>
              <a:t>教职人员基础职业能力境外进修课程</a:t>
            </a:r>
            <a:endParaRPr lang="en-US" sz="1400" b="1" dirty="0">
              <a:solidFill>
                <a:schemeClr val="bg1"/>
              </a:solidFill>
              <a:latin typeface="DM Sans" pitchFamily="2" charset="0"/>
              <a:ea typeface="Lora Bold"/>
              <a:cs typeface="Lora Bold"/>
              <a:sym typeface="Lora Bold"/>
            </a:endParaRPr>
          </a:p>
        </p:txBody>
      </p:sp>
      <p:sp>
        <p:nvSpPr>
          <p:cNvPr id="70" name="TextBox 35">
            <a:extLst>
              <a:ext uri="{FF2B5EF4-FFF2-40B4-BE49-F238E27FC236}">
                <a16:creationId xmlns:a16="http://schemas.microsoft.com/office/drawing/2014/main" xmlns="" id="{0F216847-1601-43EB-92D4-F1B5E08971C7}"/>
              </a:ext>
            </a:extLst>
          </p:cNvPr>
          <p:cNvSpPr txBox="1"/>
          <p:nvPr/>
        </p:nvSpPr>
        <p:spPr>
          <a:xfrm>
            <a:off x="753998" y="2694562"/>
            <a:ext cx="6351418" cy="545021"/>
          </a:xfrm>
          <a:prstGeom prst="rect">
            <a:avLst/>
          </a:prstGeom>
        </p:spPr>
        <p:txBody>
          <a:bodyPr wrap="square" lIns="0" tIns="0" rIns="0" bIns="0" rtlCol="0" anchor="t">
            <a:spAutoFit/>
          </a:bodyPr>
          <a:lstStyle/>
          <a:p>
            <a:pPr marL="215901" lvl="1" indent="-107951" algn="just">
              <a:lnSpc>
                <a:spcPts val="1400"/>
              </a:lnSpc>
              <a:buFont typeface="Arial"/>
              <a:buChar char="•"/>
            </a:pPr>
            <a:r>
              <a:rPr lang="en-US" sz="1400" b="1" dirty="0">
                <a:solidFill>
                  <a:schemeClr val="bg1"/>
                </a:solidFill>
                <a:latin typeface="DM Sans" pitchFamily="2" charset="0"/>
                <a:ea typeface="Lora Bold"/>
                <a:cs typeface="Lora Bold"/>
                <a:sym typeface="Lora Bold"/>
              </a:rPr>
              <a:t>制定"青年人才储备"计划（竞争性资助、项目、再培训、实习、研究援助等）</a:t>
            </a:r>
          </a:p>
        </p:txBody>
      </p:sp>
      <p:grpSp>
        <p:nvGrpSpPr>
          <p:cNvPr id="100" name="Группа 99">
            <a:extLst>
              <a:ext uri="{FF2B5EF4-FFF2-40B4-BE49-F238E27FC236}">
                <a16:creationId xmlns:a16="http://schemas.microsoft.com/office/drawing/2014/main" xmlns="" id="{93127AC3-DA8F-4FA1-9F21-4A5B23563CFC}"/>
              </a:ext>
            </a:extLst>
          </p:cNvPr>
          <p:cNvGrpSpPr/>
          <p:nvPr/>
        </p:nvGrpSpPr>
        <p:grpSpPr>
          <a:xfrm>
            <a:off x="2193630" y="3965415"/>
            <a:ext cx="4680274" cy="1424153"/>
            <a:chOff x="3557745" y="5450431"/>
            <a:chExt cx="2285308" cy="1039689"/>
          </a:xfrm>
        </p:grpSpPr>
        <p:sp>
          <p:nvSpPr>
            <p:cNvPr id="38" name="Freeform 3">
              <a:extLst>
                <a:ext uri="{FF2B5EF4-FFF2-40B4-BE49-F238E27FC236}">
                  <a16:creationId xmlns:a16="http://schemas.microsoft.com/office/drawing/2014/main" xmlns="" id="{D67EA090-9FC4-4FD2-A4EC-83586A23988E}"/>
                </a:ext>
              </a:extLst>
            </p:cNvPr>
            <p:cNvSpPr/>
            <p:nvPr/>
          </p:nvSpPr>
          <p:spPr>
            <a:xfrm>
              <a:off x="3699734" y="5669744"/>
              <a:ext cx="1909359" cy="582354"/>
            </a:xfrm>
            <a:custGeom>
              <a:avLst/>
              <a:gdLst/>
              <a:ahLst/>
              <a:cxnLst/>
              <a:rect l="l" t="t" r="r" b="b"/>
              <a:pathLst>
                <a:path w="1909359" h="582354">
                  <a:moveTo>
                    <a:pt x="0" y="0"/>
                  </a:moveTo>
                  <a:lnTo>
                    <a:pt x="1909359" y="0"/>
                  </a:lnTo>
                  <a:lnTo>
                    <a:pt x="1909359" y="582355"/>
                  </a:lnTo>
                  <a:lnTo>
                    <a:pt x="0" y="58235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1" name="TextBox 36">
              <a:extLst>
                <a:ext uri="{FF2B5EF4-FFF2-40B4-BE49-F238E27FC236}">
                  <a16:creationId xmlns:a16="http://schemas.microsoft.com/office/drawing/2014/main" xmlns="" id="{1ADEFCDF-C3AA-44B8-B2A1-72EE11295757}"/>
                </a:ext>
              </a:extLst>
            </p:cNvPr>
            <p:cNvSpPr txBox="1"/>
            <p:nvPr/>
          </p:nvSpPr>
          <p:spPr>
            <a:xfrm>
              <a:off x="3557745" y="5450431"/>
              <a:ext cx="739022" cy="142771"/>
            </a:xfrm>
            <a:prstGeom prst="rect">
              <a:avLst/>
            </a:prstGeom>
          </p:spPr>
          <p:txBody>
            <a:bodyPr lIns="0" tIns="0" rIns="0" bIns="0" rtlCol="0" anchor="t">
              <a:spAutoFit/>
            </a:bodyPr>
            <a:lstStyle/>
            <a:p>
              <a:pPr algn="l">
                <a:lnSpc>
                  <a:spcPts val="1539"/>
                </a:lnSpc>
              </a:pPr>
              <a:r>
                <a:rPr lang="en-US" sz="1400" b="1" dirty="0" err="1">
                  <a:solidFill>
                    <a:srgbClr val="F4B6C0"/>
                  </a:solidFill>
                  <a:latin typeface="DM Sans Bold" pitchFamily="2" charset="0"/>
                  <a:ea typeface="Lora Bold"/>
                  <a:cs typeface="Lora Bold"/>
                  <a:sym typeface="Lora Bold"/>
                </a:rPr>
                <a:t>英语</a:t>
              </a:r>
              <a:endParaRPr lang="en-US" sz="1400" b="1" dirty="0">
                <a:solidFill>
                  <a:srgbClr val="F4B6C0"/>
                </a:solidFill>
                <a:latin typeface="DM Sans Bold" pitchFamily="2" charset="0"/>
                <a:ea typeface="Lora Bold"/>
                <a:cs typeface="Lora Bold"/>
                <a:sym typeface="Lora Bold"/>
              </a:endParaRPr>
            </a:p>
          </p:txBody>
        </p:sp>
        <p:sp>
          <p:nvSpPr>
            <p:cNvPr id="72" name="TextBox 37">
              <a:extLst>
                <a:ext uri="{FF2B5EF4-FFF2-40B4-BE49-F238E27FC236}">
                  <a16:creationId xmlns:a16="http://schemas.microsoft.com/office/drawing/2014/main" xmlns="" id="{D66D42B6-EBD2-41C6-8B55-2074C8BA212A}"/>
                </a:ext>
              </a:extLst>
            </p:cNvPr>
            <p:cNvSpPr txBox="1"/>
            <p:nvPr/>
          </p:nvSpPr>
          <p:spPr>
            <a:xfrm>
              <a:off x="4641064" y="5450431"/>
              <a:ext cx="739022" cy="142771"/>
            </a:xfrm>
            <a:prstGeom prst="rect">
              <a:avLst/>
            </a:prstGeom>
          </p:spPr>
          <p:txBody>
            <a:bodyPr lIns="0" tIns="0" rIns="0" bIns="0" rtlCol="0" anchor="t">
              <a:spAutoFit/>
            </a:bodyPr>
            <a:lstStyle/>
            <a:p>
              <a:pPr algn="l">
                <a:lnSpc>
                  <a:spcPts val="1539"/>
                </a:lnSpc>
              </a:pPr>
              <a:r>
                <a:rPr lang="en-US" sz="1400" b="1" dirty="0">
                  <a:solidFill>
                    <a:srgbClr val="EC695B"/>
                  </a:solidFill>
                  <a:latin typeface="DM Sans Bold" pitchFamily="2" charset="0"/>
                  <a:ea typeface="Lora Bold"/>
                  <a:cs typeface="Lora Bold"/>
                  <a:sym typeface="Lora Bold"/>
                </a:rPr>
                <a:t>俄语</a:t>
              </a:r>
            </a:p>
          </p:txBody>
        </p:sp>
        <p:sp>
          <p:nvSpPr>
            <p:cNvPr id="73" name="TextBox 38">
              <a:extLst>
                <a:ext uri="{FF2B5EF4-FFF2-40B4-BE49-F238E27FC236}">
                  <a16:creationId xmlns:a16="http://schemas.microsoft.com/office/drawing/2014/main" xmlns="" id="{62CCC92A-673E-4766-9A19-A13232913A45}"/>
                </a:ext>
              </a:extLst>
            </p:cNvPr>
            <p:cNvSpPr txBox="1"/>
            <p:nvPr/>
          </p:nvSpPr>
          <p:spPr>
            <a:xfrm>
              <a:off x="4046430" y="6347349"/>
              <a:ext cx="739022" cy="142771"/>
            </a:xfrm>
            <a:prstGeom prst="rect">
              <a:avLst/>
            </a:prstGeom>
          </p:spPr>
          <p:txBody>
            <a:bodyPr lIns="0" tIns="0" rIns="0" bIns="0" rtlCol="0" anchor="t">
              <a:spAutoFit/>
            </a:bodyPr>
            <a:lstStyle/>
            <a:p>
              <a:pPr algn="l">
                <a:lnSpc>
                  <a:spcPts val="1539"/>
                </a:lnSpc>
              </a:pPr>
              <a:r>
                <a:rPr lang="en-US" sz="1400" b="1" dirty="0" err="1">
                  <a:solidFill>
                    <a:srgbClr val="5BC5B8"/>
                  </a:solidFill>
                  <a:latin typeface="DM Sans Bold" pitchFamily="2" charset="0"/>
                  <a:ea typeface="Lora Bold"/>
                  <a:cs typeface="Lora Bold"/>
                  <a:sym typeface="Lora Bold"/>
                </a:rPr>
                <a:t>德语</a:t>
              </a:r>
              <a:endParaRPr lang="en-US" sz="1400" b="1" dirty="0">
                <a:solidFill>
                  <a:srgbClr val="5BC5B8"/>
                </a:solidFill>
                <a:latin typeface="DM Sans Bold" pitchFamily="2" charset="0"/>
                <a:ea typeface="Lora Bold"/>
                <a:cs typeface="Lora Bold"/>
                <a:sym typeface="Lora Bold"/>
              </a:endParaRPr>
            </a:p>
          </p:txBody>
        </p:sp>
        <p:sp>
          <p:nvSpPr>
            <p:cNvPr id="74" name="TextBox 39">
              <a:extLst>
                <a:ext uri="{FF2B5EF4-FFF2-40B4-BE49-F238E27FC236}">
                  <a16:creationId xmlns:a16="http://schemas.microsoft.com/office/drawing/2014/main" xmlns="" id="{7E9F4B86-7D88-45D3-B934-1DAA20F4A6BB}"/>
                </a:ext>
              </a:extLst>
            </p:cNvPr>
            <p:cNvSpPr txBox="1"/>
            <p:nvPr/>
          </p:nvSpPr>
          <p:spPr>
            <a:xfrm>
              <a:off x="5104031" y="6347349"/>
              <a:ext cx="739022" cy="142771"/>
            </a:xfrm>
            <a:prstGeom prst="rect">
              <a:avLst/>
            </a:prstGeom>
          </p:spPr>
          <p:txBody>
            <a:bodyPr lIns="0" tIns="0" rIns="0" bIns="0" rtlCol="0" anchor="t">
              <a:spAutoFit/>
            </a:bodyPr>
            <a:lstStyle/>
            <a:p>
              <a:pPr algn="l">
                <a:lnSpc>
                  <a:spcPts val="1539"/>
                </a:lnSpc>
              </a:pPr>
              <a:r>
                <a:rPr lang="en-US" sz="1400" b="1" dirty="0">
                  <a:solidFill>
                    <a:srgbClr val="F4C142"/>
                  </a:solidFill>
                  <a:latin typeface="DM Sans Bold" pitchFamily="2" charset="0"/>
                  <a:ea typeface="Lora Bold"/>
                  <a:cs typeface="Lora Bold"/>
                  <a:sym typeface="Lora Bold"/>
                </a:rPr>
                <a:t>土耳其语</a:t>
              </a:r>
            </a:p>
          </p:txBody>
        </p:sp>
      </p:grpSp>
      <p:sp>
        <p:nvSpPr>
          <p:cNvPr id="75" name="TextBox 40">
            <a:extLst>
              <a:ext uri="{FF2B5EF4-FFF2-40B4-BE49-F238E27FC236}">
                <a16:creationId xmlns:a16="http://schemas.microsoft.com/office/drawing/2014/main" xmlns="" id="{766BDF1A-A3D4-4D46-B6C0-9DA9368A0D4E}"/>
              </a:ext>
            </a:extLst>
          </p:cNvPr>
          <p:cNvSpPr txBox="1"/>
          <p:nvPr/>
        </p:nvSpPr>
        <p:spPr>
          <a:xfrm>
            <a:off x="4377761" y="6272345"/>
            <a:ext cx="2066768" cy="861774"/>
          </a:xfrm>
          <a:prstGeom prst="rect">
            <a:avLst/>
          </a:prstGeom>
        </p:spPr>
        <p:txBody>
          <a:bodyPr wrap="square" lIns="0" tIns="0" rIns="0" bIns="0" rtlCol="0" anchor="t">
            <a:spAutoFit/>
          </a:bodyPr>
          <a:lstStyle/>
          <a:p>
            <a:pPr algn="ctr"/>
            <a:r>
              <a:rPr lang="en-US" sz="1400" b="1" dirty="0" err="1">
                <a:solidFill>
                  <a:schemeClr val="bg1"/>
                </a:solidFill>
                <a:latin typeface="DM Sans Bold" pitchFamily="2" charset="0"/>
                <a:ea typeface="Lora Bold"/>
                <a:cs typeface="Lora Bold"/>
                <a:sym typeface="Lora Bold"/>
              </a:rPr>
              <a:t>奖励持有证书的学生（海外实习）</a:t>
            </a:r>
            <a:r>
              <a:rPr lang="ru-RU" sz="1400" b="1" dirty="0">
                <a:solidFill>
                  <a:schemeClr val="bg1"/>
                </a:solidFill>
                <a:latin typeface="DM Sans Bold" pitchFamily="2" charset="0"/>
                <a:ea typeface="Lora Bold"/>
                <a:cs typeface="Lora Bold"/>
                <a:sym typeface="Lora Bold"/>
              </a:rPr>
              <a:t/>
            </a:r>
            <a:br>
              <a:rPr lang="ru-RU" sz="1400" b="1" dirty="0">
                <a:solidFill>
                  <a:schemeClr val="bg1"/>
                </a:solidFill>
                <a:latin typeface="DM Sans Bold" pitchFamily="2" charset="0"/>
                <a:ea typeface="Lora Bold"/>
                <a:cs typeface="Lora Bold"/>
                <a:sym typeface="Lora Bold"/>
              </a:rPr>
            </a:br>
            <a:endParaRPr lang="ru-RU" sz="1400" b="1" dirty="0">
              <a:solidFill>
                <a:schemeClr val="bg1"/>
              </a:solidFill>
              <a:latin typeface="DM Sans Bold" pitchFamily="2" charset="0"/>
              <a:ea typeface="Lora Bold"/>
              <a:cs typeface="Lora Bold"/>
              <a:sym typeface="Lora Bold"/>
            </a:endParaRPr>
          </a:p>
        </p:txBody>
      </p:sp>
      <p:sp>
        <p:nvSpPr>
          <p:cNvPr id="76" name="TextBox 41">
            <a:extLst>
              <a:ext uri="{FF2B5EF4-FFF2-40B4-BE49-F238E27FC236}">
                <a16:creationId xmlns:a16="http://schemas.microsoft.com/office/drawing/2014/main" xmlns="" id="{D180C8F0-DE46-4386-9181-0D343ECC4C37}"/>
              </a:ext>
            </a:extLst>
          </p:cNvPr>
          <p:cNvSpPr txBox="1"/>
          <p:nvPr/>
        </p:nvSpPr>
        <p:spPr>
          <a:xfrm>
            <a:off x="1950226" y="8243345"/>
            <a:ext cx="2037576" cy="861774"/>
          </a:xfrm>
          <a:prstGeom prst="rect">
            <a:avLst/>
          </a:prstGeom>
        </p:spPr>
        <p:txBody>
          <a:bodyPr wrap="square" lIns="0" tIns="0" rIns="0" bIns="0" rtlCol="0" anchor="t">
            <a:spAutoFit/>
          </a:bodyPr>
          <a:lstStyle/>
          <a:p>
            <a:pPr algn="ctr"/>
            <a:r>
              <a:rPr lang="en-US" sz="1400" b="1" dirty="0" err="1">
                <a:solidFill>
                  <a:schemeClr val="bg1"/>
                </a:solidFill>
                <a:latin typeface="DM Sans Bold" pitchFamily="2" charset="0"/>
                <a:ea typeface="Lora Bold"/>
                <a:cs typeface="Lora Bold"/>
                <a:sym typeface="Lora Bold"/>
              </a:rPr>
              <a:t>扩展其他外语课程（中文、日语、韩语、西班牙语、法语）</a:t>
            </a:r>
          </a:p>
        </p:txBody>
      </p:sp>
      <p:sp>
        <p:nvSpPr>
          <p:cNvPr id="77" name="TextBox 42">
            <a:extLst>
              <a:ext uri="{FF2B5EF4-FFF2-40B4-BE49-F238E27FC236}">
                <a16:creationId xmlns:a16="http://schemas.microsoft.com/office/drawing/2014/main" xmlns="" id="{407CEDF8-FEC9-4BD0-8997-0D746AF03ABD}"/>
              </a:ext>
            </a:extLst>
          </p:cNvPr>
          <p:cNvSpPr txBox="1"/>
          <p:nvPr/>
        </p:nvSpPr>
        <p:spPr>
          <a:xfrm>
            <a:off x="4543114" y="8307384"/>
            <a:ext cx="1944506" cy="646331"/>
          </a:xfrm>
          <a:prstGeom prst="rect">
            <a:avLst/>
          </a:prstGeom>
        </p:spPr>
        <p:txBody>
          <a:bodyPr wrap="square" lIns="0" tIns="0" rIns="0" bIns="0" rtlCol="0" anchor="t">
            <a:spAutoFit/>
          </a:bodyPr>
          <a:lstStyle/>
          <a:p>
            <a:pPr algn="ctr"/>
            <a:r>
              <a:rPr lang="en-US" sz="1400" b="1" dirty="0" err="1">
                <a:solidFill>
                  <a:schemeClr val="bg1"/>
                </a:solidFill>
                <a:latin typeface="DM Sans Bold" pitchFamily="2" charset="0"/>
                <a:ea typeface="Lora Bold"/>
                <a:cs typeface="Lora Bold"/>
                <a:sym typeface="Lora Bold"/>
              </a:rPr>
              <a:t>组织语言水平测定与颁发证书</a:t>
            </a:r>
            <a:endParaRPr lang="en-US" sz="1400" b="1" dirty="0">
              <a:solidFill>
                <a:schemeClr val="bg1"/>
              </a:solidFill>
              <a:latin typeface="DM Sans Bold" pitchFamily="2" charset="0"/>
              <a:ea typeface="Lora Bold"/>
              <a:cs typeface="Lora Bold"/>
              <a:sym typeface="Lora Bold"/>
            </a:endParaRPr>
          </a:p>
        </p:txBody>
      </p:sp>
      <p:sp>
        <p:nvSpPr>
          <p:cNvPr id="85" name="TextBox 50">
            <a:extLst>
              <a:ext uri="{FF2B5EF4-FFF2-40B4-BE49-F238E27FC236}">
                <a16:creationId xmlns:a16="http://schemas.microsoft.com/office/drawing/2014/main" xmlns="" id="{2EA52F31-B3FB-45B4-874F-78C65F43255C}"/>
              </a:ext>
            </a:extLst>
          </p:cNvPr>
          <p:cNvSpPr txBox="1"/>
          <p:nvPr/>
        </p:nvSpPr>
        <p:spPr>
          <a:xfrm>
            <a:off x="9650350" y="6352998"/>
            <a:ext cx="3195250" cy="646331"/>
          </a:xfrm>
          <a:prstGeom prst="rect">
            <a:avLst/>
          </a:prstGeom>
        </p:spPr>
        <p:txBody>
          <a:bodyPr wrap="square" lIns="0" tIns="0" rIns="0" bIns="0" rtlCol="0" anchor="t">
            <a:spAutoFit/>
          </a:bodyPr>
          <a:lstStyle/>
          <a:p>
            <a:pPr algn="ctr">
              <a:spcBef>
                <a:spcPct val="0"/>
              </a:spcBef>
            </a:pPr>
            <a:r>
              <a:rPr lang="en-US" sz="1400" b="1" dirty="0" err="1">
                <a:solidFill>
                  <a:schemeClr val="bg1"/>
                </a:solidFill>
                <a:latin typeface="DM Sans Bold" pitchFamily="2" charset="0"/>
                <a:ea typeface="Lora Bold"/>
                <a:cs typeface="Lora Bold"/>
                <a:sym typeface="Lora Bold"/>
              </a:rPr>
              <a:t>为信息资源中心配备现代文献信息系统</a:t>
            </a:r>
            <a:endParaRPr lang="en-US" sz="1400" b="1" dirty="0">
              <a:solidFill>
                <a:schemeClr val="bg1"/>
              </a:solidFill>
              <a:latin typeface="DM Sans Bold" pitchFamily="2" charset="0"/>
              <a:ea typeface="Lora Bold"/>
              <a:cs typeface="Lora Bold"/>
              <a:sym typeface="Lora Bold"/>
            </a:endParaRPr>
          </a:p>
        </p:txBody>
      </p:sp>
      <p:sp>
        <p:nvSpPr>
          <p:cNvPr id="86" name="TextBox 51">
            <a:extLst>
              <a:ext uri="{FF2B5EF4-FFF2-40B4-BE49-F238E27FC236}">
                <a16:creationId xmlns:a16="http://schemas.microsoft.com/office/drawing/2014/main" xmlns="" id="{6F0CE90B-1F06-4D3B-AB55-3AA547648281}"/>
              </a:ext>
            </a:extLst>
          </p:cNvPr>
          <p:cNvSpPr txBox="1"/>
          <p:nvPr/>
        </p:nvSpPr>
        <p:spPr>
          <a:xfrm>
            <a:off x="9854704" y="7192760"/>
            <a:ext cx="2872742" cy="430887"/>
          </a:xfrm>
          <a:prstGeom prst="rect">
            <a:avLst/>
          </a:prstGeom>
        </p:spPr>
        <p:txBody>
          <a:bodyPr wrap="square" lIns="0" tIns="0" rIns="0" bIns="0" rtlCol="0" anchor="t">
            <a:spAutoFit/>
          </a:bodyPr>
          <a:lstStyle/>
          <a:p>
            <a:pPr algn="ctr">
              <a:spcBef>
                <a:spcPct val="0"/>
              </a:spcBef>
            </a:pPr>
            <a:r>
              <a:rPr lang="en-US" sz="1400" b="1" dirty="0" err="1">
                <a:solidFill>
                  <a:schemeClr val="bg1"/>
                </a:solidFill>
                <a:latin typeface="DM Sans Bold" pitchFamily="2" charset="0"/>
                <a:ea typeface="Lora Bold"/>
                <a:cs typeface="Lora Bold"/>
                <a:sym typeface="Lora Bold"/>
              </a:rPr>
              <a:t>建立大学印刷厂</a:t>
            </a:r>
            <a:endParaRPr lang="en-US" sz="1400" b="1" dirty="0">
              <a:solidFill>
                <a:schemeClr val="bg1"/>
              </a:solidFill>
              <a:latin typeface="DM Sans Bold" pitchFamily="2" charset="0"/>
              <a:ea typeface="Lora Bold"/>
              <a:cs typeface="Lora Bold"/>
              <a:sym typeface="Lora Bold"/>
            </a:endParaRPr>
          </a:p>
        </p:txBody>
      </p:sp>
      <p:sp>
        <p:nvSpPr>
          <p:cNvPr id="87" name="TextBox 52">
            <a:extLst>
              <a:ext uri="{FF2B5EF4-FFF2-40B4-BE49-F238E27FC236}">
                <a16:creationId xmlns:a16="http://schemas.microsoft.com/office/drawing/2014/main" xmlns="" id="{08678D9B-0DF2-44C0-90ED-7D837E707DDE}"/>
              </a:ext>
            </a:extLst>
          </p:cNvPr>
          <p:cNvSpPr txBox="1"/>
          <p:nvPr/>
        </p:nvSpPr>
        <p:spPr>
          <a:xfrm>
            <a:off x="10274647" y="5643469"/>
            <a:ext cx="2217305" cy="185948"/>
          </a:xfrm>
          <a:prstGeom prst="rect">
            <a:avLst/>
          </a:prstGeom>
        </p:spPr>
        <p:txBody>
          <a:bodyPr wrap="square" lIns="0" tIns="0" rIns="0" bIns="0" rtlCol="0" anchor="t">
            <a:spAutoFit/>
          </a:bodyPr>
          <a:lstStyle/>
          <a:p>
            <a:pPr algn="ctr">
              <a:lnSpc>
                <a:spcPts val="1400"/>
              </a:lnSpc>
              <a:spcBef>
                <a:spcPct val="0"/>
              </a:spcBef>
            </a:pPr>
            <a:r>
              <a:rPr lang="en-US" sz="1400" b="1" dirty="0" err="1">
                <a:solidFill>
                  <a:schemeClr val="bg1"/>
                </a:solidFill>
                <a:latin typeface="DM Sans Bold" pitchFamily="2" charset="0"/>
                <a:ea typeface="Lora Bold"/>
                <a:cs typeface="Lora Bold"/>
                <a:sym typeface="Lora Bold"/>
              </a:rPr>
              <a:t>措施</a:t>
            </a:r>
            <a:endParaRPr lang="en-US" sz="1400" b="1" dirty="0">
              <a:solidFill>
                <a:schemeClr val="bg1"/>
              </a:solidFill>
              <a:latin typeface="DM Sans Bold" pitchFamily="2" charset="0"/>
              <a:ea typeface="Lora Bold"/>
              <a:cs typeface="Lora Bold"/>
              <a:sym typeface="Lora Bold"/>
            </a:endParaRPr>
          </a:p>
        </p:txBody>
      </p:sp>
      <p:sp>
        <p:nvSpPr>
          <p:cNvPr id="88" name="TextBox 53">
            <a:extLst>
              <a:ext uri="{FF2B5EF4-FFF2-40B4-BE49-F238E27FC236}">
                <a16:creationId xmlns:a16="http://schemas.microsoft.com/office/drawing/2014/main" xmlns="" id="{1B049E85-8E27-4090-ABB6-C9D83C98BF89}"/>
              </a:ext>
            </a:extLst>
          </p:cNvPr>
          <p:cNvSpPr txBox="1"/>
          <p:nvPr/>
        </p:nvSpPr>
        <p:spPr>
          <a:xfrm>
            <a:off x="14002272" y="5332939"/>
            <a:ext cx="2217305" cy="185948"/>
          </a:xfrm>
          <a:prstGeom prst="rect">
            <a:avLst/>
          </a:prstGeom>
        </p:spPr>
        <p:txBody>
          <a:bodyPr wrap="square" lIns="0" tIns="0" rIns="0" bIns="0" rtlCol="0" anchor="t">
            <a:spAutoFit/>
          </a:bodyPr>
          <a:lstStyle/>
          <a:p>
            <a:pPr algn="ctr">
              <a:lnSpc>
                <a:spcPts val="1400"/>
              </a:lnSpc>
              <a:spcBef>
                <a:spcPct val="0"/>
              </a:spcBef>
            </a:pPr>
            <a:r>
              <a:rPr lang="en-US" sz="1400" b="1" dirty="0" err="1">
                <a:solidFill>
                  <a:schemeClr val="bg1"/>
                </a:solidFill>
                <a:latin typeface="DM Sans Bold" pitchFamily="2" charset="0"/>
                <a:ea typeface="Lora Bold"/>
                <a:cs typeface="Lora Bold"/>
                <a:sym typeface="Lora Bold"/>
              </a:rPr>
              <a:t>资金来源</a:t>
            </a:r>
            <a:endParaRPr lang="en-US" sz="1400" b="1" dirty="0">
              <a:solidFill>
                <a:schemeClr val="bg1"/>
              </a:solidFill>
              <a:latin typeface="DM Sans Bold" pitchFamily="2" charset="0"/>
              <a:ea typeface="Lora Bold"/>
              <a:cs typeface="Lora Bold"/>
              <a:sym typeface="Lora Bold"/>
            </a:endParaRPr>
          </a:p>
        </p:txBody>
      </p:sp>
      <p:grpSp>
        <p:nvGrpSpPr>
          <p:cNvPr id="101" name="Группа 100">
            <a:extLst>
              <a:ext uri="{FF2B5EF4-FFF2-40B4-BE49-F238E27FC236}">
                <a16:creationId xmlns:a16="http://schemas.microsoft.com/office/drawing/2014/main" xmlns="" id="{194802CD-16C6-4A66-B188-275D3224DAFD}"/>
              </a:ext>
            </a:extLst>
          </p:cNvPr>
          <p:cNvGrpSpPr/>
          <p:nvPr/>
        </p:nvGrpSpPr>
        <p:grpSpPr>
          <a:xfrm>
            <a:off x="8821216" y="1644582"/>
            <a:ext cx="8956154" cy="2808504"/>
            <a:chOff x="6628608" y="1974992"/>
            <a:chExt cx="4929731" cy="1581280"/>
          </a:xfrm>
        </p:grpSpPr>
        <p:sp>
          <p:nvSpPr>
            <p:cNvPr id="39" name="Freeform 4">
              <a:extLst>
                <a:ext uri="{FF2B5EF4-FFF2-40B4-BE49-F238E27FC236}">
                  <a16:creationId xmlns:a16="http://schemas.microsoft.com/office/drawing/2014/main" xmlns="" id="{50735856-7D17-4419-8A9E-8FD508965E33}"/>
                </a:ext>
              </a:extLst>
            </p:cNvPr>
            <p:cNvSpPr/>
            <p:nvPr/>
          </p:nvSpPr>
          <p:spPr>
            <a:xfrm>
              <a:off x="6687662" y="2109215"/>
              <a:ext cx="4870677" cy="1447057"/>
            </a:xfrm>
            <a:custGeom>
              <a:avLst/>
              <a:gdLst/>
              <a:ahLst/>
              <a:cxnLst/>
              <a:rect l="l" t="t" r="r" b="b"/>
              <a:pathLst>
                <a:path w="4870677" h="1447057">
                  <a:moveTo>
                    <a:pt x="0" y="0"/>
                  </a:moveTo>
                  <a:lnTo>
                    <a:pt x="4870677" y="0"/>
                  </a:lnTo>
                  <a:lnTo>
                    <a:pt x="4870677" y="1447057"/>
                  </a:lnTo>
                  <a:lnTo>
                    <a:pt x="0" y="1447057"/>
                  </a:lnTo>
                  <a:lnTo>
                    <a:pt x="0" y="0"/>
                  </a:lnTo>
                  <a:close/>
                </a:path>
              </a:pathLst>
            </a:custGeom>
            <a:blipFill>
              <a:blip r:embed="rId10"/>
              <a:stretch>
                <a:fillRect l="-166" r="-166" b="-8912"/>
              </a:stretch>
            </a:blipFill>
          </p:spPr>
        </p:sp>
        <p:sp>
          <p:nvSpPr>
            <p:cNvPr id="59" name="TextBox 24">
              <a:extLst>
                <a:ext uri="{FF2B5EF4-FFF2-40B4-BE49-F238E27FC236}">
                  <a16:creationId xmlns:a16="http://schemas.microsoft.com/office/drawing/2014/main" xmlns="" id="{B42CB564-613B-4530-A1F2-7E682A853BCE}"/>
                </a:ext>
              </a:extLst>
            </p:cNvPr>
            <p:cNvSpPr txBox="1"/>
            <p:nvPr/>
          </p:nvSpPr>
          <p:spPr>
            <a:xfrm>
              <a:off x="6628608" y="1974992"/>
              <a:ext cx="4929731" cy="108811"/>
            </a:xfrm>
            <a:prstGeom prst="rect">
              <a:avLst/>
            </a:prstGeom>
          </p:spPr>
          <p:txBody>
            <a:bodyPr lIns="0" tIns="0" rIns="0" bIns="0" rtlCol="0" anchor="t">
              <a:spAutoFit/>
            </a:bodyPr>
            <a:lstStyle/>
            <a:p>
              <a:pPr algn="ctr">
                <a:lnSpc>
                  <a:spcPts val="1399"/>
                </a:lnSpc>
              </a:pPr>
              <a:r>
                <a:rPr lang="en-US" sz="1600" b="1" dirty="0">
                  <a:solidFill>
                    <a:schemeClr val="bg1"/>
                  </a:solidFill>
                  <a:latin typeface="DM Sans Bold" pitchFamily="2" charset="0"/>
                  <a:ea typeface="Lora Bold"/>
                  <a:cs typeface="Lora Bold"/>
                  <a:sym typeface="Lora Bold"/>
                </a:rPr>
                <a:t>引进教学教育和科学方向的新模式</a:t>
              </a:r>
            </a:p>
          </p:txBody>
        </p:sp>
        <p:sp>
          <p:nvSpPr>
            <p:cNvPr id="92" name="TextBox 62">
              <a:extLst>
                <a:ext uri="{FF2B5EF4-FFF2-40B4-BE49-F238E27FC236}">
                  <a16:creationId xmlns:a16="http://schemas.microsoft.com/office/drawing/2014/main" xmlns="" id="{619F9CFE-53E7-4AC1-A28F-27D55D784C20}"/>
                </a:ext>
              </a:extLst>
            </p:cNvPr>
            <p:cNvSpPr txBox="1"/>
            <p:nvPr/>
          </p:nvSpPr>
          <p:spPr>
            <a:xfrm>
              <a:off x="6780012" y="2679758"/>
              <a:ext cx="764205" cy="849113"/>
            </a:xfrm>
            <a:prstGeom prst="rect">
              <a:avLst/>
            </a:prstGeom>
          </p:spPr>
          <p:txBody>
            <a:bodyPr wrap="square" lIns="0" tIns="0" rIns="0" bIns="0" rtlCol="0" anchor="t">
              <a:spAutoFit/>
            </a:bodyPr>
            <a:lstStyle/>
            <a:p>
              <a:pPr algn="ctr">
                <a:spcBef>
                  <a:spcPct val="0"/>
                </a:spcBef>
              </a:pPr>
              <a:r>
                <a:rPr lang="en-US" sz="1400" b="1" dirty="0" err="1">
                  <a:solidFill>
                    <a:srgbClr val="000000"/>
                  </a:solidFill>
                  <a:latin typeface="DM Sans Bold" pitchFamily="2" charset="0"/>
                  <a:ea typeface="Lora Bold"/>
                  <a:cs typeface="Lora Bold"/>
                  <a:sym typeface="Lora Bold"/>
                </a:rPr>
                <a:t>培训学生在课堂自主学习中提出创新</a:t>
              </a:r>
              <a:endParaRPr lang="en-US" sz="1400" b="1" dirty="0">
                <a:solidFill>
                  <a:srgbClr val="000000"/>
                </a:solidFill>
                <a:latin typeface="DM Sans Bold" pitchFamily="2" charset="0"/>
                <a:ea typeface="Lora Bold"/>
                <a:cs typeface="Lora Bold"/>
                <a:sym typeface="Lora Bold"/>
              </a:endParaRPr>
            </a:p>
          </p:txBody>
        </p:sp>
        <p:sp>
          <p:nvSpPr>
            <p:cNvPr id="93" name="TextBox 63">
              <a:extLst>
                <a:ext uri="{FF2B5EF4-FFF2-40B4-BE49-F238E27FC236}">
                  <a16:creationId xmlns:a16="http://schemas.microsoft.com/office/drawing/2014/main" xmlns="" id="{7C5A608F-4254-4919-A9E6-82AB44284D28}"/>
                </a:ext>
              </a:extLst>
            </p:cNvPr>
            <p:cNvSpPr txBox="1"/>
            <p:nvPr/>
          </p:nvSpPr>
          <p:spPr>
            <a:xfrm>
              <a:off x="7751259" y="2928314"/>
              <a:ext cx="764205" cy="485207"/>
            </a:xfrm>
            <a:prstGeom prst="rect">
              <a:avLst/>
            </a:prstGeom>
          </p:spPr>
          <p:txBody>
            <a:bodyPr lIns="0" tIns="0" rIns="0" bIns="0" rtlCol="0" anchor="t">
              <a:spAutoFit/>
            </a:bodyPr>
            <a:lstStyle/>
            <a:p>
              <a:pPr algn="ctr">
                <a:spcBef>
                  <a:spcPct val="0"/>
                </a:spcBef>
              </a:pPr>
              <a:r>
                <a:rPr lang="en-US" sz="1400" b="1" dirty="0" err="1">
                  <a:solidFill>
                    <a:srgbClr val="000000"/>
                  </a:solidFill>
                  <a:latin typeface="DM Sans Bold" pitchFamily="2" charset="0"/>
                  <a:ea typeface="Lora Bold"/>
                  <a:cs typeface="Lora Bold"/>
                  <a:sym typeface="Lora Bold"/>
                </a:rPr>
                <a:t>提前提供教学材料</a:t>
              </a:r>
              <a:endParaRPr lang="en-US" sz="1400" b="1" dirty="0">
                <a:solidFill>
                  <a:srgbClr val="000000"/>
                </a:solidFill>
                <a:latin typeface="DM Sans Bold" pitchFamily="2" charset="0"/>
                <a:ea typeface="Lora Bold"/>
                <a:cs typeface="Lora Bold"/>
                <a:sym typeface="Lora Bold"/>
              </a:endParaRPr>
            </a:p>
          </p:txBody>
        </p:sp>
        <p:sp>
          <p:nvSpPr>
            <p:cNvPr id="94" name="TextBox 64">
              <a:extLst>
                <a:ext uri="{FF2B5EF4-FFF2-40B4-BE49-F238E27FC236}">
                  <a16:creationId xmlns:a16="http://schemas.microsoft.com/office/drawing/2014/main" xmlns="" id="{14C39A39-1CAE-418B-9FB1-BA8F1B397CE2}"/>
                </a:ext>
              </a:extLst>
            </p:cNvPr>
            <p:cNvSpPr txBox="1"/>
            <p:nvPr/>
          </p:nvSpPr>
          <p:spPr>
            <a:xfrm>
              <a:off x="8740007" y="2684933"/>
              <a:ext cx="750284" cy="849113"/>
            </a:xfrm>
            <a:prstGeom prst="rect">
              <a:avLst/>
            </a:prstGeom>
          </p:spPr>
          <p:txBody>
            <a:bodyPr lIns="0" tIns="0" rIns="0" bIns="0" rtlCol="0" anchor="t">
              <a:spAutoFit/>
            </a:bodyPr>
            <a:lstStyle/>
            <a:p>
              <a:pPr algn="ctr">
                <a:spcBef>
                  <a:spcPct val="0"/>
                </a:spcBef>
              </a:pPr>
              <a:r>
                <a:rPr lang="en-US" sz="1400" b="1" dirty="0" err="1">
                  <a:solidFill>
                    <a:srgbClr val="000000"/>
                  </a:solidFill>
                  <a:latin typeface="DM Sans Bold" pitchFamily="2" charset="0"/>
                  <a:ea typeface="Lora Bold"/>
                  <a:cs typeface="Lora Bold"/>
                  <a:sym typeface="Lora Bold"/>
                </a:rPr>
                <a:t>将系统分析和独立决策融入课程作业和项目内容</a:t>
              </a:r>
              <a:endParaRPr lang="en-US" sz="1400" b="1" dirty="0">
                <a:solidFill>
                  <a:srgbClr val="000000"/>
                </a:solidFill>
                <a:latin typeface="DM Sans Bold" pitchFamily="2" charset="0"/>
                <a:ea typeface="Lora Bold"/>
                <a:cs typeface="Lora Bold"/>
                <a:sym typeface="Lora Bold"/>
              </a:endParaRPr>
            </a:p>
          </p:txBody>
        </p:sp>
        <p:sp>
          <p:nvSpPr>
            <p:cNvPr id="95" name="TextBox 65">
              <a:extLst>
                <a:ext uri="{FF2B5EF4-FFF2-40B4-BE49-F238E27FC236}">
                  <a16:creationId xmlns:a16="http://schemas.microsoft.com/office/drawing/2014/main" xmlns="" id="{382BFAF3-AC15-431A-880D-9C77E1CD491E}"/>
                </a:ext>
              </a:extLst>
            </p:cNvPr>
            <p:cNvSpPr txBox="1"/>
            <p:nvPr/>
          </p:nvSpPr>
          <p:spPr>
            <a:xfrm>
              <a:off x="9678851" y="2783570"/>
              <a:ext cx="851898" cy="606509"/>
            </a:xfrm>
            <a:prstGeom prst="rect">
              <a:avLst/>
            </a:prstGeom>
          </p:spPr>
          <p:txBody>
            <a:bodyPr wrap="square" lIns="0" tIns="0" rIns="0" bIns="0" rtlCol="0" anchor="t">
              <a:spAutoFit/>
            </a:bodyPr>
            <a:lstStyle/>
            <a:p>
              <a:pPr algn="ctr">
                <a:spcBef>
                  <a:spcPct val="0"/>
                </a:spcBef>
              </a:pPr>
              <a:r>
                <a:rPr lang="en-US" sz="1400" b="1" dirty="0" err="1">
                  <a:solidFill>
                    <a:srgbClr val="000000"/>
                  </a:solidFill>
                  <a:latin typeface="DM Sans Bold" pitchFamily="2" charset="0"/>
                  <a:ea typeface="Lora Bold"/>
                  <a:cs typeface="Lora Bold"/>
                  <a:sym typeface="Lora Bold"/>
                </a:rPr>
                <a:t>课堂上研究实际问题</a:t>
              </a:r>
              <a:r>
                <a:rPr lang="ru-RU" sz="1400" b="1" dirty="0">
                  <a:solidFill>
                    <a:srgbClr val="000000"/>
                  </a:solidFill>
                  <a:latin typeface="DM Sans Bold" pitchFamily="2" charset="0"/>
                  <a:ea typeface="Lora Bold"/>
                  <a:cs typeface="Lora Bold"/>
                  <a:sym typeface="Lora Bold"/>
                </a:rPr>
                <a:t/>
              </a:r>
              <a:br>
                <a:rPr lang="ru-RU" sz="1400" b="1" dirty="0">
                  <a:solidFill>
                    <a:srgbClr val="000000"/>
                  </a:solidFill>
                  <a:latin typeface="DM Sans Bold" pitchFamily="2" charset="0"/>
                  <a:ea typeface="Lora Bold"/>
                  <a:cs typeface="Lora Bold"/>
                  <a:sym typeface="Lora Bold"/>
                </a:rPr>
              </a:br>
              <a:r>
                <a:rPr lang="ru-RU" sz="1400" b="1" dirty="0">
                  <a:solidFill>
                    <a:srgbClr val="000000"/>
                  </a:solidFill>
                  <a:latin typeface="DM Sans Bold" pitchFamily="2" charset="0"/>
                  <a:ea typeface="Lora Bold"/>
                  <a:cs typeface="Lora Bold"/>
                  <a:sym typeface="Lora Bold"/>
                </a:rPr>
                <a:t/>
              </a:r>
              <a:br>
                <a:rPr lang="ru-RU" sz="1400" b="1" dirty="0">
                  <a:solidFill>
                    <a:srgbClr val="000000"/>
                  </a:solidFill>
                  <a:latin typeface="DM Sans Bold" pitchFamily="2" charset="0"/>
                  <a:ea typeface="Lora Bold"/>
                  <a:cs typeface="Lora Bold"/>
                  <a:sym typeface="Lora Bold"/>
                </a:rPr>
              </a:br>
              <a:endParaRPr lang="en-US" sz="1400" b="1" dirty="0">
                <a:solidFill>
                  <a:srgbClr val="000000"/>
                </a:solidFill>
                <a:latin typeface="DM Sans Bold" pitchFamily="2" charset="0"/>
                <a:ea typeface="Lora Bold"/>
                <a:cs typeface="Lora Bold"/>
                <a:sym typeface="Lora Bold"/>
              </a:endParaRPr>
            </a:p>
          </p:txBody>
        </p:sp>
        <p:sp>
          <p:nvSpPr>
            <p:cNvPr id="96" name="TextBox 66">
              <a:extLst>
                <a:ext uri="{FF2B5EF4-FFF2-40B4-BE49-F238E27FC236}">
                  <a16:creationId xmlns:a16="http://schemas.microsoft.com/office/drawing/2014/main" xmlns="" id="{50657B3E-03AB-4649-A7FA-C8830FD71C12}"/>
                </a:ext>
              </a:extLst>
            </p:cNvPr>
            <p:cNvSpPr txBox="1"/>
            <p:nvPr/>
          </p:nvSpPr>
          <p:spPr>
            <a:xfrm>
              <a:off x="10686080" y="2679758"/>
              <a:ext cx="750284" cy="874961"/>
            </a:xfrm>
            <a:prstGeom prst="rect">
              <a:avLst/>
            </a:prstGeom>
          </p:spPr>
          <p:txBody>
            <a:bodyPr lIns="0" tIns="0" rIns="0" bIns="0" rtlCol="0" anchor="t">
              <a:spAutoFit/>
            </a:bodyPr>
            <a:lstStyle/>
            <a:p>
              <a:pPr indent="-324000" algn="ctr">
                <a:lnSpc>
                  <a:spcPct val="90000"/>
                </a:lnSpc>
                <a:spcBef>
                  <a:spcPct val="0"/>
                </a:spcBef>
              </a:pPr>
              <a:r>
                <a:rPr lang="en-US" sz="1400" b="1" dirty="0" err="1">
                  <a:solidFill>
                    <a:srgbClr val="000000"/>
                  </a:solidFill>
                  <a:latin typeface="DM Sans Bold" pitchFamily="2" charset="0"/>
                  <a:ea typeface="Lora Bold"/>
                  <a:cs typeface="Lora Bold"/>
                  <a:sym typeface="Lora Bold"/>
                </a:rPr>
                <a:t>基于实践技能和职业能力水平评估教学成果</a:t>
              </a:r>
              <a:endParaRPr lang="en-US" sz="1400" b="1" dirty="0">
                <a:solidFill>
                  <a:srgbClr val="000000"/>
                </a:solidFill>
                <a:latin typeface="DM Sans Bold" pitchFamily="2" charset="0"/>
                <a:ea typeface="Lora Bold"/>
                <a:cs typeface="Lora Bold"/>
                <a:sym typeface="Lora Bold"/>
              </a:endParaRPr>
            </a:p>
          </p:txBody>
        </p:sp>
      </p:grpSp>
      <p:grpSp>
        <p:nvGrpSpPr>
          <p:cNvPr id="102" name="Группа 101">
            <a:extLst>
              <a:ext uri="{FF2B5EF4-FFF2-40B4-BE49-F238E27FC236}">
                <a16:creationId xmlns:a16="http://schemas.microsoft.com/office/drawing/2014/main" xmlns="" id="{E8CBD6AD-2A1A-45CE-8F1C-2B2FD5A1495E}"/>
              </a:ext>
            </a:extLst>
          </p:cNvPr>
          <p:cNvGrpSpPr/>
          <p:nvPr/>
        </p:nvGrpSpPr>
        <p:grpSpPr>
          <a:xfrm>
            <a:off x="7775172" y="8037563"/>
            <a:ext cx="10233573" cy="1988765"/>
            <a:chOff x="10361753" y="7396105"/>
            <a:chExt cx="6271004" cy="1988765"/>
          </a:xfrm>
        </p:grpSpPr>
        <p:grpSp>
          <p:nvGrpSpPr>
            <p:cNvPr id="41" name="Group 6">
              <a:extLst>
                <a:ext uri="{FF2B5EF4-FFF2-40B4-BE49-F238E27FC236}">
                  <a16:creationId xmlns:a16="http://schemas.microsoft.com/office/drawing/2014/main" xmlns="" id="{BF6049ED-22FD-4393-A3CF-D9F00034FC62}"/>
                </a:ext>
              </a:extLst>
            </p:cNvPr>
            <p:cNvGrpSpPr/>
            <p:nvPr/>
          </p:nvGrpSpPr>
          <p:grpSpPr>
            <a:xfrm>
              <a:off x="11486513" y="8076386"/>
              <a:ext cx="985487" cy="285750"/>
              <a:chOff x="0" y="0"/>
              <a:chExt cx="353176" cy="102406"/>
            </a:xfrm>
          </p:grpSpPr>
          <p:sp>
            <p:nvSpPr>
              <p:cNvPr id="42" name="Freeform 7">
                <a:extLst>
                  <a:ext uri="{FF2B5EF4-FFF2-40B4-BE49-F238E27FC236}">
                    <a16:creationId xmlns:a16="http://schemas.microsoft.com/office/drawing/2014/main" xmlns="" id="{CE1BAA90-A204-4638-B912-80624A726BE0}"/>
                  </a:ext>
                </a:extLst>
              </p:cNvPr>
              <p:cNvSpPr/>
              <p:nvPr/>
            </p:nvSpPr>
            <p:spPr>
              <a:xfrm>
                <a:off x="0" y="0"/>
                <a:ext cx="353176" cy="102406"/>
              </a:xfrm>
              <a:custGeom>
                <a:avLst/>
                <a:gdLst/>
                <a:ahLst/>
                <a:cxnLst/>
                <a:rect l="l" t="t" r="r" b="b"/>
                <a:pathLst>
                  <a:path w="353176" h="102406">
                    <a:moveTo>
                      <a:pt x="51203" y="0"/>
                    </a:moveTo>
                    <a:lnTo>
                      <a:pt x="301973" y="0"/>
                    </a:lnTo>
                    <a:cubicBezTo>
                      <a:pt x="330252" y="0"/>
                      <a:pt x="353176" y="22924"/>
                      <a:pt x="353176" y="51203"/>
                    </a:cubicBezTo>
                    <a:lnTo>
                      <a:pt x="353176" y="51203"/>
                    </a:lnTo>
                    <a:cubicBezTo>
                      <a:pt x="353176" y="64783"/>
                      <a:pt x="347782" y="77807"/>
                      <a:pt x="338179" y="87409"/>
                    </a:cubicBezTo>
                    <a:cubicBezTo>
                      <a:pt x="328577" y="97012"/>
                      <a:pt x="315553" y="102406"/>
                      <a:pt x="301973" y="102406"/>
                    </a:cubicBezTo>
                    <a:lnTo>
                      <a:pt x="51203" y="102406"/>
                    </a:lnTo>
                    <a:cubicBezTo>
                      <a:pt x="37623" y="102406"/>
                      <a:pt x="24600" y="97012"/>
                      <a:pt x="14997" y="87409"/>
                    </a:cubicBezTo>
                    <a:cubicBezTo>
                      <a:pt x="5395" y="77807"/>
                      <a:pt x="0" y="64783"/>
                      <a:pt x="0" y="51203"/>
                    </a:cubicBezTo>
                    <a:lnTo>
                      <a:pt x="0" y="51203"/>
                    </a:lnTo>
                    <a:cubicBezTo>
                      <a:pt x="0" y="37623"/>
                      <a:pt x="5395" y="24600"/>
                      <a:pt x="14997" y="14997"/>
                    </a:cubicBezTo>
                    <a:cubicBezTo>
                      <a:pt x="24600" y="5395"/>
                      <a:pt x="37623" y="0"/>
                      <a:pt x="51203" y="0"/>
                    </a:cubicBezTo>
                    <a:close/>
                  </a:path>
                </a:pathLst>
              </a:custGeom>
              <a:solidFill>
                <a:srgbClr val="17B2B3"/>
              </a:solidFill>
            </p:spPr>
          </p:sp>
          <p:sp>
            <p:nvSpPr>
              <p:cNvPr id="43" name="TextBox 8">
                <a:extLst>
                  <a:ext uri="{FF2B5EF4-FFF2-40B4-BE49-F238E27FC236}">
                    <a16:creationId xmlns:a16="http://schemas.microsoft.com/office/drawing/2014/main" xmlns="" id="{EA99FA9B-9F26-47F5-AA31-58F1B23128B5}"/>
                  </a:ext>
                </a:extLst>
              </p:cNvPr>
              <p:cNvSpPr txBox="1"/>
              <p:nvPr/>
            </p:nvSpPr>
            <p:spPr>
              <a:xfrm>
                <a:off x="0" y="-9525"/>
                <a:ext cx="353176" cy="111931"/>
              </a:xfrm>
              <a:prstGeom prst="rect">
                <a:avLst/>
              </a:prstGeom>
            </p:spPr>
            <p:txBody>
              <a:bodyPr lIns="50800" tIns="50800" rIns="50800" bIns="50800" rtlCol="0" anchor="ctr"/>
              <a:lstStyle/>
              <a:p>
                <a:pPr algn="ctr">
                  <a:lnSpc>
                    <a:spcPts val="1399"/>
                  </a:lnSpc>
                </a:pPr>
                <a:r>
                  <a:rPr lang="en-US" sz="1400" b="1">
                    <a:solidFill>
                      <a:srgbClr val="051D40"/>
                    </a:solidFill>
                    <a:latin typeface="DM Sans Bold" pitchFamily="2" charset="0"/>
                    <a:ea typeface="Lora Bold"/>
                    <a:cs typeface="Lora Bold"/>
                    <a:sym typeface="Lora Bold"/>
                  </a:rPr>
                  <a:t>数学</a:t>
                </a:r>
              </a:p>
            </p:txBody>
          </p:sp>
        </p:grpSp>
        <p:grpSp>
          <p:nvGrpSpPr>
            <p:cNvPr id="44" name="Group 9">
              <a:extLst>
                <a:ext uri="{FF2B5EF4-FFF2-40B4-BE49-F238E27FC236}">
                  <a16:creationId xmlns:a16="http://schemas.microsoft.com/office/drawing/2014/main" xmlns="" id="{D82110DF-9C1E-46FE-928D-7F3D7B8759C7}"/>
                </a:ext>
              </a:extLst>
            </p:cNvPr>
            <p:cNvGrpSpPr/>
            <p:nvPr/>
          </p:nvGrpSpPr>
          <p:grpSpPr>
            <a:xfrm>
              <a:off x="12510100" y="8076386"/>
              <a:ext cx="985487" cy="285750"/>
              <a:chOff x="0" y="0"/>
              <a:chExt cx="353176" cy="102406"/>
            </a:xfrm>
          </p:grpSpPr>
          <p:sp>
            <p:nvSpPr>
              <p:cNvPr id="45" name="Freeform 10">
                <a:extLst>
                  <a:ext uri="{FF2B5EF4-FFF2-40B4-BE49-F238E27FC236}">
                    <a16:creationId xmlns:a16="http://schemas.microsoft.com/office/drawing/2014/main" xmlns="" id="{DD55C38D-7F3E-46AD-9AE9-3012CF8A37EE}"/>
                  </a:ext>
                </a:extLst>
              </p:cNvPr>
              <p:cNvSpPr/>
              <p:nvPr/>
            </p:nvSpPr>
            <p:spPr>
              <a:xfrm>
                <a:off x="0" y="0"/>
                <a:ext cx="353176" cy="102406"/>
              </a:xfrm>
              <a:custGeom>
                <a:avLst/>
                <a:gdLst/>
                <a:ahLst/>
                <a:cxnLst/>
                <a:rect l="l" t="t" r="r" b="b"/>
                <a:pathLst>
                  <a:path w="353176" h="102406">
                    <a:moveTo>
                      <a:pt x="51203" y="0"/>
                    </a:moveTo>
                    <a:lnTo>
                      <a:pt x="301973" y="0"/>
                    </a:lnTo>
                    <a:cubicBezTo>
                      <a:pt x="330252" y="0"/>
                      <a:pt x="353176" y="22924"/>
                      <a:pt x="353176" y="51203"/>
                    </a:cubicBezTo>
                    <a:lnTo>
                      <a:pt x="353176" y="51203"/>
                    </a:lnTo>
                    <a:cubicBezTo>
                      <a:pt x="353176" y="64783"/>
                      <a:pt x="347782" y="77807"/>
                      <a:pt x="338179" y="87409"/>
                    </a:cubicBezTo>
                    <a:cubicBezTo>
                      <a:pt x="328577" y="97012"/>
                      <a:pt x="315553" y="102406"/>
                      <a:pt x="301973" y="102406"/>
                    </a:cubicBezTo>
                    <a:lnTo>
                      <a:pt x="51203" y="102406"/>
                    </a:lnTo>
                    <a:cubicBezTo>
                      <a:pt x="37623" y="102406"/>
                      <a:pt x="24600" y="97012"/>
                      <a:pt x="14997" y="87409"/>
                    </a:cubicBezTo>
                    <a:cubicBezTo>
                      <a:pt x="5395" y="77807"/>
                      <a:pt x="0" y="64783"/>
                      <a:pt x="0" y="51203"/>
                    </a:cubicBezTo>
                    <a:lnTo>
                      <a:pt x="0" y="51203"/>
                    </a:lnTo>
                    <a:cubicBezTo>
                      <a:pt x="0" y="37623"/>
                      <a:pt x="5395" y="24600"/>
                      <a:pt x="14997" y="14997"/>
                    </a:cubicBezTo>
                    <a:cubicBezTo>
                      <a:pt x="24600" y="5395"/>
                      <a:pt x="37623" y="0"/>
                      <a:pt x="51203" y="0"/>
                    </a:cubicBezTo>
                    <a:close/>
                  </a:path>
                </a:pathLst>
              </a:custGeom>
              <a:solidFill>
                <a:srgbClr val="17B2B3"/>
              </a:solidFill>
            </p:spPr>
          </p:sp>
          <p:sp>
            <p:nvSpPr>
              <p:cNvPr id="46" name="TextBox 11">
                <a:extLst>
                  <a:ext uri="{FF2B5EF4-FFF2-40B4-BE49-F238E27FC236}">
                    <a16:creationId xmlns:a16="http://schemas.microsoft.com/office/drawing/2014/main" xmlns="" id="{037C4730-6B9D-42F4-A686-ABB633ECB017}"/>
                  </a:ext>
                </a:extLst>
              </p:cNvPr>
              <p:cNvSpPr txBox="1"/>
              <p:nvPr/>
            </p:nvSpPr>
            <p:spPr>
              <a:xfrm>
                <a:off x="0" y="-9525"/>
                <a:ext cx="353176" cy="111931"/>
              </a:xfrm>
              <a:prstGeom prst="rect">
                <a:avLst/>
              </a:prstGeom>
            </p:spPr>
            <p:txBody>
              <a:bodyPr lIns="50800" tIns="50800" rIns="50800" bIns="50800" rtlCol="0" anchor="ctr"/>
              <a:lstStyle/>
              <a:p>
                <a:pPr algn="ctr">
                  <a:lnSpc>
                    <a:spcPts val="1399"/>
                  </a:lnSpc>
                </a:pPr>
                <a:r>
                  <a:rPr lang="en-US" sz="1400" b="1">
                    <a:solidFill>
                      <a:srgbClr val="051D40"/>
                    </a:solidFill>
                    <a:latin typeface="DM Sans Bold" pitchFamily="2" charset="0"/>
                    <a:ea typeface="Lora Bold"/>
                    <a:cs typeface="Lora Bold"/>
                    <a:sym typeface="Lora Bold"/>
                  </a:rPr>
                  <a:t>物理学</a:t>
                </a:r>
              </a:p>
            </p:txBody>
          </p:sp>
        </p:grpSp>
        <p:grpSp>
          <p:nvGrpSpPr>
            <p:cNvPr id="47" name="Group 12">
              <a:extLst>
                <a:ext uri="{FF2B5EF4-FFF2-40B4-BE49-F238E27FC236}">
                  <a16:creationId xmlns:a16="http://schemas.microsoft.com/office/drawing/2014/main" xmlns="" id="{97A26BD6-CBB6-403F-A08B-1443C6DB56EA}"/>
                </a:ext>
              </a:extLst>
            </p:cNvPr>
            <p:cNvGrpSpPr/>
            <p:nvPr/>
          </p:nvGrpSpPr>
          <p:grpSpPr>
            <a:xfrm>
              <a:off x="13530509" y="8091341"/>
              <a:ext cx="985487" cy="285750"/>
              <a:chOff x="0" y="0"/>
              <a:chExt cx="353176" cy="102406"/>
            </a:xfrm>
          </p:grpSpPr>
          <p:sp>
            <p:nvSpPr>
              <p:cNvPr id="48" name="Freeform 13">
                <a:extLst>
                  <a:ext uri="{FF2B5EF4-FFF2-40B4-BE49-F238E27FC236}">
                    <a16:creationId xmlns:a16="http://schemas.microsoft.com/office/drawing/2014/main" xmlns="" id="{3EF32CEE-FE94-4435-BC6E-3A3A18629962}"/>
                  </a:ext>
                </a:extLst>
              </p:cNvPr>
              <p:cNvSpPr/>
              <p:nvPr/>
            </p:nvSpPr>
            <p:spPr>
              <a:xfrm>
                <a:off x="0" y="0"/>
                <a:ext cx="353176" cy="102406"/>
              </a:xfrm>
              <a:custGeom>
                <a:avLst/>
                <a:gdLst/>
                <a:ahLst/>
                <a:cxnLst/>
                <a:rect l="l" t="t" r="r" b="b"/>
                <a:pathLst>
                  <a:path w="353176" h="102406">
                    <a:moveTo>
                      <a:pt x="51203" y="0"/>
                    </a:moveTo>
                    <a:lnTo>
                      <a:pt x="301973" y="0"/>
                    </a:lnTo>
                    <a:cubicBezTo>
                      <a:pt x="330252" y="0"/>
                      <a:pt x="353176" y="22924"/>
                      <a:pt x="353176" y="51203"/>
                    </a:cubicBezTo>
                    <a:lnTo>
                      <a:pt x="353176" y="51203"/>
                    </a:lnTo>
                    <a:cubicBezTo>
                      <a:pt x="353176" y="64783"/>
                      <a:pt x="347782" y="77807"/>
                      <a:pt x="338179" y="87409"/>
                    </a:cubicBezTo>
                    <a:cubicBezTo>
                      <a:pt x="328577" y="97012"/>
                      <a:pt x="315553" y="102406"/>
                      <a:pt x="301973" y="102406"/>
                    </a:cubicBezTo>
                    <a:lnTo>
                      <a:pt x="51203" y="102406"/>
                    </a:lnTo>
                    <a:cubicBezTo>
                      <a:pt x="37623" y="102406"/>
                      <a:pt x="24600" y="97012"/>
                      <a:pt x="14997" y="87409"/>
                    </a:cubicBezTo>
                    <a:cubicBezTo>
                      <a:pt x="5395" y="77807"/>
                      <a:pt x="0" y="64783"/>
                      <a:pt x="0" y="51203"/>
                    </a:cubicBezTo>
                    <a:lnTo>
                      <a:pt x="0" y="51203"/>
                    </a:lnTo>
                    <a:cubicBezTo>
                      <a:pt x="0" y="37623"/>
                      <a:pt x="5395" y="24600"/>
                      <a:pt x="14997" y="14997"/>
                    </a:cubicBezTo>
                    <a:cubicBezTo>
                      <a:pt x="24600" y="5395"/>
                      <a:pt x="37623" y="0"/>
                      <a:pt x="51203" y="0"/>
                    </a:cubicBezTo>
                    <a:close/>
                  </a:path>
                </a:pathLst>
              </a:custGeom>
              <a:solidFill>
                <a:srgbClr val="17B2B3"/>
              </a:solidFill>
            </p:spPr>
          </p:sp>
          <p:sp>
            <p:nvSpPr>
              <p:cNvPr id="49" name="TextBox 14">
                <a:extLst>
                  <a:ext uri="{FF2B5EF4-FFF2-40B4-BE49-F238E27FC236}">
                    <a16:creationId xmlns:a16="http://schemas.microsoft.com/office/drawing/2014/main" xmlns="" id="{67697B69-D5D7-4E3B-B171-B36C4AD1DA92}"/>
                  </a:ext>
                </a:extLst>
              </p:cNvPr>
              <p:cNvSpPr txBox="1"/>
              <p:nvPr/>
            </p:nvSpPr>
            <p:spPr>
              <a:xfrm>
                <a:off x="0" y="-9525"/>
                <a:ext cx="353176" cy="111931"/>
              </a:xfrm>
              <a:prstGeom prst="rect">
                <a:avLst/>
              </a:prstGeom>
            </p:spPr>
            <p:txBody>
              <a:bodyPr lIns="50800" tIns="50800" rIns="50800" bIns="50800" rtlCol="0" anchor="ctr"/>
              <a:lstStyle/>
              <a:p>
                <a:pPr algn="ctr">
                  <a:lnSpc>
                    <a:spcPts val="1399"/>
                  </a:lnSpc>
                </a:pPr>
                <a:r>
                  <a:rPr lang="en-US" sz="1400" b="1" dirty="0" err="1">
                    <a:solidFill>
                      <a:srgbClr val="051D40"/>
                    </a:solidFill>
                    <a:latin typeface="DM Sans Bold" pitchFamily="2" charset="0"/>
                    <a:ea typeface="Lora Bold"/>
                    <a:cs typeface="Lora Bold"/>
                    <a:sym typeface="Lora Bold"/>
                  </a:rPr>
                  <a:t>信息学</a:t>
                </a:r>
                <a:endParaRPr lang="en-US" sz="1400" b="1" dirty="0">
                  <a:solidFill>
                    <a:srgbClr val="051D40"/>
                  </a:solidFill>
                  <a:latin typeface="DM Sans Bold" pitchFamily="2" charset="0"/>
                  <a:ea typeface="Lora Bold"/>
                  <a:cs typeface="Lora Bold"/>
                  <a:sym typeface="Lora Bold"/>
                </a:endParaRPr>
              </a:p>
            </p:txBody>
          </p:sp>
        </p:grpSp>
        <p:grpSp>
          <p:nvGrpSpPr>
            <p:cNvPr id="50" name="Group 15">
              <a:extLst>
                <a:ext uri="{FF2B5EF4-FFF2-40B4-BE49-F238E27FC236}">
                  <a16:creationId xmlns:a16="http://schemas.microsoft.com/office/drawing/2014/main" xmlns="" id="{D6292FFA-97A2-4FFB-8634-EA5712613939}"/>
                </a:ext>
              </a:extLst>
            </p:cNvPr>
            <p:cNvGrpSpPr/>
            <p:nvPr/>
          </p:nvGrpSpPr>
          <p:grpSpPr>
            <a:xfrm>
              <a:off x="14573147" y="8076386"/>
              <a:ext cx="985487" cy="285750"/>
              <a:chOff x="0" y="0"/>
              <a:chExt cx="353176" cy="102406"/>
            </a:xfrm>
          </p:grpSpPr>
          <p:sp>
            <p:nvSpPr>
              <p:cNvPr id="51" name="Freeform 16">
                <a:extLst>
                  <a:ext uri="{FF2B5EF4-FFF2-40B4-BE49-F238E27FC236}">
                    <a16:creationId xmlns:a16="http://schemas.microsoft.com/office/drawing/2014/main" xmlns="" id="{184BA80A-B844-48DF-A8CB-368EB5A5D8E9}"/>
                  </a:ext>
                </a:extLst>
              </p:cNvPr>
              <p:cNvSpPr/>
              <p:nvPr/>
            </p:nvSpPr>
            <p:spPr>
              <a:xfrm>
                <a:off x="0" y="0"/>
                <a:ext cx="353176" cy="102406"/>
              </a:xfrm>
              <a:custGeom>
                <a:avLst/>
                <a:gdLst/>
                <a:ahLst/>
                <a:cxnLst/>
                <a:rect l="l" t="t" r="r" b="b"/>
                <a:pathLst>
                  <a:path w="353176" h="102406">
                    <a:moveTo>
                      <a:pt x="51203" y="0"/>
                    </a:moveTo>
                    <a:lnTo>
                      <a:pt x="301973" y="0"/>
                    </a:lnTo>
                    <a:cubicBezTo>
                      <a:pt x="330252" y="0"/>
                      <a:pt x="353176" y="22924"/>
                      <a:pt x="353176" y="51203"/>
                    </a:cubicBezTo>
                    <a:lnTo>
                      <a:pt x="353176" y="51203"/>
                    </a:lnTo>
                    <a:cubicBezTo>
                      <a:pt x="353176" y="64783"/>
                      <a:pt x="347782" y="77807"/>
                      <a:pt x="338179" y="87409"/>
                    </a:cubicBezTo>
                    <a:cubicBezTo>
                      <a:pt x="328577" y="97012"/>
                      <a:pt x="315553" y="102406"/>
                      <a:pt x="301973" y="102406"/>
                    </a:cubicBezTo>
                    <a:lnTo>
                      <a:pt x="51203" y="102406"/>
                    </a:lnTo>
                    <a:cubicBezTo>
                      <a:pt x="37623" y="102406"/>
                      <a:pt x="24600" y="97012"/>
                      <a:pt x="14997" y="87409"/>
                    </a:cubicBezTo>
                    <a:cubicBezTo>
                      <a:pt x="5395" y="77807"/>
                      <a:pt x="0" y="64783"/>
                      <a:pt x="0" y="51203"/>
                    </a:cubicBezTo>
                    <a:lnTo>
                      <a:pt x="0" y="51203"/>
                    </a:lnTo>
                    <a:cubicBezTo>
                      <a:pt x="0" y="37623"/>
                      <a:pt x="5395" y="24600"/>
                      <a:pt x="14997" y="14997"/>
                    </a:cubicBezTo>
                    <a:cubicBezTo>
                      <a:pt x="24600" y="5395"/>
                      <a:pt x="37623" y="0"/>
                      <a:pt x="51203" y="0"/>
                    </a:cubicBezTo>
                    <a:close/>
                  </a:path>
                </a:pathLst>
              </a:custGeom>
              <a:solidFill>
                <a:srgbClr val="17B2B3"/>
              </a:solidFill>
            </p:spPr>
          </p:sp>
          <p:sp>
            <p:nvSpPr>
              <p:cNvPr id="52" name="TextBox 17">
                <a:extLst>
                  <a:ext uri="{FF2B5EF4-FFF2-40B4-BE49-F238E27FC236}">
                    <a16:creationId xmlns:a16="http://schemas.microsoft.com/office/drawing/2014/main" xmlns="" id="{D457401E-DCE6-4505-9DB2-44FA084BF453}"/>
                  </a:ext>
                </a:extLst>
              </p:cNvPr>
              <p:cNvSpPr txBox="1"/>
              <p:nvPr/>
            </p:nvSpPr>
            <p:spPr>
              <a:xfrm>
                <a:off x="0" y="-9525"/>
                <a:ext cx="353176" cy="111931"/>
              </a:xfrm>
              <a:prstGeom prst="rect">
                <a:avLst/>
              </a:prstGeom>
            </p:spPr>
            <p:txBody>
              <a:bodyPr lIns="50800" tIns="50800" rIns="50800" bIns="50800" rtlCol="0" anchor="ctr"/>
              <a:lstStyle/>
              <a:p>
                <a:pPr algn="ctr">
                  <a:lnSpc>
                    <a:spcPts val="1399"/>
                  </a:lnSpc>
                </a:pPr>
                <a:r>
                  <a:rPr lang="en-US" sz="1400" b="1">
                    <a:solidFill>
                      <a:srgbClr val="051D40"/>
                    </a:solidFill>
                    <a:latin typeface="DM Sans Bold" pitchFamily="2" charset="0"/>
                    <a:ea typeface="Lora Bold"/>
                    <a:cs typeface="Lora Bold"/>
                    <a:sym typeface="Lora Bold"/>
                  </a:rPr>
                  <a:t>英语</a:t>
                </a:r>
              </a:p>
            </p:txBody>
          </p:sp>
        </p:grpSp>
        <p:grpSp>
          <p:nvGrpSpPr>
            <p:cNvPr id="53" name="Group 18">
              <a:extLst>
                <a:ext uri="{FF2B5EF4-FFF2-40B4-BE49-F238E27FC236}">
                  <a16:creationId xmlns:a16="http://schemas.microsoft.com/office/drawing/2014/main" xmlns="" id="{87D61884-1357-4D87-8E9C-543545471CED}"/>
                </a:ext>
              </a:extLst>
            </p:cNvPr>
            <p:cNvGrpSpPr/>
            <p:nvPr/>
          </p:nvGrpSpPr>
          <p:grpSpPr>
            <a:xfrm>
              <a:off x="15620194" y="8076386"/>
              <a:ext cx="985487" cy="285750"/>
              <a:chOff x="0" y="0"/>
              <a:chExt cx="353176" cy="102406"/>
            </a:xfrm>
          </p:grpSpPr>
          <p:sp>
            <p:nvSpPr>
              <p:cNvPr id="54" name="Freeform 19">
                <a:extLst>
                  <a:ext uri="{FF2B5EF4-FFF2-40B4-BE49-F238E27FC236}">
                    <a16:creationId xmlns:a16="http://schemas.microsoft.com/office/drawing/2014/main" xmlns="" id="{A7931150-00EF-4F96-AE95-F66BBA08CF40}"/>
                  </a:ext>
                </a:extLst>
              </p:cNvPr>
              <p:cNvSpPr/>
              <p:nvPr/>
            </p:nvSpPr>
            <p:spPr>
              <a:xfrm>
                <a:off x="0" y="0"/>
                <a:ext cx="353176" cy="102406"/>
              </a:xfrm>
              <a:custGeom>
                <a:avLst/>
                <a:gdLst/>
                <a:ahLst/>
                <a:cxnLst/>
                <a:rect l="l" t="t" r="r" b="b"/>
                <a:pathLst>
                  <a:path w="353176" h="102406">
                    <a:moveTo>
                      <a:pt x="51203" y="0"/>
                    </a:moveTo>
                    <a:lnTo>
                      <a:pt x="301973" y="0"/>
                    </a:lnTo>
                    <a:cubicBezTo>
                      <a:pt x="330252" y="0"/>
                      <a:pt x="353176" y="22924"/>
                      <a:pt x="353176" y="51203"/>
                    </a:cubicBezTo>
                    <a:lnTo>
                      <a:pt x="353176" y="51203"/>
                    </a:lnTo>
                    <a:cubicBezTo>
                      <a:pt x="353176" y="64783"/>
                      <a:pt x="347782" y="77807"/>
                      <a:pt x="338179" y="87409"/>
                    </a:cubicBezTo>
                    <a:cubicBezTo>
                      <a:pt x="328577" y="97012"/>
                      <a:pt x="315553" y="102406"/>
                      <a:pt x="301973" y="102406"/>
                    </a:cubicBezTo>
                    <a:lnTo>
                      <a:pt x="51203" y="102406"/>
                    </a:lnTo>
                    <a:cubicBezTo>
                      <a:pt x="37623" y="102406"/>
                      <a:pt x="24600" y="97012"/>
                      <a:pt x="14997" y="87409"/>
                    </a:cubicBezTo>
                    <a:cubicBezTo>
                      <a:pt x="5395" y="77807"/>
                      <a:pt x="0" y="64783"/>
                      <a:pt x="0" y="51203"/>
                    </a:cubicBezTo>
                    <a:lnTo>
                      <a:pt x="0" y="51203"/>
                    </a:lnTo>
                    <a:cubicBezTo>
                      <a:pt x="0" y="37623"/>
                      <a:pt x="5395" y="24600"/>
                      <a:pt x="14997" y="14997"/>
                    </a:cubicBezTo>
                    <a:cubicBezTo>
                      <a:pt x="24600" y="5395"/>
                      <a:pt x="37623" y="0"/>
                      <a:pt x="51203" y="0"/>
                    </a:cubicBezTo>
                    <a:close/>
                  </a:path>
                </a:pathLst>
              </a:custGeom>
              <a:solidFill>
                <a:srgbClr val="17B2B3"/>
              </a:solidFill>
            </p:spPr>
          </p:sp>
          <p:sp>
            <p:nvSpPr>
              <p:cNvPr id="55" name="TextBox 20">
                <a:extLst>
                  <a:ext uri="{FF2B5EF4-FFF2-40B4-BE49-F238E27FC236}">
                    <a16:creationId xmlns:a16="http://schemas.microsoft.com/office/drawing/2014/main" xmlns="" id="{922C6671-434D-44A8-A09F-5EF8C20654D2}"/>
                  </a:ext>
                </a:extLst>
              </p:cNvPr>
              <p:cNvSpPr txBox="1"/>
              <p:nvPr/>
            </p:nvSpPr>
            <p:spPr>
              <a:xfrm>
                <a:off x="0" y="-9525"/>
                <a:ext cx="353176" cy="111931"/>
              </a:xfrm>
              <a:prstGeom prst="rect">
                <a:avLst/>
              </a:prstGeom>
            </p:spPr>
            <p:txBody>
              <a:bodyPr lIns="50800" tIns="50800" rIns="50800" bIns="50800" rtlCol="0" anchor="ctr"/>
              <a:lstStyle/>
              <a:p>
                <a:pPr algn="ctr">
                  <a:lnSpc>
                    <a:spcPts val="1399"/>
                  </a:lnSpc>
                </a:pPr>
                <a:r>
                  <a:rPr lang="en-US" sz="1400" b="1" dirty="0">
                    <a:solidFill>
                      <a:srgbClr val="051D40"/>
                    </a:solidFill>
                    <a:latin typeface="DM Sans Bold" pitchFamily="2" charset="0"/>
                    <a:ea typeface="Lora Bold"/>
                    <a:cs typeface="Lora Bold"/>
                    <a:sym typeface="Lora Bold"/>
                  </a:rPr>
                  <a:t>俄语</a:t>
                </a:r>
              </a:p>
            </p:txBody>
          </p:sp>
        </p:grpSp>
        <p:sp>
          <p:nvSpPr>
            <p:cNvPr id="61" name="TextBox 26">
              <a:extLst>
                <a:ext uri="{FF2B5EF4-FFF2-40B4-BE49-F238E27FC236}">
                  <a16:creationId xmlns:a16="http://schemas.microsoft.com/office/drawing/2014/main" xmlns="" id="{91EC28DA-2A32-43A4-919B-6811F45EAA79}"/>
                </a:ext>
              </a:extLst>
            </p:cNvPr>
            <p:cNvSpPr txBox="1"/>
            <p:nvPr/>
          </p:nvSpPr>
          <p:spPr>
            <a:xfrm>
              <a:off x="11628408" y="7396105"/>
              <a:ext cx="3860343" cy="224420"/>
            </a:xfrm>
            <a:prstGeom prst="rect">
              <a:avLst/>
            </a:prstGeom>
          </p:spPr>
          <p:txBody>
            <a:bodyPr wrap="square" lIns="0" tIns="0" rIns="0" bIns="0" rtlCol="0" anchor="t">
              <a:spAutoFit/>
            </a:bodyPr>
            <a:lstStyle/>
            <a:p>
              <a:pPr algn="ctr">
                <a:lnSpc>
                  <a:spcPts val="1822"/>
                </a:lnSpc>
              </a:pPr>
              <a:r>
                <a:rPr lang="en-US" sz="1400" b="1" dirty="0">
                  <a:solidFill>
                    <a:schemeClr val="bg1"/>
                  </a:solidFill>
                  <a:latin typeface="DM Sans Bold" pitchFamily="2" charset="0"/>
                  <a:ea typeface="Lora Bold"/>
                  <a:cs typeface="Lora Bold"/>
                  <a:sym typeface="Lora Bold"/>
                </a:rPr>
                <a:t>选拔才能。与学校合作</a:t>
              </a:r>
            </a:p>
          </p:txBody>
        </p:sp>
        <p:sp>
          <p:nvSpPr>
            <p:cNvPr id="62" name="TextBox 27">
              <a:extLst>
                <a:ext uri="{FF2B5EF4-FFF2-40B4-BE49-F238E27FC236}">
                  <a16:creationId xmlns:a16="http://schemas.microsoft.com/office/drawing/2014/main" xmlns="" id="{30E574A0-3BB2-494E-B7F5-AF2BB35537E4}"/>
                </a:ext>
              </a:extLst>
            </p:cNvPr>
            <p:cNvSpPr txBox="1"/>
            <p:nvPr/>
          </p:nvSpPr>
          <p:spPr>
            <a:xfrm>
              <a:off x="12837109" y="7669144"/>
              <a:ext cx="1483384" cy="224420"/>
            </a:xfrm>
            <a:prstGeom prst="rect">
              <a:avLst/>
            </a:prstGeom>
          </p:spPr>
          <p:txBody>
            <a:bodyPr wrap="square" lIns="0" tIns="0" rIns="0" bIns="0" rtlCol="0" anchor="t">
              <a:spAutoFit/>
            </a:bodyPr>
            <a:lstStyle/>
            <a:p>
              <a:pPr algn="ctr">
                <a:lnSpc>
                  <a:spcPts val="1822"/>
                </a:lnSpc>
              </a:pPr>
              <a:r>
                <a:rPr lang="en-US" sz="1400" b="1" dirty="0">
                  <a:solidFill>
                    <a:schemeClr val="bg1"/>
                  </a:solidFill>
                  <a:latin typeface="DM Sans Bold" pitchFamily="2" charset="0"/>
                  <a:ea typeface="Lora Bold"/>
                  <a:cs typeface="Lora Bold"/>
                  <a:sym typeface="Lora Bold"/>
                </a:rPr>
                <a:t>TISU奥林匹克竞赛</a:t>
              </a:r>
            </a:p>
          </p:txBody>
        </p:sp>
        <p:sp>
          <p:nvSpPr>
            <p:cNvPr id="63" name="TextBox 28">
              <a:extLst>
                <a:ext uri="{FF2B5EF4-FFF2-40B4-BE49-F238E27FC236}">
                  <a16:creationId xmlns:a16="http://schemas.microsoft.com/office/drawing/2014/main" xmlns="" id="{7C4CF256-13F7-4E2D-83EE-B6636CD8B292}"/>
                </a:ext>
              </a:extLst>
            </p:cNvPr>
            <p:cNvSpPr txBox="1"/>
            <p:nvPr/>
          </p:nvSpPr>
          <p:spPr>
            <a:xfrm>
              <a:off x="12267467" y="8468262"/>
              <a:ext cx="2723862" cy="455253"/>
            </a:xfrm>
            <a:prstGeom prst="rect">
              <a:avLst/>
            </a:prstGeom>
          </p:spPr>
          <p:txBody>
            <a:bodyPr wrap="square" lIns="0" tIns="0" rIns="0" bIns="0" rtlCol="0" anchor="t">
              <a:spAutoFit/>
            </a:bodyPr>
            <a:lstStyle/>
            <a:p>
              <a:pPr algn="ctr">
                <a:lnSpc>
                  <a:spcPts val="1822"/>
                </a:lnSpc>
              </a:pPr>
              <a:r>
                <a:rPr lang="en-US" sz="1400" b="1" dirty="0">
                  <a:solidFill>
                    <a:schemeClr val="bg1"/>
                  </a:solidFill>
                  <a:latin typeface="DM Sans Bold" pitchFamily="2" charset="0"/>
                  <a:ea typeface="Lora Bold"/>
                  <a:cs typeface="Lora Bold"/>
                  <a:sym typeface="Lora Bold"/>
                </a:rPr>
                <a:t>从2023-2024学年起</a:t>
              </a:r>
            </a:p>
          </p:txBody>
        </p:sp>
        <p:sp>
          <p:nvSpPr>
            <p:cNvPr id="64" name="TextBox 29">
              <a:extLst>
                <a:ext uri="{FF2B5EF4-FFF2-40B4-BE49-F238E27FC236}">
                  <a16:creationId xmlns:a16="http://schemas.microsoft.com/office/drawing/2014/main" xmlns="" id="{1FA4D5E5-70C4-4BA9-8985-0D1C644A2206}"/>
                </a:ext>
              </a:extLst>
            </p:cNvPr>
            <p:cNvSpPr txBox="1"/>
            <p:nvPr/>
          </p:nvSpPr>
          <p:spPr>
            <a:xfrm>
              <a:off x="13245157" y="8738539"/>
              <a:ext cx="3360524" cy="646331"/>
            </a:xfrm>
            <a:prstGeom prst="rect">
              <a:avLst/>
            </a:prstGeom>
          </p:spPr>
          <p:txBody>
            <a:bodyPr wrap="square" lIns="0" tIns="0" rIns="0" bIns="0" rtlCol="0" anchor="t">
              <a:spAutoFit/>
            </a:bodyPr>
            <a:lstStyle/>
            <a:p>
              <a:pPr algn="ctr"/>
              <a:r>
                <a:rPr lang="en-US" sz="1400" b="1" dirty="0" err="1">
                  <a:solidFill>
                    <a:schemeClr val="bg1"/>
                  </a:solidFill>
                  <a:latin typeface="DM Sans Bold" pitchFamily="2" charset="0"/>
                  <a:ea typeface="Lora Bold"/>
                  <a:cs typeface="Lora Bold"/>
                  <a:sym typeface="Lora Bold"/>
                </a:rPr>
                <a:t>教学方法和教育辅助。</a:t>
              </a:r>
            </a:p>
            <a:p>
              <a:pPr algn="ctr"/>
              <a:r>
                <a:rPr lang="en-US" sz="1400" b="1" dirty="0" err="1">
                  <a:solidFill>
                    <a:schemeClr val="bg1"/>
                  </a:solidFill>
                  <a:latin typeface="DM Sans Bold" pitchFamily="2" charset="0"/>
                  <a:ea typeface="Lora Bold"/>
                  <a:cs typeface="Lora Bold"/>
                  <a:sym typeface="Lora Bold"/>
                </a:rPr>
                <a:t>为州内学校教师</a:t>
              </a:r>
            </a:p>
            <a:p>
              <a:pPr algn="ctr"/>
              <a:r>
                <a:rPr lang="en-US" sz="1400" b="1" dirty="0" err="1">
                  <a:solidFill>
                    <a:schemeClr val="bg1"/>
                  </a:solidFill>
                  <a:latin typeface="DM Sans Bold" pitchFamily="2" charset="0"/>
                  <a:ea typeface="Lora Bold"/>
                  <a:cs typeface="Lora Bold"/>
                  <a:sym typeface="Lora Bold"/>
                </a:rPr>
                <a:t>开展教学研讨会</a:t>
              </a:r>
              <a:endParaRPr lang="en-US" sz="1400" b="1" dirty="0">
                <a:solidFill>
                  <a:schemeClr val="bg1"/>
                </a:solidFill>
                <a:latin typeface="DM Sans Bold" pitchFamily="2" charset="0"/>
                <a:ea typeface="Lora Bold"/>
                <a:cs typeface="Lora Bold"/>
                <a:sym typeface="Lora Bold"/>
              </a:endParaRPr>
            </a:p>
          </p:txBody>
        </p:sp>
        <p:sp>
          <p:nvSpPr>
            <p:cNvPr id="65" name="TextBox 30">
              <a:extLst>
                <a:ext uri="{FF2B5EF4-FFF2-40B4-BE49-F238E27FC236}">
                  <a16:creationId xmlns:a16="http://schemas.microsoft.com/office/drawing/2014/main" xmlns="" id="{44C3753C-7756-481A-B446-FB9BA376AD64}"/>
                </a:ext>
              </a:extLst>
            </p:cNvPr>
            <p:cNvSpPr txBox="1"/>
            <p:nvPr/>
          </p:nvSpPr>
          <p:spPr>
            <a:xfrm>
              <a:off x="10361753" y="8778792"/>
              <a:ext cx="3497456" cy="430887"/>
            </a:xfrm>
            <a:prstGeom prst="rect">
              <a:avLst/>
            </a:prstGeom>
          </p:spPr>
          <p:txBody>
            <a:bodyPr wrap="square" lIns="0" tIns="0" rIns="0" bIns="0" rtlCol="0" anchor="t">
              <a:spAutoFit/>
            </a:bodyPr>
            <a:lstStyle/>
            <a:p>
              <a:pPr algn="ctr"/>
              <a:r>
                <a:rPr lang="en-US" sz="1400" b="1" dirty="0" err="1">
                  <a:solidFill>
                    <a:schemeClr val="bg1"/>
                  </a:solidFill>
                  <a:latin typeface="DM Sans Bold" pitchFamily="2" charset="0"/>
                  <a:ea typeface="Lora Bold"/>
                  <a:cs typeface="Lora Bold"/>
                  <a:sym typeface="Lora Bold"/>
                </a:rPr>
                <a:t>将苏尔汉河州所有</a:t>
              </a:r>
              <a:endParaRPr lang="en-US" sz="1400" b="1" dirty="0">
                <a:solidFill>
                  <a:schemeClr val="bg1"/>
                </a:solidFill>
                <a:latin typeface="DM Sans Bold" pitchFamily="2" charset="0"/>
                <a:ea typeface="Lora Bold"/>
                <a:cs typeface="Lora Bold"/>
                <a:sym typeface="Lora Bold"/>
              </a:endParaRPr>
            </a:p>
            <a:p>
              <a:pPr algn="ctr"/>
              <a:r>
                <a:rPr lang="en-US" sz="1400" b="1" dirty="0">
                  <a:solidFill>
                    <a:schemeClr val="bg1"/>
                  </a:solidFill>
                  <a:latin typeface="DM Sans Bold" pitchFamily="2" charset="0"/>
                  <a:ea typeface="Lora Bold"/>
                  <a:cs typeface="Lora Bold"/>
                  <a:sym typeface="Lora Bold"/>
                </a:rPr>
                <a:t>学校纳入奥林匹克竞赛</a:t>
              </a:r>
            </a:p>
          </p:txBody>
        </p:sp>
        <p:grpSp>
          <p:nvGrpSpPr>
            <p:cNvPr id="82" name="Group 47">
              <a:extLst>
                <a:ext uri="{FF2B5EF4-FFF2-40B4-BE49-F238E27FC236}">
                  <a16:creationId xmlns:a16="http://schemas.microsoft.com/office/drawing/2014/main" xmlns="" id="{90F8A45E-5F8C-4270-81DF-57C29B10D1AC}"/>
                </a:ext>
              </a:extLst>
            </p:cNvPr>
            <p:cNvGrpSpPr/>
            <p:nvPr/>
          </p:nvGrpSpPr>
          <p:grpSpPr>
            <a:xfrm>
              <a:off x="10464831" y="7716002"/>
              <a:ext cx="1280751" cy="312329"/>
              <a:chOff x="0" y="-17718"/>
              <a:chExt cx="458992" cy="111932"/>
            </a:xfrm>
          </p:grpSpPr>
          <p:sp>
            <p:nvSpPr>
              <p:cNvPr id="83" name="Freeform 48">
                <a:extLst>
                  <a:ext uri="{FF2B5EF4-FFF2-40B4-BE49-F238E27FC236}">
                    <a16:creationId xmlns:a16="http://schemas.microsoft.com/office/drawing/2014/main" xmlns="" id="{8681C37D-E636-42C8-87E4-31CFF5D814F1}"/>
                  </a:ext>
                </a:extLst>
              </p:cNvPr>
              <p:cNvSpPr/>
              <p:nvPr/>
            </p:nvSpPr>
            <p:spPr>
              <a:xfrm>
                <a:off x="0" y="-17718"/>
                <a:ext cx="458992" cy="111932"/>
              </a:xfrm>
              <a:custGeom>
                <a:avLst/>
                <a:gdLst/>
                <a:ahLst/>
                <a:cxnLst/>
                <a:rect l="l" t="t" r="r" b="b"/>
                <a:pathLst>
                  <a:path w="458992" h="94214">
                    <a:moveTo>
                      <a:pt x="47107" y="0"/>
                    </a:moveTo>
                    <a:lnTo>
                      <a:pt x="411885" y="0"/>
                    </a:lnTo>
                    <a:cubicBezTo>
                      <a:pt x="424379" y="0"/>
                      <a:pt x="436361" y="4963"/>
                      <a:pt x="445195" y="13797"/>
                    </a:cubicBezTo>
                    <a:cubicBezTo>
                      <a:pt x="454029" y="22632"/>
                      <a:pt x="458992" y="34613"/>
                      <a:pt x="458992" y="47107"/>
                    </a:cubicBezTo>
                    <a:lnTo>
                      <a:pt x="458992" y="47107"/>
                    </a:lnTo>
                    <a:cubicBezTo>
                      <a:pt x="458992" y="59600"/>
                      <a:pt x="454029" y="71582"/>
                      <a:pt x="445195" y="80417"/>
                    </a:cubicBezTo>
                    <a:cubicBezTo>
                      <a:pt x="436361" y="89251"/>
                      <a:pt x="424379" y="94214"/>
                      <a:pt x="411885" y="94214"/>
                    </a:cubicBezTo>
                    <a:lnTo>
                      <a:pt x="47107" y="94214"/>
                    </a:lnTo>
                    <a:cubicBezTo>
                      <a:pt x="34613" y="94214"/>
                      <a:pt x="22632" y="89251"/>
                      <a:pt x="13797" y="80417"/>
                    </a:cubicBezTo>
                    <a:cubicBezTo>
                      <a:pt x="4963" y="71582"/>
                      <a:pt x="0" y="59600"/>
                      <a:pt x="0" y="47107"/>
                    </a:cubicBezTo>
                    <a:lnTo>
                      <a:pt x="0" y="47107"/>
                    </a:lnTo>
                    <a:cubicBezTo>
                      <a:pt x="0" y="34613"/>
                      <a:pt x="4963" y="22632"/>
                      <a:pt x="13797" y="13797"/>
                    </a:cubicBezTo>
                    <a:cubicBezTo>
                      <a:pt x="22632" y="4963"/>
                      <a:pt x="34613" y="0"/>
                      <a:pt x="47107" y="0"/>
                    </a:cubicBezTo>
                    <a:close/>
                  </a:path>
                </a:pathLst>
              </a:custGeom>
              <a:solidFill>
                <a:srgbClr val="17B2B3"/>
              </a:solidFill>
            </p:spPr>
          </p:sp>
          <p:sp>
            <p:nvSpPr>
              <p:cNvPr id="84" name="TextBox 49">
                <a:extLst>
                  <a:ext uri="{FF2B5EF4-FFF2-40B4-BE49-F238E27FC236}">
                    <a16:creationId xmlns:a16="http://schemas.microsoft.com/office/drawing/2014/main" xmlns="" id="{2B49B45D-7ED3-4A24-9531-DABBF5884C3F}"/>
                  </a:ext>
                </a:extLst>
              </p:cNvPr>
              <p:cNvSpPr txBox="1"/>
              <p:nvPr/>
            </p:nvSpPr>
            <p:spPr>
              <a:xfrm>
                <a:off x="0" y="-9525"/>
                <a:ext cx="458992" cy="103739"/>
              </a:xfrm>
              <a:prstGeom prst="rect">
                <a:avLst/>
              </a:prstGeom>
            </p:spPr>
            <p:txBody>
              <a:bodyPr lIns="50800" tIns="50800" rIns="50800" bIns="50800" rtlCol="0" anchor="ctr"/>
              <a:lstStyle/>
              <a:p>
                <a:pPr algn="ctr">
                  <a:lnSpc>
                    <a:spcPts val="1260"/>
                  </a:lnSpc>
                </a:pPr>
                <a:r>
                  <a:rPr lang="en-US" sz="1400" b="1" dirty="0">
                    <a:solidFill>
                      <a:srgbClr val="051D40"/>
                    </a:solidFill>
                    <a:latin typeface="DM Sans Bold" pitchFamily="2" charset="0"/>
                    <a:ea typeface="Lora Bold"/>
                    <a:cs typeface="Lora Bold"/>
                    <a:sym typeface="Lora Bold"/>
                  </a:rPr>
                  <a:t>母语与文学</a:t>
                </a:r>
              </a:p>
            </p:txBody>
          </p:sp>
        </p:grpSp>
        <p:grpSp>
          <p:nvGrpSpPr>
            <p:cNvPr id="89" name="Group 54">
              <a:extLst>
                <a:ext uri="{FF2B5EF4-FFF2-40B4-BE49-F238E27FC236}">
                  <a16:creationId xmlns:a16="http://schemas.microsoft.com/office/drawing/2014/main" xmlns="" id="{99A38A1D-A1EF-4384-925A-92CD10EAF5F6}"/>
                </a:ext>
              </a:extLst>
            </p:cNvPr>
            <p:cNvGrpSpPr/>
            <p:nvPr/>
          </p:nvGrpSpPr>
          <p:grpSpPr>
            <a:xfrm>
              <a:off x="15352006" y="7748776"/>
              <a:ext cx="1280751" cy="262890"/>
              <a:chOff x="0" y="0"/>
              <a:chExt cx="458992" cy="94214"/>
            </a:xfrm>
          </p:grpSpPr>
          <p:sp>
            <p:nvSpPr>
              <p:cNvPr id="90" name="Freeform 55">
                <a:extLst>
                  <a:ext uri="{FF2B5EF4-FFF2-40B4-BE49-F238E27FC236}">
                    <a16:creationId xmlns:a16="http://schemas.microsoft.com/office/drawing/2014/main" xmlns="" id="{0BCB369E-4E57-42D6-83D9-F85918523C92}"/>
                  </a:ext>
                </a:extLst>
              </p:cNvPr>
              <p:cNvSpPr/>
              <p:nvPr/>
            </p:nvSpPr>
            <p:spPr>
              <a:xfrm>
                <a:off x="0" y="0"/>
                <a:ext cx="458992" cy="94214"/>
              </a:xfrm>
              <a:custGeom>
                <a:avLst/>
                <a:gdLst/>
                <a:ahLst/>
                <a:cxnLst/>
                <a:rect l="l" t="t" r="r" b="b"/>
                <a:pathLst>
                  <a:path w="458992" h="94214">
                    <a:moveTo>
                      <a:pt x="47107" y="0"/>
                    </a:moveTo>
                    <a:lnTo>
                      <a:pt x="411885" y="0"/>
                    </a:lnTo>
                    <a:cubicBezTo>
                      <a:pt x="424379" y="0"/>
                      <a:pt x="436361" y="4963"/>
                      <a:pt x="445195" y="13797"/>
                    </a:cubicBezTo>
                    <a:cubicBezTo>
                      <a:pt x="454029" y="22632"/>
                      <a:pt x="458992" y="34613"/>
                      <a:pt x="458992" y="47107"/>
                    </a:cubicBezTo>
                    <a:lnTo>
                      <a:pt x="458992" y="47107"/>
                    </a:lnTo>
                    <a:cubicBezTo>
                      <a:pt x="458992" y="59600"/>
                      <a:pt x="454029" y="71582"/>
                      <a:pt x="445195" y="80417"/>
                    </a:cubicBezTo>
                    <a:cubicBezTo>
                      <a:pt x="436361" y="89251"/>
                      <a:pt x="424379" y="94214"/>
                      <a:pt x="411885" y="94214"/>
                    </a:cubicBezTo>
                    <a:lnTo>
                      <a:pt x="47107" y="94214"/>
                    </a:lnTo>
                    <a:cubicBezTo>
                      <a:pt x="34613" y="94214"/>
                      <a:pt x="22632" y="89251"/>
                      <a:pt x="13797" y="80417"/>
                    </a:cubicBezTo>
                    <a:cubicBezTo>
                      <a:pt x="4963" y="71582"/>
                      <a:pt x="0" y="59600"/>
                      <a:pt x="0" y="47107"/>
                    </a:cubicBezTo>
                    <a:lnTo>
                      <a:pt x="0" y="47107"/>
                    </a:lnTo>
                    <a:cubicBezTo>
                      <a:pt x="0" y="34613"/>
                      <a:pt x="4963" y="22632"/>
                      <a:pt x="13797" y="13797"/>
                    </a:cubicBezTo>
                    <a:cubicBezTo>
                      <a:pt x="22632" y="4963"/>
                      <a:pt x="34613" y="0"/>
                      <a:pt x="47107" y="0"/>
                    </a:cubicBezTo>
                    <a:close/>
                  </a:path>
                </a:pathLst>
              </a:custGeom>
              <a:solidFill>
                <a:srgbClr val="17B2B3"/>
              </a:solidFill>
            </p:spPr>
          </p:sp>
          <p:sp>
            <p:nvSpPr>
              <p:cNvPr id="91" name="TextBox 56">
                <a:extLst>
                  <a:ext uri="{FF2B5EF4-FFF2-40B4-BE49-F238E27FC236}">
                    <a16:creationId xmlns:a16="http://schemas.microsoft.com/office/drawing/2014/main" xmlns="" id="{0748DA4C-3DB4-4119-8484-F287AEEE1A2F}"/>
                  </a:ext>
                </a:extLst>
              </p:cNvPr>
              <p:cNvSpPr txBox="1"/>
              <p:nvPr/>
            </p:nvSpPr>
            <p:spPr>
              <a:xfrm>
                <a:off x="0" y="-9525"/>
                <a:ext cx="458992" cy="103739"/>
              </a:xfrm>
              <a:prstGeom prst="rect">
                <a:avLst/>
              </a:prstGeom>
            </p:spPr>
            <p:txBody>
              <a:bodyPr lIns="50800" tIns="50800" rIns="50800" bIns="50800" rtlCol="0" anchor="ctr"/>
              <a:lstStyle/>
              <a:p>
                <a:pPr algn="ctr">
                  <a:lnSpc>
                    <a:spcPts val="1260"/>
                  </a:lnSpc>
                </a:pPr>
                <a:r>
                  <a:rPr lang="en-US" sz="1400" b="1" dirty="0" err="1">
                    <a:solidFill>
                      <a:srgbClr val="051D40"/>
                    </a:solidFill>
                    <a:latin typeface="DM Sans Bold" pitchFamily="2" charset="0"/>
                    <a:ea typeface="Lora Bold"/>
                    <a:cs typeface="Lora Bold"/>
                    <a:sym typeface="Lora Bold"/>
                  </a:rPr>
                  <a:t>生物学</a:t>
                </a:r>
                <a:endParaRPr lang="en-US" sz="1400" b="1" dirty="0">
                  <a:solidFill>
                    <a:srgbClr val="051D40"/>
                  </a:solidFill>
                  <a:latin typeface="DM Sans Bold" pitchFamily="2" charset="0"/>
                  <a:ea typeface="Lora Bold"/>
                  <a:cs typeface="Lora Bold"/>
                  <a:sym typeface="Lora Bold"/>
                </a:endParaRPr>
              </a:p>
            </p:txBody>
          </p:sp>
        </p:grpSp>
        <p:grpSp>
          <p:nvGrpSpPr>
            <p:cNvPr id="97" name="Group 67">
              <a:extLst>
                <a:ext uri="{FF2B5EF4-FFF2-40B4-BE49-F238E27FC236}">
                  <a16:creationId xmlns:a16="http://schemas.microsoft.com/office/drawing/2014/main" xmlns="" id="{0424DEE8-CD94-4C7F-8E9A-946CE1BCC560}"/>
                </a:ext>
              </a:extLst>
            </p:cNvPr>
            <p:cNvGrpSpPr/>
            <p:nvPr/>
          </p:nvGrpSpPr>
          <p:grpSpPr>
            <a:xfrm>
              <a:off x="10462925" y="8076386"/>
              <a:ext cx="985487" cy="285750"/>
              <a:chOff x="0" y="0"/>
              <a:chExt cx="353176" cy="102406"/>
            </a:xfrm>
          </p:grpSpPr>
          <p:sp>
            <p:nvSpPr>
              <p:cNvPr id="98" name="Freeform 68">
                <a:extLst>
                  <a:ext uri="{FF2B5EF4-FFF2-40B4-BE49-F238E27FC236}">
                    <a16:creationId xmlns:a16="http://schemas.microsoft.com/office/drawing/2014/main" xmlns="" id="{3F1D4858-6F63-46F3-A181-ED2683E2D14F}"/>
                  </a:ext>
                </a:extLst>
              </p:cNvPr>
              <p:cNvSpPr/>
              <p:nvPr/>
            </p:nvSpPr>
            <p:spPr>
              <a:xfrm>
                <a:off x="0" y="0"/>
                <a:ext cx="353176" cy="102406"/>
              </a:xfrm>
              <a:custGeom>
                <a:avLst/>
                <a:gdLst/>
                <a:ahLst/>
                <a:cxnLst/>
                <a:rect l="l" t="t" r="r" b="b"/>
                <a:pathLst>
                  <a:path w="353176" h="102406">
                    <a:moveTo>
                      <a:pt x="51203" y="0"/>
                    </a:moveTo>
                    <a:lnTo>
                      <a:pt x="301973" y="0"/>
                    </a:lnTo>
                    <a:cubicBezTo>
                      <a:pt x="330252" y="0"/>
                      <a:pt x="353176" y="22924"/>
                      <a:pt x="353176" y="51203"/>
                    </a:cubicBezTo>
                    <a:lnTo>
                      <a:pt x="353176" y="51203"/>
                    </a:lnTo>
                    <a:cubicBezTo>
                      <a:pt x="353176" y="64783"/>
                      <a:pt x="347782" y="77807"/>
                      <a:pt x="338179" y="87409"/>
                    </a:cubicBezTo>
                    <a:cubicBezTo>
                      <a:pt x="328577" y="97012"/>
                      <a:pt x="315553" y="102406"/>
                      <a:pt x="301973" y="102406"/>
                    </a:cubicBezTo>
                    <a:lnTo>
                      <a:pt x="51203" y="102406"/>
                    </a:lnTo>
                    <a:cubicBezTo>
                      <a:pt x="37623" y="102406"/>
                      <a:pt x="24600" y="97012"/>
                      <a:pt x="14997" y="87409"/>
                    </a:cubicBezTo>
                    <a:cubicBezTo>
                      <a:pt x="5395" y="77807"/>
                      <a:pt x="0" y="64783"/>
                      <a:pt x="0" y="51203"/>
                    </a:cubicBezTo>
                    <a:lnTo>
                      <a:pt x="0" y="51203"/>
                    </a:lnTo>
                    <a:cubicBezTo>
                      <a:pt x="0" y="37623"/>
                      <a:pt x="5395" y="24600"/>
                      <a:pt x="14997" y="14997"/>
                    </a:cubicBezTo>
                    <a:cubicBezTo>
                      <a:pt x="24600" y="5395"/>
                      <a:pt x="37623" y="0"/>
                      <a:pt x="51203" y="0"/>
                    </a:cubicBezTo>
                    <a:close/>
                  </a:path>
                </a:pathLst>
              </a:custGeom>
              <a:solidFill>
                <a:srgbClr val="17B2B3"/>
              </a:solidFill>
            </p:spPr>
          </p:sp>
          <p:sp>
            <p:nvSpPr>
              <p:cNvPr id="99" name="TextBox 69">
                <a:extLst>
                  <a:ext uri="{FF2B5EF4-FFF2-40B4-BE49-F238E27FC236}">
                    <a16:creationId xmlns:a16="http://schemas.microsoft.com/office/drawing/2014/main" xmlns="" id="{01878EAC-4417-4CFD-8B64-9F297F1A7FC5}"/>
                  </a:ext>
                </a:extLst>
              </p:cNvPr>
              <p:cNvSpPr txBox="1"/>
              <p:nvPr/>
            </p:nvSpPr>
            <p:spPr>
              <a:xfrm>
                <a:off x="0" y="-9525"/>
                <a:ext cx="353176" cy="111931"/>
              </a:xfrm>
              <a:prstGeom prst="rect">
                <a:avLst/>
              </a:prstGeom>
            </p:spPr>
            <p:txBody>
              <a:bodyPr lIns="50800" tIns="50800" rIns="50800" bIns="50800" rtlCol="0" anchor="ctr"/>
              <a:lstStyle/>
              <a:p>
                <a:pPr algn="ctr">
                  <a:lnSpc>
                    <a:spcPts val="1399"/>
                  </a:lnSpc>
                </a:pPr>
                <a:r>
                  <a:rPr lang="en-US" sz="1400" b="1">
                    <a:solidFill>
                      <a:srgbClr val="051D40"/>
                    </a:solidFill>
                    <a:latin typeface="DM Sans Bold" pitchFamily="2" charset="0"/>
                    <a:ea typeface="Lora Bold"/>
                    <a:cs typeface="Lora Bold"/>
                    <a:sym typeface="Lora Bold"/>
                  </a:rPr>
                  <a:t>化学</a:t>
                </a: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48" name="Freeform 9">
            <a:extLst>
              <a:ext uri="{FF2B5EF4-FFF2-40B4-BE49-F238E27FC236}">
                <a16:creationId xmlns:a16="http://schemas.microsoft.com/office/drawing/2014/main" xmlns="" id="{32F41102-D143-4AC7-AE83-B63996E018C2}"/>
              </a:ext>
            </a:extLst>
          </p:cNvPr>
          <p:cNvSpPr/>
          <p:nvPr/>
        </p:nvSpPr>
        <p:spPr>
          <a:xfrm rot="5913394">
            <a:off x="17459947" y="3476890"/>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975317" y="-2198044"/>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xmlns="" r:embed="rId3"/>
                </a:ext>
              </a:extLst>
            </a:blip>
            <a:stretch>
              <a:fillRect/>
            </a:stretch>
          </a:blipFill>
        </p:spPr>
      </p:sp>
      <p:sp>
        <p:nvSpPr>
          <p:cNvPr id="9" name="Freeform 9"/>
          <p:cNvSpPr/>
          <p:nvPr/>
        </p:nvSpPr>
        <p:spPr>
          <a:xfrm>
            <a:off x="-892467" y="8377832"/>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xmlns="" r:embed="rId3"/>
                </a:ext>
              </a:extLst>
            </a:blip>
            <a:stretch>
              <a:fillRect/>
            </a:stretch>
          </a:blipFill>
        </p:spPr>
      </p:sp>
      <p:sp>
        <p:nvSpPr>
          <p:cNvPr id="10" name="Заголовок 13">
            <a:extLst>
              <a:ext uri="{FF2B5EF4-FFF2-40B4-BE49-F238E27FC236}">
                <a16:creationId xmlns:a16="http://schemas.microsoft.com/office/drawing/2014/main" xmlns="" id="{C89FFE23-641B-4E4D-910C-0679E567908F}"/>
              </a:ext>
            </a:extLst>
          </p:cNvPr>
          <p:cNvSpPr txBox="1">
            <a:spLocks/>
          </p:cNvSpPr>
          <p:nvPr/>
        </p:nvSpPr>
        <p:spPr>
          <a:xfrm>
            <a:off x="1923759" y="3665442"/>
            <a:ext cx="3257851" cy="59645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ru-RU" b="1" dirty="0"/>
          </a:p>
        </p:txBody>
      </p:sp>
      <p:sp>
        <p:nvSpPr>
          <p:cNvPr id="12" name="Текст 15">
            <a:extLst>
              <a:ext uri="{FF2B5EF4-FFF2-40B4-BE49-F238E27FC236}">
                <a16:creationId xmlns:a16="http://schemas.microsoft.com/office/drawing/2014/main" xmlns="" id="{4E04B869-8B48-4EB7-A822-955993DE87F9}"/>
              </a:ext>
            </a:extLst>
          </p:cNvPr>
          <p:cNvSpPr txBox="1">
            <a:spLocks/>
          </p:cNvSpPr>
          <p:nvPr/>
        </p:nvSpPr>
        <p:spPr>
          <a:xfrm>
            <a:off x="5715000" y="4079331"/>
            <a:ext cx="3453274" cy="38115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ru-RU" dirty="0"/>
          </a:p>
        </p:txBody>
      </p:sp>
      <p:graphicFrame>
        <p:nvGraphicFramePr>
          <p:cNvPr id="32" name="Схема 31">
            <a:extLst>
              <a:ext uri="{FF2B5EF4-FFF2-40B4-BE49-F238E27FC236}">
                <a16:creationId xmlns:a16="http://schemas.microsoft.com/office/drawing/2014/main" xmlns="" id="{457E1867-A185-445D-B75C-DA9C3D81E904}"/>
              </a:ext>
            </a:extLst>
          </p:cNvPr>
          <p:cNvGraphicFramePr/>
          <p:nvPr>
            <p:extLst>
              <p:ext uri="{D42A27DB-BD31-4B8C-83A1-F6EECF244321}">
                <p14:modId xmlns:p14="http://schemas.microsoft.com/office/powerpoint/2010/main" val="1621116990"/>
              </p:ext>
            </p:extLst>
          </p:nvPr>
        </p:nvGraphicFramePr>
        <p:xfrm>
          <a:off x="-3082857" y="1352877"/>
          <a:ext cx="12192000" cy="812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Заголовок 13">
            <a:extLst>
              <a:ext uri="{FF2B5EF4-FFF2-40B4-BE49-F238E27FC236}">
                <a16:creationId xmlns:a16="http://schemas.microsoft.com/office/drawing/2014/main" xmlns="" id="{5CD2C91E-95CD-4D94-953B-F3C9C8CA54C9}"/>
              </a:ext>
            </a:extLst>
          </p:cNvPr>
          <p:cNvSpPr txBox="1">
            <a:spLocks/>
          </p:cNvSpPr>
          <p:nvPr/>
        </p:nvSpPr>
        <p:spPr>
          <a:xfrm>
            <a:off x="3319690" y="-1809947"/>
            <a:ext cx="5133540" cy="5679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endParaRPr lang="ru-RU" b="1" dirty="0"/>
          </a:p>
        </p:txBody>
      </p:sp>
      <p:sp>
        <p:nvSpPr>
          <p:cNvPr id="28" name="TextBox 41">
            <a:extLst>
              <a:ext uri="{FF2B5EF4-FFF2-40B4-BE49-F238E27FC236}">
                <a16:creationId xmlns:a16="http://schemas.microsoft.com/office/drawing/2014/main" xmlns="" id="{4F759FC5-58A5-421D-BA95-ED3A8F5DA7B9}"/>
              </a:ext>
            </a:extLst>
          </p:cNvPr>
          <p:cNvSpPr txBox="1"/>
          <p:nvPr/>
        </p:nvSpPr>
        <p:spPr>
          <a:xfrm>
            <a:off x="2481037" y="573484"/>
            <a:ext cx="13194602" cy="392415"/>
          </a:xfrm>
          <a:prstGeom prst="rect">
            <a:avLst/>
          </a:prstGeom>
        </p:spPr>
        <p:txBody>
          <a:bodyPr wrap="square" lIns="0" tIns="0" rIns="0" bIns="0" rtlCol="0" anchor="t">
            <a:spAutoFit/>
          </a:bodyPr>
          <a:lstStyle/>
          <a:p>
            <a:pPr algn="ctr">
              <a:lnSpc>
                <a:spcPts val="2796"/>
              </a:lnSpc>
            </a:pPr>
            <a:r>
              <a:rPr lang="en-US" sz="3200" b="1" dirty="0">
                <a:solidFill>
                  <a:srgbClr val="FFFFFF"/>
                </a:solidFill>
                <a:latin typeface="Now Bold"/>
                <a:sym typeface="Lora Bold"/>
              </a:rPr>
              <a:t>国际教育市场竞争力</a:t>
            </a:r>
          </a:p>
        </p:txBody>
      </p:sp>
      <p:sp>
        <p:nvSpPr>
          <p:cNvPr id="31" name="AutoShape 2">
            <a:extLst>
              <a:ext uri="{FF2B5EF4-FFF2-40B4-BE49-F238E27FC236}">
                <a16:creationId xmlns:a16="http://schemas.microsoft.com/office/drawing/2014/main" xmlns="" id="{ECED6CD2-662F-43D6-82CE-1A502519AFF3}"/>
              </a:ext>
            </a:extLst>
          </p:cNvPr>
          <p:cNvSpPr/>
          <p:nvPr/>
        </p:nvSpPr>
        <p:spPr>
          <a:xfrm>
            <a:off x="5715000" y="3078729"/>
            <a:ext cx="0" cy="4676296"/>
          </a:xfrm>
          <a:prstGeom prst="line">
            <a:avLst/>
          </a:prstGeom>
          <a:ln w="47625" cap="flat">
            <a:solidFill>
              <a:srgbClr val="FFFFFF"/>
            </a:solidFill>
            <a:prstDash val="solid"/>
            <a:headEnd type="none" w="sm" len="sm"/>
            <a:tailEnd type="none" w="sm" len="sm"/>
          </a:ln>
        </p:spPr>
      </p:sp>
      <p:sp>
        <p:nvSpPr>
          <p:cNvPr id="33" name="TextBox 23">
            <a:extLst>
              <a:ext uri="{FF2B5EF4-FFF2-40B4-BE49-F238E27FC236}">
                <a16:creationId xmlns:a16="http://schemas.microsoft.com/office/drawing/2014/main" xmlns="" id="{64E8C32A-6B03-42F4-9FAE-772A24DC4652}"/>
              </a:ext>
            </a:extLst>
          </p:cNvPr>
          <p:cNvSpPr txBox="1"/>
          <p:nvPr/>
        </p:nvSpPr>
        <p:spPr>
          <a:xfrm>
            <a:off x="6098443" y="1352877"/>
            <a:ext cx="5876947" cy="229486"/>
          </a:xfrm>
          <a:prstGeom prst="rect">
            <a:avLst/>
          </a:prstGeom>
        </p:spPr>
        <p:txBody>
          <a:bodyPr wrap="square" lIns="0" tIns="0" rIns="0" bIns="0" rtlCol="0" anchor="t">
            <a:spAutoFit/>
          </a:bodyPr>
          <a:lstStyle/>
          <a:p>
            <a:pPr algn="ctr">
              <a:lnSpc>
                <a:spcPts val="1679"/>
              </a:lnSpc>
            </a:pPr>
            <a:r>
              <a:rPr lang="en-US" b="1" dirty="0">
                <a:solidFill>
                  <a:schemeClr val="bg1"/>
                </a:solidFill>
                <a:latin typeface="DM Sans Bold" pitchFamily="2" charset="0"/>
                <a:ea typeface="Lora Bold"/>
                <a:cs typeface="Lora Bold"/>
                <a:sym typeface="Lora Bold"/>
              </a:rPr>
              <a:t>增加国际科学出版物</a:t>
            </a:r>
          </a:p>
        </p:txBody>
      </p:sp>
      <p:sp>
        <p:nvSpPr>
          <p:cNvPr id="38" name="AutoShape 2">
            <a:extLst>
              <a:ext uri="{FF2B5EF4-FFF2-40B4-BE49-F238E27FC236}">
                <a16:creationId xmlns:a16="http://schemas.microsoft.com/office/drawing/2014/main" xmlns="" id="{ED93A5EF-F15C-432E-9914-A1F24D41AC1A}"/>
              </a:ext>
            </a:extLst>
          </p:cNvPr>
          <p:cNvSpPr/>
          <p:nvPr/>
        </p:nvSpPr>
        <p:spPr>
          <a:xfrm>
            <a:off x="12172940" y="2919806"/>
            <a:ext cx="0" cy="4676296"/>
          </a:xfrm>
          <a:prstGeom prst="line">
            <a:avLst/>
          </a:prstGeom>
          <a:ln w="47625" cap="flat">
            <a:solidFill>
              <a:srgbClr val="FFFFFF"/>
            </a:solidFill>
            <a:prstDash val="solid"/>
            <a:headEnd type="none" w="sm" len="sm"/>
            <a:tailEnd type="none" w="sm" len="sm"/>
          </a:ln>
        </p:spPr>
      </p:sp>
      <p:graphicFrame>
        <p:nvGraphicFramePr>
          <p:cNvPr id="40" name="Диаграмма 39">
            <a:extLst>
              <a:ext uri="{FF2B5EF4-FFF2-40B4-BE49-F238E27FC236}">
                <a16:creationId xmlns:a16="http://schemas.microsoft.com/office/drawing/2014/main" xmlns="" id="{8BD8AEBF-023A-476D-8AFC-5654C98975D0}"/>
              </a:ext>
            </a:extLst>
          </p:cNvPr>
          <p:cNvGraphicFramePr>
            <a:graphicFrameLocks/>
          </p:cNvGraphicFramePr>
          <p:nvPr>
            <p:extLst>
              <p:ext uri="{D42A27DB-BD31-4B8C-83A1-F6EECF244321}">
                <p14:modId xmlns:p14="http://schemas.microsoft.com/office/powerpoint/2010/main" val="3998957304"/>
              </p:ext>
            </p:extLst>
          </p:nvPr>
        </p:nvGraphicFramePr>
        <p:xfrm>
          <a:off x="6142411" y="1631183"/>
          <a:ext cx="5876946" cy="333175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1" name="Диаграмма 40">
            <a:extLst>
              <a:ext uri="{FF2B5EF4-FFF2-40B4-BE49-F238E27FC236}">
                <a16:creationId xmlns:a16="http://schemas.microsoft.com/office/drawing/2014/main" xmlns="" id="{D881B06F-D98E-4C4D-A2C0-97A461BCAED0}"/>
              </a:ext>
            </a:extLst>
          </p:cNvPr>
          <p:cNvGraphicFramePr>
            <a:graphicFrameLocks/>
          </p:cNvGraphicFramePr>
          <p:nvPr>
            <p:extLst>
              <p:ext uri="{D42A27DB-BD31-4B8C-83A1-F6EECF244321}">
                <p14:modId xmlns:p14="http://schemas.microsoft.com/office/powerpoint/2010/main" val="2317033602"/>
              </p:ext>
            </p:extLst>
          </p:nvPr>
        </p:nvGraphicFramePr>
        <p:xfrm>
          <a:off x="5886098" y="4775969"/>
          <a:ext cx="6197481" cy="3110731"/>
        </p:xfrm>
        <a:graphic>
          <a:graphicData uri="http://schemas.openxmlformats.org/drawingml/2006/chart">
            <c:chart xmlns:c="http://schemas.openxmlformats.org/drawingml/2006/chart" xmlns:r="http://schemas.openxmlformats.org/officeDocument/2006/relationships" r:id="rId10"/>
          </a:graphicData>
        </a:graphic>
      </p:graphicFrame>
      <p:sp>
        <p:nvSpPr>
          <p:cNvPr id="42" name="TextBox 23">
            <a:extLst>
              <a:ext uri="{FF2B5EF4-FFF2-40B4-BE49-F238E27FC236}">
                <a16:creationId xmlns:a16="http://schemas.microsoft.com/office/drawing/2014/main" xmlns="" id="{AA216EA6-23D8-432F-AD8F-81BAB89624CB}"/>
              </a:ext>
            </a:extLst>
          </p:cNvPr>
          <p:cNvSpPr txBox="1"/>
          <p:nvPr/>
        </p:nvSpPr>
        <p:spPr>
          <a:xfrm>
            <a:off x="5999239" y="8089703"/>
            <a:ext cx="5876947" cy="1107996"/>
          </a:xfrm>
          <a:prstGeom prst="rect">
            <a:avLst/>
          </a:prstGeom>
        </p:spPr>
        <p:txBody>
          <a:bodyPr wrap="square" lIns="0" tIns="0" rIns="0" bIns="0" rtlCol="0" anchor="t">
            <a:spAutoFit/>
          </a:bodyPr>
          <a:lstStyle/>
          <a:p>
            <a:pPr algn="ctr"/>
            <a:r>
              <a:rPr lang="en-US" b="1" dirty="0" err="1">
                <a:solidFill>
                  <a:schemeClr val="bg1"/>
                </a:solidFill>
                <a:latin typeface="DM Sans Bold" pitchFamily="2" charset="0"/>
                <a:ea typeface="Lora Bold"/>
                <a:cs typeface="Lora Bold"/>
                <a:sym typeface="Lora Bold"/>
              </a:rPr>
              <a:t>确保大学期刊在国际科学数据库中被索引</a:t>
            </a:r>
            <a:endParaRPr lang="en-US" b="1" dirty="0">
              <a:solidFill>
                <a:schemeClr val="bg1"/>
              </a:solidFill>
              <a:latin typeface="DM Sans Bold" pitchFamily="2" charset="0"/>
              <a:ea typeface="Lora Bold"/>
              <a:cs typeface="Lora Bold"/>
              <a:sym typeface="Lora Bold"/>
            </a:endParaRPr>
          </a:p>
          <a:p>
            <a:pPr algn="ctr"/>
            <a:r>
              <a:rPr lang="en-US" b="1" dirty="0" err="1">
                <a:solidFill>
                  <a:schemeClr val="bg1"/>
                </a:solidFill>
                <a:latin typeface="DM Sans Bold" pitchFamily="2" charset="0"/>
                <a:ea typeface="Lora Bold"/>
                <a:cs typeface="Lora Bold"/>
                <a:sym typeface="Lora Bold"/>
              </a:rPr>
              <a:t>在大学建立科学论文审校中心</a:t>
            </a:r>
            <a:endParaRPr lang="en-US" b="1" dirty="0">
              <a:solidFill>
                <a:schemeClr val="bg1"/>
              </a:solidFill>
              <a:latin typeface="DM Sans Bold" pitchFamily="2" charset="0"/>
              <a:ea typeface="Lora Bold"/>
              <a:cs typeface="Lora Bold"/>
              <a:sym typeface="Lora Bold"/>
            </a:endParaRPr>
          </a:p>
        </p:txBody>
      </p:sp>
      <p:sp>
        <p:nvSpPr>
          <p:cNvPr id="43" name="TextBox 23">
            <a:extLst>
              <a:ext uri="{FF2B5EF4-FFF2-40B4-BE49-F238E27FC236}">
                <a16:creationId xmlns:a16="http://schemas.microsoft.com/office/drawing/2014/main" xmlns="" id="{B78B85C3-C607-4120-987A-99DA10EC18EC}"/>
              </a:ext>
            </a:extLst>
          </p:cNvPr>
          <p:cNvSpPr txBox="1"/>
          <p:nvPr/>
        </p:nvSpPr>
        <p:spPr>
          <a:xfrm>
            <a:off x="12258653" y="1352877"/>
            <a:ext cx="5876947" cy="229486"/>
          </a:xfrm>
          <a:prstGeom prst="rect">
            <a:avLst/>
          </a:prstGeom>
        </p:spPr>
        <p:txBody>
          <a:bodyPr wrap="square" lIns="0" tIns="0" rIns="0" bIns="0" rtlCol="0" anchor="t">
            <a:spAutoFit/>
          </a:bodyPr>
          <a:lstStyle/>
          <a:p>
            <a:pPr algn="ctr">
              <a:lnSpc>
                <a:spcPts val="1679"/>
              </a:lnSpc>
            </a:pPr>
            <a:r>
              <a:rPr lang="en-US" b="1" dirty="0">
                <a:solidFill>
                  <a:schemeClr val="bg1"/>
                </a:solidFill>
                <a:latin typeface="DM Sans Bold" pitchFamily="2" charset="0"/>
                <a:ea typeface="Lora Bold"/>
                <a:cs typeface="Lora Bold"/>
                <a:sym typeface="Lora Bold"/>
              </a:rPr>
              <a:t>外部与内部国际化</a:t>
            </a:r>
          </a:p>
        </p:txBody>
      </p:sp>
      <p:graphicFrame>
        <p:nvGraphicFramePr>
          <p:cNvPr id="44" name="Диаграмма 43">
            <a:extLst>
              <a:ext uri="{FF2B5EF4-FFF2-40B4-BE49-F238E27FC236}">
                <a16:creationId xmlns:a16="http://schemas.microsoft.com/office/drawing/2014/main" xmlns="" id="{B72EF619-DFA2-4E62-AAB9-485444FB4D58}"/>
              </a:ext>
            </a:extLst>
          </p:cNvPr>
          <p:cNvGraphicFramePr>
            <a:graphicFrameLocks/>
          </p:cNvGraphicFramePr>
          <p:nvPr>
            <p:extLst>
              <p:ext uri="{D42A27DB-BD31-4B8C-83A1-F6EECF244321}">
                <p14:modId xmlns:p14="http://schemas.microsoft.com/office/powerpoint/2010/main" val="754580668"/>
              </p:ext>
            </p:extLst>
          </p:nvPr>
        </p:nvGraphicFramePr>
        <p:xfrm>
          <a:off x="12322583" y="1598946"/>
          <a:ext cx="5755831" cy="2580803"/>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45" name="Диаграмма 44">
            <a:extLst>
              <a:ext uri="{FF2B5EF4-FFF2-40B4-BE49-F238E27FC236}">
                <a16:creationId xmlns:a16="http://schemas.microsoft.com/office/drawing/2014/main" xmlns="" id="{A9AAE03D-B9B8-49C7-A167-19AEA9BBDB63}"/>
              </a:ext>
            </a:extLst>
          </p:cNvPr>
          <p:cNvGraphicFramePr>
            <a:graphicFrameLocks/>
          </p:cNvGraphicFramePr>
          <p:nvPr>
            <p:extLst>
              <p:ext uri="{D42A27DB-BD31-4B8C-83A1-F6EECF244321}">
                <p14:modId xmlns:p14="http://schemas.microsoft.com/office/powerpoint/2010/main" val="3243131233"/>
              </p:ext>
            </p:extLst>
          </p:nvPr>
        </p:nvGraphicFramePr>
        <p:xfrm>
          <a:off x="12272581" y="7270221"/>
          <a:ext cx="5743131" cy="2580803"/>
        </p:xfrm>
        <a:graphic>
          <a:graphicData uri="http://schemas.openxmlformats.org/drawingml/2006/chart">
            <c:chart xmlns:c="http://schemas.openxmlformats.org/drawingml/2006/chart" xmlns:r="http://schemas.openxmlformats.org/officeDocument/2006/relationships" r:id="rId12"/>
          </a:graphicData>
        </a:graphic>
      </p:graphicFrame>
      <p:sp>
        <p:nvSpPr>
          <p:cNvPr id="46" name="TextBox 23">
            <a:extLst>
              <a:ext uri="{FF2B5EF4-FFF2-40B4-BE49-F238E27FC236}">
                <a16:creationId xmlns:a16="http://schemas.microsoft.com/office/drawing/2014/main" xmlns="" id="{AFAC3BDD-28DB-46F0-B944-B6C7CBA1FC69}"/>
              </a:ext>
            </a:extLst>
          </p:cNvPr>
          <p:cNvSpPr txBox="1"/>
          <p:nvPr/>
        </p:nvSpPr>
        <p:spPr>
          <a:xfrm>
            <a:off x="12138765" y="4454214"/>
            <a:ext cx="5876947" cy="229486"/>
          </a:xfrm>
          <a:prstGeom prst="rect">
            <a:avLst/>
          </a:prstGeom>
        </p:spPr>
        <p:txBody>
          <a:bodyPr wrap="square" lIns="0" tIns="0" rIns="0" bIns="0" rtlCol="0" anchor="t">
            <a:spAutoFit/>
          </a:bodyPr>
          <a:lstStyle/>
          <a:p>
            <a:pPr algn="ctr">
              <a:lnSpc>
                <a:spcPts val="1679"/>
              </a:lnSpc>
            </a:pPr>
            <a:r>
              <a:rPr lang="en-US" sz="1600" b="1" dirty="0">
                <a:solidFill>
                  <a:srgbClr val="4DD5FF"/>
                </a:solidFill>
                <a:latin typeface="DM Sans Bold" panose="020B0604020202020204" charset="0"/>
                <a:sym typeface="Lora Bold"/>
              </a:rPr>
              <a:t>境外进修和研讨会</a:t>
            </a:r>
          </a:p>
        </p:txBody>
      </p:sp>
      <p:graphicFrame>
        <p:nvGraphicFramePr>
          <p:cNvPr id="47" name="Таблица 46">
            <a:extLst>
              <a:ext uri="{FF2B5EF4-FFF2-40B4-BE49-F238E27FC236}">
                <a16:creationId xmlns:a16="http://schemas.microsoft.com/office/drawing/2014/main" xmlns="" id="{21A36A5B-0753-45F2-BB61-2DDD068A2214}"/>
              </a:ext>
            </a:extLst>
          </p:cNvPr>
          <p:cNvGraphicFramePr>
            <a:graphicFrameLocks noGrp="1"/>
          </p:cNvGraphicFramePr>
          <p:nvPr>
            <p:extLst>
              <p:ext uri="{D42A27DB-BD31-4B8C-83A1-F6EECF244321}">
                <p14:modId xmlns:p14="http://schemas.microsoft.com/office/powerpoint/2010/main" val="2470451215"/>
              </p:ext>
            </p:extLst>
          </p:nvPr>
        </p:nvGraphicFramePr>
        <p:xfrm>
          <a:off x="12294421" y="4804634"/>
          <a:ext cx="5699450" cy="2360982"/>
        </p:xfrm>
        <a:graphic>
          <a:graphicData uri="http://schemas.openxmlformats.org/drawingml/2006/table">
            <a:tbl>
              <a:tblPr>
                <a:tableStyleId>{69CF1AB2-1976-4502-BF36-3FF5EA218861}</a:tableStyleId>
              </a:tblPr>
              <a:tblGrid>
                <a:gridCol w="472493">
                  <a:extLst>
                    <a:ext uri="{9D8B030D-6E8A-4147-A177-3AD203B41FA5}">
                      <a16:colId xmlns:a16="http://schemas.microsoft.com/office/drawing/2014/main" xmlns="" val="603002634"/>
                    </a:ext>
                  </a:extLst>
                </a:gridCol>
                <a:gridCol w="2391999">
                  <a:extLst>
                    <a:ext uri="{9D8B030D-6E8A-4147-A177-3AD203B41FA5}">
                      <a16:colId xmlns:a16="http://schemas.microsoft.com/office/drawing/2014/main" xmlns="" val="315413570"/>
                    </a:ext>
                  </a:extLst>
                </a:gridCol>
                <a:gridCol w="472493">
                  <a:extLst>
                    <a:ext uri="{9D8B030D-6E8A-4147-A177-3AD203B41FA5}">
                      <a16:colId xmlns:a16="http://schemas.microsoft.com/office/drawing/2014/main" xmlns="" val="2466014470"/>
                    </a:ext>
                  </a:extLst>
                </a:gridCol>
                <a:gridCol w="472493">
                  <a:extLst>
                    <a:ext uri="{9D8B030D-6E8A-4147-A177-3AD203B41FA5}">
                      <a16:colId xmlns:a16="http://schemas.microsoft.com/office/drawing/2014/main" xmlns="" val="3516704929"/>
                    </a:ext>
                  </a:extLst>
                </a:gridCol>
                <a:gridCol w="472493">
                  <a:extLst>
                    <a:ext uri="{9D8B030D-6E8A-4147-A177-3AD203B41FA5}">
                      <a16:colId xmlns:a16="http://schemas.microsoft.com/office/drawing/2014/main" xmlns="" val="1782771449"/>
                    </a:ext>
                  </a:extLst>
                </a:gridCol>
                <a:gridCol w="472493">
                  <a:extLst>
                    <a:ext uri="{9D8B030D-6E8A-4147-A177-3AD203B41FA5}">
                      <a16:colId xmlns:a16="http://schemas.microsoft.com/office/drawing/2014/main" xmlns="" val="3791947363"/>
                    </a:ext>
                  </a:extLst>
                </a:gridCol>
                <a:gridCol w="472493">
                  <a:extLst>
                    <a:ext uri="{9D8B030D-6E8A-4147-A177-3AD203B41FA5}">
                      <a16:colId xmlns:a16="http://schemas.microsoft.com/office/drawing/2014/main" xmlns="" val="22032249"/>
                    </a:ext>
                  </a:extLst>
                </a:gridCol>
                <a:gridCol w="472493">
                  <a:extLst>
                    <a:ext uri="{9D8B030D-6E8A-4147-A177-3AD203B41FA5}">
                      <a16:colId xmlns:a16="http://schemas.microsoft.com/office/drawing/2014/main" xmlns="" val="2266644268"/>
                    </a:ext>
                  </a:extLst>
                </a:gridCol>
              </a:tblGrid>
              <a:tr h="299337">
                <a:tc>
                  <a:txBody>
                    <a:bodyPr/>
                    <a:lstStyle/>
                    <a:p>
                      <a:pPr algn="ctr" fontAlgn="ctr"/>
                      <a:r>
                        <a:rPr lang="ru-RU" sz="1400" b="1" u="none" strike="noStrike" dirty="0">
                          <a:solidFill>
                            <a:schemeClr val="bg1"/>
                          </a:solidFill>
                          <a:effectLst/>
                        </a:rPr>
                        <a:t>№</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 </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2025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2026</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2027</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2028</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2029</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2030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extLst>
                  <a:ext uri="{0D108BD9-81ED-4DB2-BD59-A6C34878D82A}">
                    <a16:rowId xmlns:a16="http://schemas.microsoft.com/office/drawing/2014/main" xmlns="" val="1637236643"/>
                  </a:ext>
                </a:extLst>
              </a:tr>
              <a:tr h="541800">
                <a:tc>
                  <a:txBody>
                    <a:bodyPr/>
                    <a:lstStyle/>
                    <a:p>
                      <a:pPr algn="ctr" fontAlgn="ctr"/>
                      <a:r>
                        <a:rPr lang="ru-RU" sz="1400" b="1" u="none" strike="noStrike">
                          <a:solidFill>
                            <a:schemeClr val="bg1"/>
                          </a:solidFill>
                          <a:effectLst/>
                        </a:rPr>
                        <a:t>1</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en-US" sz="1400" b="1" u="none" strike="noStrike" dirty="0" err="1">
                          <a:solidFill>
                            <a:schemeClr val="bg1"/>
                          </a:solidFill>
                          <a:effectLst/>
                        </a:rPr>
                        <a:t>进修（教师/员工人数）</a:t>
                      </a:r>
                      <a:r>
                        <a:rPr lang="en-US" sz="1400" b="1" u="none" strike="noStrike" dirty="0">
                          <a:solidFill>
                            <a:schemeClr val="bg1"/>
                          </a:solidFill>
                          <a:effectLst/>
                        </a:rPr>
                        <a:t/>
                      </a:r>
                      <a:br>
                        <a:rPr lang="en-US" sz="1400" b="1" u="none" strike="noStrike" dirty="0">
                          <a:solidFill>
                            <a:schemeClr val="bg1"/>
                          </a:solidFill>
                          <a:effectLst/>
                        </a:rPr>
                      </a:br>
                      <a:endParaRPr lang="en-US" sz="1400" b="1" i="0" u="none" strike="noStrike" dirty="0">
                        <a:solidFill>
                          <a:schemeClr val="bg1"/>
                        </a:solidFill>
                        <a:effectLst/>
                        <a:latin typeface="DM Sans" panose="020B060402020202020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20</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30</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45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60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70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80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extLst>
                  <a:ext uri="{0D108BD9-81ED-4DB2-BD59-A6C34878D82A}">
                    <a16:rowId xmlns:a16="http://schemas.microsoft.com/office/drawing/2014/main" xmlns="" val="3860264181"/>
                  </a:ext>
                </a:extLst>
              </a:tr>
              <a:tr h="299337">
                <a:tc>
                  <a:txBody>
                    <a:bodyPr/>
                    <a:lstStyle/>
                    <a:p>
                      <a:pPr algn="ctr" fontAlgn="ctr"/>
                      <a:r>
                        <a:rPr lang="ru-RU" sz="1400" b="1" u="none" strike="noStrike">
                          <a:solidFill>
                            <a:schemeClr val="bg1"/>
                          </a:solidFill>
                          <a:effectLst/>
                        </a:rPr>
                        <a:t>2</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en-US" sz="1400" b="1" u="none" strike="noStrike" dirty="0" err="1">
                          <a:solidFill>
                            <a:schemeClr val="bg1"/>
                          </a:solidFill>
                          <a:effectLst/>
                        </a:rPr>
                        <a:t>进修（学生人数）</a:t>
                      </a:r>
                      <a:r>
                        <a:rPr lang="en-US" sz="1400" b="1" u="none" strike="noStrike" dirty="0">
                          <a:solidFill>
                            <a:schemeClr val="bg1"/>
                          </a:solidFill>
                          <a:effectLst/>
                        </a:rPr>
                        <a:t/>
                      </a:r>
                      <a:br>
                        <a:rPr lang="en-US" sz="1400" b="1" u="none" strike="noStrike" dirty="0">
                          <a:solidFill>
                            <a:schemeClr val="bg1"/>
                          </a:solidFill>
                          <a:effectLst/>
                        </a:rPr>
                      </a:br>
                      <a:endParaRPr lang="en-US" sz="1400" b="1" i="0" u="none" strike="noStrike" dirty="0">
                        <a:solidFill>
                          <a:schemeClr val="bg1"/>
                        </a:solidFill>
                        <a:effectLst/>
                        <a:latin typeface="DM Sans" panose="020B060402020202020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50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100</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200</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250</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300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400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extLst>
                  <a:ext uri="{0D108BD9-81ED-4DB2-BD59-A6C34878D82A}">
                    <a16:rowId xmlns:a16="http://schemas.microsoft.com/office/drawing/2014/main" xmlns="" val="510431826"/>
                  </a:ext>
                </a:extLst>
              </a:tr>
              <a:tr h="541800">
                <a:tc>
                  <a:txBody>
                    <a:bodyPr/>
                    <a:lstStyle/>
                    <a:p>
                      <a:pPr algn="ctr" fontAlgn="ctr"/>
                      <a:r>
                        <a:rPr lang="ru-RU" sz="1400" b="1" u="none" strike="noStrike">
                          <a:solidFill>
                            <a:schemeClr val="bg1"/>
                          </a:solidFill>
                          <a:effectLst/>
                        </a:rPr>
                        <a:t>3</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en-US" sz="1400" b="1" u="none" strike="noStrike">
                          <a:solidFill>
                            <a:schemeClr val="bg1"/>
                          </a:solidFill>
                          <a:effectLst/>
                        </a:rPr>
                        <a:t>教师研讨培训课程（数量）</a:t>
                      </a:r>
                      <a:endParaRPr lang="en-US" sz="1400" b="1" i="0" u="none" strike="noStrike">
                        <a:solidFill>
                          <a:schemeClr val="bg1"/>
                        </a:solidFill>
                        <a:effectLst/>
                        <a:latin typeface="DM Sans" panose="020B060402020202020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25</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25</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extLst>
                  <a:ext uri="{0D108BD9-81ED-4DB2-BD59-A6C34878D82A}">
                    <a16:rowId xmlns:a16="http://schemas.microsoft.com/office/drawing/2014/main" xmlns="" val="414927951"/>
                  </a:ext>
                </a:extLst>
              </a:tr>
              <a:tr h="541800">
                <a:tc>
                  <a:txBody>
                    <a:bodyPr/>
                    <a:lstStyle/>
                    <a:p>
                      <a:pPr algn="ctr" fontAlgn="ctr"/>
                      <a:r>
                        <a:rPr lang="ru-RU" sz="1400" b="1" u="none" strike="noStrike">
                          <a:solidFill>
                            <a:schemeClr val="bg1"/>
                          </a:solidFill>
                          <a:effectLst/>
                        </a:rPr>
                        <a:t>4</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en-US" sz="1400" b="1" u="none" strike="noStrike">
                          <a:solidFill>
                            <a:schemeClr val="bg1"/>
                          </a:solidFill>
                          <a:effectLst/>
                        </a:rPr>
                        <a:t>学生研讨培训课程（数量）</a:t>
                      </a:r>
                      <a:endParaRPr lang="en-US" sz="1400" b="1" i="0" u="none" strike="noStrike">
                        <a:solidFill>
                          <a:schemeClr val="bg1"/>
                        </a:solidFill>
                        <a:effectLst/>
                        <a:latin typeface="DM Sans" panose="020B060402020202020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25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30</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30</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a:solidFill>
                            <a:schemeClr val="bg1"/>
                          </a:solidFill>
                          <a:effectLst/>
                        </a:rPr>
                        <a:t>35</a:t>
                      </a:r>
                      <a:endParaRPr lang="ru-RU" sz="1400" b="1" i="0" u="none" strike="noStrike">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35</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tc>
                  <a:txBody>
                    <a:bodyPr/>
                    <a:lstStyle/>
                    <a:p>
                      <a:pPr algn="ctr" fontAlgn="b"/>
                      <a:r>
                        <a:rPr lang="ru-RU" sz="1400" b="1" u="none" strike="noStrike" dirty="0">
                          <a:solidFill>
                            <a:schemeClr val="bg1"/>
                          </a:solidFill>
                          <a:effectLst/>
                        </a:rPr>
                        <a:t>35</a:t>
                      </a:r>
                      <a:endParaRPr lang="ru-RU" sz="14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rgbClr val="4DD5FF"/>
                      </a:solidFill>
                      <a:prstDash val="solid"/>
                      <a:round/>
                      <a:headEnd type="none" w="med" len="med"/>
                      <a:tailEnd type="none" w="med" len="med"/>
                    </a:lnL>
                    <a:lnR w="12700" cap="flat" cmpd="sng" algn="ctr">
                      <a:solidFill>
                        <a:srgbClr val="4DD5FF"/>
                      </a:solidFill>
                      <a:prstDash val="solid"/>
                      <a:round/>
                      <a:headEnd type="none" w="med" len="med"/>
                      <a:tailEnd type="none" w="med" len="med"/>
                    </a:lnR>
                    <a:lnT w="12700" cap="flat" cmpd="sng" algn="ctr">
                      <a:solidFill>
                        <a:srgbClr val="4DD5FF"/>
                      </a:solidFill>
                      <a:prstDash val="solid"/>
                      <a:round/>
                      <a:headEnd type="none" w="med" len="med"/>
                      <a:tailEnd type="none" w="med" len="med"/>
                    </a:lnT>
                    <a:lnB w="12700" cap="flat" cmpd="sng" algn="ctr">
                      <a:solidFill>
                        <a:srgbClr val="4DD5FF"/>
                      </a:solidFill>
                      <a:prstDash val="solid"/>
                      <a:round/>
                      <a:headEnd type="none" w="med" len="med"/>
                      <a:tailEnd type="none" w="med" len="med"/>
                    </a:lnB>
                    <a:noFill/>
                  </a:tcPr>
                </a:tc>
                <a:extLst>
                  <a:ext uri="{0D108BD9-81ED-4DB2-BD59-A6C34878D82A}">
                    <a16:rowId xmlns:a16="http://schemas.microsoft.com/office/drawing/2014/main" xmlns="" val="405892677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rot="1313163">
            <a:off x="-4261137" y="6573910"/>
            <a:ext cx="9085628" cy="5368780"/>
          </a:xfrm>
          <a:custGeom>
            <a:avLst/>
            <a:gdLst/>
            <a:ahLst/>
            <a:cxnLst/>
            <a:rect l="l" t="t" r="r" b="b"/>
            <a:pathLst>
              <a:path w="9085628" h="5368780">
                <a:moveTo>
                  <a:pt x="0" y="0"/>
                </a:moveTo>
                <a:lnTo>
                  <a:pt x="9085628" y="0"/>
                </a:lnTo>
                <a:lnTo>
                  <a:pt x="9085628" y="5368780"/>
                </a:lnTo>
                <a:lnTo>
                  <a:pt x="0" y="5368780"/>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sp>
        <p:nvSpPr>
          <p:cNvPr id="15" name="Freeform 15"/>
          <p:cNvSpPr/>
          <p:nvPr/>
        </p:nvSpPr>
        <p:spPr>
          <a:xfrm rot="8396559">
            <a:off x="14389224" y="-1706146"/>
            <a:ext cx="9085628" cy="5368780"/>
          </a:xfrm>
          <a:custGeom>
            <a:avLst/>
            <a:gdLst/>
            <a:ahLst/>
            <a:cxnLst/>
            <a:rect l="l" t="t" r="r" b="b"/>
            <a:pathLst>
              <a:path w="9085628" h="5368780">
                <a:moveTo>
                  <a:pt x="0" y="0"/>
                </a:moveTo>
                <a:lnTo>
                  <a:pt x="9085629" y="0"/>
                </a:lnTo>
                <a:lnTo>
                  <a:pt x="9085629" y="5368780"/>
                </a:lnTo>
                <a:lnTo>
                  <a:pt x="0" y="5368780"/>
                </a:lnTo>
                <a:lnTo>
                  <a:pt x="0" y="0"/>
                </a:lnTo>
                <a:close/>
              </a:path>
            </a:pathLst>
          </a:custGeom>
          <a:blipFill>
            <a:blip r:embed="rId2">
              <a:alphaModFix amt="54000"/>
              <a:extLst>
                <a:ext uri="{96DAC541-7B7A-43D3-8B79-37D633B846F1}">
                  <asvg:svgBlip xmlns:asvg="http://schemas.microsoft.com/office/drawing/2016/SVG/main" xmlns="" r:embed="rId3"/>
                </a:ext>
              </a:extLst>
            </a:blip>
            <a:stretch>
              <a:fillRect/>
            </a:stretch>
          </a:blipFill>
        </p:spPr>
      </p:sp>
      <p:sp>
        <p:nvSpPr>
          <p:cNvPr id="27" name="Текст 5">
            <a:extLst>
              <a:ext uri="{FF2B5EF4-FFF2-40B4-BE49-F238E27FC236}">
                <a16:creationId xmlns:a16="http://schemas.microsoft.com/office/drawing/2014/main" xmlns="" id="{CEBA947D-5CB9-44D4-BED5-209AB9DEDFF7}"/>
              </a:ext>
            </a:extLst>
          </p:cNvPr>
          <p:cNvSpPr txBox="1">
            <a:spLocks/>
          </p:cNvSpPr>
          <p:nvPr/>
        </p:nvSpPr>
        <p:spPr>
          <a:xfrm>
            <a:off x="-4924553" y="-1088856"/>
            <a:ext cx="3383868" cy="3106057"/>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07000"/>
              </a:lnSpc>
              <a:spcAft>
                <a:spcPts val="800"/>
              </a:spcAft>
            </a:pPr>
            <a:endPar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0" name="Диаграмма 29">
            <a:extLst>
              <a:ext uri="{FF2B5EF4-FFF2-40B4-BE49-F238E27FC236}">
                <a16:creationId xmlns:a16="http://schemas.microsoft.com/office/drawing/2014/main" xmlns="" id="{4641668E-8CBE-46D7-B996-491123B82127}"/>
              </a:ext>
            </a:extLst>
          </p:cNvPr>
          <p:cNvGraphicFramePr>
            <a:graphicFrameLocks/>
          </p:cNvGraphicFramePr>
          <p:nvPr>
            <p:extLst>
              <p:ext uri="{D42A27DB-BD31-4B8C-83A1-F6EECF244321}">
                <p14:modId xmlns:p14="http://schemas.microsoft.com/office/powerpoint/2010/main" val="481954724"/>
              </p:ext>
            </p:extLst>
          </p:nvPr>
        </p:nvGraphicFramePr>
        <p:xfrm>
          <a:off x="181048" y="4964352"/>
          <a:ext cx="4558460" cy="29362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Диаграмма 30">
            <a:extLst>
              <a:ext uri="{FF2B5EF4-FFF2-40B4-BE49-F238E27FC236}">
                <a16:creationId xmlns:a16="http://schemas.microsoft.com/office/drawing/2014/main" xmlns="" id="{A20DB1EE-D399-4D30-8ACA-06C6F702DEF4}"/>
              </a:ext>
            </a:extLst>
          </p:cNvPr>
          <p:cNvGraphicFramePr>
            <a:graphicFrameLocks/>
          </p:cNvGraphicFramePr>
          <p:nvPr>
            <p:extLst>
              <p:ext uri="{D42A27DB-BD31-4B8C-83A1-F6EECF244321}">
                <p14:modId xmlns:p14="http://schemas.microsoft.com/office/powerpoint/2010/main" val="4189952883"/>
              </p:ext>
            </p:extLst>
          </p:nvPr>
        </p:nvGraphicFramePr>
        <p:xfrm>
          <a:off x="250404" y="7932458"/>
          <a:ext cx="4558460" cy="1943100"/>
        </p:xfrm>
        <a:graphic>
          <a:graphicData uri="http://schemas.openxmlformats.org/drawingml/2006/chart">
            <c:chart xmlns:c="http://schemas.openxmlformats.org/drawingml/2006/chart" xmlns:r="http://schemas.openxmlformats.org/officeDocument/2006/relationships" r:id="rId5"/>
          </a:graphicData>
        </a:graphic>
      </p:graphicFrame>
      <p:sp>
        <p:nvSpPr>
          <p:cNvPr id="32" name="Текст 5">
            <a:extLst>
              <a:ext uri="{FF2B5EF4-FFF2-40B4-BE49-F238E27FC236}">
                <a16:creationId xmlns:a16="http://schemas.microsoft.com/office/drawing/2014/main" xmlns="" id="{ED7E590A-BA70-42A2-81C6-3EE92730BB02}"/>
              </a:ext>
            </a:extLst>
          </p:cNvPr>
          <p:cNvSpPr txBox="1">
            <a:spLocks/>
          </p:cNvSpPr>
          <p:nvPr/>
        </p:nvSpPr>
        <p:spPr>
          <a:xfrm>
            <a:off x="6705600" y="11544300"/>
            <a:ext cx="3015003" cy="677435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lnSpc>
                <a:spcPct val="100000"/>
              </a:lnSpc>
              <a:spcAft>
                <a:spcPts val="800"/>
              </a:spcAft>
            </a:pP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Текст 5">
            <a:extLst>
              <a:ext uri="{FF2B5EF4-FFF2-40B4-BE49-F238E27FC236}">
                <a16:creationId xmlns:a16="http://schemas.microsoft.com/office/drawing/2014/main" xmlns="" id="{D4712CA6-61B4-4DC2-BEF8-3E90DB267C6D}"/>
              </a:ext>
            </a:extLst>
          </p:cNvPr>
          <p:cNvSpPr txBox="1">
            <a:spLocks/>
          </p:cNvSpPr>
          <p:nvPr/>
        </p:nvSpPr>
        <p:spPr>
          <a:xfrm>
            <a:off x="19557754" y="5676900"/>
            <a:ext cx="5457462" cy="986790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lnSpc>
                <a:spcPct val="107000"/>
              </a:lnSpc>
              <a:spcAft>
                <a:spcPts val="800"/>
              </a:spcAft>
            </a:pPr>
            <a:endParaRPr lang="ru-RU" sz="1800" dirty="0">
              <a:solidFill>
                <a:schemeClr val="bg1"/>
              </a:solidFill>
            </a:endParaRPr>
          </a:p>
        </p:txBody>
      </p:sp>
      <p:sp>
        <p:nvSpPr>
          <p:cNvPr id="34" name="Текст 5">
            <a:extLst>
              <a:ext uri="{FF2B5EF4-FFF2-40B4-BE49-F238E27FC236}">
                <a16:creationId xmlns:a16="http://schemas.microsoft.com/office/drawing/2014/main" xmlns="" id="{9C0070ED-5855-4C15-8B5B-A7F41899F3F2}"/>
              </a:ext>
            </a:extLst>
          </p:cNvPr>
          <p:cNvSpPr txBox="1">
            <a:spLocks/>
          </p:cNvSpPr>
          <p:nvPr/>
        </p:nvSpPr>
        <p:spPr>
          <a:xfrm>
            <a:off x="13742655" y="436576"/>
            <a:ext cx="3920400" cy="96156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lnSpc>
                <a:spcPct val="107000"/>
              </a:lnSpc>
              <a:spcAft>
                <a:spcPts val="800"/>
              </a:spcAft>
            </a:pPr>
            <a:r>
              <a:rPr lang="en-US" sz="1500" dirty="0">
                <a:solidFill>
                  <a:schemeClr val="bg1"/>
                </a:solidFill>
                <a:latin typeface="DM Sans Bold" pitchFamily="2" charset="0"/>
              </a:rPr>
              <a:t>物质技术基础发展</a:t>
            </a:r>
            <a:endParaRPr lang="ru-RU" sz="1500" dirty="0">
              <a:solidFill>
                <a:schemeClr val="bg1"/>
              </a:solidFill>
            </a:endParaRPr>
          </a:p>
          <a:p>
            <a:pPr algn="ctr">
              <a:lnSpc>
                <a:spcPct val="107000"/>
              </a:lnSpc>
              <a:spcBef>
                <a:spcPts val="0"/>
              </a:spcBef>
            </a:pPr>
            <a:r>
              <a:rPr lang="en-US" sz="1500" dirty="0">
                <a:solidFill>
                  <a:schemeClr val="bg1"/>
                </a:solidFill>
                <a:latin typeface="DM Sans Bold" pitchFamily="2" charset="0"/>
              </a:rPr>
              <a:t>大学现有教学面积</a:t>
            </a:r>
            <a:endParaRPr lang="ru-RU" sz="1500" dirty="0">
              <a:solidFill>
                <a:schemeClr val="bg1"/>
              </a:solidFill>
            </a:endParaRPr>
          </a:p>
          <a:p>
            <a:pPr algn="just">
              <a:lnSpc>
                <a:spcPct val="107000"/>
              </a:lnSpc>
              <a:spcBef>
                <a:spcPts val="0"/>
              </a:spcBef>
            </a:pPr>
            <a:r>
              <a:rPr lang="en-US" sz="1500" dirty="0" err="1">
                <a:solidFill>
                  <a:schemeClr val="bg1"/>
                </a:solidFill>
                <a:latin typeface="DM Sans Bold" pitchFamily="2" charset="0"/>
              </a:rPr>
              <a:t>3栋教学楼</a:t>
            </a:r>
            <a:endParaRPr lang="ru-RU" sz="1500" dirty="0">
              <a:solidFill>
                <a:schemeClr val="bg1"/>
              </a:solidFill>
            </a:endParaRPr>
          </a:p>
          <a:p>
            <a:pPr algn="just">
              <a:lnSpc>
                <a:spcPct val="107000"/>
              </a:lnSpc>
              <a:spcBef>
                <a:spcPts val="0"/>
              </a:spcBef>
            </a:pPr>
            <a:r>
              <a:rPr lang="en-US" sz="1500" dirty="0">
                <a:solidFill>
                  <a:schemeClr val="bg1"/>
                </a:solidFill>
                <a:latin typeface="DM Sans Bold" pitchFamily="2" charset="0"/>
              </a:rPr>
              <a:t>148间教室，容纳24 000人</a:t>
            </a:r>
          </a:p>
          <a:p>
            <a:pPr algn="ctr">
              <a:lnSpc>
                <a:spcPct val="107000"/>
              </a:lnSpc>
              <a:spcAft>
                <a:spcPts val="800"/>
              </a:spcAft>
            </a:pPr>
            <a:r>
              <a:rPr lang="en-US" sz="1500" dirty="0">
                <a:solidFill>
                  <a:schemeClr val="bg1"/>
                </a:solidFill>
                <a:latin typeface="DM Sans Bold" pitchFamily="2" charset="0"/>
              </a:rPr>
              <a:t>新建教学楼</a:t>
            </a:r>
            <a:endParaRPr lang="ru-RU" sz="1500" dirty="0">
              <a:solidFill>
                <a:schemeClr val="bg1"/>
              </a:solidFill>
            </a:endParaRPr>
          </a:p>
          <a:p>
            <a:pPr algn="just">
              <a:lnSpc>
                <a:spcPct val="107000"/>
              </a:lnSpc>
              <a:spcBef>
                <a:spcPts val="0"/>
              </a:spcBef>
            </a:pPr>
            <a:r>
              <a:rPr lang="en-US" sz="1500" dirty="0">
                <a:solidFill>
                  <a:schemeClr val="bg1"/>
                </a:solidFill>
                <a:latin typeface="DM Sans Bold" pitchFamily="2" charset="0"/>
              </a:rPr>
              <a:t>建设现代化5000座教学楼（2028年）</a:t>
            </a:r>
            <a:endParaRPr lang="ru-RU" sz="1500" dirty="0">
              <a:solidFill>
                <a:schemeClr val="bg1"/>
              </a:solidFill>
            </a:endParaRPr>
          </a:p>
          <a:p>
            <a:pPr algn="ctr">
              <a:lnSpc>
                <a:spcPct val="107000"/>
              </a:lnSpc>
              <a:spcAft>
                <a:spcPts val="800"/>
              </a:spcAft>
            </a:pPr>
            <a:r>
              <a:rPr lang="en-US" sz="1500" dirty="0">
                <a:solidFill>
                  <a:schemeClr val="bg1"/>
                </a:solidFill>
                <a:latin typeface="DM Sans Bold" pitchFamily="2" charset="0"/>
              </a:rPr>
              <a:t>现有教学楼内：</a:t>
            </a:r>
            <a:endParaRPr lang="ru-RU" sz="1500" dirty="0">
              <a:solidFill>
                <a:schemeClr val="bg1"/>
              </a:solidFill>
            </a:endParaRPr>
          </a:p>
          <a:p>
            <a:pPr marL="103505" indent="-103505" algn="just">
              <a:lnSpc>
                <a:spcPct val="107000"/>
              </a:lnSpc>
              <a:spcBef>
                <a:spcPts val="0"/>
              </a:spcBef>
            </a:pPr>
            <a:r>
              <a:rPr lang="en-US" sz="1500" dirty="0">
                <a:solidFill>
                  <a:schemeClr val="bg1"/>
                </a:solidFill>
                <a:latin typeface="DM Sans Bold" pitchFamily="2" charset="0"/>
              </a:rPr>
              <a:t>- "智慧校园"项目（为所有楼宇配备数字管理系统）2027-2030</a:t>
            </a:r>
            <a:endParaRPr lang="ru-RU" sz="1500" dirty="0">
              <a:solidFill>
                <a:schemeClr val="bg1"/>
              </a:solidFill>
            </a:endParaRPr>
          </a:p>
          <a:p>
            <a:pPr marL="103505" indent="-103505" algn="just">
              <a:lnSpc>
                <a:spcPct val="107000"/>
              </a:lnSpc>
              <a:spcBef>
                <a:spcPts val="0"/>
              </a:spcBef>
            </a:pPr>
            <a:r>
              <a:rPr lang="en-US" sz="1500" dirty="0">
                <a:solidFill>
                  <a:schemeClr val="bg1"/>
                </a:solidFill>
                <a:latin typeface="DM Sans Bold" pitchFamily="2" charset="0"/>
              </a:rPr>
              <a:t>- 绿色校园项目（扩大太阳能发电）</a:t>
            </a:r>
            <a:endParaRPr lang="ru-RU" sz="15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pPr>
            <a:r>
              <a:rPr lang="en-US" sz="1500" b="1" dirty="0">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Bef>
                <a:spcPts val="0"/>
              </a:spcBef>
            </a:pPr>
            <a:r>
              <a:rPr lang="en-US" sz="1500" dirty="0">
                <a:solidFill>
                  <a:schemeClr val="bg1"/>
                </a:solidFill>
                <a:latin typeface="DM Sans Bold" pitchFamily="2" charset="0"/>
              </a:rPr>
              <a:t>为学生建设2000座宿舍楼（2025-2026年）</a:t>
            </a:r>
            <a:br>
              <a:rPr lang="en-US" sz="1500" dirty="0">
                <a:solidFill>
                  <a:schemeClr val="bg1"/>
                </a:solidFill>
                <a:latin typeface="DM Sans Bold" pitchFamily="2" charset="0"/>
              </a:rPr>
            </a:br>
            <a:r>
              <a:rPr lang="en-US" sz="1500" dirty="0">
                <a:solidFill>
                  <a:schemeClr val="bg1"/>
                </a:solidFill>
                <a:latin typeface="DM Sans Bold" pitchFamily="2" charset="0"/>
              </a:rPr>
              <a:t/>
            </a:r>
            <a:br>
              <a:rPr lang="en-US" sz="1500" dirty="0">
                <a:solidFill>
                  <a:schemeClr val="bg1"/>
                </a:solidFill>
                <a:latin typeface="DM Sans Bold" pitchFamily="2" charset="0"/>
              </a:rPr>
            </a:br>
            <a:endParaRPr lang="ru-RU" sz="1500" dirty="0">
              <a:solidFill>
                <a:schemeClr val="bg1"/>
              </a:solidFill>
            </a:endParaRPr>
          </a:p>
          <a:p>
            <a:pPr algn="ctr">
              <a:lnSpc>
                <a:spcPct val="107000"/>
              </a:lnSpc>
              <a:spcBef>
                <a:spcPts val="0"/>
              </a:spcBef>
            </a:pPr>
            <a:endParaRPr lang="en-US" sz="1500" dirty="0">
              <a:solidFill>
                <a:schemeClr val="bg1"/>
              </a:solidFill>
              <a:latin typeface="DM Sans Bold" pitchFamily="2" charset="0"/>
            </a:endParaRPr>
          </a:p>
          <a:p>
            <a:pPr algn="ctr">
              <a:lnSpc>
                <a:spcPct val="107000"/>
              </a:lnSpc>
              <a:spcBef>
                <a:spcPts val="0"/>
              </a:spcBef>
            </a:pPr>
            <a:r>
              <a:rPr lang="en-US" sz="1500" dirty="0">
                <a:solidFill>
                  <a:schemeClr val="bg1"/>
                </a:solidFill>
                <a:latin typeface="DM Sans Bold" pitchFamily="2" charset="0"/>
              </a:rPr>
              <a:t>为大学教职工建设68套住房（2026-2027年）</a:t>
            </a:r>
            <a:br>
              <a:rPr lang="en-US" sz="1500" dirty="0">
                <a:solidFill>
                  <a:schemeClr val="bg1"/>
                </a:solidFill>
                <a:latin typeface="DM Sans Bold" pitchFamily="2" charset="0"/>
              </a:rPr>
            </a:br>
            <a:r>
              <a:rPr lang="en-US" sz="1500" dirty="0">
                <a:solidFill>
                  <a:schemeClr val="bg1"/>
                </a:solidFill>
                <a:latin typeface="DM Sans Bold" pitchFamily="2" charset="0"/>
              </a:rPr>
              <a:t/>
            </a:r>
            <a:br>
              <a:rPr lang="en-US" sz="1500" dirty="0">
                <a:solidFill>
                  <a:schemeClr val="bg1"/>
                </a:solidFill>
                <a:latin typeface="DM Sans Bold" pitchFamily="2" charset="0"/>
              </a:rPr>
            </a:br>
            <a:endParaRPr lang="ru-RU" sz="1500" dirty="0">
              <a:solidFill>
                <a:schemeClr val="bg1"/>
              </a:solidFill>
            </a:endParaRPr>
          </a:p>
          <a:p>
            <a:pPr algn="just">
              <a:lnSpc>
                <a:spcPct val="107000"/>
              </a:lnSpc>
              <a:spcBef>
                <a:spcPts val="0"/>
              </a:spcBef>
            </a:pPr>
            <a:endParaRPr lang="en-US" sz="1500" dirty="0">
              <a:solidFill>
                <a:schemeClr val="bg1"/>
              </a:solidFill>
              <a:latin typeface="DM Sans Bold" pitchFamily="2" charset="0"/>
            </a:endParaRPr>
          </a:p>
          <a:p>
            <a:pPr algn="ctr">
              <a:lnSpc>
                <a:spcPct val="107000"/>
              </a:lnSpc>
              <a:spcBef>
                <a:spcPts val="0"/>
              </a:spcBef>
            </a:pPr>
            <a:r>
              <a:rPr lang="en-US" sz="1500" dirty="0">
                <a:solidFill>
                  <a:schemeClr val="bg1"/>
                </a:solidFill>
                <a:latin typeface="DM Sans Bold" pitchFamily="2" charset="0"/>
              </a:rPr>
              <a:t>在校园内创建绿化、花圃和休息区</a:t>
            </a:r>
            <a:endParaRPr lang="ru-RU" sz="1500" dirty="0">
              <a:solidFill>
                <a:schemeClr val="bg1"/>
              </a:solidFill>
            </a:endParaRPr>
          </a:p>
          <a:p>
            <a:pPr algn="ctr">
              <a:lnSpc>
                <a:spcPct val="107000"/>
              </a:lnSpc>
              <a:spcBef>
                <a:spcPts val="0"/>
              </a:spcBef>
            </a:pPr>
            <a:endParaRPr lang="en-US" sz="1500" dirty="0">
              <a:solidFill>
                <a:schemeClr val="bg1"/>
              </a:solidFill>
              <a:latin typeface="DM Sans Bold" pitchFamily="2" charset="0"/>
            </a:endParaRPr>
          </a:p>
          <a:p>
            <a:pPr algn="ctr">
              <a:lnSpc>
                <a:spcPct val="107000"/>
              </a:lnSpc>
              <a:spcBef>
                <a:spcPts val="0"/>
              </a:spcBef>
            </a:pPr>
            <a:r>
              <a:rPr lang="en-US" sz="1500" dirty="0">
                <a:solidFill>
                  <a:schemeClr val="bg1"/>
                </a:solidFill>
                <a:latin typeface="DM Sans Bold" pitchFamily="2" charset="0"/>
              </a:rPr>
              <a:t>保障生态清洁环境 2025-2030</a:t>
            </a:r>
            <a:br>
              <a:rPr lang="en-US" sz="1500" dirty="0">
                <a:solidFill>
                  <a:schemeClr val="bg1"/>
                </a:solidFill>
                <a:latin typeface="DM Sans Bold" pitchFamily="2" charset="0"/>
              </a:rPr>
            </a:br>
            <a:endParaRPr lang="ru-RU" sz="1500" dirty="0">
              <a:solidFill>
                <a:schemeClr val="bg1"/>
              </a:solidFill>
            </a:endParaRPr>
          </a:p>
        </p:txBody>
      </p:sp>
      <p:sp>
        <p:nvSpPr>
          <p:cNvPr id="46" name="Текст 5">
            <a:extLst>
              <a:ext uri="{FF2B5EF4-FFF2-40B4-BE49-F238E27FC236}">
                <a16:creationId xmlns:a16="http://schemas.microsoft.com/office/drawing/2014/main" xmlns="" id="{41BAE332-D3C1-4569-85B2-445CF864D42B}"/>
              </a:ext>
            </a:extLst>
          </p:cNvPr>
          <p:cNvSpPr txBox="1">
            <a:spLocks/>
          </p:cNvSpPr>
          <p:nvPr/>
        </p:nvSpPr>
        <p:spPr>
          <a:xfrm>
            <a:off x="9475508" y="335700"/>
            <a:ext cx="3920400" cy="96156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lnSpc>
                <a:spcPct val="107000"/>
              </a:lnSpc>
              <a:spcAft>
                <a:spcPts val="800"/>
              </a:spcAft>
            </a:pPr>
            <a:r>
              <a:rPr lang="en-US" sz="1500" dirty="0">
                <a:solidFill>
                  <a:schemeClr val="bg1"/>
                </a:solidFill>
                <a:latin typeface="DM Sans Bold" pitchFamily="2" charset="0"/>
              </a:rPr>
              <a:t>保障教育、科学、创新与科研的融合；支持青年科研活动</a:t>
            </a:r>
          </a:p>
          <a:p>
            <a:pPr algn="ctr">
              <a:lnSpc>
                <a:spcPct val="107000"/>
              </a:lnSpc>
              <a:spcAft>
                <a:spcPts val="800"/>
              </a:spcAft>
            </a:pPr>
            <a:r>
              <a:rPr lang="en-US" sz="1500" dirty="0">
                <a:solidFill>
                  <a:schemeClr val="bg1"/>
                </a:solidFill>
                <a:latin typeface="DM Sans Bold" pitchFamily="2" charset="0"/>
              </a:rPr>
              <a:t>与生产企业联合建立科研实验室</a:t>
            </a:r>
          </a:p>
          <a:p>
            <a:pPr algn="just">
              <a:lnSpc>
                <a:spcPct val="107000"/>
              </a:lnSpc>
              <a:spcAft>
                <a:spcPts val="800"/>
              </a:spcAft>
            </a:pPr>
            <a:r>
              <a:rPr lang="en-US" sz="1500" dirty="0">
                <a:solidFill>
                  <a:schemeClr val="bg1"/>
                </a:solidFill>
                <a:latin typeface="DM Sans Bold" pitchFamily="2" charset="0"/>
              </a:rPr>
              <a:t>地区药用植物研究实验室（2027年）</a:t>
            </a:r>
          </a:p>
          <a:p>
            <a:pPr algn="just">
              <a:lnSpc>
                <a:spcPct val="107000"/>
              </a:lnSpc>
              <a:spcAft>
                <a:spcPts val="800"/>
              </a:spcAft>
            </a:pPr>
            <a:r>
              <a:rPr lang="en-US" sz="1500" dirty="0" err="1">
                <a:solidFill>
                  <a:schemeClr val="bg1"/>
                </a:solidFill>
                <a:latin typeface="DM Sans Bold" pitchFamily="2" charset="0"/>
              </a:rPr>
              <a:t>建立Sulton Hospital现代诊断中心（2026年）</a:t>
            </a:r>
          </a:p>
          <a:p>
            <a:pPr algn="ctr">
              <a:lnSpc>
                <a:spcPct val="107000"/>
              </a:lnSpc>
              <a:spcAft>
                <a:spcPts val="800"/>
              </a:spcAft>
            </a:pPr>
            <a:r>
              <a:rPr lang="en-US" sz="1500" dirty="0">
                <a:solidFill>
                  <a:schemeClr val="bg1"/>
                </a:solidFill>
                <a:latin typeface="DM Sans Bold" pitchFamily="2" charset="0"/>
              </a:rPr>
              <a:t>开设跨系科研实验室</a:t>
            </a:r>
          </a:p>
          <a:p>
            <a:pPr algn="ctr">
              <a:lnSpc>
                <a:spcPct val="107000"/>
              </a:lnSpc>
              <a:spcAft>
                <a:spcPts val="800"/>
              </a:spcAft>
            </a:pPr>
            <a:r>
              <a:rPr lang="en-US" sz="1500" dirty="0" err="1">
                <a:solidFill>
                  <a:schemeClr val="bg1"/>
                </a:solidFill>
                <a:latin typeface="DM Sans Bold" pitchFamily="2" charset="0"/>
              </a:rPr>
              <a:t>药理学方向（2026-2030年）</a:t>
            </a:r>
          </a:p>
          <a:p>
            <a:pPr algn="ctr">
              <a:lnSpc>
                <a:spcPct val="107000"/>
              </a:lnSpc>
              <a:spcAft>
                <a:spcPts val="800"/>
              </a:spcAft>
            </a:pPr>
            <a:r>
              <a:rPr lang="en-US" sz="1500" dirty="0" err="1">
                <a:solidFill>
                  <a:schemeClr val="bg1"/>
                </a:solidFill>
                <a:latin typeface="DM Sans Bold" pitchFamily="2" charset="0"/>
              </a:rPr>
              <a:t>自然科学研究实验室（2026-2030年）</a:t>
            </a:r>
          </a:p>
          <a:p>
            <a:pPr algn="just">
              <a:lnSpc>
                <a:spcPct val="107000"/>
              </a:lnSpc>
              <a:spcAft>
                <a:spcPts val="800"/>
              </a:spcAft>
            </a:pPr>
            <a:r>
              <a:rPr lang="en-US" sz="1500" dirty="0" err="1">
                <a:solidFill>
                  <a:schemeClr val="bg1"/>
                </a:solidFill>
                <a:latin typeface="DM Sans Bold" pitchFamily="2" charset="0"/>
              </a:rPr>
              <a:t>软件与人工智能实验室（2027-2030年）</a:t>
            </a:r>
          </a:p>
          <a:p>
            <a:pPr algn="ctr">
              <a:lnSpc>
                <a:spcPct val="107000"/>
              </a:lnSpc>
              <a:spcAft>
                <a:spcPts val="800"/>
              </a:spcAft>
            </a:pPr>
            <a:r>
              <a:rPr lang="en-US" sz="1500" dirty="0" err="1">
                <a:solidFill>
                  <a:schemeClr val="bg1"/>
                </a:solidFill>
                <a:latin typeface="DM Sans Bold" pitchFamily="2" charset="0"/>
              </a:rPr>
              <a:t>区域研究中心（2026-2030年）</a:t>
            </a:r>
            <a:r>
              <a:rPr lang="en-US" sz="1500" dirty="0">
                <a:solidFill>
                  <a:schemeClr val="bg1"/>
                </a:solidFill>
                <a:latin typeface="DM Sans Bold" pitchFamily="2" charset="0"/>
              </a:rPr>
              <a:t/>
            </a:r>
            <a:br>
              <a:rPr lang="en-US" sz="1500" dirty="0">
                <a:solidFill>
                  <a:schemeClr val="bg1"/>
                </a:solidFill>
                <a:latin typeface="DM Sans Bold" pitchFamily="2" charset="0"/>
              </a:rPr>
            </a:br>
            <a:endParaRPr lang="en-US" sz="1500" dirty="0">
              <a:solidFill>
                <a:schemeClr val="bg1"/>
              </a:solidFill>
              <a:latin typeface="DM Sans Bold" pitchFamily="2" charset="0"/>
            </a:endParaRPr>
          </a:p>
          <a:p>
            <a:pPr algn="ctr">
              <a:lnSpc>
                <a:spcPct val="107000"/>
              </a:lnSpc>
              <a:spcAft>
                <a:spcPts val="800"/>
              </a:spcAft>
            </a:pPr>
            <a:r>
              <a:rPr lang="en-US" sz="1500" dirty="0">
                <a:solidFill>
                  <a:schemeClr val="bg1"/>
                </a:solidFill>
                <a:latin typeface="DM Sans Bold" pitchFamily="2" charset="0"/>
              </a:rPr>
              <a:t>为优秀学生和青年科学家建立创新创业和技术转让中心（2027年）</a:t>
            </a:r>
          </a:p>
          <a:p>
            <a:pPr algn="ctr">
              <a:lnSpc>
                <a:spcPct val="107000"/>
              </a:lnSpc>
              <a:spcAft>
                <a:spcPts val="800"/>
              </a:spcAft>
            </a:pPr>
            <a:r>
              <a:rPr lang="en-US" sz="1500" dirty="0">
                <a:solidFill>
                  <a:schemeClr val="bg1"/>
                </a:solidFill>
                <a:latin typeface="DM Sans Bold" pitchFamily="2" charset="0"/>
              </a:rPr>
              <a:t>将大学科研潜力提升至75%</a:t>
            </a:r>
          </a:p>
        </p:txBody>
      </p:sp>
      <p:sp>
        <p:nvSpPr>
          <p:cNvPr id="47" name="Текст 5">
            <a:extLst>
              <a:ext uri="{FF2B5EF4-FFF2-40B4-BE49-F238E27FC236}">
                <a16:creationId xmlns:a16="http://schemas.microsoft.com/office/drawing/2014/main" xmlns="" id="{E02E7F30-DF8D-4112-A4E2-7E915711208C}"/>
              </a:ext>
            </a:extLst>
          </p:cNvPr>
          <p:cNvSpPr txBox="1">
            <a:spLocks/>
          </p:cNvSpPr>
          <p:nvPr/>
        </p:nvSpPr>
        <p:spPr>
          <a:xfrm>
            <a:off x="5223055" y="326005"/>
            <a:ext cx="3920946" cy="9617178"/>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lnSpc>
                <a:spcPct val="100000"/>
              </a:lnSpc>
              <a:spcAft>
                <a:spcPts val="800"/>
              </a:spcAft>
            </a:pPr>
            <a:r>
              <a:rPr lang="en-US" sz="1500" dirty="0">
                <a:solidFill>
                  <a:schemeClr val="bg1"/>
                </a:solidFill>
                <a:latin typeface="DM Sans Bold" pitchFamily="2" charset="0"/>
              </a:rPr>
              <a:t>引进现代教育技术和方向</a:t>
            </a:r>
          </a:p>
          <a:p>
            <a:pPr algn="ctr">
              <a:lnSpc>
                <a:spcPct val="100000"/>
              </a:lnSpc>
              <a:spcAft>
                <a:spcPts val="800"/>
              </a:spcAft>
            </a:pPr>
            <a:r>
              <a:rPr lang="en-US" sz="1500" dirty="0">
                <a:solidFill>
                  <a:schemeClr val="bg1"/>
                </a:solidFill>
                <a:latin typeface="DM Sans Bold" pitchFamily="2" charset="0"/>
              </a:rPr>
              <a:t>"现代教师"能力提升计划</a:t>
            </a:r>
          </a:p>
          <a:p>
            <a:pPr algn="just">
              <a:lnSpc>
                <a:spcPct val="100000"/>
              </a:lnSpc>
              <a:spcAft>
                <a:spcPts val="800"/>
              </a:spcAft>
            </a:pPr>
            <a:r>
              <a:rPr lang="en-US" sz="1500" dirty="0" err="1">
                <a:solidFill>
                  <a:schemeClr val="bg1"/>
                </a:solidFill>
                <a:latin typeface="DM Sans Bold" pitchFamily="2" charset="0"/>
              </a:rPr>
              <a:t>扩大在课堂教学中使用AI和数字教育工具。</a:t>
            </a:r>
          </a:p>
          <a:p>
            <a:pPr algn="ctr">
              <a:lnSpc>
                <a:spcPct val="100000"/>
              </a:lnSpc>
              <a:spcAft>
                <a:spcPts val="800"/>
              </a:spcAft>
            </a:pPr>
            <a:r>
              <a:rPr lang="en-US" sz="1500" spc="100" dirty="0">
                <a:solidFill>
                  <a:schemeClr val="bg1"/>
                </a:solidFill>
                <a:latin typeface="DM Sans Bold" pitchFamily="2" charset="0"/>
              </a:rPr>
              <a:t>扩展数字教育平台</a:t>
            </a:r>
          </a:p>
          <a:p>
            <a:pPr algn="just">
              <a:lnSpc>
                <a:spcPct val="100000"/>
              </a:lnSpc>
              <a:spcAft>
                <a:spcPts val="800"/>
              </a:spcAft>
            </a:pPr>
            <a:r>
              <a:rPr lang="en-US" sz="1500" dirty="0">
                <a:solidFill>
                  <a:schemeClr val="bg1"/>
                </a:solidFill>
                <a:latin typeface="DM Sans Bold" pitchFamily="2" charset="0"/>
              </a:rPr>
              <a:t>通过"智慧校园"系统将所有教学材料上传至在线平台。</a:t>
            </a:r>
          </a:p>
          <a:p>
            <a:pPr algn="just">
              <a:lnSpc>
                <a:spcPct val="100000"/>
              </a:lnSpc>
              <a:spcAft>
                <a:spcPts val="800"/>
              </a:spcAft>
            </a:pPr>
            <a:r>
              <a:rPr lang="en-US" sz="1500" dirty="0">
                <a:solidFill>
                  <a:schemeClr val="bg1"/>
                </a:solidFill>
                <a:latin typeface="DM Sans Bold" pitchFamily="2" charset="0"/>
              </a:rPr>
              <a:t>基于AR/VR技术形成虚拟现实自适应教学材料</a:t>
            </a:r>
          </a:p>
          <a:p>
            <a:pPr algn="ctr">
              <a:lnSpc>
                <a:spcPct val="100000"/>
              </a:lnSpc>
              <a:spcAft>
                <a:spcPts val="800"/>
              </a:spcAft>
            </a:pPr>
            <a:r>
              <a:rPr lang="en-US" sz="1500" dirty="0">
                <a:solidFill>
                  <a:schemeClr val="bg1"/>
                </a:solidFill>
                <a:latin typeface="DM Sans Bold" pitchFamily="2" charset="0"/>
              </a:rPr>
              <a:t>过渡到国际教育标准</a:t>
            </a:r>
          </a:p>
          <a:p>
            <a:pPr algn="just">
              <a:lnSpc>
                <a:spcPct val="100000"/>
              </a:lnSpc>
              <a:spcAft>
                <a:spcPts val="800"/>
              </a:spcAft>
            </a:pPr>
            <a:r>
              <a:rPr lang="en-US" sz="1500" dirty="0" err="1">
                <a:solidFill>
                  <a:schemeClr val="bg1"/>
                </a:solidFill>
                <a:latin typeface="DM Sans Bold" pitchFamily="2" charset="0"/>
              </a:rPr>
              <a:t>与世界知名大学实施"双学位"联合项目。</a:t>
            </a:r>
          </a:p>
          <a:p>
            <a:pPr algn="just">
              <a:lnSpc>
                <a:spcPct val="100000"/>
              </a:lnSpc>
              <a:spcAft>
                <a:spcPts val="800"/>
              </a:spcAft>
            </a:pPr>
            <a:r>
              <a:rPr lang="en-US" sz="1500" dirty="0" err="1">
                <a:solidFill>
                  <a:schemeClr val="bg1"/>
                </a:solidFill>
                <a:latin typeface="DM Sans Bold" pitchFamily="2" charset="0"/>
              </a:rPr>
              <a:t>在学术流动计划框架内扩大学生交流，派送学生赴知名大学进修。</a:t>
            </a:r>
          </a:p>
          <a:p>
            <a:pPr algn="just">
              <a:lnSpc>
                <a:spcPct val="100000"/>
              </a:lnSpc>
              <a:spcAft>
                <a:spcPts val="800"/>
              </a:spcAft>
            </a:pPr>
            <a:r>
              <a:rPr lang="en-US" sz="1500" dirty="0" err="1">
                <a:solidFill>
                  <a:schemeClr val="bg1"/>
                </a:solidFill>
                <a:latin typeface="DM Sans Bold" pitchFamily="2" charset="0"/>
              </a:rPr>
              <a:t>为学生获取国际证书组织培训课程</a:t>
            </a:r>
            <a:endParaRPr lang="en-US" sz="1500" dirty="0">
              <a:solidFill>
                <a:schemeClr val="bg1"/>
              </a:solidFill>
              <a:latin typeface="DM Sans Bold" pitchFamily="2" charset="0"/>
            </a:endParaRPr>
          </a:p>
          <a:p>
            <a:pPr algn="ctr">
              <a:lnSpc>
                <a:spcPct val="100000"/>
              </a:lnSpc>
              <a:spcAft>
                <a:spcPts val="800"/>
              </a:spcAft>
            </a:pPr>
            <a:r>
              <a:rPr lang="en-US" sz="1500" dirty="0">
                <a:solidFill>
                  <a:schemeClr val="bg1"/>
                </a:solidFill>
                <a:latin typeface="DM Sans Bold" pitchFamily="2" charset="0"/>
              </a:rPr>
              <a:t>推广创新教学方法，在大学开设"教育创新"中心</a:t>
            </a:r>
          </a:p>
        </p:txBody>
      </p:sp>
      <p:sp>
        <p:nvSpPr>
          <p:cNvPr id="48" name="Текст 5">
            <a:extLst>
              <a:ext uri="{FF2B5EF4-FFF2-40B4-BE49-F238E27FC236}">
                <a16:creationId xmlns:a16="http://schemas.microsoft.com/office/drawing/2014/main" xmlns="" id="{187BF10C-18B2-4FE1-B677-91F10341D574}"/>
              </a:ext>
            </a:extLst>
          </p:cNvPr>
          <p:cNvSpPr txBox="1">
            <a:spLocks/>
          </p:cNvSpPr>
          <p:nvPr/>
        </p:nvSpPr>
        <p:spPr>
          <a:xfrm>
            <a:off x="181048" y="174522"/>
            <a:ext cx="4791002" cy="961717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lnSpc>
                <a:spcPct val="107000"/>
              </a:lnSpc>
              <a:spcAft>
                <a:spcPts val="800"/>
              </a:spcAft>
            </a:pPr>
            <a:r>
              <a:rPr lang="en-US" sz="1800" dirty="0">
                <a:solidFill>
                  <a:schemeClr val="bg1"/>
                </a:solidFill>
                <a:latin typeface="DM Sans Bold" pitchFamily="2" charset="0"/>
              </a:rPr>
              <a:t>国际教育市场竞争力</a:t>
            </a:r>
          </a:p>
        </p:txBody>
      </p:sp>
      <p:graphicFrame>
        <p:nvGraphicFramePr>
          <p:cNvPr id="49" name="Таблица 48">
            <a:extLst>
              <a:ext uri="{FF2B5EF4-FFF2-40B4-BE49-F238E27FC236}">
                <a16:creationId xmlns:a16="http://schemas.microsoft.com/office/drawing/2014/main" xmlns="" id="{4485E57F-BC88-4362-A95A-C8162E43E27E}"/>
              </a:ext>
            </a:extLst>
          </p:cNvPr>
          <p:cNvGraphicFramePr>
            <a:graphicFrameLocks noGrp="1"/>
          </p:cNvGraphicFramePr>
          <p:nvPr>
            <p:extLst>
              <p:ext uri="{D42A27DB-BD31-4B8C-83A1-F6EECF244321}">
                <p14:modId xmlns:p14="http://schemas.microsoft.com/office/powerpoint/2010/main" val="905576901"/>
              </p:ext>
            </p:extLst>
          </p:nvPr>
        </p:nvGraphicFramePr>
        <p:xfrm>
          <a:off x="254312" y="940660"/>
          <a:ext cx="4489104" cy="1154840"/>
        </p:xfrm>
        <a:graphic>
          <a:graphicData uri="http://schemas.openxmlformats.org/drawingml/2006/table">
            <a:tbl>
              <a:tblPr>
                <a:tableStyleId>{69CF1AB2-1976-4502-BF36-3FF5EA218861}</a:tableStyleId>
              </a:tblPr>
              <a:tblGrid>
                <a:gridCol w="1122276">
                  <a:extLst>
                    <a:ext uri="{9D8B030D-6E8A-4147-A177-3AD203B41FA5}">
                      <a16:colId xmlns:a16="http://schemas.microsoft.com/office/drawing/2014/main" xmlns="" val="4116928451"/>
                    </a:ext>
                  </a:extLst>
                </a:gridCol>
                <a:gridCol w="1122276">
                  <a:extLst>
                    <a:ext uri="{9D8B030D-6E8A-4147-A177-3AD203B41FA5}">
                      <a16:colId xmlns:a16="http://schemas.microsoft.com/office/drawing/2014/main" xmlns="" val="2097187428"/>
                    </a:ext>
                  </a:extLst>
                </a:gridCol>
                <a:gridCol w="1122276">
                  <a:extLst>
                    <a:ext uri="{9D8B030D-6E8A-4147-A177-3AD203B41FA5}">
                      <a16:colId xmlns:a16="http://schemas.microsoft.com/office/drawing/2014/main" xmlns="" val="1740053066"/>
                    </a:ext>
                  </a:extLst>
                </a:gridCol>
                <a:gridCol w="1122276">
                  <a:extLst>
                    <a:ext uri="{9D8B030D-6E8A-4147-A177-3AD203B41FA5}">
                      <a16:colId xmlns:a16="http://schemas.microsoft.com/office/drawing/2014/main" xmlns="" val="2043671709"/>
                    </a:ext>
                  </a:extLst>
                </a:gridCol>
              </a:tblGrid>
              <a:tr h="609600">
                <a:tc>
                  <a:txBody>
                    <a:bodyPr/>
                    <a:lstStyle/>
                    <a:p>
                      <a:pPr algn="ctr" fontAlgn="ctr"/>
                      <a:r>
                        <a:rPr lang="ru-RU" sz="1100" u="none" strike="noStrike" dirty="0">
                          <a:effectLst/>
                        </a:rPr>
                        <a:t> </a:t>
                      </a:r>
                      <a:endParaRPr lang="ru-RU" sz="11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en-US" sz="1200" b="1" u="none" strike="noStrike" dirty="0" err="1">
                          <a:solidFill>
                            <a:schemeClr val="bg1"/>
                          </a:solidFill>
                          <a:effectLst/>
                          <a:latin typeface="DM Sans Bold" panose="020B0604020202020204" charset="0"/>
                        </a:rPr>
                        <a:t>信息技术</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en-US" sz="1200" b="1" u="none" strike="noStrike" dirty="0" err="1">
                          <a:solidFill>
                            <a:schemeClr val="bg1"/>
                          </a:solidFill>
                          <a:effectLst/>
                          <a:latin typeface="DM Sans Bold" panose="020B0604020202020204" charset="0"/>
                        </a:rPr>
                        <a:t>经济学</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en-US" sz="1200" b="1" u="none" strike="noStrike" dirty="0" err="1">
                          <a:solidFill>
                            <a:schemeClr val="bg1"/>
                          </a:solidFill>
                          <a:effectLst/>
                          <a:latin typeface="DM Sans Bold" panose="020B0604020202020204" charset="0"/>
                        </a:rPr>
                        <a:t>生物学</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2841060902"/>
                  </a:ext>
                </a:extLst>
              </a:tr>
              <a:tr h="272620">
                <a:tc>
                  <a:txBody>
                    <a:bodyPr/>
                    <a:lstStyle/>
                    <a:p>
                      <a:pPr algn="ctr" fontAlgn="ctr"/>
                      <a:r>
                        <a:rPr lang="en-US" sz="1200" b="1" u="none" strike="noStrike" dirty="0" err="1">
                          <a:solidFill>
                            <a:schemeClr val="bg1"/>
                          </a:solidFill>
                          <a:effectLst/>
                          <a:latin typeface="DM Sans Bold" panose="020B0604020202020204" charset="0"/>
                        </a:rPr>
                        <a:t>医学</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en-US" sz="1200" b="1" u="none" strike="noStrike" dirty="0" err="1">
                          <a:solidFill>
                            <a:schemeClr val="bg1"/>
                          </a:solidFill>
                          <a:effectLst/>
                          <a:latin typeface="DM Sans Bold" panose="020B0604020202020204" charset="0"/>
                        </a:rPr>
                        <a:t>历史</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en-US" sz="1200" b="1" u="none" strike="noStrike" dirty="0" err="1">
                          <a:solidFill>
                            <a:schemeClr val="bg1"/>
                          </a:solidFill>
                          <a:effectLst/>
                          <a:latin typeface="DM Sans Bold" panose="020B0604020202020204" charset="0"/>
                        </a:rPr>
                        <a:t>教育</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en-US" sz="1200" b="1" u="none" strike="noStrike" dirty="0" err="1">
                          <a:solidFill>
                            <a:schemeClr val="bg1"/>
                          </a:solidFill>
                          <a:effectLst/>
                          <a:latin typeface="DM Sans Bold" panose="020B0604020202020204" charset="0"/>
                        </a:rPr>
                        <a:t>心理学</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2274674839"/>
                  </a:ext>
                </a:extLst>
              </a:tr>
              <a:tr h="272620">
                <a:tc>
                  <a:txBody>
                    <a:bodyPr/>
                    <a:lstStyle/>
                    <a:p>
                      <a:pPr algn="ctr" fontAlgn="ctr"/>
                      <a:r>
                        <a:rPr lang="ru-RU" sz="1200" b="1" u="none" strike="noStrike" dirty="0">
                          <a:solidFill>
                            <a:schemeClr val="bg1"/>
                          </a:solidFill>
                          <a:effectLst/>
                        </a:rPr>
                        <a:t>2027</a:t>
                      </a:r>
                      <a:endParaRPr lang="ru-RU" sz="12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dirty="0">
                          <a:solidFill>
                            <a:schemeClr val="bg1"/>
                          </a:solidFill>
                          <a:effectLst/>
                        </a:rPr>
                        <a:t>2028</a:t>
                      </a:r>
                      <a:endParaRPr lang="ru-RU" sz="12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dirty="0">
                          <a:solidFill>
                            <a:schemeClr val="bg1"/>
                          </a:solidFill>
                          <a:effectLst/>
                        </a:rPr>
                        <a:t>2029</a:t>
                      </a:r>
                      <a:endParaRPr lang="ru-RU" sz="12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dirty="0">
                          <a:solidFill>
                            <a:schemeClr val="bg1"/>
                          </a:solidFill>
                          <a:effectLst/>
                        </a:rPr>
                        <a:t>2030</a:t>
                      </a:r>
                      <a:endParaRPr lang="ru-RU" sz="12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3388682607"/>
                  </a:ext>
                </a:extLst>
              </a:tr>
            </a:tbl>
          </a:graphicData>
        </a:graphic>
      </p:graphicFrame>
      <p:graphicFrame>
        <p:nvGraphicFramePr>
          <p:cNvPr id="50" name="Таблица 49">
            <a:extLst>
              <a:ext uri="{FF2B5EF4-FFF2-40B4-BE49-F238E27FC236}">
                <a16:creationId xmlns:a16="http://schemas.microsoft.com/office/drawing/2014/main" xmlns="" id="{65D29688-F40F-45FF-8CA3-A7DB86F3798A}"/>
              </a:ext>
            </a:extLst>
          </p:cNvPr>
          <p:cNvGraphicFramePr>
            <a:graphicFrameLocks noGrp="1"/>
          </p:cNvGraphicFramePr>
          <p:nvPr>
            <p:extLst>
              <p:ext uri="{D42A27DB-BD31-4B8C-83A1-F6EECF244321}">
                <p14:modId xmlns:p14="http://schemas.microsoft.com/office/powerpoint/2010/main" val="588680628"/>
              </p:ext>
            </p:extLst>
          </p:nvPr>
        </p:nvGraphicFramePr>
        <p:xfrm>
          <a:off x="250404" y="2198855"/>
          <a:ext cx="4489104" cy="2716045"/>
        </p:xfrm>
        <a:graphic>
          <a:graphicData uri="http://schemas.openxmlformats.org/drawingml/2006/table">
            <a:tbl>
              <a:tblPr>
                <a:tableStyleId>{5C22544A-7EE6-4342-B048-85BDC9FD1C3A}</a:tableStyleId>
              </a:tblPr>
              <a:tblGrid>
                <a:gridCol w="1122276">
                  <a:extLst>
                    <a:ext uri="{9D8B030D-6E8A-4147-A177-3AD203B41FA5}">
                      <a16:colId xmlns:a16="http://schemas.microsoft.com/office/drawing/2014/main" xmlns="" val="1525879707"/>
                    </a:ext>
                  </a:extLst>
                </a:gridCol>
                <a:gridCol w="1122276">
                  <a:extLst>
                    <a:ext uri="{9D8B030D-6E8A-4147-A177-3AD203B41FA5}">
                      <a16:colId xmlns:a16="http://schemas.microsoft.com/office/drawing/2014/main" xmlns="" val="374863646"/>
                    </a:ext>
                  </a:extLst>
                </a:gridCol>
                <a:gridCol w="1122276">
                  <a:extLst>
                    <a:ext uri="{9D8B030D-6E8A-4147-A177-3AD203B41FA5}">
                      <a16:colId xmlns:a16="http://schemas.microsoft.com/office/drawing/2014/main" xmlns="" val="2867213207"/>
                    </a:ext>
                  </a:extLst>
                </a:gridCol>
                <a:gridCol w="1122276">
                  <a:extLst>
                    <a:ext uri="{9D8B030D-6E8A-4147-A177-3AD203B41FA5}">
                      <a16:colId xmlns:a16="http://schemas.microsoft.com/office/drawing/2014/main" xmlns="" val="2935674247"/>
                    </a:ext>
                  </a:extLst>
                </a:gridCol>
              </a:tblGrid>
              <a:tr h="543209">
                <a:tc>
                  <a:txBody>
                    <a:bodyPr/>
                    <a:lstStyle/>
                    <a:p>
                      <a:pPr algn="ctr" fontAlgn="ctr"/>
                      <a:r>
                        <a:rPr lang="ru-RU" sz="1100" u="none" strike="noStrike">
                          <a:effectLst/>
                        </a:rPr>
                        <a:t> </a:t>
                      </a:r>
                      <a:endParaRPr lang="ru-RU" sz="11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1000+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a:solidFill>
                            <a:schemeClr val="bg1"/>
                          </a:solidFill>
                          <a:effectLst/>
                          <a:ea typeface="+mn-ea"/>
                          <a:cs typeface="+mn-cs"/>
                        </a:rPr>
                        <a:t>800+</a:t>
                      </a:r>
                      <a:endParaRPr lang="ru-RU" sz="1200" b="1" u="none" strike="noStrike" kern="120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a:solidFill>
                            <a:schemeClr val="bg1"/>
                          </a:solidFill>
                          <a:effectLst/>
                          <a:ea typeface="+mn-ea"/>
                          <a:cs typeface="+mn-cs"/>
                        </a:rPr>
                        <a:t>600+</a:t>
                      </a:r>
                      <a:endParaRPr lang="ru-RU" sz="1200" b="1" u="none" strike="noStrike" kern="120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3059993542"/>
                  </a:ext>
                </a:extLst>
              </a:tr>
              <a:tr h="543209">
                <a:tc>
                  <a:txBody>
                    <a:bodyPr/>
                    <a:lstStyle/>
                    <a:p>
                      <a:pPr algn="ctr" fontAlgn="ctr"/>
                      <a:r>
                        <a:rPr lang="ru-RU" sz="1100" u="none" strike="noStrike">
                          <a:effectLst/>
                        </a:rPr>
                        <a:t> </a:t>
                      </a:r>
                      <a:endParaRPr lang="ru-RU" sz="11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1200+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1000+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a:solidFill>
                            <a:schemeClr val="bg1"/>
                          </a:solidFill>
                          <a:effectLst/>
                          <a:ea typeface="+mn-ea"/>
                          <a:cs typeface="+mn-cs"/>
                        </a:rPr>
                        <a:t>800+</a:t>
                      </a:r>
                      <a:endParaRPr lang="ru-RU" sz="1200" b="1" u="none" strike="noStrike" kern="120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950273293"/>
                  </a:ext>
                </a:extLst>
              </a:tr>
              <a:tr h="543209">
                <a:tc>
                  <a:txBody>
                    <a:bodyPr/>
                    <a:lstStyle/>
                    <a:p>
                      <a:pPr algn="ctr" fontAlgn="ctr"/>
                      <a:r>
                        <a:rPr lang="ru-RU" sz="1100" u="none" strike="noStrike">
                          <a:effectLst/>
                        </a:rPr>
                        <a:t> </a:t>
                      </a:r>
                      <a:endParaRPr lang="ru-RU" sz="11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a:solidFill>
                            <a:schemeClr val="bg1"/>
                          </a:solidFill>
                          <a:effectLst/>
                          <a:ea typeface="+mn-ea"/>
                          <a:cs typeface="+mn-cs"/>
                        </a:rPr>
                        <a:t>1000+</a:t>
                      </a:r>
                      <a:endParaRPr lang="ru-RU" sz="1200" b="1" u="none" strike="noStrike" kern="120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800+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600+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4013752090"/>
                  </a:ext>
                </a:extLst>
              </a:tr>
              <a:tr h="543209">
                <a:tc>
                  <a:txBody>
                    <a:bodyPr/>
                    <a:lstStyle/>
                    <a:p>
                      <a:pPr algn="ctr" fontAlgn="ctr"/>
                      <a:r>
                        <a:rPr lang="ru-RU" sz="1100" u="none" strike="noStrike">
                          <a:effectLst/>
                        </a:rPr>
                        <a:t> </a:t>
                      </a:r>
                      <a:endParaRPr lang="ru-RU" sz="11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1000+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800+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600+</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2036249119"/>
                  </a:ext>
                </a:extLst>
              </a:tr>
              <a:tr h="543209">
                <a:tc>
                  <a:txBody>
                    <a:bodyPr/>
                    <a:lstStyle/>
                    <a:p>
                      <a:pPr algn="ctr" fontAlgn="ctr"/>
                      <a:r>
                        <a:rPr lang="en-US" sz="1200" b="1" u="none" strike="noStrike" dirty="0" err="1">
                          <a:solidFill>
                            <a:schemeClr val="bg1"/>
                          </a:solidFill>
                          <a:effectLst/>
                          <a:latin typeface="DM Sans Bold" panose="020B0604020202020204" charset="0"/>
                        </a:rPr>
                        <a:t>排名类型</a:t>
                      </a:r>
                      <a:endParaRPr lang="en-US" sz="1200" b="1" i="0" u="none" strike="noStrike" dirty="0">
                        <a:solidFill>
                          <a:schemeClr val="bg1"/>
                        </a:solidFill>
                        <a:effectLst/>
                        <a:latin typeface="DM Sans Bold" panose="020B060402020202020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a:solidFill>
                            <a:schemeClr val="bg1"/>
                          </a:solidFill>
                          <a:effectLst/>
                          <a:ea typeface="+mn-ea"/>
                          <a:cs typeface="+mn-cs"/>
                        </a:rPr>
                        <a:t>2026</a:t>
                      </a:r>
                      <a:endParaRPr lang="ru-RU" sz="1200" b="1" u="none" strike="noStrike" kern="120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a:solidFill>
                            <a:schemeClr val="bg1"/>
                          </a:solidFill>
                          <a:effectLst/>
                          <a:ea typeface="+mn-ea"/>
                          <a:cs typeface="+mn-cs"/>
                        </a:rPr>
                        <a:t>2028</a:t>
                      </a:r>
                      <a:endParaRPr lang="ru-RU" sz="1200" b="1" u="none" strike="noStrike" kern="120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ctr"/>
                      <a:r>
                        <a:rPr lang="ru-RU" sz="1200" b="1" u="none" strike="noStrike" kern="1200" dirty="0">
                          <a:solidFill>
                            <a:schemeClr val="bg1"/>
                          </a:solidFill>
                          <a:effectLst/>
                          <a:ea typeface="+mn-ea"/>
                          <a:cs typeface="+mn-cs"/>
                        </a:rPr>
                        <a:t>2023</a:t>
                      </a:r>
                      <a:endParaRPr lang="ru-RU" sz="1200" b="1" u="none" strike="noStrike" kern="1200" dirty="0">
                        <a:solidFill>
                          <a:schemeClr val="bg1"/>
                        </a:solidFill>
                        <a:effectLst/>
                        <a:latin typeface="Calibri" panose="020F0502020204030204" pitchFamily="34" charset="0"/>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xmlns="" val="1355014354"/>
                  </a:ext>
                </a:extLst>
              </a:tr>
            </a:tbl>
          </a:graphicData>
        </a:graphic>
      </p:graphicFrame>
      <p:pic>
        <p:nvPicPr>
          <p:cNvPr id="52" name="Рисунок 51">
            <a:extLst>
              <a:ext uri="{FF2B5EF4-FFF2-40B4-BE49-F238E27FC236}">
                <a16:creationId xmlns:a16="http://schemas.microsoft.com/office/drawing/2014/main" xmlns="" id="{C17495CD-7B5D-40D3-850D-E74F156D9D2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0404" y="942143"/>
            <a:ext cx="1121196" cy="608117"/>
          </a:xfrm>
          <a:prstGeom prst="rect">
            <a:avLst/>
          </a:prstGeom>
        </p:spPr>
      </p:pic>
      <p:pic>
        <p:nvPicPr>
          <p:cNvPr id="53" name="Рисунок 52">
            <a:extLst>
              <a:ext uri="{FF2B5EF4-FFF2-40B4-BE49-F238E27FC236}">
                <a16:creationId xmlns:a16="http://schemas.microsoft.com/office/drawing/2014/main" xmlns="" id="{566CADDE-AC24-4049-8BF7-73FBECB9750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0404" y="2190896"/>
            <a:ext cx="1121196" cy="551862"/>
          </a:xfrm>
          <a:prstGeom prst="rect">
            <a:avLst/>
          </a:prstGeom>
        </p:spPr>
      </p:pic>
      <p:pic>
        <p:nvPicPr>
          <p:cNvPr id="57" name="Рисунок 56">
            <a:extLst>
              <a:ext uri="{FF2B5EF4-FFF2-40B4-BE49-F238E27FC236}">
                <a16:creationId xmlns:a16="http://schemas.microsoft.com/office/drawing/2014/main" xmlns="" id="{11771B15-D591-4BD2-9673-0E5494E81805}"/>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5669" t="33567" r="5377" b="33362"/>
          <a:stretch/>
        </p:blipFill>
        <p:spPr>
          <a:xfrm>
            <a:off x="253579" y="2814073"/>
            <a:ext cx="1108496" cy="411583"/>
          </a:xfrm>
          <a:prstGeom prst="rect">
            <a:avLst/>
          </a:prstGeom>
        </p:spPr>
      </p:pic>
      <p:pic>
        <p:nvPicPr>
          <p:cNvPr id="59" name="Рисунок 58">
            <a:extLst>
              <a:ext uri="{FF2B5EF4-FFF2-40B4-BE49-F238E27FC236}">
                <a16:creationId xmlns:a16="http://schemas.microsoft.com/office/drawing/2014/main" xmlns="" id="{0BF97DBA-00E8-4B74-AA3D-DF86656E4132}"/>
              </a:ext>
            </a:extLst>
          </p:cNvPr>
          <p:cNvPicPr>
            <a:picLocks noChangeAspect="1"/>
          </p:cNvPicPr>
          <p:nvPr/>
        </p:nvPicPr>
        <p:blipFill rotWithShape="1">
          <a:blip r:embed="rId9">
            <a:extLst>
              <a:ext uri="{28A0092B-C50C-407E-A947-70E740481C1C}">
                <a14:useLocalDpi xmlns:a14="http://schemas.microsoft.com/office/drawing/2010/main" val="0"/>
              </a:ext>
            </a:extLst>
          </a:blip>
          <a:srcRect l="7333" t="18000" r="5978" b="21555"/>
          <a:stretch/>
        </p:blipFill>
        <p:spPr>
          <a:xfrm>
            <a:off x="259929" y="3291880"/>
            <a:ext cx="1102146" cy="534432"/>
          </a:xfrm>
          <a:prstGeom prst="rect">
            <a:avLst/>
          </a:prstGeom>
        </p:spPr>
      </p:pic>
      <p:pic>
        <p:nvPicPr>
          <p:cNvPr id="61" name="Рисунок 60">
            <a:extLst>
              <a:ext uri="{FF2B5EF4-FFF2-40B4-BE49-F238E27FC236}">
                <a16:creationId xmlns:a16="http://schemas.microsoft.com/office/drawing/2014/main" xmlns="" id="{56A2903C-C603-4477-80E4-11209405E8EB}"/>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8798" t="22387" r="6680" b="14354"/>
          <a:stretch/>
        </p:blipFill>
        <p:spPr>
          <a:xfrm>
            <a:off x="259929" y="3869396"/>
            <a:ext cx="1108496" cy="46835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1837</TotalTime>
  <Words>1112</Words>
  <Application>Microsoft Office PowerPoint</Application>
  <PresentationFormat>Произвольный</PresentationFormat>
  <Paragraphs>644</Paragraphs>
  <Slides>8</Slides>
  <Notes>0</Notes>
  <HiddenSlides>0</HiddenSlides>
  <MMClips>0</MMClips>
  <ScaleCrop>false</ScaleCrop>
  <HeadingPairs>
    <vt:vector size="6" baseType="variant">
      <vt:variant>
        <vt:lpstr>Использованные шрифты</vt:lpstr>
      </vt:variant>
      <vt:variant>
        <vt:i4>13</vt:i4>
      </vt:variant>
      <vt:variant>
        <vt:lpstr>Тема</vt:lpstr>
      </vt:variant>
      <vt:variant>
        <vt:i4>1</vt:i4>
      </vt:variant>
      <vt:variant>
        <vt:lpstr>Заголовки слайдов</vt:lpstr>
      </vt:variant>
      <vt:variant>
        <vt:i4>8</vt:i4>
      </vt:variant>
    </vt:vector>
  </HeadingPairs>
  <TitlesOfParts>
    <vt:vector size="22" baseType="lpstr">
      <vt:lpstr>Lora</vt:lpstr>
      <vt:lpstr>Crimson Pro Semi Bold</vt:lpstr>
      <vt:lpstr>Franklin Gothic Heavy</vt:lpstr>
      <vt:lpstr>Lora Bold Italics</vt:lpstr>
      <vt:lpstr>Calibri</vt:lpstr>
      <vt:lpstr>DM Sans Bold</vt:lpstr>
      <vt:lpstr>Times New Roman</vt:lpstr>
      <vt:lpstr>Roboto</vt:lpstr>
      <vt:lpstr>Lora Bold</vt:lpstr>
      <vt:lpstr>Arial</vt:lpstr>
      <vt:lpstr>Tahoma</vt:lpstr>
      <vt:lpstr>Now Bold</vt:lpstr>
      <vt:lpstr>DM Sans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Dark Professional Geometric Business Project Presentation</dc:title>
  <dc:creator>Shaxboz Meyliqulov</dc:creator>
  <cp:lastModifiedBy>USER</cp:lastModifiedBy>
  <cp:revision>395</cp:revision>
  <dcterms:created xsi:type="dcterms:W3CDTF">2006-08-16T00:00:00Z</dcterms:created>
  <dcterms:modified xsi:type="dcterms:W3CDTF">2026-03-27T04:50:55Z</dcterms:modified>
  <dc:identifier>DAGg7BXMAmA</dc:identifier>
</cp:coreProperties>
</file>